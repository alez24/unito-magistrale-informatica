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O'Neil: matematica (PhD Harvard), ex quant da D. E. Shaw — parla da insider della finanza post-2008. Natale: storico dei media a UniTO — si chiede cosa l'IA ha fatto nel passato, non cosa farà. O'Neil documenta il danno, Natale spiega perché non lo vediamo.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Citazione portante di O'Neil: 'i modelli sono opinioni incorporate nella matematica' — scelte umane su dati, proxy e obiettivi, presentate come output oggettivo. Tesi di Natale: l'inganno è costitutivo dell'IA, coltivato deliberatamente fin dall'inizio, e noi partecipiamo volentieri all'illusione.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voce: opacità = non sai quali dati entrano né come sono pesati, spesso non sai nemmeno di essere valutato. Scala = ranking U.S. News, credit score. Danno = licenziamenti, pene più lunghe, tassi più alti + il feedback loop perverso. Il trucco comune: i proxy — non potendo misurare ciò che conta, misurano ciò che c'è, e ciò che c'è è pieno di pregiudizi.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Moneyball di Michael Lewis. Trasparente: dati pubblici, chi è misurato può verificare. Pertinente: misura i risultati in campo, non un proxy. Feedback: si aggiorna a ogni partita, impara dagli errori invece di autoconfermarsi. Obiettivi condivisi: squadre e giocatori vogliono la stessa cosa, vincere. O'Neil non condanna la statistica ma l'uso — questo contro-esempio lo dimostra.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 Clifford, insegnante a New York: 6/100 un anno, 96/100 l'anno dopo. Il caso che apre il libro: Sarah Wysocki, Washington D.C., 2011 — licenziata dal sistema IMPACT nonostante valutazioni eccellenti; causa probabile: i test dell'anno prima gonfiati da altri. Il value-added fa inferenze su classi di ~25 studenti: campioni ridicoli. Nessuno sa spiegare il calcolo, il punteggio non si può contestare. Opaco + su scala + dannoso: la WMD perfetta. E zero su quattro rispetto al modello sano.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PredPol: registra arresti (non reati), predice il 'quartiere a rischio', manda più pattuglie, più pattuglie = più reati registrati anche minimi = dati che confermano. LSI-R: il questionario chiede di quartiere, amici, precedenti in famiglia — proxy di classe e razza; chi è 'ad alto rischio' sconta più anni in ambiente criminogeno ed esce con meno opportunità. Chicago: Robert McDaniel segnalato per le persone che conosce, non per ciò che ha fatto. Nota amara di O'Neil: mai lo stesso zelo sui reati dei colletti bianchi.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Dettagli a voce: U.S. News dal 1983; Texas Christian University e la frode della King Abdulaziz. Kyle Behm: test dei Cinque Fattori che rivela il disturbo bipolare — contro lo spirito dell'ADA; paragone con la frenologia. Starbucks/Navarro: il clopening; Cataphora e le email. FICO regolamentato vs e-score fuori dal Fair Credit Reporting Act. Assicurazioni: Hoffman 1896 per Prudential; Consumer Reports: guida in ebbrezza + buon credito &lt; fedina pulita + credito basso. Voto: da Obama 2012 a Cambridge Analytica; esperimenti di Facebook su voto ed emozioni. Filo comune: il danno scorre verso il basso — chi ha soldi ottiene ancora un essere 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Cambio di registro: dal 'cosa' al 'perché'. Metodo di Natale: 'in questo libro lo strumento non è il futuro, ma il passato' — archeologia dei media. Se il 'quasi umano' è sempre stato costruito deliberatamente, non è progresso naturale ma scelta di design: critica diretta all'inevitabilismo (Larry Page 2001).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Sedute spiritiche come prototipo: i partecipanti non erano creduloni — la cultura aveva già costruito l'idea che fosse possibile, come oggi con le macchine che 'capiscono'. Faraday 1853: effetto ideomotorio. ELIZA (Weizenbaum, MIT, dal 1963; paper 1966): psicoterapia rogersiana via pattern matching; effetto ELIZA = attribuire comprensione anche conoscendo il meccanismo — tratto cognitivo profondo, non ingenuità; Weizenbaum scrive Computer Power and Human Reason (1976). Loebner 1991–2019: Brian Christian, 'l'umano più umano' 2009 — per sembrare umano bisogna sforzarsi, la macchina vince senza capire. Contesto: McCarthy conia 'AI' nel 1956; Licklider e il time-sharing rendono la macchina un interlocutore.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macchine calcolano quale simbolo ha più probabilità di seguire l'altro; non accedono mai a significato, peso emotivo, implicazione etica. Turing 1950 riletto da Natale (e Gunkel): il test è teatrale, misura la simulazione — lo stesso errore che Faraday smascherò nelle sedute spiritiche: confondere rappresentazione e realtà. Ponte con O'Neil: il credit score non capisce la persona ma viene trattato come se lo facesse; il giudice si fida della recita di oggettività. Collegamento corso: 'On the dangers of stochastic parrots' (2021) + Searle (sintassi ≠ semantica; fatti istituzionali).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Simbiosi: Licklider immaginò la collaborazione uomo-macchina in tempo reale, non che la macchina diventasse invisibile e data per scontata — feed di Instagram, suggerimenti di Gmail, raccomandazioni di Netflix. La forma più potente di inganno. Gatekeeper: Google, Facebook, Amazon selezionano e amplificano come direttori editoriali senza risponderne; gli algoritmi premiano indignazione, paura, sorpresa per massimizzare il tempo sullo schermo. Inganno di secondo ordine: simula una piazza neutrale mentre modella il dibattito — Cambridge Analytica ha solo puntato quella macchina sul voto. Collegamenti corso: social media ≠ social network (TikTok e i recommender); tecnofeudalesimo (Bezos aristocratico, AmazonBasics).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 espandere a voce: Inevitabilismo = Larry Page 2001 ('tutta la vostra vita sarà searchable') come retorica che nasconde l'autore; il parallelismo della cimice asiatica. Searle = fatti istituzionali: credit score e ranking producono effetti reali solo per convenzione sociale — come l''intelligenza' di ELIZA. Bias = Stable Diffusion e il giudice uomo bianco: problema politico, non tecnico. Commons (se chiedono): assicurazioni nate per condividere il rischio, smontate dal pricing individuale — tragedia dei beni comuni senza regole. Polanyi: il mercato lasciato a sé stesso è distruttivo; come per i monopoli industriali (Sherman Act, Standard Oil), servono istituzioni.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O'Neil: giuramento che impegni a dichiarare limiti e assunzioni; audit come black box (modello: Web Transparency and Accountability Project di Princeton); estendere FCRA, ECOA, HIPAA, ADA — oggi eluse ribattezzando il dato sensibile. Natale: rimedio culturale ed epistemologico — riconoscere quando un sistema sfrutta le aspettative cognitive; nessun sistema è neutrale. I tre controesempi: modello per i rifugi di NYC (con resistenze politiche quando i dati erano scomodi); Mira Bernstein sul lavoro forzato; Florida: sostegno preventivo alle famiglie, zero decessi nella contea. Chiusa: equità come obiettivo, anche a costo di un po' di efficienza.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Chiusura: il determinismo tecnologico è la prima bugia da smontare — 'il mondo è sempre il risultato di una scelta sociale' (Polanyi). Cura comune ai due libri: regole e audit (O'Neil), alfabetizzazione e trasparenza (Natale). Il prof apprezza i collegamenti autonomi: usare i casi americani di O'Neil per arricchire gli esempi europei visti in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abacus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7772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ETICA, SOCIETÀ E PRIVACY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1188720"/>
            <a:ext cx="4480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L'algoritmo ha sempre ragione.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Giusto?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21792" y="3566160"/>
            <a:ext cx="2926080" cy="0"/>
          </a:xfrm>
          <a:prstGeom prst="line">
            <a:avLst/>
          </a:prstGeom>
          <a:noFill/>
          <a:ln w="12700">
            <a:solidFill>
              <a:srgbClr val="3A3A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37033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Weapons of Math Destruction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Cathy O'Neil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Macchine ingannevoli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Simone Natale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4572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Alessandro Olivero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PUNTO DI PARTENZA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libri, una fregatura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O'NEIL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057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danno.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punteggio decide la tua vita.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Nessuno sa spiegarti perché.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0" cy="18288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NATALE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20574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L'inganno.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983480" y="2880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macchine recitano. Noi applaudiamo.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170 anni.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81381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343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potere degli algoritmi non sta nel calcolo. Sta nella fiducia che gli regaliamo.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COS'È UNA WMD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ricetta del disastro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02920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Opacità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Nessuno ti dice come funziona.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19272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319272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19272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per milioni di persone.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35624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135624" y="2834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Danno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35624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Rovina vite. E si autoalimenta.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Servono tutti e tre insieme.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TERMINE DI PARAGONE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Com'è fatto un modello sano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8988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statistica del baseball (Moneyball): quattro qualità che una WMD non ha mai.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Trasparente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587752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587752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Pertinente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72584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72584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feedback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57416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57416" y="27432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 condivisi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813816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160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value-added model che valuta gli insegnanti: </a:t>
            </a:r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su quattro.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 STUDIO · IL VALUE-ADDED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</a:t>
            </a:r>
            <a:pPr indent="0" marL="0">
              <a:buNone/>
            </a:pPr>
            <a:r>
              <a:rPr lang="en-US" sz="8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pPr indent="0" marL="0">
              <a:buNone/>
            </a:pPr>
            <a:r>
              <a:rPr lang="en-US" sz="80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96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502920" y="2606040"/>
            <a:ext cx="4206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insegnante.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lavoro.</a:t>
            </a:r>
            <a:endParaRPr lang="en-US" sz="20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anno di distanza.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02920" y="39776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modello non misura la qualità.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Misura rumore travestito da verità.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0" y="4173322"/>
            <a:ext cx="1188720" cy="17007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0" y="367040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303520" y="4453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 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0" y="1622146"/>
            <a:ext cx="1188720" cy="2721254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0" y="111922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040880" y="4453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0" y="4343400"/>
            <a:ext cx="342900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46817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Punteggio value-added su 100 — Tim Clifford, New York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MECCANISMO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profezia che si avvera da sola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1828800" cy="1005840"/>
          </a:xfrm>
          <a:prstGeom prst="roundRect">
            <a:avLst>
              <a:gd name="adj" fmla="val 4545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7512" y="221284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storici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7512" y="254203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arresti, non reati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50008" y="231343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24328" y="2011680"/>
            <a:ext cx="1828800" cy="1005840"/>
          </a:xfrm>
          <a:prstGeom prst="roundRect">
            <a:avLst>
              <a:gd name="adj" fmla="val 4545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88920" y="221284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Predizione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88920" y="254203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“quartiere a rischio”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71416" y="231343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45736" y="2011680"/>
            <a:ext cx="1828800" cy="1005840"/>
          </a:xfrm>
          <a:prstGeom prst="roundRect">
            <a:avLst>
              <a:gd name="adj" fmla="val 4545"/>
            </a:avLst>
          </a:prstGeom>
          <a:solidFill>
            <a:srgbClr val="F4F4F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10328" y="221284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Azione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0328" y="254203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più pattuglie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92824" y="2313432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67144" y="2011680"/>
            <a:ext cx="1828800" cy="1005840"/>
          </a:xfrm>
          <a:prstGeom prst="roundRect">
            <a:avLst>
              <a:gd name="adj" fmla="val 4545"/>
            </a:avLst>
          </a:prstGeom>
          <a:solidFill>
            <a:srgbClr val="141414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31736" y="2212848"/>
            <a:ext cx="1499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Nuovi dati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31736" y="2542032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“visto?”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17320" y="3474720"/>
            <a:ext cx="6309360" cy="0"/>
          </a:xfrm>
          <a:prstGeom prst="line">
            <a:avLst/>
          </a:prstGeom>
          <a:noFill/>
          <a:ln w="19050">
            <a:solidFill>
              <a:srgbClr val="990011"/>
            </a:solidFill>
            <a:prstDash val="dash"/>
            <a:headEnd type="arrow"/>
          </a:ln>
        </p:spPr>
      </p:sp>
      <p:sp>
        <p:nvSpPr>
          <p:cNvPr id="20" name="Text 18"/>
          <p:cNvSpPr/>
          <p:nvPr/>
        </p:nvSpPr>
        <p:spPr>
          <a:xfrm>
            <a:off x="1417320" y="35844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pregiudizio è diventato un dato — e il giro ricomincia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34340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WMD non descrive la realtà: la produce.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camer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 AMBITI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modi per fregarti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02920" y="1536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Istruzione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02920" y="1783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 atenei rincorrono il ranking.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2048256"/>
            <a:ext cx="3749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1122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Giustizia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quartiere pesa più del reato.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624328"/>
            <a:ext cx="3749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6883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Lavoro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02920" y="2935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mai validati, turni da software.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3200400"/>
            <a:ext cx="3749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264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35112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E-score: nessuna regola, nessun appello.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2920" y="3776472"/>
            <a:ext cx="3749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Assicurazioni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502920" y="40873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credito pesa più della fedina.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2920" y="4352544"/>
            <a:ext cx="37490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4165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Voto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4663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candidato diverso per ogni elettore.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ouija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051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SECONDO LIBRO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146304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Ok, ma perché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caschiamo sempre?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94360" y="3200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O'Neil ti mostra il crimine. Natale ti spiega perché non vedi l'arma.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94360" y="420624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Macchine ingannevoli</a:t>
            </a:r>
            <a:pPr indent="0" marL="0"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Simone Natale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ouij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572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L'EFFETTO ELIZA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02920" y="74980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Parlavo con un tavolino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1371600" y="2029968"/>
            <a:ext cx="0" cy="251460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98448" y="1993392"/>
            <a:ext cx="155448" cy="155448"/>
          </a:xfrm>
          <a:prstGeom prst="ellipse">
            <a:avLst/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92024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1853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45920" y="19202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tavolino parlante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Faraday lo smaschera. La gente ci crede lo stesso.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298448" y="2779776"/>
            <a:ext cx="155448" cy="155448"/>
          </a:xfrm>
          <a:prstGeom prst="ellipse">
            <a:avLst/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270662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1963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645920" y="2706624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ELIZA, il finto terapeuta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comprensione. Eppure la segretaria chiede privacy.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298448" y="3566160"/>
            <a:ext cx="155448" cy="155448"/>
          </a:xfrm>
          <a:prstGeom prst="ellipse">
            <a:avLst/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34930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1991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645920" y="349300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premio Loebner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 chi finge meglio gli errori umani.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298448" y="4352544"/>
            <a:ext cx="155448" cy="155448"/>
          </a:xfrm>
          <a:prstGeom prst="ellipse">
            <a:avLst/>
          </a:prstGeom>
          <a:solidFill>
            <a:srgbClr val="99001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11480" y="427939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OGGI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645920" y="42793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Alexa, Siri, ChatGPT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trucco, voce migliore.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CUORE FILOSOFICO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Sintassi senza semantica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947672"/>
            <a:ext cx="146304" cy="14630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macchina collega simboli.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258568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accede mai al significato. “Pappagalli stocastici”.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843784"/>
            <a:ext cx="146304" cy="14630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7706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test di Turing premia la recita.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Vince chi inganna il giudice, non chi capisce il mondo.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39896"/>
            <a:ext cx="146304" cy="146304"/>
          </a:xfrm>
          <a:prstGeom prst="ellipse">
            <a:avLst/>
          </a:prstGeom>
          <a:solidFill>
            <a:srgbClr val="99001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credit score è la stessa recita.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405079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giudice vede il punteggio, non il calcolo — e si fida.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61772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Trattare la sintassi come comprensione è la radice di tutti gli inganni — e di tutte le WMD.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FIGURE, UNO SCHEMA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Invisibile, quindi potentissimo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SIMBIOSI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macchina è diventata il territorio, non più la mappa.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non la vedi, non puoi dubitarne.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920240"/>
            <a:ext cx="0" cy="182880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GATEKEEPER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8348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piazza pubblica finta, con un padrone vero.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83480" y="33832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echo chamber non sono un incidente: sono il prodotto.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entrambi i casi giudichiamo l'output, mai il processo. È lì che l'inganno vive.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FILI ROSSI CON IL CORSO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Tutto torna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91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Inevitabilismo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017520" y="1700784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Big Data codificano il passato, non il futuro.”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3134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2322576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punteggio ha potere solo perché glielo diamo noi.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770632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9352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politico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2944368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proxy è una decisione morale di pochi tecnici.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392424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55701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Tecnofeudalesimo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356616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E-score e piattaforme: leggi private, senza controllo.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014216"/>
            <a:ext cx="813816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17880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Polanyi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17520" y="4187952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mercato dei dati va arginato: audit e leggi.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PARTE COSTRUTTIVA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749808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Disarmare le armi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RIMEDI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giuramento per i data scientist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26517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indipendenti sulle black box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31546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Tutele estese ai modelli digitali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365760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Alfabetizzazione all'inganno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0" y="1874520"/>
            <a:ext cx="0" cy="237744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I DATI FANNO BENE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2148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risorse ai rifugi di New York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983480" y="2651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lavoro forzato nelle filiere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98348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–"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prevenzione degli abusi in Florida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45262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differenza tra un'arma e uno strumento non è tecnica: è l'obiettivo.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mg/marionette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77724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1188720"/>
            <a:ext cx="4480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è destino.</a:t>
            </a:r>
            <a:endParaRPr lang="en-US" sz="27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700" b="1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una scelta che qualcuno ha fatto per te.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94360" y="36118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WMD nasce da una decisione umana. Ogni inganno è progettato. E ciò che è progettato si può riprogettare.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94360" y="4572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Domande? Coraggio.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L'algoritmo ha sempre ragione. Giusto?</dc:title>
  <dc:subject>PptxGenJS Presentation</dc:subject>
  <dc:creator>Alessandro Olivero</dc:creator>
  <cp:lastModifiedBy>Alessandro Olivero</cp:lastModifiedBy>
  <cp:revision>1</cp:revision>
  <dcterms:created xsi:type="dcterms:W3CDTF">2026-07-03T00:10:27Z</dcterms:created>
  <dcterms:modified xsi:type="dcterms:W3CDTF">2026-07-03T00:10:27Z</dcterms:modified>
</cp:coreProperties>
</file>