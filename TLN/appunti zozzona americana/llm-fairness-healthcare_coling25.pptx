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5"/>
  </p:notesMasterIdLst>
  <p:sldIdLst>
    <p:sldId id="594" r:id="rId2"/>
    <p:sldId id="596" r:id="rId3"/>
    <p:sldId id="595" r:id="rId4"/>
    <p:sldId id="257" r:id="rId5"/>
    <p:sldId id="275" r:id="rId6"/>
    <p:sldId id="276" r:id="rId7"/>
    <p:sldId id="282" r:id="rId8"/>
    <p:sldId id="299" r:id="rId9"/>
    <p:sldId id="284" r:id="rId10"/>
    <p:sldId id="285" r:id="rId11"/>
    <p:sldId id="593" r:id="rId12"/>
    <p:sldId id="286" r:id="rId13"/>
    <p:sldId id="296" r:id="rId14"/>
    <p:sldId id="288" r:id="rId15"/>
    <p:sldId id="289" r:id="rId16"/>
    <p:sldId id="291" r:id="rId17"/>
    <p:sldId id="292" r:id="rId18"/>
    <p:sldId id="297" r:id="rId19"/>
    <p:sldId id="295" r:id="rId20"/>
    <p:sldId id="592" r:id="rId21"/>
    <p:sldId id="298" r:id="rId22"/>
    <p:sldId id="290" r:id="rId23"/>
    <p:sldId id="29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26"/>
    <p:restoredTop sz="96096"/>
  </p:normalViewPr>
  <p:slideViewPr>
    <p:cSldViewPr snapToGrid="0">
      <p:cViewPr varScale="1">
        <p:scale>
          <a:sx n="122" d="100"/>
          <a:sy n="122" d="100"/>
        </p:scale>
        <p:origin x="432" y="192"/>
      </p:cViewPr>
      <p:guideLst/>
    </p:cSldViewPr>
  </p:slideViewPr>
  <p:outlineViewPr>
    <p:cViewPr>
      <p:scale>
        <a:sx n="33" d="100"/>
        <a:sy n="33" d="100"/>
      </p:scale>
      <p:origin x="0" y="-752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976"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A64D15-D22C-6343-B3EC-CB1C30AE0658}" type="datetimeFigureOut">
              <a:rPr lang="en-US" smtClean="0"/>
              <a:t>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635AE5-9B4E-5A4B-9D93-CA0104E8CD3C}" type="slidenum">
              <a:rPr lang="en-US" smtClean="0"/>
              <a:t>‹#›</a:t>
            </a:fld>
            <a:endParaRPr lang="en-US"/>
          </a:p>
        </p:txBody>
      </p:sp>
    </p:spTree>
    <p:extLst>
      <p:ext uri="{BB962C8B-B14F-4D97-AF65-F5344CB8AC3E}">
        <p14:creationId xmlns:p14="http://schemas.microsoft.com/office/powerpoint/2010/main" val="1742097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B7635AE5-9B4E-5A4B-9D93-CA0104E8CD3C}" type="slidenum">
              <a:rPr lang="en-US" smtClean="0"/>
              <a:t>1</a:t>
            </a:fld>
            <a:endParaRPr lang="en-US"/>
          </a:p>
        </p:txBody>
      </p:sp>
    </p:spTree>
    <p:extLst>
      <p:ext uri="{BB962C8B-B14F-4D97-AF65-F5344CB8AC3E}">
        <p14:creationId xmlns:p14="http://schemas.microsoft.com/office/powerpoint/2010/main" val="2974140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73907403-E387-B24D-BDE6-FF95C12485DD}" type="slidenum">
              <a:rPr kumimoji="1" lang="zh-CN" altLang="en-US" smtClean="0"/>
              <a:t>4</a:t>
            </a:fld>
            <a:endParaRPr kumimoji="1" lang="zh-CN" altLang="en-US"/>
          </a:p>
        </p:txBody>
      </p:sp>
    </p:spTree>
    <p:extLst>
      <p:ext uri="{BB962C8B-B14F-4D97-AF65-F5344CB8AC3E}">
        <p14:creationId xmlns:p14="http://schemas.microsoft.com/office/powerpoint/2010/main" val="2791529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5FB3-0017-BA50-CE05-8802DACF70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2A4D9A-F9E3-EA43-91B2-0EA0BDDDF10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6D58A7-99C6-6C95-0436-5ECA35ABB349}"/>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7473130F-A5A5-A6A4-C964-4F60D1F1D50F}"/>
              </a:ext>
            </a:extLst>
          </p:cNvPr>
          <p:cNvSpPr>
            <a:spLocks noGrp="1"/>
          </p:cNvSpPr>
          <p:nvPr>
            <p:ph type="sldNum" sz="quarter" idx="5"/>
          </p:nvPr>
        </p:nvSpPr>
        <p:spPr/>
        <p:txBody>
          <a:bodyPr/>
          <a:lstStyle/>
          <a:p>
            <a:fld id="{73907403-E387-B24D-BDE6-FF95C12485DD}" type="slidenum">
              <a:rPr kumimoji="1" lang="zh-CN" altLang="en-US" smtClean="0"/>
              <a:t>5</a:t>
            </a:fld>
            <a:endParaRPr kumimoji="1" lang="zh-CN" altLang="en-US"/>
          </a:p>
        </p:txBody>
      </p:sp>
    </p:spTree>
    <p:extLst>
      <p:ext uri="{BB962C8B-B14F-4D97-AF65-F5344CB8AC3E}">
        <p14:creationId xmlns:p14="http://schemas.microsoft.com/office/powerpoint/2010/main" val="2264376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832E0-F73D-4995-3448-8E6A95779E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F404D92-DFE5-A373-7420-74D93741AA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27D1C1-9FEC-7EF4-AFCB-443D9EFA23B0}"/>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AFA2036A-ABD0-9CE0-3920-6E4A8E600CD9}"/>
              </a:ext>
            </a:extLst>
          </p:cNvPr>
          <p:cNvSpPr>
            <a:spLocks noGrp="1"/>
          </p:cNvSpPr>
          <p:nvPr>
            <p:ph type="sldNum" sz="quarter" idx="5"/>
          </p:nvPr>
        </p:nvSpPr>
        <p:spPr/>
        <p:txBody>
          <a:bodyPr/>
          <a:lstStyle/>
          <a:p>
            <a:fld id="{73907403-E387-B24D-BDE6-FF95C12485DD}" type="slidenum">
              <a:rPr kumimoji="1" lang="zh-CN" altLang="en-US" smtClean="0"/>
              <a:t>6</a:t>
            </a:fld>
            <a:endParaRPr kumimoji="1" lang="zh-CN" altLang="en-US"/>
          </a:p>
        </p:txBody>
      </p:sp>
    </p:spTree>
    <p:extLst>
      <p:ext uri="{BB962C8B-B14F-4D97-AF65-F5344CB8AC3E}">
        <p14:creationId xmlns:p14="http://schemas.microsoft.com/office/powerpoint/2010/main" val="1116217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F66BC-53A0-71B9-945D-9589A10A7F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C95620-C83B-3BA9-8802-AD70FC5EB8A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A93A97-2292-002F-7D53-6D99664E5844}"/>
              </a:ext>
            </a:extLst>
          </p:cNvPr>
          <p:cNvSpPr>
            <a:spLocks noGrp="1"/>
          </p:cNvSpPr>
          <p:nvPr>
            <p:ph type="body" idx="1"/>
          </p:nvPr>
        </p:nvSpPr>
        <p:spPr/>
        <p:txBody>
          <a:bodyPr/>
          <a:lstStyle/>
          <a:p>
            <a:r>
              <a:rPr kumimoji="1" lang="en-US" altLang="zh-CN" dirty="0"/>
              <a:t>They all include demographic information . </a:t>
            </a:r>
            <a:r>
              <a:rPr lang="en-GB" dirty="0"/>
              <a:t>MIMIC-IV contains data for over 65,000 patients admitted to an ICU and over 200,000 patients admitted to the emergency department.</a:t>
            </a:r>
            <a:endParaRPr kumimoji="1" lang="en-US" altLang="zh-CN" dirty="0"/>
          </a:p>
        </p:txBody>
      </p:sp>
      <p:sp>
        <p:nvSpPr>
          <p:cNvPr id="4" name="灯片编号占位符 3">
            <a:extLst>
              <a:ext uri="{FF2B5EF4-FFF2-40B4-BE49-F238E27FC236}">
                <a16:creationId xmlns:a16="http://schemas.microsoft.com/office/drawing/2014/main" id="{D3BBD6B7-8B5E-2B78-1355-3E91DAE34924}"/>
              </a:ext>
            </a:extLst>
          </p:cNvPr>
          <p:cNvSpPr>
            <a:spLocks noGrp="1"/>
          </p:cNvSpPr>
          <p:nvPr>
            <p:ph type="sldNum" sz="quarter" idx="5"/>
          </p:nvPr>
        </p:nvSpPr>
        <p:spPr/>
        <p:txBody>
          <a:bodyPr/>
          <a:lstStyle/>
          <a:p>
            <a:fld id="{73907403-E387-B24D-BDE6-FF95C12485DD}" type="slidenum">
              <a:rPr kumimoji="1" lang="zh-CN" altLang="en-US" smtClean="0"/>
              <a:t>7</a:t>
            </a:fld>
            <a:endParaRPr kumimoji="1" lang="zh-CN" altLang="en-US"/>
          </a:p>
        </p:txBody>
      </p:sp>
    </p:spTree>
    <p:extLst>
      <p:ext uri="{BB962C8B-B14F-4D97-AF65-F5344CB8AC3E}">
        <p14:creationId xmlns:p14="http://schemas.microsoft.com/office/powerpoint/2010/main" val="4233164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48E30-BABE-78FC-E9E0-AC3405D41F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A655A4-21C9-B9F9-9D74-6CD9405EB4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7686EE-A245-616A-364D-5153C8D4CC96}"/>
              </a:ext>
            </a:extLst>
          </p:cNvPr>
          <p:cNvSpPr>
            <a:spLocks noGrp="1"/>
          </p:cNvSpPr>
          <p:nvPr>
            <p:ph type="body" idx="1"/>
          </p:nvPr>
        </p:nvSpPr>
        <p:spPr/>
        <p:txBody>
          <a:bodyPr/>
          <a:lstStyle/>
          <a:p>
            <a:r>
              <a:rPr lang="en-GB" sz="1200" i="1" kern="1200" dirty="0">
                <a:solidFill>
                  <a:schemeClr val="tx1"/>
                </a:solidFill>
                <a:effectLst/>
                <a:latin typeface="+mn-lt"/>
                <a:ea typeface="+mn-ea"/>
                <a:cs typeface="+mn-cs"/>
              </a:rPr>
              <a:t>For</a:t>
            </a:r>
            <a:r>
              <a:rPr lang="en-GB" dirty="0"/>
              <a:t> </a:t>
            </a:r>
            <a:r>
              <a:rPr lang="en-GB" sz="1200" i="1" kern="1200" dirty="0">
                <a:solidFill>
                  <a:schemeClr val="tx1"/>
                </a:solidFill>
                <a:effectLst/>
                <a:latin typeface="+mn-lt"/>
                <a:ea typeface="+mn-ea"/>
                <a:cs typeface="+mn-cs"/>
              </a:rPr>
              <a:t>tasks with access to larger databases (MIMIC and</a:t>
            </a:r>
            <a:r>
              <a:rPr lang="en-GB" dirty="0"/>
              <a:t> </a:t>
            </a:r>
            <a:r>
              <a:rPr lang="en-GB" sz="1200" i="1" kern="1200" dirty="0" err="1">
                <a:solidFill>
                  <a:schemeClr val="tx1"/>
                </a:solidFill>
                <a:effectLst/>
                <a:latin typeface="+mn-lt"/>
                <a:ea typeface="+mn-ea"/>
                <a:cs typeface="+mn-cs"/>
              </a:rPr>
              <a:t>MedQA</a:t>
            </a:r>
            <a:r>
              <a:rPr lang="en-GB" sz="1200" i="1" kern="1200" dirty="0">
                <a:solidFill>
                  <a:schemeClr val="tx1"/>
                </a:solidFill>
                <a:effectLst/>
                <a:latin typeface="+mn-lt"/>
                <a:ea typeface="+mn-ea"/>
                <a:cs typeface="+mn-cs"/>
              </a:rPr>
              <a:t>), we intentionally capped the training data</a:t>
            </a:r>
            <a:r>
              <a:rPr lang="en-GB" dirty="0"/>
              <a:t> </a:t>
            </a:r>
            <a:r>
              <a:rPr lang="en-GB" sz="1200" i="1" kern="1200" dirty="0">
                <a:solidFill>
                  <a:schemeClr val="tx1"/>
                </a:solidFill>
                <a:effectLst/>
                <a:latin typeface="+mn-lt"/>
                <a:ea typeface="+mn-ea"/>
                <a:cs typeface="+mn-cs"/>
              </a:rPr>
              <a:t>at 5000 examples to mimic similar low-resource</a:t>
            </a:r>
            <a:endParaRPr lang="en-GB" sz="1200" kern="1200" dirty="0">
              <a:solidFill>
                <a:schemeClr val="tx1"/>
              </a:solidFill>
              <a:effectLst/>
              <a:latin typeface="+mn-lt"/>
              <a:ea typeface="+mn-ea"/>
              <a:cs typeface="+mn-cs"/>
            </a:endParaRPr>
          </a:p>
          <a:p>
            <a:r>
              <a:rPr lang="en-GB" sz="1200" i="1" kern="1200" dirty="0">
                <a:solidFill>
                  <a:schemeClr val="tx1"/>
                </a:solidFill>
                <a:effectLst/>
                <a:latin typeface="+mn-lt"/>
                <a:ea typeface="+mn-ea"/>
                <a:cs typeface="+mn-cs"/>
              </a:rPr>
              <a:t>conditions. We sample each dataset such that the</a:t>
            </a:r>
            <a:r>
              <a:rPr lang="en-GB" dirty="0"/>
              <a:t> </a:t>
            </a:r>
            <a:r>
              <a:rPr lang="en-GB" sz="1200" i="1" kern="1200" dirty="0">
                <a:solidFill>
                  <a:schemeClr val="tx1"/>
                </a:solidFill>
                <a:effectLst/>
                <a:latin typeface="+mn-lt"/>
                <a:ea typeface="+mn-ea"/>
                <a:cs typeface="+mn-cs"/>
              </a:rPr>
              <a:t>classes C, the demographic attributes Z, and the</a:t>
            </a:r>
            <a:r>
              <a:rPr lang="en-GB" dirty="0"/>
              <a:t> </a:t>
            </a:r>
            <a:r>
              <a:rPr lang="en-GB" sz="1200" i="1" kern="1200" dirty="0">
                <a:solidFill>
                  <a:schemeClr val="tx1"/>
                </a:solidFill>
                <a:effectLst/>
                <a:latin typeface="+mn-lt"/>
                <a:ea typeface="+mn-ea"/>
                <a:cs typeface="+mn-cs"/>
              </a:rPr>
              <a:t>distribution P(C = </a:t>
            </a:r>
            <a:r>
              <a:rPr lang="en-GB" sz="1200" i="1" kern="1200" dirty="0" err="1">
                <a:solidFill>
                  <a:schemeClr val="tx1"/>
                </a:solidFill>
                <a:effectLst/>
                <a:latin typeface="+mn-lt"/>
                <a:ea typeface="+mn-ea"/>
                <a:cs typeface="+mn-cs"/>
              </a:rPr>
              <a:t>c|Z</a:t>
            </a:r>
            <a:r>
              <a:rPr lang="en-GB" sz="1200" i="1" kern="1200" dirty="0">
                <a:solidFill>
                  <a:schemeClr val="tx1"/>
                </a:solidFill>
                <a:effectLst/>
                <a:latin typeface="+mn-lt"/>
                <a:ea typeface="+mn-ea"/>
                <a:cs typeface="+mn-cs"/>
              </a:rPr>
              <a:t> = z) are roughly balanced.</a:t>
            </a:r>
            <a:endParaRPr lang="en-GB" sz="1200" kern="1200" dirty="0">
              <a:solidFill>
                <a:schemeClr val="tx1"/>
              </a:solidFill>
              <a:effectLst/>
              <a:latin typeface="+mn-lt"/>
              <a:ea typeface="+mn-ea"/>
              <a:cs typeface="+mn-cs"/>
            </a:endParaRPr>
          </a:p>
          <a:p>
            <a:endParaRPr kumimoji="1" lang="en-US" altLang="zh-CN" dirty="0"/>
          </a:p>
        </p:txBody>
      </p:sp>
      <p:sp>
        <p:nvSpPr>
          <p:cNvPr id="4" name="灯片编号占位符 3">
            <a:extLst>
              <a:ext uri="{FF2B5EF4-FFF2-40B4-BE49-F238E27FC236}">
                <a16:creationId xmlns:a16="http://schemas.microsoft.com/office/drawing/2014/main" id="{49D0CE1F-A5BD-2E32-7E5A-3015BEBC224B}"/>
              </a:ext>
            </a:extLst>
          </p:cNvPr>
          <p:cNvSpPr>
            <a:spLocks noGrp="1"/>
          </p:cNvSpPr>
          <p:nvPr>
            <p:ph type="sldNum" sz="quarter" idx="5"/>
          </p:nvPr>
        </p:nvSpPr>
        <p:spPr/>
        <p:txBody>
          <a:bodyPr/>
          <a:lstStyle/>
          <a:p>
            <a:fld id="{73907403-E387-B24D-BDE6-FF95C12485DD}" type="slidenum">
              <a:rPr kumimoji="1" lang="zh-CN" altLang="en-US" smtClean="0"/>
              <a:t>9</a:t>
            </a:fld>
            <a:endParaRPr kumimoji="1" lang="zh-CN" altLang="en-US"/>
          </a:p>
        </p:txBody>
      </p:sp>
    </p:spTree>
    <p:extLst>
      <p:ext uri="{BB962C8B-B14F-4D97-AF65-F5344CB8AC3E}">
        <p14:creationId xmlns:p14="http://schemas.microsoft.com/office/powerpoint/2010/main" val="2837155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5C97-8427-54B9-367E-7BCAC8CAF15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949DFD4-D67F-8CA9-AFD9-D4F4772B582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31969C0-2270-E5F1-231A-77DCDC9C1048}"/>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5264BCB1-DEF4-57FE-662C-54C396CA7630}"/>
              </a:ext>
            </a:extLst>
          </p:cNvPr>
          <p:cNvSpPr>
            <a:spLocks noGrp="1"/>
          </p:cNvSpPr>
          <p:nvPr>
            <p:ph type="sldNum" sz="quarter" idx="5"/>
          </p:nvPr>
        </p:nvSpPr>
        <p:spPr/>
        <p:txBody>
          <a:bodyPr/>
          <a:lstStyle/>
          <a:p>
            <a:fld id="{73907403-E387-B24D-BDE6-FF95C12485DD}" type="slidenum">
              <a:rPr kumimoji="1" lang="zh-CN" altLang="en-US" smtClean="0"/>
              <a:t>10</a:t>
            </a:fld>
            <a:endParaRPr kumimoji="1" lang="zh-CN" altLang="en-US"/>
          </a:p>
        </p:txBody>
      </p:sp>
    </p:spTree>
    <p:extLst>
      <p:ext uri="{BB962C8B-B14F-4D97-AF65-F5344CB8AC3E}">
        <p14:creationId xmlns:p14="http://schemas.microsoft.com/office/powerpoint/2010/main" val="2655748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0D84-6F2D-E2C2-FC86-28404D6777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C93D474-587E-871C-29B4-3650ABEA93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0F23C5-CBEB-DD75-8AAE-9D988DF0F04A}"/>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52B5C7C5-C371-659C-3520-13A89000A2B5}"/>
              </a:ext>
            </a:extLst>
          </p:cNvPr>
          <p:cNvSpPr>
            <a:spLocks noGrp="1"/>
          </p:cNvSpPr>
          <p:nvPr>
            <p:ph type="sldNum" sz="quarter" idx="5"/>
          </p:nvPr>
        </p:nvSpPr>
        <p:spPr/>
        <p:txBody>
          <a:bodyPr/>
          <a:lstStyle/>
          <a:p>
            <a:fld id="{73907403-E387-B24D-BDE6-FF95C12485DD}" type="slidenum">
              <a:rPr kumimoji="1" lang="zh-CN" altLang="en-US" smtClean="0"/>
              <a:t>12</a:t>
            </a:fld>
            <a:endParaRPr kumimoji="1" lang="zh-CN" altLang="en-US"/>
          </a:p>
        </p:txBody>
      </p:sp>
    </p:spTree>
    <p:extLst>
      <p:ext uri="{BB962C8B-B14F-4D97-AF65-F5344CB8AC3E}">
        <p14:creationId xmlns:p14="http://schemas.microsoft.com/office/powerpoint/2010/main" val="1145831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453F1-BD37-3846-C2EF-603495398A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A38F1E-89B1-1BBC-1EA7-ACFF67D789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AB332D-D576-3594-1873-2E4D1368D1E8}"/>
              </a:ext>
            </a:extLst>
          </p:cNvPr>
          <p:cNvSpPr>
            <a:spLocks noGrp="1"/>
          </p:cNvSpPr>
          <p:nvPr>
            <p:ph type="body" idx="1"/>
          </p:nvPr>
        </p:nvSpPr>
        <p:spPr/>
        <p:txBody>
          <a:bodyPr/>
          <a:lstStyle/>
          <a:p>
            <a:pPr marL="228600" indent="-228600">
              <a:buAutoNum type="arabicPeriod"/>
            </a:pPr>
            <a:r>
              <a:rPr kumimoji="1" lang="en-US" altLang="zh-CN" dirty="0"/>
              <a:t>Only 4 of 6 (full results in paper)</a:t>
            </a:r>
          </a:p>
          <a:p>
            <a:pPr marL="228600" indent="-228600">
              <a:buAutoNum type="arabicPeriod"/>
            </a:pPr>
            <a:r>
              <a:rPr kumimoji="1" lang="en-US" altLang="zh-CN" dirty="0"/>
              <a:t>First row – random guess (</a:t>
            </a:r>
            <a:r>
              <a:rPr kumimoji="1" lang="en-US" altLang="zh-CN" dirty="0" err="1"/>
              <a:t>MedQA</a:t>
            </a:r>
            <a:r>
              <a:rPr kumimoji="1" lang="en-US" altLang="zh-CN" dirty="0"/>
              <a:t>: 5 answers; SCZ/</a:t>
            </a:r>
            <a:r>
              <a:rPr kumimoji="1" lang="en-US" altLang="zh-CN" dirty="0" err="1"/>
              <a:t>biplora</a:t>
            </a:r>
            <a:r>
              <a:rPr kumimoji="1" lang="en-US" altLang="zh-CN" dirty="0"/>
              <a:t>/healthy)</a:t>
            </a:r>
          </a:p>
          <a:p>
            <a:pPr marL="228600" indent="-228600">
              <a:buAutoNum type="arabicPeriod"/>
            </a:pPr>
            <a:r>
              <a:rPr kumimoji="1" lang="en-US" altLang="zh-CN" dirty="0"/>
              <a:t>Bold: best result per column</a:t>
            </a:r>
          </a:p>
          <a:p>
            <a:pPr marL="228600" indent="-228600">
              <a:buAutoNum type="arabicPeriod"/>
            </a:pPr>
            <a:r>
              <a:rPr kumimoji="1" lang="en-US" altLang="zh-CN" dirty="0"/>
              <a:t>In (): prompt with addition of demographic info</a:t>
            </a:r>
          </a:p>
          <a:p>
            <a:pPr marL="228600" indent="-228600">
              <a:buAutoNum type="arabicPeriod"/>
            </a:pPr>
            <a:r>
              <a:rPr kumimoji="1" lang="en-US" altLang="zh-CN" dirty="0"/>
              <a:t>COT cgot4 best for Mortality but Llama </a:t>
            </a:r>
            <a:r>
              <a:rPr kumimoji="1" lang="en-US" altLang="zh-CN" dirty="0" err="1"/>
              <a:t>foinetuning</a:t>
            </a:r>
            <a:r>
              <a:rPr kumimoji="1" lang="en-US" altLang="zh-CN" dirty="0"/>
              <a:t> best for bipolar</a:t>
            </a:r>
          </a:p>
          <a:p>
            <a:pPr marL="228600" indent="-228600">
              <a:buAutoNum type="arabicPeriod"/>
            </a:pPr>
            <a:r>
              <a:rPr kumimoji="1" lang="en-US" altLang="zh-CN" dirty="0"/>
              <a:t>Including demographic info in prompt helps or doesn’t hurt too much; but in underlined, hurts a lot</a:t>
            </a:r>
          </a:p>
          <a:p>
            <a:pPr marL="228600" indent="-228600">
              <a:buAutoNum type="arabicPeriod"/>
            </a:pPr>
            <a:r>
              <a:rPr kumimoji="1" lang="en-US" altLang="zh-CN" dirty="0"/>
              <a:t>Let’s focus on Mortality and Mental health</a:t>
            </a:r>
          </a:p>
        </p:txBody>
      </p:sp>
      <p:sp>
        <p:nvSpPr>
          <p:cNvPr id="4" name="灯片编号占位符 3">
            <a:extLst>
              <a:ext uri="{FF2B5EF4-FFF2-40B4-BE49-F238E27FC236}">
                <a16:creationId xmlns:a16="http://schemas.microsoft.com/office/drawing/2014/main" id="{6C2DD07D-DD8D-AD5C-1D1A-4EBAE587D6FB}"/>
              </a:ext>
            </a:extLst>
          </p:cNvPr>
          <p:cNvSpPr>
            <a:spLocks noGrp="1"/>
          </p:cNvSpPr>
          <p:nvPr>
            <p:ph type="sldNum" sz="quarter" idx="5"/>
          </p:nvPr>
        </p:nvSpPr>
        <p:spPr/>
        <p:txBody>
          <a:bodyPr/>
          <a:lstStyle/>
          <a:p>
            <a:fld id="{73907403-E387-B24D-BDE6-FF95C12485DD}" type="slidenum">
              <a:rPr kumimoji="1" lang="zh-CN" altLang="en-US" smtClean="0"/>
              <a:t>13</a:t>
            </a:fld>
            <a:endParaRPr kumimoji="1" lang="zh-CN" altLang="en-US"/>
          </a:p>
        </p:txBody>
      </p:sp>
    </p:spTree>
    <p:extLst>
      <p:ext uri="{BB962C8B-B14F-4D97-AF65-F5344CB8AC3E}">
        <p14:creationId xmlns:p14="http://schemas.microsoft.com/office/powerpoint/2010/main" val="2921896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7E9DF-B88F-6B74-A33A-92BC2CCDC3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F64181-C584-043B-54F2-44DEAC05E4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0BB8B75-03DE-7742-BF8C-496BCDBA3049}"/>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C0DE9BBC-4F0E-2F24-9CF3-85D1E8DB533D}"/>
              </a:ext>
            </a:extLst>
          </p:cNvPr>
          <p:cNvSpPr>
            <a:spLocks noGrp="1"/>
          </p:cNvSpPr>
          <p:nvPr>
            <p:ph type="sldNum" sz="quarter" idx="5"/>
          </p:nvPr>
        </p:nvSpPr>
        <p:spPr/>
        <p:txBody>
          <a:bodyPr/>
          <a:lstStyle/>
          <a:p>
            <a:fld id="{73907403-E387-B24D-BDE6-FF95C12485DD}" type="slidenum">
              <a:rPr kumimoji="1" lang="zh-CN" altLang="en-US" smtClean="0"/>
              <a:t>14</a:t>
            </a:fld>
            <a:endParaRPr kumimoji="1" lang="zh-CN" altLang="en-US"/>
          </a:p>
        </p:txBody>
      </p:sp>
    </p:spTree>
    <p:extLst>
      <p:ext uri="{BB962C8B-B14F-4D97-AF65-F5344CB8AC3E}">
        <p14:creationId xmlns:p14="http://schemas.microsoft.com/office/powerpoint/2010/main" val="624335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25FBC-D267-2A91-6AC7-CA70ADF50F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D29E10-5A93-6189-5295-45E0FBA5D1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E23ACD-EFEB-B2A6-0D26-15BAFFC7EF15}"/>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4BCE335D-C605-3538-D60A-CF8369206297}"/>
              </a:ext>
            </a:extLst>
          </p:cNvPr>
          <p:cNvSpPr>
            <a:spLocks noGrp="1"/>
          </p:cNvSpPr>
          <p:nvPr>
            <p:ph type="sldNum" sz="quarter" idx="5"/>
          </p:nvPr>
        </p:nvSpPr>
        <p:spPr/>
        <p:txBody>
          <a:bodyPr/>
          <a:lstStyle/>
          <a:p>
            <a:fld id="{73907403-E387-B24D-BDE6-FF95C12485DD}" type="slidenum">
              <a:rPr kumimoji="1" lang="zh-CN" altLang="en-US" smtClean="0"/>
              <a:t>15</a:t>
            </a:fld>
            <a:endParaRPr kumimoji="1" lang="zh-CN" altLang="en-US"/>
          </a:p>
        </p:txBody>
      </p:sp>
    </p:spTree>
    <p:extLst>
      <p:ext uri="{BB962C8B-B14F-4D97-AF65-F5344CB8AC3E}">
        <p14:creationId xmlns:p14="http://schemas.microsoft.com/office/powerpoint/2010/main" val="2523138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30641-1525-9AFA-298C-BD9BACFE0F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200E71-E22A-B332-A6D4-71FD57F07C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3FB753F-13A4-C844-F062-530FF3D136D6}"/>
              </a:ext>
            </a:extLst>
          </p:cNvPr>
          <p:cNvSpPr>
            <a:spLocks noGrp="1"/>
          </p:cNvSpPr>
          <p:nvPr>
            <p:ph type="body" idx="1"/>
          </p:nvPr>
        </p:nvSpPr>
        <p:spPr/>
        <p:txBody>
          <a:bodyPr/>
          <a:lstStyle/>
          <a:p>
            <a:r>
              <a:rPr kumimoji="1" lang="en-US" altLang="zh-CN" dirty="0"/>
              <a:t>First number as is, in parenthesis fine-tuning. </a:t>
            </a:r>
            <a:r>
              <a:rPr kumimoji="1" lang="en-US" altLang="zh-CN" dirty="0" err="1"/>
              <a:t>FinTun</a:t>
            </a:r>
            <a:r>
              <a:rPr kumimoji="1" lang="en-US" altLang="zh-CN" dirty="0"/>
              <a:t> Llama-3 / Agent – no non fine tuned version. </a:t>
            </a:r>
          </a:p>
        </p:txBody>
      </p:sp>
      <p:sp>
        <p:nvSpPr>
          <p:cNvPr id="4" name="灯片编号占位符 3">
            <a:extLst>
              <a:ext uri="{FF2B5EF4-FFF2-40B4-BE49-F238E27FC236}">
                <a16:creationId xmlns:a16="http://schemas.microsoft.com/office/drawing/2014/main" id="{F7D06FBB-C02C-81D9-A365-DFC90A6DF224}"/>
              </a:ext>
            </a:extLst>
          </p:cNvPr>
          <p:cNvSpPr>
            <a:spLocks noGrp="1"/>
          </p:cNvSpPr>
          <p:nvPr>
            <p:ph type="sldNum" sz="quarter" idx="5"/>
          </p:nvPr>
        </p:nvSpPr>
        <p:spPr/>
        <p:txBody>
          <a:bodyPr/>
          <a:lstStyle/>
          <a:p>
            <a:fld id="{73907403-E387-B24D-BDE6-FF95C12485DD}" type="slidenum">
              <a:rPr kumimoji="1" lang="zh-CN" altLang="en-US" smtClean="0"/>
              <a:t>16</a:t>
            </a:fld>
            <a:endParaRPr kumimoji="1" lang="zh-CN" altLang="en-US"/>
          </a:p>
        </p:txBody>
      </p:sp>
    </p:spTree>
    <p:extLst>
      <p:ext uri="{BB962C8B-B14F-4D97-AF65-F5344CB8AC3E}">
        <p14:creationId xmlns:p14="http://schemas.microsoft.com/office/powerpoint/2010/main" val="62669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22F90-8CF2-3D32-C987-86C185080C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D92533-540F-CA84-232D-88F3431402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EE26C6C-ECBD-775E-1ED2-88B956112987}"/>
              </a:ext>
            </a:extLst>
          </p:cNvPr>
          <p:cNvSpPr>
            <a:spLocks noGrp="1"/>
          </p:cNvSpPr>
          <p:nvPr>
            <p:ph type="body" idx="1"/>
          </p:nvPr>
        </p:nvSpPr>
        <p:spPr/>
        <p:txBody>
          <a:bodyPr/>
          <a:lstStyle/>
          <a:p>
            <a:r>
              <a:rPr kumimoji="1" lang="en-US" altLang="zh-CN" dirty="0"/>
              <a:t>Given our 3 conversational datasets, asked to predict race of speaker. HC: AA/W/H; SCZ:AA/W</a:t>
            </a:r>
          </a:p>
        </p:txBody>
      </p:sp>
      <p:sp>
        <p:nvSpPr>
          <p:cNvPr id="4" name="灯片编号占位符 3">
            <a:extLst>
              <a:ext uri="{FF2B5EF4-FFF2-40B4-BE49-F238E27FC236}">
                <a16:creationId xmlns:a16="http://schemas.microsoft.com/office/drawing/2014/main" id="{8D8825B5-28A4-CE17-0B3F-ACC73718BB9F}"/>
              </a:ext>
            </a:extLst>
          </p:cNvPr>
          <p:cNvSpPr>
            <a:spLocks noGrp="1"/>
          </p:cNvSpPr>
          <p:nvPr>
            <p:ph type="sldNum" sz="quarter" idx="5"/>
          </p:nvPr>
        </p:nvSpPr>
        <p:spPr/>
        <p:txBody>
          <a:bodyPr/>
          <a:lstStyle/>
          <a:p>
            <a:fld id="{73907403-E387-B24D-BDE6-FF95C12485DD}" type="slidenum">
              <a:rPr kumimoji="1" lang="zh-CN" altLang="en-US" smtClean="0"/>
              <a:t>17</a:t>
            </a:fld>
            <a:endParaRPr kumimoji="1" lang="zh-CN" altLang="en-US"/>
          </a:p>
        </p:txBody>
      </p:sp>
    </p:spTree>
    <p:extLst>
      <p:ext uri="{BB962C8B-B14F-4D97-AF65-F5344CB8AC3E}">
        <p14:creationId xmlns:p14="http://schemas.microsoft.com/office/powerpoint/2010/main" val="3818682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B10F2-1C6A-6046-982F-CA7143272C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2CD00E-CAD4-BE6B-9672-A03AF109999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F6DDEE-780E-B52C-F221-75A040FAFA46}"/>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54EA54F0-D28F-1310-04CA-7952DA8ED2E7}"/>
              </a:ext>
            </a:extLst>
          </p:cNvPr>
          <p:cNvSpPr>
            <a:spLocks noGrp="1"/>
          </p:cNvSpPr>
          <p:nvPr>
            <p:ph type="sldNum" sz="quarter" idx="5"/>
          </p:nvPr>
        </p:nvSpPr>
        <p:spPr/>
        <p:txBody>
          <a:bodyPr/>
          <a:lstStyle/>
          <a:p>
            <a:fld id="{73907403-E387-B24D-BDE6-FF95C12485DD}" type="slidenum">
              <a:rPr kumimoji="1" lang="zh-CN" altLang="en-US" smtClean="0"/>
              <a:t>19</a:t>
            </a:fld>
            <a:endParaRPr kumimoji="1" lang="zh-CN" altLang="en-US"/>
          </a:p>
        </p:txBody>
      </p:sp>
    </p:spTree>
    <p:extLst>
      <p:ext uri="{BB962C8B-B14F-4D97-AF65-F5344CB8AC3E}">
        <p14:creationId xmlns:p14="http://schemas.microsoft.com/office/powerpoint/2010/main" val="4273818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BC23B-4D86-1DB4-684D-5634C98056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11848B-9B26-7A28-6B97-1DC995ABDD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E8FCBA-FAF3-E114-794D-2D3D2B348591}"/>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5C32F463-53CA-0A74-4CAB-5ADDF40FE4BC}"/>
              </a:ext>
            </a:extLst>
          </p:cNvPr>
          <p:cNvSpPr>
            <a:spLocks noGrp="1"/>
          </p:cNvSpPr>
          <p:nvPr>
            <p:ph type="sldNum" sz="quarter" idx="5"/>
          </p:nvPr>
        </p:nvSpPr>
        <p:spPr/>
        <p:txBody>
          <a:bodyPr/>
          <a:lstStyle/>
          <a:p>
            <a:fld id="{73907403-E387-B24D-BDE6-FF95C12485DD}" type="slidenum">
              <a:rPr kumimoji="1" lang="zh-CN" altLang="en-US" smtClean="0"/>
              <a:t>21</a:t>
            </a:fld>
            <a:endParaRPr kumimoji="1" lang="zh-CN" altLang="en-US"/>
          </a:p>
        </p:txBody>
      </p:sp>
    </p:spTree>
    <p:extLst>
      <p:ext uri="{BB962C8B-B14F-4D97-AF65-F5344CB8AC3E}">
        <p14:creationId xmlns:p14="http://schemas.microsoft.com/office/powerpoint/2010/main" val="2112530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453F1-BD37-3846-C2EF-603495398A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A38F1E-89B1-1BBC-1EA7-ACFF67D7893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4AB332D-D576-3594-1873-2E4D1368D1E8}"/>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6C2DD07D-DD8D-AD5C-1D1A-4EBAE587D6FB}"/>
              </a:ext>
            </a:extLst>
          </p:cNvPr>
          <p:cNvSpPr>
            <a:spLocks noGrp="1"/>
          </p:cNvSpPr>
          <p:nvPr>
            <p:ph type="sldNum" sz="quarter" idx="5"/>
          </p:nvPr>
        </p:nvSpPr>
        <p:spPr/>
        <p:txBody>
          <a:bodyPr/>
          <a:lstStyle/>
          <a:p>
            <a:fld id="{73907403-E387-B24D-BDE6-FF95C12485DD}" type="slidenum">
              <a:rPr kumimoji="1" lang="zh-CN" altLang="en-US" smtClean="0"/>
              <a:t>22</a:t>
            </a:fld>
            <a:endParaRPr kumimoji="1" lang="zh-CN" altLang="en-US"/>
          </a:p>
        </p:txBody>
      </p:sp>
    </p:spTree>
    <p:extLst>
      <p:ext uri="{BB962C8B-B14F-4D97-AF65-F5344CB8AC3E}">
        <p14:creationId xmlns:p14="http://schemas.microsoft.com/office/powerpoint/2010/main" val="1455843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68ED-81EF-A7D9-0E5A-D876DF73A73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769F0E6-3359-134E-F3D4-0DFD61DA2C2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588660-0ADA-9A83-FF07-F5D42AA5D1A1}"/>
              </a:ext>
            </a:extLst>
          </p:cNvPr>
          <p:cNvSpPr>
            <a:spLocks noGrp="1"/>
          </p:cNvSpPr>
          <p:nvPr>
            <p:ph type="body" idx="1"/>
          </p:nvPr>
        </p:nvSpPr>
        <p:spPr/>
        <p:txBody>
          <a:bodyPr/>
          <a:lstStyle/>
          <a:p>
            <a:endParaRPr kumimoji="1" lang="en-US" altLang="zh-CN" dirty="0"/>
          </a:p>
        </p:txBody>
      </p:sp>
      <p:sp>
        <p:nvSpPr>
          <p:cNvPr id="4" name="灯片编号占位符 3">
            <a:extLst>
              <a:ext uri="{FF2B5EF4-FFF2-40B4-BE49-F238E27FC236}">
                <a16:creationId xmlns:a16="http://schemas.microsoft.com/office/drawing/2014/main" id="{F25001AA-9609-2C4C-08E0-FC68EFFBD38B}"/>
              </a:ext>
            </a:extLst>
          </p:cNvPr>
          <p:cNvSpPr>
            <a:spLocks noGrp="1"/>
          </p:cNvSpPr>
          <p:nvPr>
            <p:ph type="sldNum" sz="quarter" idx="5"/>
          </p:nvPr>
        </p:nvSpPr>
        <p:spPr/>
        <p:txBody>
          <a:bodyPr/>
          <a:lstStyle/>
          <a:p>
            <a:fld id="{73907403-E387-B24D-BDE6-FF95C12485DD}" type="slidenum">
              <a:rPr kumimoji="1" lang="zh-CN" altLang="en-US" smtClean="0"/>
              <a:t>23</a:t>
            </a:fld>
            <a:endParaRPr kumimoji="1" lang="zh-CN" altLang="en-US"/>
          </a:p>
        </p:txBody>
      </p:sp>
    </p:spTree>
    <p:extLst>
      <p:ext uri="{BB962C8B-B14F-4D97-AF65-F5344CB8AC3E}">
        <p14:creationId xmlns:p14="http://schemas.microsoft.com/office/powerpoint/2010/main" val="2974007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DFE1-F93B-0C90-DCFF-578622A55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D94F6B-30F9-6AEC-A17C-92606AAEBA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CBB229-6474-DC39-BC5A-757445D8F492}"/>
              </a:ext>
            </a:extLst>
          </p:cNvPr>
          <p:cNvSpPr>
            <a:spLocks noGrp="1"/>
          </p:cNvSpPr>
          <p:nvPr>
            <p:ph type="dt" sz="half" idx="10"/>
          </p:nvPr>
        </p:nvSpPr>
        <p:spPr/>
        <p:txBody>
          <a:bodyPr/>
          <a:lstStyle/>
          <a:p>
            <a:fld id="{0AB202C5-E23C-6B4C-A5BC-8BDF4EE911B3}" type="datetime1">
              <a:rPr lang="it-IT" smtClean="0"/>
              <a:t>20/05/26</a:t>
            </a:fld>
            <a:endParaRPr lang="en-US"/>
          </a:p>
        </p:txBody>
      </p:sp>
      <p:sp>
        <p:nvSpPr>
          <p:cNvPr id="5" name="Footer Placeholder 4">
            <a:extLst>
              <a:ext uri="{FF2B5EF4-FFF2-40B4-BE49-F238E27FC236}">
                <a16:creationId xmlns:a16="http://schemas.microsoft.com/office/drawing/2014/main" id="{B0813509-3AB3-3D0D-DC1B-D1B5E1F7BD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2D5A9-B2AE-0D21-2D94-69AF2797FD20}"/>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410390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E0CB-2F09-1563-9361-B921CBD981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6A705F-E0E7-0274-2A0A-ECDCAE0CF9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84F87B-2D33-75F5-50E6-E7BF303F22F8}"/>
              </a:ext>
            </a:extLst>
          </p:cNvPr>
          <p:cNvSpPr>
            <a:spLocks noGrp="1"/>
          </p:cNvSpPr>
          <p:nvPr>
            <p:ph type="dt" sz="half" idx="10"/>
          </p:nvPr>
        </p:nvSpPr>
        <p:spPr/>
        <p:txBody>
          <a:bodyPr/>
          <a:lstStyle/>
          <a:p>
            <a:fld id="{EE95FE64-213E-5D4D-97AE-D64838B09BCB}" type="datetime1">
              <a:rPr lang="it-IT" smtClean="0"/>
              <a:t>20/05/26</a:t>
            </a:fld>
            <a:endParaRPr lang="en-US"/>
          </a:p>
        </p:txBody>
      </p:sp>
      <p:sp>
        <p:nvSpPr>
          <p:cNvPr id="5" name="Footer Placeholder 4">
            <a:extLst>
              <a:ext uri="{FF2B5EF4-FFF2-40B4-BE49-F238E27FC236}">
                <a16:creationId xmlns:a16="http://schemas.microsoft.com/office/drawing/2014/main" id="{DA34B6A2-36FA-C56C-CA1A-CAD835C82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A0103-F449-2C36-DD4D-C6C73CDBD45D}"/>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2794158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B56CA-9FF6-ACC3-EFA0-D7993B8AF1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AF78C9-E1FB-37E5-5FA5-6A28C0DD33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151514-280A-4605-E2C4-CD206E204A17}"/>
              </a:ext>
            </a:extLst>
          </p:cNvPr>
          <p:cNvSpPr>
            <a:spLocks noGrp="1"/>
          </p:cNvSpPr>
          <p:nvPr>
            <p:ph type="dt" sz="half" idx="10"/>
          </p:nvPr>
        </p:nvSpPr>
        <p:spPr/>
        <p:txBody>
          <a:bodyPr/>
          <a:lstStyle/>
          <a:p>
            <a:fld id="{ED6832A1-535F-934E-AAC2-DD50B6014E35}" type="datetime1">
              <a:rPr lang="it-IT" smtClean="0"/>
              <a:t>20/05/26</a:t>
            </a:fld>
            <a:endParaRPr lang="en-US"/>
          </a:p>
        </p:txBody>
      </p:sp>
      <p:sp>
        <p:nvSpPr>
          <p:cNvPr id="5" name="Footer Placeholder 4">
            <a:extLst>
              <a:ext uri="{FF2B5EF4-FFF2-40B4-BE49-F238E27FC236}">
                <a16:creationId xmlns:a16="http://schemas.microsoft.com/office/drawing/2014/main" id="{76CCA1B3-B93A-A827-BF21-F2A14A214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75BDD8-6AD0-3CEF-F4E5-A3660EAA6965}"/>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77990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153E-04CF-4A8A-9C68-97D7A06080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BAD1C-B6C9-38F4-A03D-9DB3395D72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FA528C-F20D-5F35-9A5E-9A678613EA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204600-AC07-842B-615C-0DF4508A6F5F}"/>
              </a:ext>
            </a:extLst>
          </p:cNvPr>
          <p:cNvSpPr>
            <a:spLocks noGrp="1"/>
          </p:cNvSpPr>
          <p:nvPr>
            <p:ph type="dt" sz="half" idx="10"/>
          </p:nvPr>
        </p:nvSpPr>
        <p:spPr/>
        <p:txBody>
          <a:bodyPr/>
          <a:lstStyle/>
          <a:p>
            <a:fld id="{74D3DDA4-CA9B-9F43-944A-5B2E0F6AE352}" type="datetime1">
              <a:rPr lang="it-IT" smtClean="0"/>
              <a:t>20/05/26</a:t>
            </a:fld>
            <a:endParaRPr lang="en-US"/>
          </a:p>
        </p:txBody>
      </p:sp>
      <p:sp>
        <p:nvSpPr>
          <p:cNvPr id="6" name="Footer Placeholder 5">
            <a:extLst>
              <a:ext uri="{FF2B5EF4-FFF2-40B4-BE49-F238E27FC236}">
                <a16:creationId xmlns:a16="http://schemas.microsoft.com/office/drawing/2014/main" id="{A0B33ABE-424C-04AB-38C6-851DEA97F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4D8DE-A16A-DDCB-AADF-CFAC1EF2005F}"/>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2062915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4ADFE-EA0B-D619-8AD2-418E2D2678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90BC27-FD7A-B4F3-A337-83027B2466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8FFBDF-668D-354F-5A91-C038DD4D99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E8A911-68C1-0635-5AC7-4A4045D719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EC4790-23DE-03CC-36C1-0B03C29C40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08CF6-D0BB-6727-4CB2-F6AF8C055F20}"/>
              </a:ext>
            </a:extLst>
          </p:cNvPr>
          <p:cNvSpPr>
            <a:spLocks noGrp="1"/>
          </p:cNvSpPr>
          <p:nvPr>
            <p:ph type="dt" sz="half" idx="10"/>
          </p:nvPr>
        </p:nvSpPr>
        <p:spPr/>
        <p:txBody>
          <a:bodyPr/>
          <a:lstStyle/>
          <a:p>
            <a:fld id="{BECFE3C3-33FA-8E46-8BB2-4612DADFD807}" type="datetime1">
              <a:rPr lang="it-IT" smtClean="0"/>
              <a:t>20/05/26</a:t>
            </a:fld>
            <a:endParaRPr lang="en-US"/>
          </a:p>
        </p:txBody>
      </p:sp>
      <p:sp>
        <p:nvSpPr>
          <p:cNvPr id="8" name="Footer Placeholder 7">
            <a:extLst>
              <a:ext uri="{FF2B5EF4-FFF2-40B4-BE49-F238E27FC236}">
                <a16:creationId xmlns:a16="http://schemas.microsoft.com/office/drawing/2014/main" id="{A5AD8BE7-FD74-28E7-975B-0F4C300D0C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17F2F-9A83-0C1E-AB67-6B424FA5034E}"/>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3274356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6B41-A213-B283-6CCD-E66E4B133F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7E0415-A0E6-2014-8287-6A6CCCECFB28}"/>
              </a:ext>
            </a:extLst>
          </p:cNvPr>
          <p:cNvSpPr>
            <a:spLocks noGrp="1"/>
          </p:cNvSpPr>
          <p:nvPr>
            <p:ph type="dt" sz="half" idx="10"/>
          </p:nvPr>
        </p:nvSpPr>
        <p:spPr/>
        <p:txBody>
          <a:bodyPr/>
          <a:lstStyle/>
          <a:p>
            <a:fld id="{547D8C14-AD85-7A4F-B067-53E8B5A60A1F}" type="datetime1">
              <a:rPr lang="it-IT" smtClean="0"/>
              <a:t>20/05/26</a:t>
            </a:fld>
            <a:endParaRPr lang="en-US"/>
          </a:p>
        </p:txBody>
      </p:sp>
      <p:sp>
        <p:nvSpPr>
          <p:cNvPr id="4" name="Footer Placeholder 3">
            <a:extLst>
              <a:ext uri="{FF2B5EF4-FFF2-40B4-BE49-F238E27FC236}">
                <a16:creationId xmlns:a16="http://schemas.microsoft.com/office/drawing/2014/main" id="{A8890654-E4C6-15C8-53BA-6BA071335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52A2EE-FCE8-4DE9-1720-B12259AA1220}"/>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4198203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276CE-85F7-2440-7303-8A2A570DB2CE}"/>
              </a:ext>
            </a:extLst>
          </p:cNvPr>
          <p:cNvSpPr>
            <a:spLocks noGrp="1"/>
          </p:cNvSpPr>
          <p:nvPr>
            <p:ph type="dt" sz="half" idx="10"/>
          </p:nvPr>
        </p:nvSpPr>
        <p:spPr/>
        <p:txBody>
          <a:bodyPr/>
          <a:lstStyle/>
          <a:p>
            <a:fld id="{08FD2225-4304-3A40-A47A-A442CA9FC593}" type="datetime1">
              <a:rPr lang="it-IT" smtClean="0"/>
              <a:t>20/05/26</a:t>
            </a:fld>
            <a:endParaRPr lang="en-US"/>
          </a:p>
        </p:txBody>
      </p:sp>
      <p:sp>
        <p:nvSpPr>
          <p:cNvPr id="3" name="Footer Placeholder 2">
            <a:extLst>
              <a:ext uri="{FF2B5EF4-FFF2-40B4-BE49-F238E27FC236}">
                <a16:creationId xmlns:a16="http://schemas.microsoft.com/office/drawing/2014/main" id="{8B0F5A15-EBD3-F21D-24EE-EA562CB58C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E0B9EC-9419-0D3E-4705-BFB9A6C889FB}"/>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661579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5CFA-8D10-3E2E-373C-2F081AFE08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2A0BFB-BC27-A9E7-07A5-132207ECFD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E09C5E-A10D-61AF-68FE-F6189A6D3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5F8AE-C77D-75A8-131A-0A78F527386A}"/>
              </a:ext>
            </a:extLst>
          </p:cNvPr>
          <p:cNvSpPr>
            <a:spLocks noGrp="1"/>
          </p:cNvSpPr>
          <p:nvPr>
            <p:ph type="dt" sz="half" idx="10"/>
          </p:nvPr>
        </p:nvSpPr>
        <p:spPr/>
        <p:txBody>
          <a:bodyPr/>
          <a:lstStyle/>
          <a:p>
            <a:fld id="{49A8B931-ED0F-3748-9204-C6843B297667}" type="datetime1">
              <a:rPr lang="it-IT" smtClean="0"/>
              <a:t>20/05/26</a:t>
            </a:fld>
            <a:endParaRPr lang="en-US"/>
          </a:p>
        </p:txBody>
      </p:sp>
      <p:sp>
        <p:nvSpPr>
          <p:cNvPr id="6" name="Footer Placeholder 5">
            <a:extLst>
              <a:ext uri="{FF2B5EF4-FFF2-40B4-BE49-F238E27FC236}">
                <a16:creationId xmlns:a16="http://schemas.microsoft.com/office/drawing/2014/main" id="{DCCD03AA-DCFD-F207-4904-47397A802A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C5ED9-CBFC-484A-00D8-5F7CDE1DB1AE}"/>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271677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8BC83-D65B-608D-6D09-6E4F89F05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61D668-C333-3BFB-24B5-54C7B1D24D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FAD480B-4957-8E82-2CE6-7D6E5AF17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6F829-BF08-B017-B4E1-0D2BE10F7F50}"/>
              </a:ext>
            </a:extLst>
          </p:cNvPr>
          <p:cNvSpPr>
            <a:spLocks noGrp="1"/>
          </p:cNvSpPr>
          <p:nvPr>
            <p:ph type="dt" sz="half" idx="10"/>
          </p:nvPr>
        </p:nvSpPr>
        <p:spPr/>
        <p:txBody>
          <a:bodyPr/>
          <a:lstStyle/>
          <a:p>
            <a:fld id="{E1C3929F-A19A-A748-830C-417AFDBDB1DC}" type="datetime1">
              <a:rPr lang="it-IT" smtClean="0"/>
              <a:t>20/05/26</a:t>
            </a:fld>
            <a:endParaRPr lang="en-US"/>
          </a:p>
        </p:txBody>
      </p:sp>
      <p:sp>
        <p:nvSpPr>
          <p:cNvPr id="6" name="Footer Placeholder 5">
            <a:extLst>
              <a:ext uri="{FF2B5EF4-FFF2-40B4-BE49-F238E27FC236}">
                <a16:creationId xmlns:a16="http://schemas.microsoft.com/office/drawing/2014/main" id="{CAB3B83A-5740-2DA4-EF94-9D0E0A6423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F975-89BD-8DA9-CD85-F07D9149CD27}"/>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3782812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95F4C-4F65-C906-E537-B3371D90D1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129AC6-1A64-9432-2F62-96BDA4D13D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270A0F-4DE6-D92F-2006-64D4DC6CF139}"/>
              </a:ext>
            </a:extLst>
          </p:cNvPr>
          <p:cNvSpPr>
            <a:spLocks noGrp="1"/>
          </p:cNvSpPr>
          <p:nvPr>
            <p:ph type="dt" sz="half" idx="10"/>
          </p:nvPr>
        </p:nvSpPr>
        <p:spPr/>
        <p:txBody>
          <a:bodyPr/>
          <a:lstStyle/>
          <a:p>
            <a:fld id="{29B54C6A-F6EF-4F4A-BEE1-9C470AE8A0BD}" type="datetime1">
              <a:rPr lang="it-IT" smtClean="0"/>
              <a:t>20/05/26</a:t>
            </a:fld>
            <a:endParaRPr lang="en-US"/>
          </a:p>
        </p:txBody>
      </p:sp>
      <p:sp>
        <p:nvSpPr>
          <p:cNvPr id="5" name="Footer Placeholder 4">
            <a:extLst>
              <a:ext uri="{FF2B5EF4-FFF2-40B4-BE49-F238E27FC236}">
                <a16:creationId xmlns:a16="http://schemas.microsoft.com/office/drawing/2014/main" id="{C3598404-2000-9342-E28E-86E2469806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63283-087C-3585-457E-75AEC7A4727F}"/>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3788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CCCA29-C090-EDCB-82EC-E478A551BA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3DF5E1-CBD6-4B5A-01B3-9EB0EC370C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CBAEEB-DD17-D72B-D2B7-99E484BEA782}"/>
              </a:ext>
            </a:extLst>
          </p:cNvPr>
          <p:cNvSpPr>
            <a:spLocks noGrp="1"/>
          </p:cNvSpPr>
          <p:nvPr>
            <p:ph type="dt" sz="half" idx="10"/>
          </p:nvPr>
        </p:nvSpPr>
        <p:spPr/>
        <p:txBody>
          <a:bodyPr/>
          <a:lstStyle/>
          <a:p>
            <a:fld id="{A20476EF-C96C-C449-9C08-24A87C8761D0}" type="datetime1">
              <a:rPr lang="it-IT" smtClean="0"/>
              <a:t>20/05/26</a:t>
            </a:fld>
            <a:endParaRPr lang="en-US"/>
          </a:p>
        </p:txBody>
      </p:sp>
      <p:sp>
        <p:nvSpPr>
          <p:cNvPr id="5" name="Footer Placeholder 4">
            <a:extLst>
              <a:ext uri="{FF2B5EF4-FFF2-40B4-BE49-F238E27FC236}">
                <a16:creationId xmlns:a16="http://schemas.microsoft.com/office/drawing/2014/main" id="{236D733B-26FC-0D22-B708-EC6383AE8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24785D-ECE4-7DFE-F451-93174E78E2C3}"/>
              </a:ext>
            </a:extLst>
          </p:cNvPr>
          <p:cNvSpPr>
            <a:spLocks noGrp="1"/>
          </p:cNvSpPr>
          <p:nvPr>
            <p:ph type="sldNum" sz="quarter" idx="12"/>
          </p:nvPr>
        </p:nvSpPr>
        <p:spPr/>
        <p:txBody>
          <a:bodyPr/>
          <a:lstStyle/>
          <a:p>
            <a:fld id="{C3A81FF4-CBB3-DF43-B274-0E49682E6498}" type="slidenum">
              <a:rPr lang="en-US" smtClean="0"/>
              <a:t>‹#›</a:t>
            </a:fld>
            <a:endParaRPr lang="en-US"/>
          </a:p>
        </p:txBody>
      </p:sp>
    </p:spTree>
    <p:extLst>
      <p:ext uri="{BB962C8B-B14F-4D97-AF65-F5344CB8AC3E}">
        <p14:creationId xmlns:p14="http://schemas.microsoft.com/office/powerpoint/2010/main" val="143791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28965B-FBE2-1B9B-E96C-847773247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A1C60F-66C0-3DD9-05B5-917DB53C90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7B4A06-6142-503A-6DB9-AA16E3ADAC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5174B6-D502-0242-BE5F-35A9F6436F53}" type="datetime1">
              <a:rPr lang="it-IT" smtClean="0"/>
              <a:t>20/05/26</a:t>
            </a:fld>
            <a:endParaRPr lang="en-US"/>
          </a:p>
        </p:txBody>
      </p:sp>
      <p:sp>
        <p:nvSpPr>
          <p:cNvPr id="5" name="Footer Placeholder 4">
            <a:extLst>
              <a:ext uri="{FF2B5EF4-FFF2-40B4-BE49-F238E27FC236}">
                <a16:creationId xmlns:a16="http://schemas.microsoft.com/office/drawing/2014/main" id="{0928FAB0-375B-EDA7-3298-B9E1BF870B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352F34-577D-83B9-D981-50CEB5731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A81FF4-CBB3-DF43-B274-0E49682E6498}" type="slidenum">
              <a:rPr lang="en-US" smtClean="0"/>
              <a:t>‹#›</a:t>
            </a:fld>
            <a:endParaRPr lang="en-US"/>
          </a:p>
        </p:txBody>
      </p:sp>
    </p:spTree>
    <p:extLst>
      <p:ext uri="{BB962C8B-B14F-4D97-AF65-F5344CB8AC3E}">
        <p14:creationId xmlns:p14="http://schemas.microsoft.com/office/powerpoint/2010/main" val="21988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clanthology.org/2025.coling-main.709.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21BDF-DA98-3FF8-6C7D-C59ADFD9396D}"/>
              </a:ext>
            </a:extLst>
          </p:cNvPr>
          <p:cNvSpPr>
            <a:spLocks noGrp="1"/>
          </p:cNvSpPr>
          <p:nvPr>
            <p:ph type="ctrTitle"/>
          </p:nvPr>
        </p:nvSpPr>
        <p:spPr/>
        <p:txBody>
          <a:bodyPr/>
          <a:lstStyle/>
          <a:p>
            <a:r>
              <a:rPr lang="en-IT" b="1" dirty="0">
                <a:solidFill>
                  <a:srgbClr val="00B0F0"/>
                </a:solidFill>
              </a:rPr>
              <a:t>LLMs, bias and fairness</a:t>
            </a:r>
          </a:p>
        </p:txBody>
      </p:sp>
      <p:sp>
        <p:nvSpPr>
          <p:cNvPr id="3" name="Subtitle 2">
            <a:extLst>
              <a:ext uri="{FF2B5EF4-FFF2-40B4-BE49-F238E27FC236}">
                <a16:creationId xmlns:a16="http://schemas.microsoft.com/office/drawing/2014/main" id="{07902375-C61F-F94B-DF80-C67A6F071AF7}"/>
              </a:ext>
            </a:extLst>
          </p:cNvPr>
          <p:cNvSpPr>
            <a:spLocks noGrp="1"/>
          </p:cNvSpPr>
          <p:nvPr>
            <p:ph type="subTitle" idx="1"/>
          </p:nvPr>
        </p:nvSpPr>
        <p:spPr/>
        <p:txBody>
          <a:bodyPr/>
          <a:lstStyle/>
          <a:p>
            <a:endParaRPr lang="en-IT"/>
          </a:p>
        </p:txBody>
      </p:sp>
    </p:spTree>
    <p:extLst>
      <p:ext uri="{BB962C8B-B14F-4D97-AF65-F5344CB8AC3E}">
        <p14:creationId xmlns:p14="http://schemas.microsoft.com/office/powerpoint/2010/main" val="24264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CD983-1233-A2E3-EC83-4A38417ED472}"/>
              </a:ext>
            </a:extLst>
          </p:cNvPr>
          <p:cNvSpPr>
            <a:spLocks noGrp="1"/>
          </p:cNvSpPr>
          <p:nvPr>
            <p:ph type="title"/>
          </p:nvPr>
        </p:nvSpPr>
        <p:spPr/>
        <p:txBody>
          <a:bodyPr/>
          <a:lstStyle/>
          <a:p>
            <a:r>
              <a:rPr lang="en-IT" b="1" dirty="0">
                <a:solidFill>
                  <a:srgbClr val="00B0F0"/>
                </a:solidFill>
              </a:rPr>
              <a:t>Definizioni</a:t>
            </a:r>
          </a:p>
        </p:txBody>
      </p:sp>
      <p:sp>
        <p:nvSpPr>
          <p:cNvPr id="3" name="Content Placeholder 2">
            <a:extLst>
              <a:ext uri="{FF2B5EF4-FFF2-40B4-BE49-F238E27FC236}">
                <a16:creationId xmlns:a16="http://schemas.microsoft.com/office/drawing/2014/main" id="{A0E9A194-F604-E044-0F1E-C998E446830A}"/>
              </a:ext>
            </a:extLst>
          </p:cNvPr>
          <p:cNvSpPr>
            <a:spLocks noGrp="1"/>
          </p:cNvSpPr>
          <p:nvPr>
            <p:ph idx="1"/>
          </p:nvPr>
        </p:nvSpPr>
        <p:spPr/>
        <p:txBody>
          <a:bodyPr/>
          <a:lstStyle/>
          <a:p>
            <a:r>
              <a:rPr lang="en-IT" dirty="0"/>
              <a:t>Bias (pregiudizio): </a:t>
            </a:r>
            <a:r>
              <a:rPr lang="en-IT" i="1" dirty="0"/>
              <a:t>“inclination </a:t>
            </a:r>
            <a:r>
              <a:rPr lang="en-GB" i="1" dirty="0"/>
              <a:t>or prejudice for or against one person or group, especially in a way considered to be unfair” </a:t>
            </a:r>
            <a:r>
              <a:rPr lang="en-GB" dirty="0"/>
              <a:t>(Oxford Languages)</a:t>
            </a:r>
          </a:p>
          <a:p>
            <a:pPr marL="0" indent="0">
              <a:buNone/>
            </a:pPr>
            <a:endParaRPr lang="en-GB" dirty="0"/>
          </a:p>
          <a:p>
            <a:r>
              <a:rPr lang="en-GB" dirty="0"/>
              <a:t>Fairness (</a:t>
            </a:r>
            <a:r>
              <a:rPr lang="en-GB" dirty="0" err="1"/>
              <a:t>equita</a:t>
            </a:r>
            <a:r>
              <a:rPr lang="en-GB" dirty="0"/>
              <a:t>’/</a:t>
            </a:r>
            <a:r>
              <a:rPr lang="en-GB" dirty="0" err="1"/>
              <a:t>imparzialita</a:t>
            </a:r>
            <a:r>
              <a:rPr lang="en-GB" dirty="0"/>
              <a:t>’): “</a:t>
            </a:r>
            <a:r>
              <a:rPr lang="en-GB" i="1" dirty="0"/>
              <a:t>impartial and just treatment or behaviour without favouritism or discrimination</a:t>
            </a:r>
            <a:r>
              <a:rPr lang="en-GB" dirty="0"/>
              <a:t>” (Oxford Languages)</a:t>
            </a:r>
          </a:p>
          <a:p>
            <a:endParaRPr lang="en-IT" dirty="0"/>
          </a:p>
        </p:txBody>
      </p:sp>
      <p:sp>
        <p:nvSpPr>
          <p:cNvPr id="4" name="Slide Number Placeholder 3">
            <a:extLst>
              <a:ext uri="{FF2B5EF4-FFF2-40B4-BE49-F238E27FC236}">
                <a16:creationId xmlns:a16="http://schemas.microsoft.com/office/drawing/2014/main" id="{45661045-BFA4-F7B7-59D9-8918961AF295}"/>
              </a:ext>
            </a:extLst>
          </p:cNvPr>
          <p:cNvSpPr>
            <a:spLocks noGrp="1"/>
          </p:cNvSpPr>
          <p:nvPr>
            <p:ph type="sldNum" sz="quarter" idx="12"/>
          </p:nvPr>
        </p:nvSpPr>
        <p:spPr/>
        <p:txBody>
          <a:bodyPr/>
          <a:lstStyle/>
          <a:p>
            <a:fld id="{C3A81FF4-CBB3-DF43-B274-0E49682E6498}" type="slidenum">
              <a:rPr lang="en-US" smtClean="0"/>
              <a:t>2</a:t>
            </a:fld>
            <a:endParaRPr lang="en-US"/>
          </a:p>
        </p:txBody>
      </p:sp>
    </p:spTree>
    <p:extLst>
      <p:ext uri="{BB962C8B-B14F-4D97-AF65-F5344CB8AC3E}">
        <p14:creationId xmlns:p14="http://schemas.microsoft.com/office/powerpoint/2010/main" val="207124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5BD8F-63EE-0984-F081-8A97E8A8F2BD}"/>
              </a:ext>
            </a:extLst>
          </p:cNvPr>
          <p:cNvSpPr>
            <a:spLocks noGrp="1"/>
          </p:cNvSpPr>
          <p:nvPr>
            <p:ph type="title"/>
          </p:nvPr>
        </p:nvSpPr>
        <p:spPr/>
        <p:txBody>
          <a:bodyPr/>
          <a:lstStyle/>
          <a:p>
            <a:r>
              <a:rPr lang="en-IT" dirty="0">
                <a:solidFill>
                  <a:srgbClr val="00B0F0"/>
                </a:solidFill>
              </a:rPr>
              <a:t>Google Scholar “llm bias” search</a:t>
            </a:r>
          </a:p>
        </p:txBody>
      </p:sp>
      <p:sp>
        <p:nvSpPr>
          <p:cNvPr id="3" name="Content Placeholder 2">
            <a:extLst>
              <a:ext uri="{FF2B5EF4-FFF2-40B4-BE49-F238E27FC236}">
                <a16:creationId xmlns:a16="http://schemas.microsoft.com/office/drawing/2014/main" id="{FB3F4C5D-EC5C-7B55-8C3E-FBF204CD2D11}"/>
              </a:ext>
            </a:extLst>
          </p:cNvPr>
          <p:cNvSpPr>
            <a:spLocks noGrp="1"/>
          </p:cNvSpPr>
          <p:nvPr>
            <p:ph idx="1"/>
          </p:nvPr>
        </p:nvSpPr>
        <p:spPr/>
        <p:txBody>
          <a:bodyPr/>
          <a:lstStyle/>
          <a:p>
            <a:r>
              <a:rPr lang="en-IT" dirty="0"/>
              <a:t>Returns 257,000 ‘hits’</a:t>
            </a:r>
          </a:p>
          <a:p>
            <a:pPr marL="0" indent="0">
              <a:buNone/>
            </a:pPr>
            <a:endParaRPr lang="en-IT" dirty="0"/>
          </a:p>
          <a:p>
            <a:r>
              <a:rPr lang="en-IT" dirty="0"/>
              <a:t>Page 10 of results, 9/10 articles on target (one on cognitive bias in using LLM)</a:t>
            </a:r>
          </a:p>
          <a:p>
            <a:pPr marL="0" indent="0">
              <a:buNone/>
            </a:pPr>
            <a:endParaRPr lang="en-IT" dirty="0"/>
          </a:p>
          <a:p>
            <a:r>
              <a:rPr lang="en-GB" dirty="0"/>
              <a:t>E</a:t>
            </a:r>
            <a:r>
              <a:rPr lang="en-IT" dirty="0"/>
              <a:t> c’e’ pure il gatto che si morde la coda …</a:t>
            </a:r>
          </a:p>
          <a:p>
            <a:pPr marL="0" indent="0">
              <a:buNone/>
            </a:pPr>
            <a:r>
              <a:rPr lang="en-IT" dirty="0"/>
              <a:t>“</a:t>
            </a:r>
            <a:r>
              <a:rPr lang="en-GB" b="1" dirty="0">
                <a:solidFill>
                  <a:srgbClr val="0563C1"/>
                </a:solidFill>
                <a:hlinkClick r:id="rId2">
                  <a:extLst>
                    <a:ext uri="{A12FA001-AC4F-418D-AE19-62706E023703}">
                      <ahyp:hlinkClr xmlns:ahyp="http://schemas.microsoft.com/office/drawing/2018/hyperlinkcolor" val="tx"/>
                    </a:ext>
                  </a:extLst>
                </a:hlinkClick>
              </a:rPr>
              <a:t>Investigating </a:t>
            </a:r>
            <a:r>
              <a:rPr lang="en-GB" b="1" dirty="0">
                <a:solidFill>
                  <a:srgbClr val="FF0000"/>
                </a:solidFill>
                <a:hlinkClick r:id="rId2">
                  <a:extLst>
                    <a:ext uri="{A12FA001-AC4F-418D-AE19-62706E023703}">
                      <ahyp:hlinkClr xmlns:ahyp="http://schemas.microsoft.com/office/drawing/2018/hyperlinkcolor" val="tx"/>
                    </a:ext>
                  </a:extLst>
                </a:hlinkClick>
              </a:rPr>
              <a:t>Bias</a:t>
            </a:r>
            <a:r>
              <a:rPr lang="en-GB" b="1" dirty="0">
                <a:solidFill>
                  <a:srgbClr val="0563C1"/>
                </a:solidFill>
                <a:hlinkClick r:id="rId2">
                  <a:extLst>
                    <a:ext uri="{A12FA001-AC4F-418D-AE19-62706E023703}">
                      <ahyp:hlinkClr xmlns:ahyp="http://schemas.microsoft.com/office/drawing/2018/hyperlinkcolor" val="tx"/>
                    </a:ext>
                  </a:extLst>
                </a:hlinkClick>
              </a:rPr>
              <a:t> in </a:t>
            </a:r>
            <a:r>
              <a:rPr lang="en-GB" b="1" dirty="0">
                <a:solidFill>
                  <a:srgbClr val="FF0000"/>
                </a:solidFill>
                <a:hlinkClick r:id="rId2">
                  <a:extLst>
                    <a:ext uri="{A12FA001-AC4F-418D-AE19-62706E023703}">
                      <ahyp:hlinkClr xmlns:ahyp="http://schemas.microsoft.com/office/drawing/2018/hyperlinkcolor" val="tx"/>
                    </a:ext>
                  </a:extLst>
                </a:hlinkClick>
              </a:rPr>
              <a:t>LLM-Based Bias Detection</a:t>
            </a:r>
            <a:r>
              <a:rPr lang="en-GB" b="1" dirty="0">
                <a:solidFill>
                  <a:srgbClr val="0563C1"/>
                </a:solidFill>
                <a:hlinkClick r:id="rId2">
                  <a:extLst>
                    <a:ext uri="{A12FA001-AC4F-418D-AE19-62706E023703}">
                      <ahyp:hlinkClr xmlns:ahyp="http://schemas.microsoft.com/office/drawing/2018/hyperlinkcolor" val="tx"/>
                    </a:ext>
                  </a:extLst>
                </a:hlinkClick>
              </a:rPr>
              <a:t>: Disparities between LLMs and Human Perception</a:t>
            </a:r>
            <a:r>
              <a:rPr lang="en-GB" b="1" dirty="0"/>
              <a:t>” (COLING 25)</a:t>
            </a:r>
          </a:p>
          <a:p>
            <a:pPr marL="0" indent="0">
              <a:buNone/>
            </a:pPr>
            <a:endParaRPr lang="en-GB" b="1" dirty="0"/>
          </a:p>
          <a:p>
            <a:pPr marL="0" indent="0">
              <a:buNone/>
            </a:pPr>
            <a:endParaRPr lang="en-GB" b="1" dirty="0"/>
          </a:p>
          <a:p>
            <a:pPr marL="0" indent="0">
              <a:buNone/>
            </a:pPr>
            <a:endParaRPr lang="en-IT" dirty="0"/>
          </a:p>
        </p:txBody>
      </p:sp>
      <p:sp>
        <p:nvSpPr>
          <p:cNvPr id="4" name="Slide Number Placeholder 3">
            <a:extLst>
              <a:ext uri="{FF2B5EF4-FFF2-40B4-BE49-F238E27FC236}">
                <a16:creationId xmlns:a16="http://schemas.microsoft.com/office/drawing/2014/main" id="{065E874C-EB19-36D6-7DD8-B838802C2791}"/>
              </a:ext>
            </a:extLst>
          </p:cNvPr>
          <p:cNvSpPr>
            <a:spLocks noGrp="1"/>
          </p:cNvSpPr>
          <p:nvPr>
            <p:ph type="sldNum" sz="quarter" idx="12"/>
          </p:nvPr>
        </p:nvSpPr>
        <p:spPr/>
        <p:txBody>
          <a:bodyPr/>
          <a:lstStyle/>
          <a:p>
            <a:fld id="{C3A81FF4-CBB3-DF43-B274-0E49682E6498}" type="slidenum">
              <a:rPr lang="en-US" smtClean="0"/>
              <a:t>3</a:t>
            </a:fld>
            <a:endParaRPr lang="en-US"/>
          </a:p>
        </p:txBody>
      </p:sp>
    </p:spTree>
    <p:extLst>
      <p:ext uri="{BB962C8B-B14F-4D97-AF65-F5344CB8AC3E}">
        <p14:creationId xmlns:p14="http://schemas.microsoft.com/office/powerpoint/2010/main" val="165277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3E0B0-F38E-6142-81B2-D6D3EA4BD3F3}"/>
              </a:ext>
            </a:extLst>
          </p:cNvPr>
          <p:cNvSpPr>
            <a:spLocks noGrp="1"/>
          </p:cNvSpPr>
          <p:nvPr>
            <p:ph type="title"/>
          </p:nvPr>
        </p:nvSpPr>
        <p:spPr>
          <a:xfrm>
            <a:off x="261785" y="147282"/>
            <a:ext cx="11520312" cy="2496100"/>
          </a:xfrm>
        </p:spPr>
        <p:txBody>
          <a:bodyPr>
            <a:normAutofit/>
          </a:bodyPr>
          <a:lstStyle/>
          <a:p>
            <a:pPr algn="ctr"/>
            <a:r>
              <a:rPr kumimoji="1" lang="en-US" altLang="zh-CN" sz="4000" dirty="0">
                <a:latin typeface="Arial" panose="020B0604020202020204" pitchFamily="34" charset="0"/>
                <a:cs typeface="Arial" panose="020B0604020202020204" pitchFamily="34" charset="0"/>
              </a:rPr>
              <a:t>Unveiling Performance Challenges of LLMs </a:t>
            </a:r>
            <a:br>
              <a:rPr kumimoji="1" lang="en-US" altLang="zh-CN" sz="4000" dirty="0">
                <a:latin typeface="Arial" panose="020B0604020202020204" pitchFamily="34" charset="0"/>
                <a:cs typeface="Arial" panose="020B0604020202020204" pitchFamily="34" charset="0"/>
              </a:rPr>
            </a:br>
            <a:r>
              <a:rPr kumimoji="1" lang="en-US" altLang="zh-CN" sz="4000" dirty="0">
                <a:latin typeface="Arial" panose="020B0604020202020204" pitchFamily="34" charset="0"/>
                <a:cs typeface="Arial" panose="020B0604020202020204" pitchFamily="34" charset="0"/>
              </a:rPr>
              <a:t>in Low-Resource Healthcare: </a:t>
            </a:r>
            <a:br>
              <a:rPr kumimoji="1" lang="en-US" altLang="zh-CN" sz="4000" dirty="0">
                <a:latin typeface="Arial" panose="020B0604020202020204" pitchFamily="34" charset="0"/>
                <a:cs typeface="Arial" panose="020B0604020202020204" pitchFamily="34" charset="0"/>
              </a:rPr>
            </a:br>
            <a:r>
              <a:rPr kumimoji="1" lang="en-US" altLang="zh-CN" sz="4000" dirty="0">
                <a:latin typeface="Arial" panose="020B0604020202020204" pitchFamily="34" charset="0"/>
                <a:cs typeface="Arial" panose="020B0604020202020204" pitchFamily="34" charset="0"/>
              </a:rPr>
              <a:t>A Demographic Fairness Perspective</a:t>
            </a:r>
            <a:br>
              <a:rPr kumimoji="1" lang="en-US" altLang="zh-CN" sz="4000" dirty="0">
                <a:latin typeface="Arial" panose="020B0604020202020204" pitchFamily="34" charset="0"/>
                <a:cs typeface="Arial" panose="020B0604020202020204" pitchFamily="34" charset="0"/>
              </a:rPr>
            </a:br>
            <a:r>
              <a:rPr kumimoji="1" lang="en-US" altLang="zh-CN" sz="3600" dirty="0">
                <a:latin typeface="Arial" panose="020B0604020202020204" pitchFamily="34" charset="0"/>
                <a:cs typeface="Arial" panose="020B0604020202020204" pitchFamily="34" charset="0"/>
              </a:rPr>
              <a:t>(COLING 25)</a:t>
            </a:r>
            <a:endParaRPr kumimoji="1" lang="zh-CN" altLang="en-US" sz="3600" dirty="0">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8173C662-BD54-5D4B-A1F5-EB0FC7E83F37}"/>
              </a:ext>
            </a:extLst>
          </p:cNvPr>
          <p:cNvSpPr>
            <a:spLocks noGrp="1"/>
          </p:cNvSpPr>
          <p:nvPr>
            <p:ph idx="1"/>
          </p:nvPr>
        </p:nvSpPr>
        <p:spPr>
          <a:xfrm>
            <a:off x="2446469" y="2979438"/>
            <a:ext cx="6917033" cy="2704799"/>
          </a:xfrm>
        </p:spPr>
        <p:txBody>
          <a:bodyPr>
            <a:normAutofit/>
          </a:bodyPr>
          <a:lstStyle/>
          <a:p>
            <a:pPr marL="0" indent="0" algn="ctr">
              <a:buNone/>
            </a:pPr>
            <a:endParaRPr kumimoji="1" lang="en-US" altLang="zh-CN" dirty="0">
              <a:latin typeface="Times New Roman" panose="02020603050405020304" pitchFamily="18" charset="0"/>
              <a:cs typeface="Times New Roman" panose="02020603050405020304" pitchFamily="18" charset="0"/>
            </a:endParaRPr>
          </a:p>
          <a:p>
            <a:pPr marL="0" indent="0" algn="ctr">
              <a:buNone/>
            </a:pPr>
            <a:r>
              <a:rPr kumimoji="1" lang="en-US" altLang="zh-CN" dirty="0">
                <a:latin typeface="Arial" panose="020B0604020202020204" pitchFamily="34" charset="0"/>
                <a:cs typeface="Arial" panose="020B0604020202020204" pitchFamily="34" charset="0"/>
              </a:rPr>
              <a:t>Yue Zhou, Barbara Di Eugenio, Lu Cheng</a:t>
            </a:r>
          </a:p>
          <a:p>
            <a:pPr marL="0" indent="0" algn="ctr">
              <a:buNone/>
            </a:pPr>
            <a:r>
              <a:rPr kumimoji="1" lang="en-US" altLang="zh-CN" sz="2400" dirty="0">
                <a:latin typeface="Arial" panose="020B0604020202020204" pitchFamily="34" charset="0"/>
                <a:cs typeface="Arial" panose="020B0604020202020204" pitchFamily="34" charset="0"/>
              </a:rPr>
              <a:t>Department of Computer Science </a:t>
            </a:r>
          </a:p>
          <a:p>
            <a:pPr marL="0" indent="0" algn="ctr">
              <a:buNone/>
            </a:pPr>
            <a:r>
              <a:rPr kumimoji="1" lang="en-US" altLang="zh-CN" sz="2400" dirty="0">
                <a:latin typeface="Arial" panose="020B0604020202020204" pitchFamily="34" charset="0"/>
                <a:cs typeface="Arial" panose="020B0604020202020204" pitchFamily="34" charset="0"/>
              </a:rPr>
              <a:t>University of Illinois Chicago </a:t>
            </a:r>
          </a:p>
          <a:p>
            <a:pPr marL="0" indent="0" algn="ctr">
              <a:buNone/>
            </a:pPr>
            <a:r>
              <a:rPr kumimoji="1" lang="en-US" altLang="zh-CN" sz="2400" dirty="0">
                <a:latin typeface="Arial" panose="020B0604020202020204" pitchFamily="34" charset="0"/>
                <a:cs typeface="Arial" panose="020B0604020202020204" pitchFamily="34" charset="0"/>
              </a:rPr>
              <a:t>Chicago, IL, USA</a:t>
            </a:r>
          </a:p>
          <a:p>
            <a:pPr marL="0" indent="0" algn="ctr">
              <a:buNone/>
            </a:pPr>
            <a:endParaRPr kumimoji="1" lang="en-US" altLang="zh-CN" dirty="0">
              <a:latin typeface="Times New Roman" panose="02020603050405020304" pitchFamily="18" charset="0"/>
              <a:cs typeface="Times New Roman" panose="02020603050405020304" pitchFamily="18" charset="0"/>
            </a:endParaRPr>
          </a:p>
          <a:p>
            <a:pPr marL="0" indent="0" algn="ctr">
              <a:buNone/>
            </a:pPr>
            <a:endParaRPr kumimoji="1" lang="en-US" altLang="zh-CN" sz="1800" dirty="0">
              <a:latin typeface="Times New Roman" panose="02020603050405020304" pitchFamily="18" charset="0"/>
              <a:cs typeface="Times New Roman" panose="02020603050405020304" pitchFamily="18" charset="0"/>
            </a:endParaRPr>
          </a:p>
          <a:p>
            <a:pPr marL="0" indent="0" algn="ctr">
              <a:buNone/>
            </a:pPr>
            <a:endParaRPr kumimoji="1" lang="en-US" altLang="zh-CN" sz="2000" dirty="0">
              <a:latin typeface="Arial" panose="020B0604020202020204" pitchFamily="34" charset="0"/>
              <a:cs typeface="Arial" panose="020B0604020202020204" pitchFamily="34" charset="0"/>
            </a:endParaRPr>
          </a:p>
          <a:p>
            <a:pPr marL="0" indent="0" algn="ctr">
              <a:buNone/>
            </a:pPr>
            <a:endParaRPr kumimoji="1" lang="zh-CN" altLang="en-US" sz="2000" dirty="0">
              <a:latin typeface="Arial" panose="020B0604020202020204" pitchFamily="34" charset="0"/>
              <a:cs typeface="Arial" panose="020B0604020202020204" pitchFamily="34" charset="0"/>
            </a:endParaRPr>
          </a:p>
        </p:txBody>
      </p:sp>
      <p:pic>
        <p:nvPicPr>
          <p:cNvPr id="4" name="Picture 6" descr="Logo&#10;&#10;Description automatically generated">
            <a:extLst>
              <a:ext uri="{FF2B5EF4-FFF2-40B4-BE49-F238E27FC236}">
                <a16:creationId xmlns:a16="http://schemas.microsoft.com/office/drawing/2014/main" id="{1C04939D-3180-B477-048C-7A4018933479}"/>
              </a:ext>
            </a:extLst>
          </p:cNvPr>
          <p:cNvPicPr>
            <a:picLocks noChangeAspect="1"/>
          </p:cNvPicPr>
          <p:nvPr/>
        </p:nvPicPr>
        <p:blipFill>
          <a:blip r:embed="rId3"/>
          <a:stretch>
            <a:fillRect/>
          </a:stretch>
        </p:blipFill>
        <p:spPr>
          <a:xfrm>
            <a:off x="91096" y="5885320"/>
            <a:ext cx="917739" cy="917739"/>
          </a:xfrm>
          <a:prstGeom prst="rect">
            <a:avLst/>
          </a:prstGeom>
        </p:spPr>
      </p:pic>
      <p:sp>
        <p:nvSpPr>
          <p:cNvPr id="5" name="Slide Number Placeholder 4">
            <a:extLst>
              <a:ext uri="{FF2B5EF4-FFF2-40B4-BE49-F238E27FC236}">
                <a16:creationId xmlns:a16="http://schemas.microsoft.com/office/drawing/2014/main" id="{66EBE842-BFB9-01A5-D70F-13E2772DE523}"/>
              </a:ext>
            </a:extLst>
          </p:cNvPr>
          <p:cNvSpPr>
            <a:spLocks noGrp="1"/>
          </p:cNvSpPr>
          <p:nvPr>
            <p:ph type="sldNum" sz="quarter" idx="12"/>
          </p:nvPr>
        </p:nvSpPr>
        <p:spPr/>
        <p:txBody>
          <a:bodyPr/>
          <a:lstStyle/>
          <a:p>
            <a:fld id="{971B829E-9366-CA43-A76A-D5E06D76C2C5}" type="slidenum">
              <a:rPr lang="en-US" sz="1600" smtClean="0"/>
              <a:t>4</a:t>
            </a:fld>
            <a:endParaRPr lang="en-US" sz="1600" dirty="0"/>
          </a:p>
        </p:txBody>
      </p:sp>
      <p:pic>
        <p:nvPicPr>
          <p:cNvPr id="6" name="Picture 5" descr="A person wearing glasses and smiling&#10;&#10;AI-generated content may be incorrect.">
            <a:extLst>
              <a:ext uri="{FF2B5EF4-FFF2-40B4-BE49-F238E27FC236}">
                <a16:creationId xmlns:a16="http://schemas.microsoft.com/office/drawing/2014/main" id="{2EAAAAF8-1096-26A0-4AAC-1FA03A193198}"/>
              </a:ext>
            </a:extLst>
          </p:cNvPr>
          <p:cNvPicPr>
            <a:picLocks noChangeAspect="1"/>
          </p:cNvPicPr>
          <p:nvPr/>
        </p:nvPicPr>
        <p:blipFill>
          <a:blip r:embed="rId4"/>
          <a:stretch>
            <a:fillRect/>
          </a:stretch>
        </p:blipFill>
        <p:spPr>
          <a:xfrm>
            <a:off x="549965" y="3293770"/>
            <a:ext cx="1418284" cy="1843278"/>
          </a:xfrm>
          <a:prstGeom prst="rect">
            <a:avLst/>
          </a:prstGeom>
        </p:spPr>
      </p:pic>
      <p:pic>
        <p:nvPicPr>
          <p:cNvPr id="1026" name="Picture 2" descr="Photo of Cheng, Lu">
            <a:extLst>
              <a:ext uri="{FF2B5EF4-FFF2-40B4-BE49-F238E27FC236}">
                <a16:creationId xmlns:a16="http://schemas.microsoft.com/office/drawing/2014/main" id="{ADC6243B-0B42-8D84-7DCA-773F61E2FD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8901" y="3872752"/>
            <a:ext cx="1873134" cy="2147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601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D63A3-E3AC-2334-E7A3-A01739903CE2}"/>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B288137-693C-DE1B-5EB2-6EC76C302866}"/>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Introduction</a:t>
            </a:r>
            <a:endParaRPr kumimoji="1" lang="zh-CN" altLang="en-US" sz="3600" dirty="0">
              <a:latin typeface="Arial" panose="020B0604020202020204" pitchFamily="34" charset="0"/>
              <a:cs typeface="Arial" panose="020B0604020202020204" pitchFamily="34" charset="0"/>
            </a:endParaRPr>
          </a:p>
        </p:txBody>
      </p:sp>
      <p:sp>
        <p:nvSpPr>
          <p:cNvPr id="5" name="内容占位符 8">
            <a:extLst>
              <a:ext uri="{FF2B5EF4-FFF2-40B4-BE49-F238E27FC236}">
                <a16:creationId xmlns:a16="http://schemas.microsoft.com/office/drawing/2014/main" id="{14670ACB-0D60-C4D2-68A9-29AD0884B430}"/>
              </a:ext>
            </a:extLst>
          </p:cNvPr>
          <p:cNvSpPr>
            <a:spLocks noGrp="1"/>
          </p:cNvSpPr>
          <p:nvPr>
            <p:ph idx="1"/>
          </p:nvPr>
        </p:nvSpPr>
        <p:spPr>
          <a:xfrm>
            <a:off x="838199" y="1690686"/>
            <a:ext cx="10515600" cy="5032375"/>
          </a:xfrm>
        </p:spPr>
        <p:txBody>
          <a:bodyPr>
            <a:normAutofit/>
          </a:bodyPr>
          <a:lstStyle/>
          <a:p>
            <a:pPr marL="0" indent="0">
              <a:lnSpc>
                <a:spcPct val="140000"/>
              </a:lnSpc>
              <a:buNone/>
            </a:pPr>
            <a:r>
              <a:rPr lang="en-US" b="1" dirty="0">
                <a:latin typeface="Arial" panose="020B0604020202020204" pitchFamily="34" charset="0"/>
              </a:rPr>
              <a:t>Research Questions:</a:t>
            </a:r>
            <a:r>
              <a:rPr lang="en-US" dirty="0">
                <a:latin typeface="Arial" panose="020B0604020202020204" pitchFamily="34" charset="0"/>
              </a:rPr>
              <a:t> </a:t>
            </a:r>
            <a:r>
              <a:rPr lang="en-US" i="0" dirty="0">
                <a:effectLst/>
                <a:latin typeface="Arial" panose="020B0604020202020204" pitchFamily="34" charset="0"/>
              </a:rPr>
              <a:t>Will LLMs be as successful in healthcare as they have been in other domains? </a:t>
            </a:r>
            <a:r>
              <a:rPr lang="en-US" sz="3000" i="0" dirty="0">
                <a:effectLst/>
                <a:latin typeface="Arial" panose="020B0604020202020204" pitchFamily="34" charset="0"/>
              </a:rPr>
              <a:t>Will they hel</a:t>
            </a:r>
            <a:r>
              <a:rPr lang="en-US" sz="3000" dirty="0">
                <a:latin typeface="Arial" panose="020B0604020202020204" pitchFamily="34" charset="0"/>
              </a:rPr>
              <a:t>p mitigate </a:t>
            </a:r>
            <a:r>
              <a:rPr lang="en-US" altLang="zh-CN" sz="3000" dirty="0">
                <a:solidFill>
                  <a:prstClr val="black"/>
                </a:solidFill>
                <a:latin typeface="Arial" panose="020B0604020202020204" pitchFamily="34" charset="0"/>
                <a:cs typeface="Arial" panose="020B0604020202020204" pitchFamily="34" charset="0"/>
              </a:rPr>
              <a:t>health disparities and achieve health equity?</a:t>
            </a:r>
            <a:endParaRPr lang="en-US" sz="3000" i="0" dirty="0">
              <a:effectLst/>
              <a:latin typeface="Arial" panose="020B0604020202020204" pitchFamily="34" charset="0"/>
            </a:endParaRPr>
          </a:p>
          <a:p>
            <a:pPr marL="0" indent="0">
              <a:lnSpc>
                <a:spcPct val="140000"/>
              </a:lnSpc>
              <a:buNone/>
            </a:pPr>
            <a:r>
              <a:rPr lang="en-US" altLang="zh-CN" sz="3000" b="1" dirty="0">
                <a:latin typeface="Arial" panose="020B0604020202020204" pitchFamily="34" charset="0"/>
                <a:cs typeface="Arial" panose="020B0604020202020204" pitchFamily="34" charset="0"/>
              </a:rPr>
              <a:t>Challenges:</a:t>
            </a:r>
          </a:p>
          <a:p>
            <a:pPr>
              <a:lnSpc>
                <a:spcPct val="140000"/>
              </a:lnSpc>
              <a:buFontTx/>
              <a:buChar char="-"/>
            </a:pPr>
            <a:r>
              <a:rPr lang="en-US" altLang="zh-CN" sz="3000" dirty="0">
                <a:latin typeface="Arial" panose="020B0604020202020204" pitchFamily="34" charset="0"/>
                <a:cs typeface="Arial" panose="020B0604020202020204" pitchFamily="34" charset="0"/>
              </a:rPr>
              <a:t>Breadth of domain knowledge</a:t>
            </a:r>
          </a:p>
          <a:p>
            <a:pPr>
              <a:lnSpc>
                <a:spcPct val="140000"/>
              </a:lnSpc>
              <a:buFontTx/>
              <a:buChar char="-"/>
            </a:pPr>
            <a:r>
              <a:rPr lang="en-US" altLang="zh-CN" sz="3000" dirty="0">
                <a:latin typeface="Arial" panose="020B0604020202020204" pitchFamily="34" charset="0"/>
                <a:cs typeface="Arial" panose="020B0604020202020204" pitchFamily="34" charset="0"/>
              </a:rPr>
              <a:t>Limited data resources with demographic information</a:t>
            </a:r>
          </a:p>
          <a:p>
            <a:pPr>
              <a:lnSpc>
                <a:spcPct val="140000"/>
              </a:lnSpc>
              <a:buFontTx/>
              <a:buChar char="-"/>
            </a:pPr>
            <a:r>
              <a:rPr lang="en-US" altLang="zh-CN" sz="3000" dirty="0">
                <a:latin typeface="Arial" panose="020B0604020202020204" pitchFamily="34" charset="0"/>
                <a:cs typeface="Arial" panose="020B0604020202020204" pitchFamily="34" charset="0"/>
              </a:rPr>
              <a:t>Inherent ethical considerations</a:t>
            </a:r>
          </a:p>
        </p:txBody>
      </p:sp>
      <p:pic>
        <p:nvPicPr>
          <p:cNvPr id="2" name="Picture 6" descr="Logo&#10;&#10;Description automatically generated">
            <a:extLst>
              <a:ext uri="{FF2B5EF4-FFF2-40B4-BE49-F238E27FC236}">
                <a16:creationId xmlns:a16="http://schemas.microsoft.com/office/drawing/2014/main" id="{76CF912F-EF56-8A23-B8C6-7EDA762E5C4B}"/>
              </a:ext>
            </a:extLst>
          </p:cNvPr>
          <p:cNvPicPr>
            <a:picLocks noChangeAspect="1"/>
          </p:cNvPicPr>
          <p:nvPr/>
        </p:nvPicPr>
        <p:blipFill>
          <a:blip r:embed="rId3"/>
          <a:stretch>
            <a:fillRect/>
          </a:stretch>
        </p:blipFill>
        <p:spPr>
          <a:xfrm>
            <a:off x="838199" y="569391"/>
            <a:ext cx="917029" cy="917029"/>
          </a:xfrm>
          <a:prstGeom prst="rect">
            <a:avLst/>
          </a:prstGeom>
        </p:spPr>
      </p:pic>
      <p:sp>
        <p:nvSpPr>
          <p:cNvPr id="3" name="Slide Number Placeholder 2">
            <a:extLst>
              <a:ext uri="{FF2B5EF4-FFF2-40B4-BE49-F238E27FC236}">
                <a16:creationId xmlns:a16="http://schemas.microsoft.com/office/drawing/2014/main" id="{313E16C7-0622-E5CC-6684-C539F9D65BD5}"/>
              </a:ext>
            </a:extLst>
          </p:cNvPr>
          <p:cNvSpPr>
            <a:spLocks noGrp="1"/>
          </p:cNvSpPr>
          <p:nvPr>
            <p:ph type="sldNum" sz="quarter" idx="12"/>
          </p:nvPr>
        </p:nvSpPr>
        <p:spPr/>
        <p:txBody>
          <a:bodyPr/>
          <a:lstStyle/>
          <a:p>
            <a:fld id="{C3A81FF4-CBB3-DF43-B274-0E49682E6498}" type="slidenum">
              <a:rPr lang="en-US" smtClean="0"/>
              <a:t>5</a:t>
            </a:fld>
            <a:endParaRPr lang="en-US"/>
          </a:p>
        </p:txBody>
      </p:sp>
    </p:spTree>
    <p:extLst>
      <p:ext uri="{BB962C8B-B14F-4D97-AF65-F5344CB8AC3E}">
        <p14:creationId xmlns:p14="http://schemas.microsoft.com/office/powerpoint/2010/main" val="399679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5" grpId="1"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DBD7-C148-58A8-B4E0-98E9A128521F}"/>
            </a:ext>
          </a:extLst>
        </p:cNvPr>
        <p:cNvGrpSpPr/>
        <p:nvPr/>
      </p:nvGrpSpPr>
      <p:grpSpPr>
        <a:xfrm>
          <a:off x="0" y="0"/>
          <a:ext cx="0" cy="0"/>
          <a:chOff x="0" y="0"/>
          <a:chExt cx="0" cy="0"/>
        </a:xfrm>
      </p:grpSpPr>
      <p:sp>
        <p:nvSpPr>
          <p:cNvPr id="5" name="内容占位符 8">
            <a:extLst>
              <a:ext uri="{FF2B5EF4-FFF2-40B4-BE49-F238E27FC236}">
                <a16:creationId xmlns:a16="http://schemas.microsoft.com/office/drawing/2014/main" id="{A4245EF9-1E28-41AB-E89E-48A24D38085B}"/>
              </a:ext>
            </a:extLst>
          </p:cNvPr>
          <p:cNvSpPr>
            <a:spLocks noGrp="1"/>
          </p:cNvSpPr>
          <p:nvPr>
            <p:ph idx="1"/>
          </p:nvPr>
        </p:nvSpPr>
        <p:spPr>
          <a:xfrm>
            <a:off x="838199" y="1690686"/>
            <a:ext cx="10515600" cy="5032375"/>
          </a:xfrm>
        </p:spPr>
        <p:txBody>
          <a:bodyPr>
            <a:normAutofit/>
          </a:bodyPr>
          <a:lstStyle/>
          <a:p>
            <a:pPr marL="0" indent="0">
              <a:lnSpc>
                <a:spcPct val="140000"/>
              </a:lnSpc>
              <a:buNone/>
            </a:pPr>
            <a:r>
              <a:rPr lang="en-US" altLang="zh-CN" dirty="0">
                <a:latin typeface="Arial" panose="020B0604020202020204" pitchFamily="34" charset="0"/>
                <a:cs typeface="Arial" panose="020B0604020202020204" pitchFamily="34" charset="0"/>
              </a:rPr>
              <a:t>✧ Lack of comprehensive evaluation of LLMs on real-world healthcare tasks:</a:t>
            </a:r>
          </a:p>
          <a:p>
            <a:pPr marL="0" indent="0">
              <a:lnSpc>
                <a:spcPct val="140000"/>
              </a:lnSpc>
              <a:buNone/>
            </a:pPr>
            <a:r>
              <a:rPr lang="en-US" altLang="zh-CN" dirty="0">
                <a:latin typeface="Arial" panose="020B0604020202020204" pitchFamily="34" charset="0"/>
                <a:cs typeface="Arial" panose="020B0604020202020204" pitchFamily="34" charset="0"/>
              </a:rPr>
              <a:t>  - we propose 6 benchmarks and evaluate performance</a:t>
            </a:r>
          </a:p>
          <a:p>
            <a:pPr marL="0" indent="0">
              <a:lnSpc>
                <a:spcPct val="140000"/>
              </a:lnSpc>
              <a:buNone/>
            </a:pPr>
            <a:r>
              <a:rPr lang="en-US" altLang="zh-CN" dirty="0">
                <a:latin typeface="Arial" panose="020B0604020202020204" pitchFamily="34" charset="0"/>
                <a:cs typeface="Arial" panose="020B0604020202020204" pitchFamily="34" charset="0"/>
              </a:rPr>
              <a:t>✧ Concerns regarding biases towards certain groups and potential to reinforce health disparities:</a:t>
            </a:r>
          </a:p>
          <a:p>
            <a:pPr marL="0" indent="0">
              <a:lnSpc>
                <a:spcPct val="140000"/>
              </a:lnSpc>
              <a:buNone/>
            </a:pPr>
            <a:r>
              <a:rPr lang="en-US" altLang="zh-CN" dirty="0">
                <a:latin typeface="Arial" panose="020B0604020202020204" pitchFamily="34" charset="0"/>
                <a:cs typeface="Arial" panose="020B0604020202020204" pitchFamily="34" charset="0"/>
              </a:rPr>
              <a:t> - analysis from </a:t>
            </a:r>
            <a:r>
              <a:rPr lang="en-US" altLang="zh-CN" b="1" dirty="0">
                <a:latin typeface="Arial" panose="020B0604020202020204" pitchFamily="34" charset="0"/>
                <a:cs typeface="Arial" panose="020B0604020202020204" pitchFamily="34" charset="0"/>
              </a:rPr>
              <a:t>demographic fairness </a:t>
            </a:r>
            <a:r>
              <a:rPr lang="en-US" altLang="zh-CN" dirty="0">
                <a:latin typeface="Arial" panose="020B0604020202020204" pitchFamily="34" charset="0"/>
                <a:cs typeface="Arial" panose="020B0604020202020204" pitchFamily="34" charset="0"/>
              </a:rPr>
              <a:t>perspective</a:t>
            </a:r>
          </a:p>
          <a:p>
            <a:pPr marL="0" indent="0">
              <a:lnSpc>
                <a:spcPct val="140000"/>
              </a:lnSpc>
              <a:buNone/>
            </a:pPr>
            <a:r>
              <a:rPr lang="en-US" altLang="zh-CN" dirty="0">
                <a:latin typeface="Arial" panose="020B0604020202020204" pitchFamily="34" charset="0"/>
                <a:cs typeface="Arial" panose="020B0604020202020204" pitchFamily="34" charset="0"/>
              </a:rPr>
              <a:t>   </a:t>
            </a:r>
          </a:p>
          <a:p>
            <a:pPr>
              <a:lnSpc>
                <a:spcPct val="140000"/>
              </a:lnSpc>
              <a:buFontTx/>
              <a:buChar char="-"/>
            </a:pPr>
            <a:endParaRPr lang="en-US" altLang="zh-CN" dirty="0">
              <a:latin typeface="Arial" panose="020B0604020202020204" pitchFamily="34" charset="0"/>
              <a:cs typeface="Arial" panose="020B0604020202020204" pitchFamily="34" charset="0"/>
            </a:endParaRPr>
          </a:p>
        </p:txBody>
      </p:sp>
      <p:pic>
        <p:nvPicPr>
          <p:cNvPr id="2" name="Picture 6" descr="Logo&#10;&#10;Description automatically generated">
            <a:extLst>
              <a:ext uri="{FF2B5EF4-FFF2-40B4-BE49-F238E27FC236}">
                <a16:creationId xmlns:a16="http://schemas.microsoft.com/office/drawing/2014/main" id="{89BA514D-5F46-1A3D-1DAD-D065A9E088B7}"/>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C360362C-7B07-9384-CC4B-E1876188BA15}"/>
              </a:ext>
            </a:extLst>
          </p:cNvPr>
          <p:cNvSpPr txBox="1">
            <a:spLocks/>
          </p:cNvSpPr>
          <p:nvPr/>
        </p:nvSpPr>
        <p:spPr>
          <a:xfrm>
            <a:off x="1755228" y="365123"/>
            <a:ext cx="829586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600" dirty="0">
                <a:latin typeface="Arial" panose="020B0604020202020204" pitchFamily="34" charset="0"/>
                <a:cs typeface="Arial" panose="020B0604020202020204" pitchFamily="34" charset="0"/>
              </a:rPr>
              <a:t> Introduction: Motivations</a:t>
            </a:r>
            <a:endParaRPr kumimoji="1" lang="zh-CN" altLang="en-US" sz="3600" dirty="0">
              <a:latin typeface="Arial" panose="020B0604020202020204" pitchFamily="34" charset="0"/>
              <a:cs typeface="Arial" panose="020B0604020202020204" pitchFamily="34" charset="0"/>
            </a:endParaRPr>
          </a:p>
        </p:txBody>
      </p:sp>
      <p:sp>
        <p:nvSpPr>
          <p:cNvPr id="10" name="Slide Number Placeholder 9">
            <a:extLst>
              <a:ext uri="{FF2B5EF4-FFF2-40B4-BE49-F238E27FC236}">
                <a16:creationId xmlns:a16="http://schemas.microsoft.com/office/drawing/2014/main" id="{04DDCEC5-98B6-D6BE-4DF2-8056633AD01B}"/>
              </a:ext>
            </a:extLst>
          </p:cNvPr>
          <p:cNvSpPr>
            <a:spLocks noGrp="1"/>
          </p:cNvSpPr>
          <p:nvPr>
            <p:ph type="sldNum" sz="quarter" idx="12"/>
          </p:nvPr>
        </p:nvSpPr>
        <p:spPr/>
        <p:txBody>
          <a:bodyPr/>
          <a:lstStyle/>
          <a:p>
            <a:fld id="{C3A81FF4-CBB3-DF43-B274-0E49682E6498}" type="slidenum">
              <a:rPr lang="en-US" smtClean="0"/>
              <a:t>6</a:t>
            </a:fld>
            <a:endParaRPr lang="en-US"/>
          </a:p>
        </p:txBody>
      </p:sp>
    </p:spTree>
    <p:extLst>
      <p:ext uri="{BB962C8B-B14F-4D97-AF65-F5344CB8AC3E}">
        <p14:creationId xmlns:p14="http://schemas.microsoft.com/office/powerpoint/2010/main" val="111732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04D1-5786-4AD4-E455-4E5305AAC04F}"/>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A3B1B0C6-7A79-0F4C-7019-D2E51DECECB3}"/>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6E610E61-6798-12C1-358D-81805DDA8F7B}"/>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a:t>
            </a:r>
            <a:r>
              <a:rPr kumimoji="1" lang="en-US" altLang="zh-CN" sz="3600" b="1" dirty="0">
                <a:latin typeface="Arial" panose="020B0604020202020204" pitchFamily="34" charset="0"/>
                <a:cs typeface="Arial" panose="020B0604020202020204" pitchFamily="34" charset="0"/>
              </a:rPr>
              <a:t>Four Datasets, Six Benchmarks</a:t>
            </a:r>
            <a:endParaRPr kumimoji="1" lang="zh-CN" altLang="en-US" sz="36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D0455EF5-9372-10B3-4654-3CFDBD8084BD}"/>
              </a:ext>
            </a:extLst>
          </p:cNvPr>
          <p:cNvSpPr>
            <a:spLocks noGrp="1"/>
          </p:cNvSpPr>
          <p:nvPr>
            <p:ph idx="1"/>
          </p:nvPr>
        </p:nvSpPr>
        <p:spPr>
          <a:xfrm>
            <a:off x="838199" y="1690686"/>
            <a:ext cx="11168271" cy="4351338"/>
          </a:xfrm>
        </p:spPr>
        <p:txBody>
          <a:bodyPr>
            <a:normAutofit fontScale="92500" lnSpcReduction="10000"/>
          </a:bodyPr>
          <a:lstStyle/>
          <a:p>
            <a:pPr marL="0" indent="0">
              <a:buNone/>
            </a:pPr>
            <a:endParaRPr lang="en-US" dirty="0"/>
          </a:p>
          <a:p>
            <a:pPr marL="0" indent="0">
              <a:buNone/>
            </a:pPr>
            <a:r>
              <a:rPr lang="en-US" sz="3200" b="1" dirty="0"/>
              <a:t>1. Medical Question Answering </a:t>
            </a:r>
            <a:r>
              <a:rPr lang="en-US" sz="3200" dirty="0"/>
              <a:t>(US Medical Licensing Examination)   </a:t>
            </a:r>
            <a:r>
              <a:rPr lang="en-US" baseline="30000" dirty="0"/>
              <a:t> </a:t>
            </a:r>
            <a:r>
              <a:rPr lang="en-US" sz="2400" dirty="0"/>
              <a:t>[</a:t>
            </a:r>
            <a:r>
              <a:rPr lang="en-US" sz="2400" dirty="0" err="1"/>
              <a:t>Jin</a:t>
            </a:r>
            <a:r>
              <a:rPr lang="en-US" sz="2400" dirty="0"/>
              <a:t> et al 2021]</a:t>
            </a:r>
          </a:p>
          <a:p>
            <a:pPr marL="0" indent="0">
              <a:buNone/>
            </a:pPr>
            <a:r>
              <a:rPr lang="en-US" sz="3200" b="1" dirty="0"/>
              <a:t>2. Patient goal achievement prediction </a:t>
            </a:r>
            <a:r>
              <a:rPr lang="en-US" dirty="0"/>
              <a:t>from Health Coaching Datasets </a:t>
            </a:r>
            <a:r>
              <a:rPr lang="en-US" sz="2400" dirty="0"/>
              <a:t>[Gupta et al 2020, Zhou et al 2024]</a:t>
            </a:r>
          </a:p>
          <a:p>
            <a:pPr marL="0" lvl="0" indent="0">
              <a:buNone/>
            </a:pPr>
            <a:r>
              <a:rPr lang="en-US" sz="3200" b="1" dirty="0">
                <a:solidFill>
                  <a:prstClr val="black"/>
                </a:solidFill>
              </a:rPr>
              <a:t>3+4. One-year mortality prediction </a:t>
            </a:r>
            <a:r>
              <a:rPr lang="en-US" sz="3200" dirty="0">
                <a:solidFill>
                  <a:prstClr val="black"/>
                </a:solidFill>
              </a:rPr>
              <a:t>and </a:t>
            </a:r>
            <a:r>
              <a:rPr lang="en-US" sz="3200" b="1" dirty="0">
                <a:solidFill>
                  <a:prstClr val="black"/>
                </a:solidFill>
              </a:rPr>
              <a:t>90-day readmission - </a:t>
            </a:r>
            <a:r>
              <a:rPr lang="en-US" sz="3200" dirty="0">
                <a:solidFill>
                  <a:prstClr val="black"/>
                </a:solidFill>
              </a:rPr>
              <a:t>from MIMIC-IV </a:t>
            </a:r>
            <a:r>
              <a:rPr lang="en-US" sz="2400" dirty="0">
                <a:solidFill>
                  <a:prstClr val="black"/>
                </a:solidFill>
              </a:rPr>
              <a:t>[Johnson et al 2020]</a:t>
            </a:r>
            <a:r>
              <a:rPr lang="en-US" sz="2400" baseline="30000" dirty="0">
                <a:solidFill>
                  <a:prstClr val="black"/>
                </a:solidFill>
              </a:rPr>
              <a:t> </a:t>
            </a:r>
            <a:endParaRPr lang="en-US" sz="2400" dirty="0"/>
          </a:p>
          <a:p>
            <a:pPr marL="0" indent="0">
              <a:buNone/>
            </a:pPr>
            <a:r>
              <a:rPr lang="en-US" sz="3200" b="1" dirty="0"/>
              <a:t>5+6. Schizophrenia/Bipolar Disorder/Healthy</a:t>
            </a:r>
            <a:r>
              <a:rPr lang="en-US" sz="3200" dirty="0"/>
              <a:t> prediction from spoken dialogues:</a:t>
            </a:r>
            <a:r>
              <a:rPr lang="en-US" sz="3200" baseline="30000" dirty="0"/>
              <a:t> </a:t>
            </a:r>
          </a:p>
          <a:p>
            <a:pPr marL="0" indent="0">
              <a:buNone/>
            </a:pPr>
            <a:r>
              <a:rPr lang="en-US" sz="3200" b="1" i="1" baseline="30000" dirty="0"/>
              <a:t> </a:t>
            </a:r>
            <a:r>
              <a:rPr lang="en-US" sz="3200" b="1" i="1" dirty="0"/>
              <a:t>        </a:t>
            </a:r>
            <a:r>
              <a:rPr lang="en-US" sz="2800" b="1" i="1" dirty="0"/>
              <a:t>Meeting New Neighbor </a:t>
            </a:r>
            <a:r>
              <a:rPr lang="en-US" sz="2800" dirty="0"/>
              <a:t>and </a:t>
            </a:r>
            <a:r>
              <a:rPr lang="en-US" sz="2800" b="1" i="1" dirty="0"/>
              <a:t>Complaining to a Landlord </a:t>
            </a:r>
            <a:r>
              <a:rPr lang="en-US" dirty="0"/>
              <a:t>[</a:t>
            </a:r>
            <a:r>
              <a:rPr lang="en-US" dirty="0" err="1"/>
              <a:t>Aich</a:t>
            </a:r>
            <a:r>
              <a:rPr lang="en-US" dirty="0"/>
              <a:t> et al 2022]</a:t>
            </a:r>
          </a:p>
        </p:txBody>
      </p:sp>
      <p:sp>
        <p:nvSpPr>
          <p:cNvPr id="3" name="Slide Number Placeholder 2">
            <a:extLst>
              <a:ext uri="{FF2B5EF4-FFF2-40B4-BE49-F238E27FC236}">
                <a16:creationId xmlns:a16="http://schemas.microsoft.com/office/drawing/2014/main" id="{C0ABEC20-56DD-5333-F3AE-DC615249CD2B}"/>
              </a:ext>
            </a:extLst>
          </p:cNvPr>
          <p:cNvSpPr>
            <a:spLocks noGrp="1"/>
          </p:cNvSpPr>
          <p:nvPr>
            <p:ph type="sldNum" sz="quarter" idx="12"/>
          </p:nvPr>
        </p:nvSpPr>
        <p:spPr/>
        <p:txBody>
          <a:bodyPr/>
          <a:lstStyle/>
          <a:p>
            <a:fld id="{C3A81FF4-CBB3-DF43-B274-0E49682E6498}" type="slidenum">
              <a:rPr lang="en-US" smtClean="0"/>
              <a:t>7</a:t>
            </a:fld>
            <a:endParaRPr lang="en-US"/>
          </a:p>
        </p:txBody>
      </p:sp>
    </p:spTree>
    <p:extLst>
      <p:ext uri="{BB962C8B-B14F-4D97-AF65-F5344CB8AC3E}">
        <p14:creationId xmlns:p14="http://schemas.microsoft.com/office/powerpoint/2010/main" val="174459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0981CF-BCB9-B8B8-F372-BECB6543ABB4}"/>
              </a:ext>
            </a:extLst>
          </p:cNvPr>
          <p:cNvPicPr>
            <a:picLocks noChangeAspect="1"/>
          </p:cNvPicPr>
          <p:nvPr/>
        </p:nvPicPr>
        <p:blipFill>
          <a:blip r:embed="rId2"/>
          <a:srcRect/>
          <a:stretch/>
        </p:blipFill>
        <p:spPr>
          <a:xfrm>
            <a:off x="411944" y="695905"/>
            <a:ext cx="6009408" cy="3816998"/>
          </a:xfrm>
          <a:prstGeom prst="rect">
            <a:avLst/>
          </a:prstGeom>
        </p:spPr>
      </p:pic>
      <p:pic>
        <p:nvPicPr>
          <p:cNvPr id="6" name="Picture 5">
            <a:extLst>
              <a:ext uri="{FF2B5EF4-FFF2-40B4-BE49-F238E27FC236}">
                <a16:creationId xmlns:a16="http://schemas.microsoft.com/office/drawing/2014/main" id="{3E55B0D5-012E-6663-8B30-5DCFB37C6E7C}"/>
              </a:ext>
            </a:extLst>
          </p:cNvPr>
          <p:cNvPicPr>
            <a:picLocks noChangeAspect="1"/>
          </p:cNvPicPr>
          <p:nvPr/>
        </p:nvPicPr>
        <p:blipFill>
          <a:blip r:embed="rId3"/>
          <a:srcRect/>
          <a:stretch/>
        </p:blipFill>
        <p:spPr>
          <a:xfrm>
            <a:off x="6182593" y="2167548"/>
            <a:ext cx="6009407" cy="3816998"/>
          </a:xfrm>
          <a:prstGeom prst="rect">
            <a:avLst/>
          </a:prstGeom>
        </p:spPr>
      </p:pic>
      <p:sp>
        <p:nvSpPr>
          <p:cNvPr id="7" name="Slide Number Placeholder 6">
            <a:extLst>
              <a:ext uri="{FF2B5EF4-FFF2-40B4-BE49-F238E27FC236}">
                <a16:creationId xmlns:a16="http://schemas.microsoft.com/office/drawing/2014/main" id="{B7F1F7B6-30F9-10AB-3FB3-5FB4DB1DB7F5}"/>
              </a:ext>
            </a:extLst>
          </p:cNvPr>
          <p:cNvSpPr>
            <a:spLocks noGrp="1"/>
          </p:cNvSpPr>
          <p:nvPr>
            <p:ph type="sldNum" sz="quarter" idx="12"/>
          </p:nvPr>
        </p:nvSpPr>
        <p:spPr/>
        <p:txBody>
          <a:bodyPr/>
          <a:lstStyle/>
          <a:p>
            <a:fld id="{C3A81FF4-CBB3-DF43-B274-0E49682E6498}" type="slidenum">
              <a:rPr lang="en-US" smtClean="0"/>
              <a:t>8</a:t>
            </a:fld>
            <a:endParaRPr lang="en-US"/>
          </a:p>
        </p:txBody>
      </p:sp>
    </p:spTree>
    <p:extLst>
      <p:ext uri="{BB962C8B-B14F-4D97-AF65-F5344CB8AC3E}">
        <p14:creationId xmlns:p14="http://schemas.microsoft.com/office/powerpoint/2010/main" val="289184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3A848-B4BA-A62E-960F-605045111B5D}"/>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25925B56-2492-1517-97AF-42173BBDDB5B}"/>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CC2ACFA6-D6F9-D7F1-50DE-D8A72B0C024D}"/>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Dataset Statistics</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1112C074-5D43-0121-3446-D0320C90639A}"/>
              </a:ext>
            </a:extLst>
          </p:cNvPr>
          <p:cNvSpPr>
            <a:spLocks noGrp="1"/>
          </p:cNvSpPr>
          <p:nvPr>
            <p:ph idx="1"/>
          </p:nvPr>
        </p:nvSpPr>
        <p:spPr>
          <a:xfrm>
            <a:off x="838199" y="1825625"/>
            <a:ext cx="11168271" cy="4351338"/>
          </a:xfrm>
        </p:spPr>
        <p:txBody>
          <a:bodyPr/>
          <a:lstStyle/>
          <a:p>
            <a:pPr marL="0" indent="0">
              <a:buNone/>
            </a:pPr>
            <a:endParaRPr lang="en-US" dirty="0"/>
          </a:p>
          <a:p>
            <a:pPr marL="0" indent="0">
              <a:buNone/>
            </a:pPr>
            <a:r>
              <a:rPr lang="en-US" dirty="0"/>
              <a:t> </a:t>
            </a:r>
          </a:p>
        </p:txBody>
      </p:sp>
      <p:graphicFrame>
        <p:nvGraphicFramePr>
          <p:cNvPr id="5" name="Table 4">
            <a:extLst>
              <a:ext uri="{FF2B5EF4-FFF2-40B4-BE49-F238E27FC236}">
                <a16:creationId xmlns:a16="http://schemas.microsoft.com/office/drawing/2014/main" id="{0194432F-758F-AB6B-D35C-615C3ACD9E0E}"/>
              </a:ext>
            </a:extLst>
          </p:cNvPr>
          <p:cNvGraphicFramePr>
            <a:graphicFrameLocks noGrp="1"/>
          </p:cNvGraphicFramePr>
          <p:nvPr>
            <p:extLst>
              <p:ext uri="{D42A27DB-BD31-4B8C-83A1-F6EECF244321}">
                <p14:modId xmlns:p14="http://schemas.microsoft.com/office/powerpoint/2010/main" val="3706466638"/>
              </p:ext>
            </p:extLst>
          </p:nvPr>
        </p:nvGraphicFramePr>
        <p:xfrm>
          <a:off x="865632" y="1690686"/>
          <a:ext cx="9571140" cy="4521805"/>
        </p:xfrm>
        <a:graphic>
          <a:graphicData uri="http://schemas.openxmlformats.org/drawingml/2006/table">
            <a:tbl>
              <a:tblPr firstRow="1" bandRow="1">
                <a:tableStyleId>{3B4B98B0-60AC-42C2-AFA5-B58CD77FA1E5}</a:tableStyleId>
              </a:tblPr>
              <a:tblGrid>
                <a:gridCol w="3172092">
                  <a:extLst>
                    <a:ext uri="{9D8B030D-6E8A-4147-A177-3AD203B41FA5}">
                      <a16:colId xmlns:a16="http://schemas.microsoft.com/office/drawing/2014/main" val="4102654753"/>
                    </a:ext>
                  </a:extLst>
                </a:gridCol>
                <a:gridCol w="3199524">
                  <a:extLst>
                    <a:ext uri="{9D8B030D-6E8A-4147-A177-3AD203B41FA5}">
                      <a16:colId xmlns:a16="http://schemas.microsoft.com/office/drawing/2014/main" val="1865800673"/>
                    </a:ext>
                  </a:extLst>
                </a:gridCol>
                <a:gridCol w="3199524">
                  <a:extLst>
                    <a:ext uri="{9D8B030D-6E8A-4147-A177-3AD203B41FA5}">
                      <a16:colId xmlns:a16="http://schemas.microsoft.com/office/drawing/2014/main" val="1263053819"/>
                    </a:ext>
                  </a:extLst>
                </a:gridCol>
              </a:tblGrid>
              <a:tr h="575177">
                <a:tc>
                  <a:txBody>
                    <a:bodyPr/>
                    <a:lstStyle/>
                    <a:p>
                      <a:pPr algn="ctr"/>
                      <a:r>
                        <a:rPr lang="en-US" sz="2400" dirty="0"/>
                        <a:t>Task</a:t>
                      </a:r>
                    </a:p>
                  </a:txBody>
                  <a:tcPr/>
                </a:tc>
                <a:tc>
                  <a:txBody>
                    <a:bodyPr/>
                    <a:lstStyle/>
                    <a:p>
                      <a:pPr algn="ctr"/>
                      <a:r>
                        <a:rPr lang="en-US" sz="2400" dirty="0"/>
                        <a:t>Fine-Tuning </a:t>
                      </a:r>
                    </a:p>
                  </a:txBody>
                  <a:tcPr/>
                </a:tc>
                <a:tc>
                  <a:txBody>
                    <a:bodyPr/>
                    <a:lstStyle/>
                    <a:p>
                      <a:pPr algn="ctr"/>
                      <a:r>
                        <a:rPr lang="en-US" sz="2400" dirty="0"/>
                        <a:t>Test</a:t>
                      </a:r>
                    </a:p>
                  </a:txBody>
                  <a:tcPr/>
                </a:tc>
                <a:extLst>
                  <a:ext uri="{0D108BD9-81ED-4DB2-BD59-A6C34878D82A}">
                    <a16:rowId xmlns:a16="http://schemas.microsoft.com/office/drawing/2014/main" val="3199945370"/>
                  </a:ext>
                </a:extLst>
              </a:tr>
              <a:tr h="575177">
                <a:tc>
                  <a:txBody>
                    <a:bodyPr/>
                    <a:lstStyle/>
                    <a:p>
                      <a:r>
                        <a:rPr lang="en-US" sz="2400" dirty="0">
                          <a:solidFill>
                            <a:srgbClr val="00B0F0"/>
                          </a:solidFill>
                        </a:rPr>
                        <a:t>MIMIC-Mortality</a:t>
                      </a:r>
                      <a:endParaRPr lang="en-US" sz="2400" dirty="0" err="1">
                        <a:solidFill>
                          <a:srgbClr val="00B0F0"/>
                        </a:solidFill>
                      </a:endParaRPr>
                    </a:p>
                  </a:txBody>
                  <a:tcPr/>
                </a:tc>
                <a:tc>
                  <a:txBody>
                    <a:bodyPr/>
                    <a:lstStyle/>
                    <a:p>
                      <a:pPr algn="ctr"/>
                      <a:r>
                        <a:rPr lang="en-US" sz="2400" dirty="0">
                          <a:solidFill>
                            <a:srgbClr val="00B0F0"/>
                          </a:solidFill>
                        </a:rPr>
                        <a:t>5000</a:t>
                      </a:r>
                    </a:p>
                  </a:txBody>
                  <a:tcPr/>
                </a:tc>
                <a:tc>
                  <a:txBody>
                    <a:bodyPr/>
                    <a:lstStyle/>
                    <a:p>
                      <a:pPr algn="ctr"/>
                      <a:r>
                        <a:rPr lang="en-US" sz="2400" dirty="0">
                          <a:solidFill>
                            <a:srgbClr val="00B0F0"/>
                          </a:solidFill>
                        </a:rPr>
                        <a:t>500</a:t>
                      </a:r>
                    </a:p>
                  </a:txBody>
                  <a:tcPr/>
                </a:tc>
                <a:extLst>
                  <a:ext uri="{0D108BD9-81ED-4DB2-BD59-A6C34878D82A}">
                    <a16:rowId xmlns:a16="http://schemas.microsoft.com/office/drawing/2014/main" val="921256454"/>
                  </a:ext>
                </a:extLst>
              </a:tr>
              <a:tr h="575177">
                <a:tc>
                  <a:txBody>
                    <a:bodyPr/>
                    <a:lstStyle/>
                    <a:p>
                      <a:r>
                        <a:rPr lang="en-US" sz="2400" dirty="0">
                          <a:solidFill>
                            <a:srgbClr val="00B0F0"/>
                          </a:solidFill>
                        </a:rPr>
                        <a:t>MIMIC-Readmission</a:t>
                      </a:r>
                    </a:p>
                  </a:txBody>
                  <a:tcPr/>
                </a:tc>
                <a:tc>
                  <a:txBody>
                    <a:bodyPr/>
                    <a:lstStyle/>
                    <a:p>
                      <a:pPr algn="ctr"/>
                      <a:r>
                        <a:rPr lang="en-US" sz="2400" dirty="0">
                          <a:solidFill>
                            <a:srgbClr val="00B0F0"/>
                          </a:solidFill>
                        </a:rPr>
                        <a:t>5000</a:t>
                      </a:r>
                    </a:p>
                  </a:txBody>
                  <a:tcPr/>
                </a:tc>
                <a:tc>
                  <a:txBody>
                    <a:bodyPr/>
                    <a:lstStyle/>
                    <a:p>
                      <a:pPr algn="ctr"/>
                      <a:r>
                        <a:rPr lang="en-US" sz="2400" dirty="0">
                          <a:solidFill>
                            <a:srgbClr val="00B0F0"/>
                          </a:solidFill>
                        </a:rPr>
                        <a:t>500</a:t>
                      </a:r>
                    </a:p>
                  </a:txBody>
                  <a:tcPr/>
                </a:tc>
                <a:extLst>
                  <a:ext uri="{0D108BD9-81ED-4DB2-BD59-A6C34878D82A}">
                    <a16:rowId xmlns:a16="http://schemas.microsoft.com/office/drawing/2014/main" val="4260904750"/>
                  </a:ext>
                </a:extLst>
              </a:tr>
              <a:tr h="575177">
                <a:tc>
                  <a:txBody>
                    <a:bodyPr/>
                    <a:lstStyle/>
                    <a:p>
                      <a:r>
                        <a:rPr lang="en-US" sz="2400" dirty="0" err="1">
                          <a:solidFill>
                            <a:srgbClr val="00B0F0"/>
                          </a:solidFill>
                        </a:rPr>
                        <a:t>MedQA</a:t>
                      </a:r>
                    </a:p>
                  </a:txBody>
                  <a:tcPr/>
                </a:tc>
                <a:tc>
                  <a:txBody>
                    <a:bodyPr/>
                    <a:lstStyle/>
                    <a:p>
                      <a:pPr algn="ctr"/>
                      <a:r>
                        <a:rPr lang="en-US" sz="2400" dirty="0">
                          <a:solidFill>
                            <a:srgbClr val="00B0F0"/>
                          </a:solidFill>
                        </a:rPr>
                        <a:t>5000</a:t>
                      </a:r>
                    </a:p>
                  </a:txBody>
                  <a:tcPr/>
                </a:tc>
                <a:tc>
                  <a:txBody>
                    <a:bodyPr/>
                    <a:lstStyle/>
                    <a:p>
                      <a:pPr algn="ctr"/>
                      <a:r>
                        <a:rPr lang="en-US" sz="2400" dirty="0">
                          <a:solidFill>
                            <a:srgbClr val="00B0F0"/>
                          </a:solidFill>
                        </a:rPr>
                        <a:t>175</a:t>
                      </a:r>
                    </a:p>
                  </a:txBody>
                  <a:tcPr/>
                </a:tc>
                <a:extLst>
                  <a:ext uri="{0D108BD9-81ED-4DB2-BD59-A6C34878D82A}">
                    <a16:rowId xmlns:a16="http://schemas.microsoft.com/office/drawing/2014/main" val="1992048775"/>
                  </a:ext>
                </a:extLst>
              </a:tr>
              <a:tr h="575177">
                <a:tc>
                  <a:txBody>
                    <a:bodyPr/>
                    <a:lstStyle/>
                    <a:p>
                      <a:r>
                        <a:rPr lang="en-US" sz="2400" dirty="0">
                          <a:solidFill>
                            <a:srgbClr val="00B050"/>
                          </a:solidFill>
                        </a:rPr>
                        <a:t>Health Coaching</a:t>
                      </a:r>
                    </a:p>
                  </a:txBody>
                  <a:tcPr/>
                </a:tc>
                <a:tc>
                  <a:txBody>
                    <a:bodyPr/>
                    <a:lstStyle/>
                    <a:p>
                      <a:pPr algn="ctr"/>
                      <a:r>
                        <a:rPr lang="en-US" sz="2400" dirty="0">
                          <a:solidFill>
                            <a:srgbClr val="00B050"/>
                          </a:solidFill>
                        </a:rPr>
                        <a:t>120</a:t>
                      </a:r>
                    </a:p>
                  </a:txBody>
                  <a:tcPr/>
                </a:tc>
                <a:tc>
                  <a:txBody>
                    <a:bodyPr/>
                    <a:lstStyle/>
                    <a:p>
                      <a:pPr algn="ctr"/>
                      <a:r>
                        <a:rPr lang="en-US" sz="2400" dirty="0">
                          <a:solidFill>
                            <a:srgbClr val="00B050"/>
                          </a:solidFill>
                        </a:rPr>
                        <a:t>60</a:t>
                      </a:r>
                    </a:p>
                  </a:txBody>
                  <a:tcPr/>
                </a:tc>
                <a:extLst>
                  <a:ext uri="{0D108BD9-81ED-4DB2-BD59-A6C34878D82A}">
                    <a16:rowId xmlns:a16="http://schemas.microsoft.com/office/drawing/2014/main" val="1411995121"/>
                  </a:ext>
                </a:extLst>
              </a:tr>
              <a:tr h="575177">
                <a:tc>
                  <a:txBody>
                    <a:bodyPr/>
                    <a:lstStyle/>
                    <a:p>
                      <a:r>
                        <a:rPr lang="en-US" sz="2400" dirty="0">
                          <a:solidFill>
                            <a:srgbClr val="00B050"/>
                          </a:solidFill>
                        </a:rPr>
                        <a:t>SCZ and Bipolar: Neighbor</a:t>
                      </a:r>
                    </a:p>
                  </a:txBody>
                  <a:tcPr/>
                </a:tc>
                <a:tc>
                  <a:txBody>
                    <a:bodyPr/>
                    <a:lstStyle/>
                    <a:p>
                      <a:pPr algn="ctr"/>
                      <a:r>
                        <a:rPr lang="en-US" sz="2400" dirty="0">
                          <a:solidFill>
                            <a:srgbClr val="00B050"/>
                          </a:solidFill>
                        </a:rPr>
                        <a:t>190</a:t>
                      </a:r>
                    </a:p>
                  </a:txBody>
                  <a:tcPr/>
                </a:tc>
                <a:tc>
                  <a:txBody>
                    <a:bodyPr/>
                    <a:lstStyle/>
                    <a:p>
                      <a:pPr algn="ctr"/>
                      <a:r>
                        <a:rPr lang="en-US" sz="2400" dirty="0">
                          <a:solidFill>
                            <a:srgbClr val="00B050"/>
                          </a:solidFill>
                        </a:rPr>
                        <a:t>261</a:t>
                      </a:r>
                    </a:p>
                  </a:txBody>
                  <a:tcPr/>
                </a:tc>
                <a:extLst>
                  <a:ext uri="{0D108BD9-81ED-4DB2-BD59-A6C34878D82A}">
                    <a16:rowId xmlns:a16="http://schemas.microsoft.com/office/drawing/2014/main" val="1357246734"/>
                  </a:ext>
                </a:extLst>
              </a:tr>
              <a:tr h="575177">
                <a:tc>
                  <a:txBody>
                    <a:bodyPr/>
                    <a:lstStyle/>
                    <a:p>
                      <a:pPr lvl="0" algn="l">
                        <a:lnSpc>
                          <a:spcPct val="100000"/>
                        </a:lnSpc>
                        <a:spcBef>
                          <a:spcPts val="0"/>
                        </a:spcBef>
                        <a:spcAft>
                          <a:spcPts val="0"/>
                        </a:spcAft>
                        <a:buNone/>
                      </a:pPr>
                      <a:r>
                        <a:rPr lang="en-US" sz="2400" b="0" i="0" u="none" strike="noStrike" noProof="0" dirty="0">
                          <a:solidFill>
                            <a:srgbClr val="00B050"/>
                          </a:solidFill>
                          <a:latin typeface="Calibri"/>
                        </a:rPr>
                        <a:t>SCZ and Bipolar: Landlord</a:t>
                      </a:r>
                    </a:p>
                  </a:txBody>
                  <a:tcPr/>
                </a:tc>
                <a:tc>
                  <a:txBody>
                    <a:bodyPr/>
                    <a:lstStyle/>
                    <a:p>
                      <a:pPr algn="ctr"/>
                      <a:r>
                        <a:rPr lang="en-US" sz="2400" dirty="0">
                          <a:solidFill>
                            <a:srgbClr val="00B050"/>
                          </a:solidFill>
                        </a:rPr>
                        <a:t>188</a:t>
                      </a:r>
                    </a:p>
                  </a:txBody>
                  <a:tcPr/>
                </a:tc>
                <a:tc>
                  <a:txBody>
                    <a:bodyPr/>
                    <a:lstStyle/>
                    <a:p>
                      <a:pPr algn="ctr"/>
                      <a:r>
                        <a:rPr lang="en-US" sz="2400" dirty="0">
                          <a:solidFill>
                            <a:srgbClr val="00B050"/>
                          </a:solidFill>
                        </a:rPr>
                        <a:t>261</a:t>
                      </a:r>
                    </a:p>
                  </a:txBody>
                  <a:tcPr/>
                </a:tc>
                <a:extLst>
                  <a:ext uri="{0D108BD9-81ED-4DB2-BD59-A6C34878D82A}">
                    <a16:rowId xmlns:a16="http://schemas.microsoft.com/office/drawing/2014/main" val="1376922159"/>
                  </a:ext>
                </a:extLst>
              </a:tr>
            </a:tbl>
          </a:graphicData>
        </a:graphic>
      </p:graphicFrame>
      <p:sp>
        <p:nvSpPr>
          <p:cNvPr id="6" name="Slide Number Placeholder 5">
            <a:extLst>
              <a:ext uri="{FF2B5EF4-FFF2-40B4-BE49-F238E27FC236}">
                <a16:creationId xmlns:a16="http://schemas.microsoft.com/office/drawing/2014/main" id="{2C47BE44-C9C8-D59F-32F0-B215F1026610}"/>
              </a:ext>
            </a:extLst>
          </p:cNvPr>
          <p:cNvSpPr>
            <a:spLocks noGrp="1"/>
          </p:cNvSpPr>
          <p:nvPr>
            <p:ph type="sldNum" sz="quarter" idx="12"/>
          </p:nvPr>
        </p:nvSpPr>
        <p:spPr/>
        <p:txBody>
          <a:bodyPr/>
          <a:lstStyle/>
          <a:p>
            <a:fld id="{C3A81FF4-CBB3-DF43-B274-0E49682E6498}" type="slidenum">
              <a:rPr lang="en-US" smtClean="0"/>
              <a:t>9</a:t>
            </a:fld>
            <a:endParaRPr lang="en-US"/>
          </a:p>
        </p:txBody>
      </p:sp>
    </p:spTree>
    <p:extLst>
      <p:ext uri="{BB962C8B-B14F-4D97-AF65-F5344CB8AC3E}">
        <p14:creationId xmlns:p14="http://schemas.microsoft.com/office/powerpoint/2010/main" val="4138272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C0D13-BC85-D5B2-EF89-9EE8098EE44C}"/>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8D5B624B-103D-AC5F-CCB2-1B98B38228ED}"/>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4CBB12B8-D5A7-DE1B-AE00-0C3803C3A158}"/>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Three approaches, three LLMs</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E70C2EB0-C31C-E4AE-AC4B-3C171DFB70ED}"/>
              </a:ext>
            </a:extLst>
          </p:cNvPr>
          <p:cNvSpPr>
            <a:spLocks noGrp="1"/>
          </p:cNvSpPr>
          <p:nvPr>
            <p:ph idx="1"/>
          </p:nvPr>
        </p:nvSpPr>
        <p:spPr>
          <a:xfrm>
            <a:off x="838199" y="1528415"/>
            <a:ext cx="10515601" cy="4665664"/>
          </a:xfrm>
        </p:spPr>
        <p:txBody>
          <a:bodyPr>
            <a:normAutofit fontScale="25000" lnSpcReduction="20000"/>
          </a:bodyPr>
          <a:lstStyle/>
          <a:p>
            <a:pPr marL="0" indent="0">
              <a:buNone/>
            </a:pPr>
            <a:endParaRPr lang="en-US" sz="3200" b="1" dirty="0"/>
          </a:p>
          <a:p>
            <a:pPr>
              <a:buFontTx/>
              <a:buChar char="-"/>
            </a:pPr>
            <a:r>
              <a:rPr lang="en-US" sz="12800" dirty="0"/>
              <a:t>In-Context Learning (ICL) with Chain-of-Thought </a:t>
            </a:r>
          </a:p>
          <a:p>
            <a:pPr lvl="1">
              <a:spcBef>
                <a:spcPts val="1000"/>
              </a:spcBef>
              <a:defRPr/>
            </a:pPr>
            <a:r>
              <a:rPr kumimoji="0" lang="en-US" sz="12800" b="0" i="0" u="none" strike="noStrike" kern="1200" cap="none" spc="0" normalizeH="0" baseline="0" noProof="0" dirty="0" err="1">
                <a:ln>
                  <a:noFill/>
                </a:ln>
                <a:solidFill>
                  <a:prstClr val="black"/>
                </a:solidFill>
                <a:effectLst/>
                <a:uLnTx/>
                <a:uFillTx/>
                <a:latin typeface="Calibri" panose="020F0502020204030204"/>
                <a:ea typeface="+mn-ea"/>
                <a:cs typeface="+mn-cs"/>
              </a:rPr>
              <a:t>OpenAI</a:t>
            </a:r>
            <a:r>
              <a:rPr kumimoji="0" lang="en-US" sz="12800" b="0" i="0" u="none" strike="noStrike" kern="1200" cap="none" spc="0" normalizeH="0" baseline="0" noProof="0" dirty="0">
                <a:ln>
                  <a:noFill/>
                </a:ln>
                <a:solidFill>
                  <a:prstClr val="black"/>
                </a:solidFill>
                <a:effectLst/>
                <a:uLnTx/>
                <a:uFillTx/>
                <a:latin typeface="Calibri" panose="020F0502020204030204"/>
                <a:ea typeface="+mn-ea"/>
                <a:cs typeface="+mn-cs"/>
              </a:rPr>
              <a:t> GPT-4</a:t>
            </a:r>
          </a:p>
          <a:p>
            <a:pPr lvl="1">
              <a:spcBef>
                <a:spcPts val="1000"/>
              </a:spcBef>
              <a:defRPr/>
            </a:pPr>
            <a:r>
              <a:rPr kumimoji="0" lang="en-US" sz="12800" b="0" i="0" u="none" strike="noStrike" kern="1200" cap="none" spc="0" normalizeH="0" baseline="0" noProof="0" dirty="0">
                <a:ln>
                  <a:noFill/>
                </a:ln>
                <a:solidFill>
                  <a:prstClr val="black"/>
                </a:solidFill>
                <a:effectLst/>
                <a:uLnTx/>
                <a:uFillTx/>
                <a:latin typeface="Calibri" panose="020F0502020204030204"/>
                <a:ea typeface="+mn-ea"/>
                <a:cs typeface="+mn-cs"/>
              </a:rPr>
              <a:t>Claude-3 (Sonnet)</a:t>
            </a:r>
          </a:p>
          <a:p>
            <a:pPr lvl="1">
              <a:spcBef>
                <a:spcPts val="1000"/>
              </a:spcBef>
              <a:defRPr/>
            </a:pPr>
            <a:r>
              <a:rPr kumimoji="0" lang="en-US" sz="12800" b="0" i="0" u="none" strike="noStrike" kern="1200" cap="none" spc="0" normalizeH="0" baseline="0" noProof="0" dirty="0">
                <a:ln>
                  <a:noFill/>
                </a:ln>
                <a:solidFill>
                  <a:prstClr val="black"/>
                </a:solidFill>
                <a:effectLst/>
                <a:uLnTx/>
                <a:uFillTx/>
                <a:latin typeface="Calibri" panose="020F0502020204030204"/>
                <a:ea typeface="+mn-ea"/>
                <a:cs typeface="+mn-cs"/>
              </a:rPr>
              <a:t>LLaMA-3 (8b)</a:t>
            </a:r>
          </a:p>
          <a:p>
            <a:pPr marL="0" indent="0">
              <a:buNone/>
            </a:pPr>
            <a:endParaRPr lang="en-US" sz="12800" dirty="0"/>
          </a:p>
          <a:p>
            <a:pPr>
              <a:buFontTx/>
              <a:buChar char="-"/>
            </a:pPr>
            <a:r>
              <a:rPr lang="en-US" sz="12800" dirty="0"/>
              <a:t>Parameter Efficient Fine-Tuning (PEFT) (</a:t>
            </a:r>
            <a:r>
              <a:rPr lang="en-US" sz="12800" dirty="0" err="1"/>
              <a:t>LoRA</a:t>
            </a:r>
            <a:r>
              <a:rPr lang="en-US" sz="12800" dirty="0"/>
              <a:t>) </a:t>
            </a:r>
          </a:p>
          <a:p>
            <a:pPr lvl="1"/>
            <a:r>
              <a:rPr kumimoji="0" lang="en-US" sz="12800" b="0" i="0" u="none" strike="noStrike" kern="1200" cap="none" spc="0" normalizeH="0" baseline="0" noProof="0" dirty="0">
                <a:ln>
                  <a:noFill/>
                </a:ln>
                <a:solidFill>
                  <a:prstClr val="black"/>
                </a:solidFill>
                <a:effectLst/>
                <a:uLnTx/>
                <a:uFillTx/>
                <a:latin typeface="Calibri" panose="020F0502020204030204"/>
                <a:ea typeface="+mn-ea"/>
                <a:cs typeface="+mn-cs"/>
              </a:rPr>
              <a:t>LLaMA-3 (8b)</a:t>
            </a:r>
          </a:p>
          <a:p>
            <a:pPr marL="0" indent="0">
              <a:buNone/>
            </a:pPr>
            <a:endParaRPr lang="en-US" sz="12800" dirty="0"/>
          </a:p>
          <a:p>
            <a:pPr>
              <a:buFontTx/>
              <a:buChar char="-"/>
            </a:pPr>
            <a:r>
              <a:rPr lang="en-US" sz="12800" dirty="0"/>
              <a:t>LLM as Agents (</a:t>
            </a:r>
            <a:r>
              <a:rPr lang="en-US" sz="12800" dirty="0" err="1"/>
              <a:t>ReAct</a:t>
            </a:r>
            <a:r>
              <a:rPr lang="en-US" sz="12800" dirty="0"/>
              <a:t> and </a:t>
            </a:r>
            <a:r>
              <a:rPr lang="en-US" sz="12800" dirty="0" err="1"/>
              <a:t>Reflexion</a:t>
            </a:r>
            <a:r>
              <a:rPr lang="en-US" sz="12800" dirty="0"/>
              <a:t>) [external knowledge]</a:t>
            </a:r>
          </a:p>
          <a:p>
            <a:pPr lvl="1"/>
            <a:r>
              <a:rPr kumimoji="0" lang="en-US" sz="12800" b="0" i="0" u="none" strike="noStrike" kern="1200" cap="none" spc="0" normalizeH="0" baseline="0" noProof="0" dirty="0" err="1">
                <a:ln>
                  <a:noFill/>
                </a:ln>
                <a:solidFill>
                  <a:prstClr val="black"/>
                </a:solidFill>
                <a:effectLst/>
                <a:uLnTx/>
                <a:uFillTx/>
                <a:latin typeface="Calibri" panose="020F0502020204030204"/>
                <a:ea typeface="+mn-ea"/>
                <a:cs typeface="+mn-cs"/>
              </a:rPr>
              <a:t>OpenAI</a:t>
            </a:r>
            <a:r>
              <a:rPr kumimoji="0" lang="en-US" sz="12800" b="0" i="0" u="none" strike="noStrike" kern="1200" cap="none" spc="0" normalizeH="0" baseline="0" noProof="0" dirty="0">
                <a:ln>
                  <a:noFill/>
                </a:ln>
                <a:solidFill>
                  <a:prstClr val="black"/>
                </a:solidFill>
                <a:effectLst/>
                <a:uLnTx/>
                <a:uFillTx/>
                <a:latin typeface="Calibri" panose="020F0502020204030204"/>
                <a:ea typeface="+mn-ea"/>
                <a:cs typeface="+mn-cs"/>
              </a:rPr>
              <a:t> GPT-4</a:t>
            </a:r>
          </a:p>
          <a:p>
            <a:pPr>
              <a:buFontTx/>
              <a:buChar char="-"/>
            </a:pPr>
            <a:endParaRPr lang="en-US" sz="6200" dirty="0"/>
          </a:p>
          <a:p>
            <a:pPr marL="0" indent="0">
              <a:buNone/>
            </a:pPr>
            <a:endParaRPr lang="en-US" sz="6200" dirty="0"/>
          </a:p>
          <a:p>
            <a:pPr marL="0" indent="0">
              <a:buNone/>
            </a:pPr>
            <a:r>
              <a:rPr lang="en-US" dirty="0"/>
              <a:t> </a:t>
            </a:r>
          </a:p>
        </p:txBody>
      </p:sp>
      <p:sp>
        <p:nvSpPr>
          <p:cNvPr id="3" name="Slide Number Placeholder 2">
            <a:extLst>
              <a:ext uri="{FF2B5EF4-FFF2-40B4-BE49-F238E27FC236}">
                <a16:creationId xmlns:a16="http://schemas.microsoft.com/office/drawing/2014/main" id="{2D59BBC1-3F9A-45C7-0DC3-470BB4401611}"/>
              </a:ext>
            </a:extLst>
          </p:cNvPr>
          <p:cNvSpPr>
            <a:spLocks noGrp="1"/>
          </p:cNvSpPr>
          <p:nvPr>
            <p:ph type="sldNum" sz="quarter" idx="12"/>
          </p:nvPr>
        </p:nvSpPr>
        <p:spPr/>
        <p:txBody>
          <a:bodyPr/>
          <a:lstStyle/>
          <a:p>
            <a:fld id="{C3A81FF4-CBB3-DF43-B274-0E49682E6498}" type="slidenum">
              <a:rPr lang="en-US" smtClean="0"/>
              <a:t>10</a:t>
            </a:fld>
            <a:endParaRPr lang="en-US"/>
          </a:p>
        </p:txBody>
      </p:sp>
    </p:spTree>
    <p:extLst>
      <p:ext uri="{BB962C8B-B14F-4D97-AF65-F5344CB8AC3E}">
        <p14:creationId xmlns:p14="http://schemas.microsoft.com/office/powerpoint/2010/main" val="60219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487F-AFC9-F2B7-19F8-6F6714E9B8FE}"/>
              </a:ext>
            </a:extLst>
          </p:cNvPr>
          <p:cNvSpPr>
            <a:spLocks noGrp="1"/>
          </p:cNvSpPr>
          <p:nvPr>
            <p:ph type="title"/>
          </p:nvPr>
        </p:nvSpPr>
        <p:spPr/>
        <p:txBody>
          <a:bodyPr/>
          <a:lstStyle/>
          <a:p>
            <a:r>
              <a:rPr lang="en-IT" dirty="0"/>
              <a:t>Prompt example:</a:t>
            </a:r>
          </a:p>
        </p:txBody>
      </p:sp>
      <p:sp>
        <p:nvSpPr>
          <p:cNvPr id="3" name="Content Placeholder 2">
            <a:extLst>
              <a:ext uri="{FF2B5EF4-FFF2-40B4-BE49-F238E27FC236}">
                <a16:creationId xmlns:a16="http://schemas.microsoft.com/office/drawing/2014/main" id="{1D373218-C94A-3BD6-FA40-783A31B2F0E0}"/>
              </a:ext>
            </a:extLst>
          </p:cNvPr>
          <p:cNvSpPr>
            <a:spLocks noGrp="1"/>
          </p:cNvSpPr>
          <p:nvPr>
            <p:ph idx="1"/>
          </p:nvPr>
        </p:nvSpPr>
        <p:spPr/>
        <p:txBody>
          <a:bodyPr/>
          <a:lstStyle/>
          <a:p>
            <a:pPr marL="0" indent="0">
              <a:buNone/>
            </a:pPr>
            <a:r>
              <a:rPr lang="en-GB" b="1" dirty="0"/>
              <a:t>Mortality / Readmission</a:t>
            </a:r>
            <a:r>
              <a:rPr lang="en-GB" dirty="0"/>
              <a:t>: Assess the 1-year mortality risk (low or high) / 90-day readmission chance for the patient based on the given de-identified clinical note. Using medical evidence only. If uncertain, provide your best evidence-based estimate. </a:t>
            </a:r>
          </a:p>
          <a:p>
            <a:pPr marL="0" indent="0">
              <a:buNone/>
            </a:pPr>
            <a:r>
              <a:rPr lang="en-GB" b="1" dirty="0"/>
              <a:t>[Note]</a:t>
            </a:r>
          </a:p>
          <a:p>
            <a:pPr marL="0" indent="0">
              <a:buNone/>
            </a:pPr>
            <a:r>
              <a:rPr lang="en-IT" dirty="0"/>
              <a:t>Chief complaint / history of present illness / past medical history / lab results.</a:t>
            </a:r>
            <a:endParaRPr lang="en-GB" dirty="0"/>
          </a:p>
        </p:txBody>
      </p:sp>
      <p:sp>
        <p:nvSpPr>
          <p:cNvPr id="4" name="Slide Number Placeholder 3">
            <a:extLst>
              <a:ext uri="{FF2B5EF4-FFF2-40B4-BE49-F238E27FC236}">
                <a16:creationId xmlns:a16="http://schemas.microsoft.com/office/drawing/2014/main" id="{AE9E76F1-21F1-E231-9BC6-B1BB0DDF7137}"/>
              </a:ext>
            </a:extLst>
          </p:cNvPr>
          <p:cNvSpPr>
            <a:spLocks noGrp="1"/>
          </p:cNvSpPr>
          <p:nvPr>
            <p:ph type="sldNum" sz="quarter" idx="12"/>
          </p:nvPr>
        </p:nvSpPr>
        <p:spPr/>
        <p:txBody>
          <a:bodyPr/>
          <a:lstStyle/>
          <a:p>
            <a:fld id="{C3A81FF4-CBB3-DF43-B274-0E49682E6498}" type="slidenum">
              <a:rPr lang="en-US" smtClean="0"/>
              <a:t>11</a:t>
            </a:fld>
            <a:endParaRPr lang="en-US"/>
          </a:p>
        </p:txBody>
      </p:sp>
    </p:spTree>
    <p:extLst>
      <p:ext uri="{BB962C8B-B14F-4D97-AF65-F5344CB8AC3E}">
        <p14:creationId xmlns:p14="http://schemas.microsoft.com/office/powerpoint/2010/main" val="1841322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F701C-9D9D-7070-3E86-1D5FA56C7265}"/>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1CAD6BB8-0CEE-277E-82B3-0149885C0AFF}"/>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0BA68E15-B932-7669-85D7-A44A0D63CF75}"/>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LLM as Agents</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05FA053B-A9AA-966C-1644-9A403B497A82}"/>
              </a:ext>
            </a:extLst>
          </p:cNvPr>
          <p:cNvSpPr>
            <a:spLocks noGrp="1"/>
          </p:cNvSpPr>
          <p:nvPr>
            <p:ph idx="1"/>
          </p:nvPr>
        </p:nvSpPr>
        <p:spPr>
          <a:xfrm>
            <a:off x="838199" y="1825625"/>
            <a:ext cx="11168271" cy="4351338"/>
          </a:xfrm>
        </p:spPr>
        <p:txBody>
          <a:bodyPr>
            <a:normAutofit/>
          </a:bodyPr>
          <a:lstStyle/>
          <a:p>
            <a:pPr marL="0" indent="0">
              <a:buNone/>
            </a:pPr>
            <a:r>
              <a:rPr lang="en-US" sz="3200" b="1" dirty="0"/>
              <a:t>Simplified </a:t>
            </a:r>
          </a:p>
          <a:p>
            <a:pPr marL="0" indent="0">
              <a:buNone/>
            </a:pPr>
            <a:r>
              <a:rPr lang="en-US" sz="3200" b="1" dirty="0"/>
              <a:t>“LLM as Agents”</a:t>
            </a:r>
          </a:p>
          <a:p>
            <a:pPr marL="0" indent="0">
              <a:buNone/>
            </a:pPr>
            <a:r>
              <a:rPr lang="en-US" sz="3200" b="1" dirty="0"/>
              <a:t> Framework</a:t>
            </a:r>
          </a:p>
          <a:p>
            <a:pPr marL="0" indent="0">
              <a:buNone/>
            </a:pPr>
            <a:endParaRPr lang="en-US" dirty="0"/>
          </a:p>
          <a:p>
            <a:pPr marL="0" indent="0">
              <a:buNone/>
            </a:pPr>
            <a:r>
              <a:rPr lang="en-US" dirty="0"/>
              <a:t> </a:t>
            </a:r>
          </a:p>
        </p:txBody>
      </p:sp>
      <p:pic>
        <p:nvPicPr>
          <p:cNvPr id="6" name="Picture 5">
            <a:extLst>
              <a:ext uri="{FF2B5EF4-FFF2-40B4-BE49-F238E27FC236}">
                <a16:creationId xmlns:a16="http://schemas.microsoft.com/office/drawing/2014/main" id="{85FF369F-38DA-D761-3CFD-0C2BD89B425D}"/>
              </a:ext>
            </a:extLst>
          </p:cNvPr>
          <p:cNvPicPr>
            <a:picLocks noChangeAspect="1"/>
          </p:cNvPicPr>
          <p:nvPr/>
        </p:nvPicPr>
        <p:blipFill>
          <a:blip r:embed="rId4"/>
          <a:stretch>
            <a:fillRect/>
          </a:stretch>
        </p:blipFill>
        <p:spPr>
          <a:xfrm>
            <a:off x="5076773" y="1486420"/>
            <a:ext cx="6103292" cy="4804652"/>
          </a:xfrm>
          <a:prstGeom prst="rect">
            <a:avLst/>
          </a:prstGeom>
        </p:spPr>
      </p:pic>
      <p:sp>
        <p:nvSpPr>
          <p:cNvPr id="5" name="Slide Number Placeholder 4">
            <a:extLst>
              <a:ext uri="{FF2B5EF4-FFF2-40B4-BE49-F238E27FC236}">
                <a16:creationId xmlns:a16="http://schemas.microsoft.com/office/drawing/2014/main" id="{69D2C68F-B01A-BF64-C379-ADF36E25715A}"/>
              </a:ext>
            </a:extLst>
          </p:cNvPr>
          <p:cNvSpPr>
            <a:spLocks noGrp="1"/>
          </p:cNvSpPr>
          <p:nvPr>
            <p:ph type="sldNum" sz="quarter" idx="12"/>
          </p:nvPr>
        </p:nvSpPr>
        <p:spPr/>
        <p:txBody>
          <a:bodyPr/>
          <a:lstStyle/>
          <a:p>
            <a:fld id="{C3A81FF4-CBB3-DF43-B274-0E49682E6498}" type="slidenum">
              <a:rPr lang="en-US" smtClean="0"/>
              <a:t>12</a:t>
            </a:fld>
            <a:endParaRPr lang="en-US"/>
          </a:p>
        </p:txBody>
      </p:sp>
    </p:spTree>
    <p:extLst>
      <p:ext uri="{BB962C8B-B14F-4D97-AF65-F5344CB8AC3E}">
        <p14:creationId xmlns:p14="http://schemas.microsoft.com/office/powerpoint/2010/main" val="1970414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348B-CC39-ED77-DE40-A42C2C1EB258}"/>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BE5976DC-6A7B-6DA4-60F6-8BCA91429514}"/>
              </a:ext>
            </a:extLst>
          </p:cNvPr>
          <p:cNvPicPr>
            <a:picLocks noChangeAspect="1"/>
          </p:cNvPicPr>
          <p:nvPr/>
        </p:nvPicPr>
        <p:blipFill>
          <a:blip r:embed="rId3"/>
          <a:stretch>
            <a:fillRect/>
          </a:stretch>
        </p:blipFill>
        <p:spPr>
          <a:xfrm>
            <a:off x="838199" y="439481"/>
            <a:ext cx="917029" cy="917029"/>
          </a:xfrm>
          <a:prstGeom prst="rect">
            <a:avLst/>
          </a:prstGeom>
        </p:spPr>
      </p:pic>
      <p:sp>
        <p:nvSpPr>
          <p:cNvPr id="7" name="标题 1">
            <a:extLst>
              <a:ext uri="{FF2B5EF4-FFF2-40B4-BE49-F238E27FC236}">
                <a16:creationId xmlns:a16="http://schemas.microsoft.com/office/drawing/2014/main" id="{80B5D6E8-F011-546F-B73C-2D39C52684EC}"/>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Results: Accuracy</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E52B3ECA-AA71-E6A4-B26F-D2A2E658B387}"/>
              </a:ext>
            </a:extLst>
          </p:cNvPr>
          <p:cNvSpPr>
            <a:spLocks noGrp="1"/>
          </p:cNvSpPr>
          <p:nvPr>
            <p:ph idx="1"/>
          </p:nvPr>
        </p:nvSpPr>
        <p:spPr>
          <a:xfrm>
            <a:off x="739587" y="2121460"/>
            <a:ext cx="11168271" cy="4351338"/>
          </a:xfrm>
        </p:spPr>
        <p:txBody>
          <a:bodyPr>
            <a:normAutofit/>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a:buFontTx/>
              <a:buChar char="-"/>
            </a:pPr>
            <a:r>
              <a:rPr lang="en-US" sz="2000" dirty="0"/>
              <a:t>LLMs perform so so on real-world healthcare tasks: some models barely surpass random guess</a:t>
            </a:r>
          </a:p>
          <a:p>
            <a:pPr>
              <a:buFontTx/>
              <a:buChar char="-"/>
            </a:pPr>
            <a:r>
              <a:rPr lang="en-US" sz="2000" dirty="0"/>
              <a:t>While often close-source &gt; open-source, best framework varies by tasks (e.g. Mortality vs SCZ/Bipolar)</a:t>
            </a:r>
          </a:p>
          <a:p>
            <a:pPr>
              <a:buFontTx/>
              <a:buChar char="-"/>
            </a:pPr>
            <a:r>
              <a:rPr lang="en-US" sz="2000" dirty="0"/>
              <a:t>Agent approach works for </a:t>
            </a:r>
            <a:r>
              <a:rPr lang="en-US" sz="2000" dirty="0" err="1"/>
              <a:t>MedQA</a:t>
            </a:r>
            <a:r>
              <a:rPr lang="en-US" sz="2000" dirty="0"/>
              <a:t>, fails real-world cases </a:t>
            </a:r>
          </a:p>
          <a:p>
            <a:pPr>
              <a:buFontTx/>
              <a:buChar char="-"/>
            </a:pPr>
            <a:r>
              <a:rPr lang="en-US" sz="2000" dirty="0"/>
              <a:t>Demographics prompting shows mixed results</a:t>
            </a:r>
          </a:p>
        </p:txBody>
      </p:sp>
      <p:graphicFrame>
        <p:nvGraphicFramePr>
          <p:cNvPr id="5" name="Table 4">
            <a:extLst>
              <a:ext uri="{FF2B5EF4-FFF2-40B4-BE49-F238E27FC236}">
                <a16:creationId xmlns:a16="http://schemas.microsoft.com/office/drawing/2014/main" id="{843DD283-AF7B-1F26-D66A-9B65314669E2}"/>
              </a:ext>
            </a:extLst>
          </p:cNvPr>
          <p:cNvGraphicFramePr>
            <a:graphicFrameLocks noGrp="1"/>
          </p:cNvGraphicFramePr>
          <p:nvPr>
            <p:extLst>
              <p:ext uri="{D42A27DB-BD31-4B8C-83A1-F6EECF244321}">
                <p14:modId xmlns:p14="http://schemas.microsoft.com/office/powerpoint/2010/main" val="2751567649"/>
              </p:ext>
            </p:extLst>
          </p:nvPr>
        </p:nvGraphicFramePr>
        <p:xfrm>
          <a:off x="739587" y="1430868"/>
          <a:ext cx="10995621" cy="3078480"/>
        </p:xfrm>
        <a:graphic>
          <a:graphicData uri="http://schemas.openxmlformats.org/drawingml/2006/table">
            <a:tbl>
              <a:tblPr firstRow="1" bandRow="1">
                <a:tableStyleId>{1E171933-4619-4E11-9A3F-F7608DF75F80}</a:tableStyleId>
              </a:tblPr>
              <a:tblGrid>
                <a:gridCol w="2784764">
                  <a:extLst>
                    <a:ext uri="{9D8B030D-6E8A-4147-A177-3AD203B41FA5}">
                      <a16:colId xmlns:a16="http://schemas.microsoft.com/office/drawing/2014/main" val="1031572637"/>
                    </a:ext>
                  </a:extLst>
                </a:gridCol>
                <a:gridCol w="1565564">
                  <a:extLst>
                    <a:ext uri="{9D8B030D-6E8A-4147-A177-3AD203B41FA5}">
                      <a16:colId xmlns:a16="http://schemas.microsoft.com/office/drawing/2014/main" val="432150631"/>
                    </a:ext>
                  </a:extLst>
                </a:gridCol>
                <a:gridCol w="1565563">
                  <a:extLst>
                    <a:ext uri="{9D8B030D-6E8A-4147-A177-3AD203B41FA5}">
                      <a16:colId xmlns:a16="http://schemas.microsoft.com/office/drawing/2014/main" val="3899939555"/>
                    </a:ext>
                  </a:extLst>
                </a:gridCol>
                <a:gridCol w="1385455">
                  <a:extLst>
                    <a:ext uri="{9D8B030D-6E8A-4147-A177-3AD203B41FA5}">
                      <a16:colId xmlns:a16="http://schemas.microsoft.com/office/drawing/2014/main" val="2998752772"/>
                    </a:ext>
                  </a:extLst>
                </a:gridCol>
                <a:gridCol w="1773382">
                  <a:extLst>
                    <a:ext uri="{9D8B030D-6E8A-4147-A177-3AD203B41FA5}">
                      <a16:colId xmlns:a16="http://schemas.microsoft.com/office/drawing/2014/main" val="1044647987"/>
                    </a:ext>
                  </a:extLst>
                </a:gridCol>
                <a:gridCol w="1920893">
                  <a:extLst>
                    <a:ext uri="{9D8B030D-6E8A-4147-A177-3AD203B41FA5}">
                      <a16:colId xmlns:a16="http://schemas.microsoft.com/office/drawing/2014/main" val="4058541569"/>
                    </a:ext>
                  </a:extLst>
                </a:gridCol>
              </a:tblGrid>
              <a:tr h="420076">
                <a:tc>
                  <a:txBody>
                    <a:bodyPr/>
                    <a:lstStyle/>
                    <a:p>
                      <a:r>
                        <a:rPr lang="en-US" sz="2000" dirty="0"/>
                        <a:t>Baselines</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dirty="0"/>
                        <a:t>Backbones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solidFill>
                            <a:srgbClr val="00B0F0"/>
                          </a:solidFill>
                        </a:rPr>
                        <a:t>Mortality (Mimic)</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err="1">
                          <a:solidFill>
                            <a:srgbClr val="00B0F0"/>
                          </a:solidFill>
                        </a:rPr>
                        <a:t>MedQA</a:t>
                      </a:r>
                      <a:endParaRPr lang="en-US" sz="2000" dirty="0">
                        <a:solidFill>
                          <a:srgbClr val="00B0F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solidFill>
                            <a:srgbClr val="00B050"/>
                          </a:solidFill>
                        </a:rPr>
                        <a:t>SCZ/Bipolar</a:t>
                      </a:r>
                    </a:p>
                    <a:p>
                      <a:r>
                        <a:rPr lang="en-US" sz="2000" dirty="0">
                          <a:solidFill>
                            <a:srgbClr val="00B050"/>
                          </a:solidFill>
                        </a:rPr>
                        <a:t>(Neighbor)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B050"/>
                          </a:solidFill>
                        </a:rPr>
                        <a:t>SCZ/Bipolar</a:t>
                      </a:r>
                    </a:p>
                    <a:p>
                      <a:r>
                        <a:rPr lang="en-US" sz="2000" dirty="0">
                          <a:solidFill>
                            <a:srgbClr val="00B050"/>
                          </a:solidFill>
                        </a:rPr>
                        <a:t>(Landlord)</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5790925"/>
                  </a:ext>
                </a:extLst>
              </a:tr>
              <a:tr h="358563">
                <a:tc>
                  <a:txBody>
                    <a:bodyPr/>
                    <a:lstStyle/>
                    <a:p>
                      <a:r>
                        <a:rPr lang="en-US" sz="2000" dirty="0"/>
                        <a:t>Random Guess</a:t>
                      </a:r>
                      <a:endParaRPr lang="en-US" sz="20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dirty="0"/>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50.0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2000" u="none" strike="noStrike" noProof="0" dirty="0"/>
                        <a:t>20.0</a:t>
                      </a:r>
                      <a:endParaRPr 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33.3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33.3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1646094"/>
                  </a:ext>
                </a:extLst>
              </a:tr>
              <a:tr h="358563">
                <a:tc>
                  <a:txBody>
                    <a:bodyPr/>
                    <a:lstStyle/>
                    <a:p>
                      <a:r>
                        <a:rPr lang="en-US" sz="2000" dirty="0"/>
                        <a:t>Chain-of-Thought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buNone/>
                      </a:pPr>
                      <a:r>
                        <a:rPr lang="en-US" sz="2000" u="none" strike="noStrike" noProof="0" dirty="0"/>
                        <a:t>GPT-4</a:t>
                      </a:r>
                      <a:endParaRPr lang="en-US" sz="20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a:highlight>
                            <a:srgbClr val="FFFF00"/>
                          </a:highlight>
                        </a:rPr>
                        <a:t>77.0 (79.0)</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2000" dirty="0"/>
                        <a:t>(68.6)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41.0 (39.1)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28.2 (36.8)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6198234"/>
                  </a:ext>
                </a:extLst>
              </a:tr>
              <a:tr h="358563">
                <a:tc>
                  <a:txBody>
                    <a:bodyPr/>
                    <a:lstStyle/>
                    <a:p>
                      <a:pPr lvl="0">
                        <a:buNone/>
                      </a:pPr>
                      <a:r>
                        <a:rPr lang="en-US" sz="2000" u="none" strike="noStrike" noProof="0" dirty="0"/>
                        <a:t>Chain-of-Thought</a:t>
                      </a:r>
                      <a:endParaRPr lang="en-US"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dirty="0"/>
                        <a:t>Claude-3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u="sng" dirty="0">
                          <a:highlight>
                            <a:srgbClr val="FFFF00"/>
                          </a:highlight>
                        </a:rPr>
                        <a:t>72.6 (50.8)</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(65.7)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37.5 (38.3)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37.2 (34.1)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9025892"/>
                  </a:ext>
                </a:extLst>
              </a:tr>
              <a:tr h="358563">
                <a:tc>
                  <a:txBody>
                    <a:bodyPr/>
                    <a:lstStyle/>
                    <a:p>
                      <a:pPr lvl="0">
                        <a:buNone/>
                      </a:pPr>
                      <a:r>
                        <a:rPr lang="en-US" sz="2000" u="none" strike="noStrike" noProof="0" dirty="0"/>
                        <a:t>Chain-of-Thought</a:t>
                      </a:r>
                      <a:endParaRPr lang="en-US" sz="20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000" dirty="0"/>
                        <a:t>LLaMA-3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73.0 (72.2)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(59.4)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33.0 (33.3)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34.1 ( 33.7)</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6653749"/>
                  </a:ext>
                </a:extLst>
              </a:tr>
              <a:tr h="358563">
                <a:tc>
                  <a:txBody>
                    <a:bodyPr/>
                    <a:lstStyle/>
                    <a:p>
                      <a:r>
                        <a:rPr lang="en-US" sz="2000" dirty="0"/>
                        <a:t>Supervised Fine-Tuning</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2000" u="none" strike="noStrike" noProof="0" dirty="0"/>
                        <a:t>LLaMA-3</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68.2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71.4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a:solidFill>
                            <a:schemeClr val="tx1"/>
                          </a:solidFill>
                          <a:highlight>
                            <a:srgbClr val="FFFF00"/>
                          </a:highlight>
                        </a:rPr>
                        <a:t>49.4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a:t>41.4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5172030"/>
                  </a:ext>
                </a:extLst>
              </a:tr>
              <a:tr h="358563">
                <a:tc>
                  <a:txBody>
                    <a:bodyPr/>
                    <a:lstStyle/>
                    <a:p>
                      <a:r>
                        <a:rPr lang="en-US" sz="2000" dirty="0"/>
                        <a:t>LLM as Agent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r>
                        <a:rPr lang="en-US" sz="2000" u="none" strike="noStrike" noProof="0" dirty="0"/>
                        <a:t>GPT-4</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66.7</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dirty="0">
                          <a:solidFill>
                            <a:schemeClr val="tx1"/>
                          </a:solidFill>
                        </a:rPr>
                        <a:t>86.9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highlight>
                            <a:srgbClr val="FFFF00"/>
                          </a:highlight>
                        </a:rPr>
                        <a:t>36.8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36.8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3131511"/>
                  </a:ext>
                </a:extLst>
              </a:tr>
            </a:tbl>
          </a:graphicData>
        </a:graphic>
      </p:graphicFrame>
      <p:sp>
        <p:nvSpPr>
          <p:cNvPr id="12" name="Slide Number Placeholder 11">
            <a:extLst>
              <a:ext uri="{FF2B5EF4-FFF2-40B4-BE49-F238E27FC236}">
                <a16:creationId xmlns:a16="http://schemas.microsoft.com/office/drawing/2014/main" id="{BEA42182-DA1A-BE4A-EB98-8F8498043F76}"/>
              </a:ext>
            </a:extLst>
          </p:cNvPr>
          <p:cNvSpPr>
            <a:spLocks noGrp="1"/>
          </p:cNvSpPr>
          <p:nvPr>
            <p:ph type="sldNum" sz="quarter" idx="12"/>
          </p:nvPr>
        </p:nvSpPr>
        <p:spPr/>
        <p:txBody>
          <a:bodyPr/>
          <a:lstStyle/>
          <a:p>
            <a:fld id="{C3A81FF4-CBB3-DF43-B274-0E49682E6498}" type="slidenum">
              <a:rPr lang="en-US" smtClean="0"/>
              <a:t>13</a:t>
            </a:fld>
            <a:endParaRPr lang="en-US"/>
          </a:p>
        </p:txBody>
      </p:sp>
    </p:spTree>
    <p:extLst>
      <p:ext uri="{BB962C8B-B14F-4D97-AF65-F5344CB8AC3E}">
        <p14:creationId xmlns:p14="http://schemas.microsoft.com/office/powerpoint/2010/main" val="163820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A75D-5519-C204-4E1A-1B43830336F3}"/>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D25BF873-E198-E547-E4E6-9729828142E7}"/>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2B094B9F-6E59-17A9-ABED-E02F4E3C9493}"/>
              </a:ext>
            </a:extLst>
          </p:cNvPr>
          <p:cNvSpPr>
            <a:spLocks noGrp="1"/>
          </p:cNvSpPr>
          <p:nvPr>
            <p:ph type="title"/>
          </p:nvPr>
        </p:nvSpPr>
        <p:spPr>
          <a:xfrm>
            <a:off x="1755228" y="365123"/>
            <a:ext cx="8295861" cy="1325563"/>
          </a:xfrm>
        </p:spPr>
        <p:txBody>
          <a:bodyPr>
            <a:normAutofit fontScale="90000"/>
          </a:bodyPr>
          <a:lstStyle/>
          <a:p>
            <a:pPr algn="ctr"/>
            <a:br>
              <a:rPr kumimoji="1" lang="en-US" altLang="zh-CN" sz="3600" dirty="0">
                <a:latin typeface="Arial" panose="020B0604020202020204" pitchFamily="34" charset="0"/>
                <a:cs typeface="Arial" panose="020B0604020202020204" pitchFamily="34" charset="0"/>
              </a:rPr>
            </a:br>
            <a:r>
              <a:rPr kumimoji="1" lang="en-US" altLang="zh-CN" b="1" dirty="0">
                <a:latin typeface="Arial" panose="020B0604020202020204" pitchFamily="34" charset="0"/>
                <a:cs typeface="Arial" panose="020B0604020202020204" pitchFamily="34" charset="0"/>
              </a:rPr>
              <a:t>Two Metrics for Fairness </a:t>
            </a:r>
            <a:br>
              <a:rPr kumimoji="1" lang="en-US" altLang="zh-CN" sz="3600" dirty="0">
                <a:latin typeface="Arial" panose="020B0604020202020204" pitchFamily="34" charset="0"/>
                <a:cs typeface="Arial" panose="020B0604020202020204" pitchFamily="34" charset="0"/>
              </a:rPr>
            </a:br>
            <a:r>
              <a:rPr lang="en-US" sz="3100" dirty="0"/>
              <a:t>[</a:t>
            </a:r>
            <a:r>
              <a:rPr lang="en-US" sz="3100" dirty="0" err="1"/>
              <a:t>Zemel</a:t>
            </a:r>
            <a:r>
              <a:rPr lang="en-US" sz="3100" dirty="0"/>
              <a:t> et al 2013, Liu et al 2023]</a:t>
            </a:r>
            <a:br>
              <a:rPr lang="en-US" sz="3100" dirty="0"/>
            </a:br>
            <a:endParaRPr kumimoji="1" lang="zh-CN" altLang="en-US" sz="31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7E2EAA52-9B8C-96E0-AA94-0DE719002DA0}"/>
              </a:ext>
            </a:extLst>
          </p:cNvPr>
          <p:cNvSpPr>
            <a:spLocks noGrp="1"/>
          </p:cNvSpPr>
          <p:nvPr>
            <p:ph idx="1"/>
          </p:nvPr>
        </p:nvSpPr>
        <p:spPr>
          <a:xfrm>
            <a:off x="838199" y="1825625"/>
            <a:ext cx="11168271" cy="4351338"/>
          </a:xfrm>
        </p:spPr>
        <p:txBody>
          <a:bodyPr>
            <a:normAutofit/>
          </a:bodyPr>
          <a:lstStyle/>
          <a:p>
            <a:pPr marL="0" indent="0">
              <a:buNone/>
            </a:pPr>
            <a:r>
              <a:rPr lang="en-US" sz="3200" b="1" dirty="0"/>
              <a:t>Demographic Parity Difference (DPD) </a:t>
            </a:r>
            <a:r>
              <a:rPr lang="en-US" sz="3200" dirty="0"/>
              <a:t>tests whether  model treats various subgroups similarly</a:t>
            </a:r>
          </a:p>
          <a:p>
            <a:pPr marL="0" indent="0">
              <a:buNone/>
            </a:pPr>
            <a:endParaRPr lang="en-US" dirty="0"/>
          </a:p>
          <a:p>
            <a:pPr marL="0" indent="0">
              <a:buNone/>
            </a:pPr>
            <a:endParaRPr lang="en-US" b="1" dirty="0"/>
          </a:p>
          <a:p>
            <a:pPr marL="0" indent="0">
              <a:buNone/>
            </a:pPr>
            <a:endParaRPr lang="en-US" b="1" dirty="0"/>
          </a:p>
          <a:p>
            <a:pPr marL="0" indent="0">
              <a:buNone/>
            </a:pPr>
            <a:r>
              <a:rPr lang="en-US" sz="3200" b="1" dirty="0" err="1">
                <a:solidFill>
                  <a:srgbClr val="101418"/>
                </a:solidFill>
                <a:latin typeface="Arial"/>
                <a:cs typeface="Arial"/>
              </a:rPr>
              <a:t>Ŷ</a:t>
            </a:r>
            <a:r>
              <a:rPr lang="en-US" sz="3200" b="1" dirty="0">
                <a:solidFill>
                  <a:srgbClr val="101418"/>
                </a:solidFill>
                <a:latin typeface="Arial"/>
                <a:cs typeface="Arial"/>
              </a:rPr>
              <a:t> </a:t>
            </a:r>
            <a:r>
              <a:rPr lang="en-US" sz="3200" b="1" dirty="0"/>
              <a:t>= </a:t>
            </a:r>
            <a:r>
              <a:rPr lang="en-US" sz="3200" dirty="0"/>
              <a:t>outcome,</a:t>
            </a:r>
            <a:r>
              <a:rPr lang="en-US" sz="3200" b="1" dirty="0"/>
              <a:t> Z</a:t>
            </a:r>
            <a:r>
              <a:rPr lang="en-US" sz="3200" dirty="0"/>
              <a:t>=</a:t>
            </a:r>
            <a:r>
              <a:rPr lang="en-US" sz="3200" b="1" dirty="0"/>
              <a:t> </a:t>
            </a:r>
            <a:r>
              <a:rPr lang="en-US" sz="3200" dirty="0"/>
              <a:t>protected attribute (demographic information)</a:t>
            </a:r>
          </a:p>
          <a:p>
            <a:pPr marL="0" indent="0">
              <a:buNone/>
            </a:pPr>
            <a:endParaRPr lang="en-US" dirty="0"/>
          </a:p>
          <a:p>
            <a:pPr marL="0" indent="0">
              <a:buNone/>
            </a:pPr>
            <a:r>
              <a:rPr lang="en-US" sz="3200" b="1" dirty="0"/>
              <a:t>Does not consider ground truth</a:t>
            </a:r>
          </a:p>
          <a:p>
            <a:pPr marL="0" indent="0">
              <a:buNone/>
            </a:pPr>
            <a:endParaRPr lang="en-US" b="1" dirty="0"/>
          </a:p>
        </p:txBody>
      </p:sp>
      <p:sp>
        <p:nvSpPr>
          <p:cNvPr id="5" name="TextBox 4">
            <a:extLst>
              <a:ext uri="{FF2B5EF4-FFF2-40B4-BE49-F238E27FC236}">
                <a16:creationId xmlns:a16="http://schemas.microsoft.com/office/drawing/2014/main" id="{B118096C-61F6-300D-973D-ED62CB673421}"/>
              </a:ext>
            </a:extLst>
          </p:cNvPr>
          <p:cNvSpPr txBox="1"/>
          <p:nvPr/>
        </p:nvSpPr>
        <p:spPr>
          <a:xfrm>
            <a:off x="2366166" y="3167390"/>
            <a:ext cx="707398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i="1" dirty="0">
                <a:latin typeface="Arial"/>
                <a:ea typeface="Calibri"/>
                <a:cs typeface="Calibri"/>
              </a:rPr>
              <a:t>DPD = P(</a:t>
            </a:r>
            <a:r>
              <a:rPr lang="en-US" sz="2800" i="1" dirty="0">
                <a:solidFill>
                  <a:srgbClr val="000000"/>
                </a:solidFill>
                <a:latin typeface="Arial"/>
                <a:ea typeface="Calibri"/>
                <a:cs typeface="Calibri"/>
              </a:rPr>
              <a:t> </a:t>
            </a:r>
            <a:r>
              <a:rPr lang="en-US" sz="2800" i="1" dirty="0">
                <a:solidFill>
                  <a:srgbClr val="101418"/>
                </a:solidFill>
                <a:latin typeface="Arial"/>
                <a:cs typeface="Arial"/>
              </a:rPr>
              <a:t>Ŷ = 1 |</a:t>
            </a:r>
            <a:r>
              <a:rPr lang="en-US" sz="2800" i="1" dirty="0">
                <a:solidFill>
                  <a:srgbClr val="101418"/>
                </a:solidFill>
                <a:latin typeface="Arial"/>
                <a:ea typeface="+mn-lt"/>
                <a:cs typeface="Arial"/>
              </a:rPr>
              <a:t> </a:t>
            </a:r>
            <a:r>
              <a:rPr lang="en-US" sz="2800" dirty="0">
                <a:solidFill>
                  <a:srgbClr val="202122"/>
                </a:solidFill>
                <a:latin typeface="Arial"/>
                <a:ea typeface="+mn-lt"/>
                <a:cs typeface="+mn-lt"/>
              </a:rPr>
              <a:t>𝑍</a:t>
            </a:r>
            <a:r>
              <a:rPr lang="en-US" sz="2800" i="1" dirty="0">
                <a:solidFill>
                  <a:srgbClr val="101418"/>
                </a:solidFill>
                <a:latin typeface="Arial"/>
                <a:cs typeface="Arial"/>
              </a:rPr>
              <a:t> = </a:t>
            </a:r>
            <a:r>
              <a:rPr lang="en-US" sz="2800" dirty="0">
                <a:solidFill>
                  <a:srgbClr val="202122"/>
                </a:solidFill>
                <a:latin typeface="Arial"/>
                <a:ea typeface="+mn-lt"/>
                <a:cs typeface="+mn-lt"/>
              </a:rPr>
              <a:t>𝑧</a:t>
            </a:r>
            <a:r>
              <a:rPr lang="en-US" sz="2800" baseline="-25000" dirty="0">
                <a:solidFill>
                  <a:srgbClr val="202122"/>
                </a:solidFill>
                <a:latin typeface="Arial"/>
                <a:ea typeface="+mn-lt"/>
                <a:cs typeface="+mn-lt"/>
              </a:rPr>
              <a:t>𝑖</a:t>
            </a:r>
            <a:r>
              <a:rPr lang="en-US" sz="2800" baseline="-25000" dirty="0">
                <a:solidFill>
                  <a:srgbClr val="202122"/>
                </a:solidFill>
                <a:latin typeface="Arial"/>
                <a:ea typeface="Calibri"/>
                <a:cs typeface="Calibri"/>
              </a:rPr>
              <a:t> </a:t>
            </a:r>
            <a:r>
              <a:rPr lang="en-US" sz="2800" i="1" dirty="0">
                <a:solidFill>
                  <a:srgbClr val="101418"/>
                </a:solidFill>
                <a:latin typeface="Arial"/>
                <a:ea typeface="Calibri"/>
                <a:cs typeface="Calibri"/>
              </a:rPr>
              <a:t>) -</a:t>
            </a:r>
            <a:r>
              <a:rPr lang="en-US" sz="2800" i="1" dirty="0">
                <a:solidFill>
                  <a:srgbClr val="101418"/>
                </a:solidFill>
                <a:latin typeface="Arial"/>
                <a:ea typeface="Calibri"/>
                <a:cs typeface="Lucida Sans Unicode"/>
              </a:rPr>
              <a:t> </a:t>
            </a:r>
            <a:r>
              <a:rPr lang="en-US" sz="2800" i="1" dirty="0">
                <a:solidFill>
                  <a:srgbClr val="101418"/>
                </a:solidFill>
                <a:latin typeface="Arial"/>
                <a:ea typeface="Calibri"/>
                <a:cs typeface="Calibri"/>
              </a:rPr>
              <a:t>P( Ŷ = 1 | </a:t>
            </a:r>
            <a:r>
              <a:rPr lang="en-US" sz="2800" dirty="0">
                <a:solidFill>
                  <a:srgbClr val="202122"/>
                </a:solidFill>
                <a:latin typeface="Arial"/>
                <a:ea typeface="+mn-lt"/>
                <a:cs typeface="+mn-lt"/>
              </a:rPr>
              <a:t>𝑍</a:t>
            </a:r>
            <a:r>
              <a:rPr lang="en-US" sz="2800" i="1" dirty="0">
                <a:solidFill>
                  <a:srgbClr val="101418"/>
                </a:solidFill>
                <a:latin typeface="Arial"/>
                <a:ea typeface="Calibri"/>
                <a:cs typeface="Calibri"/>
              </a:rPr>
              <a:t> </a:t>
            </a:r>
            <a:r>
              <a:rPr lang="en-US" sz="2800" i="1" dirty="0">
                <a:solidFill>
                  <a:srgbClr val="101418"/>
                </a:solidFill>
                <a:latin typeface="Arial"/>
                <a:ea typeface="Calibri"/>
                <a:cs typeface="Lucida Sans Unicode"/>
              </a:rPr>
              <a:t>≠ </a:t>
            </a:r>
            <a:r>
              <a:rPr lang="en-US" sz="2800" dirty="0">
                <a:solidFill>
                  <a:srgbClr val="202122"/>
                </a:solidFill>
                <a:latin typeface="Arial"/>
                <a:ea typeface="+mn-lt"/>
                <a:cs typeface="+mn-lt"/>
              </a:rPr>
              <a:t>𝑧</a:t>
            </a:r>
            <a:r>
              <a:rPr lang="en-US" sz="2800" baseline="-25000" dirty="0">
                <a:solidFill>
                  <a:srgbClr val="202122"/>
                </a:solidFill>
                <a:latin typeface="Arial"/>
                <a:ea typeface="+mn-lt"/>
                <a:cs typeface="+mn-lt"/>
              </a:rPr>
              <a:t>𝑖</a:t>
            </a:r>
            <a:r>
              <a:rPr lang="en-US" sz="2800" baseline="-25000" dirty="0">
                <a:solidFill>
                  <a:srgbClr val="202122"/>
                </a:solidFill>
                <a:latin typeface="Arial"/>
                <a:ea typeface="Calibri"/>
                <a:cs typeface="Calibri"/>
              </a:rPr>
              <a:t> </a:t>
            </a:r>
            <a:r>
              <a:rPr lang="en-US" sz="2800" i="1" dirty="0">
                <a:solidFill>
                  <a:srgbClr val="101418"/>
                </a:solidFill>
                <a:latin typeface="Arial"/>
                <a:ea typeface="Calibri"/>
                <a:cs typeface="Calibri"/>
              </a:rPr>
              <a:t>)</a:t>
            </a:r>
            <a:endParaRPr lang="en-US" sz="2800" i="1" u="sng" dirty="0">
              <a:solidFill>
                <a:srgbClr val="101418"/>
              </a:solidFill>
              <a:latin typeface="Arial"/>
              <a:ea typeface="Calibri"/>
              <a:cs typeface="Lucida Sans Unicode"/>
            </a:endParaRPr>
          </a:p>
        </p:txBody>
      </p:sp>
      <p:sp>
        <p:nvSpPr>
          <p:cNvPr id="3" name="Slide Number Placeholder 2">
            <a:extLst>
              <a:ext uri="{FF2B5EF4-FFF2-40B4-BE49-F238E27FC236}">
                <a16:creationId xmlns:a16="http://schemas.microsoft.com/office/drawing/2014/main" id="{A946207F-904E-7686-C731-D42714ABF2AC}"/>
              </a:ext>
            </a:extLst>
          </p:cNvPr>
          <p:cNvSpPr>
            <a:spLocks noGrp="1"/>
          </p:cNvSpPr>
          <p:nvPr>
            <p:ph type="sldNum" sz="quarter" idx="12"/>
          </p:nvPr>
        </p:nvSpPr>
        <p:spPr/>
        <p:txBody>
          <a:bodyPr/>
          <a:lstStyle/>
          <a:p>
            <a:fld id="{C3A81FF4-CBB3-DF43-B274-0E49682E6498}" type="slidenum">
              <a:rPr lang="en-US" smtClean="0"/>
              <a:t>14</a:t>
            </a:fld>
            <a:endParaRPr lang="en-US"/>
          </a:p>
        </p:txBody>
      </p:sp>
    </p:spTree>
    <p:extLst>
      <p:ext uri="{BB962C8B-B14F-4D97-AF65-F5344CB8AC3E}">
        <p14:creationId xmlns:p14="http://schemas.microsoft.com/office/powerpoint/2010/main" val="1554065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9C23B-29CD-BBAF-5CB0-1512F734AEB9}"/>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BA2421E1-570B-D0F3-9107-0BB934091B8A}"/>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6C15964B-8CA6-977B-CD9B-904328F36E70}"/>
              </a:ext>
            </a:extLst>
          </p:cNvPr>
          <p:cNvSpPr>
            <a:spLocks noGrp="1"/>
          </p:cNvSpPr>
          <p:nvPr>
            <p:ph type="title"/>
          </p:nvPr>
        </p:nvSpPr>
        <p:spPr>
          <a:xfrm>
            <a:off x="1755228" y="365123"/>
            <a:ext cx="8295861" cy="1325563"/>
          </a:xfrm>
        </p:spPr>
        <p:txBody>
          <a:bodyPr>
            <a:normAutofit/>
          </a:bodyPr>
          <a:lstStyle/>
          <a:p>
            <a:pPr algn="ctr"/>
            <a:r>
              <a:rPr kumimoji="1" lang="en-US" altLang="zh-CN" sz="4000" b="1" dirty="0">
                <a:latin typeface="Arial" panose="020B0604020202020204" pitchFamily="34" charset="0"/>
                <a:cs typeface="Arial" panose="020B0604020202020204" pitchFamily="34" charset="0"/>
              </a:rPr>
              <a:t>Two Metrics for Fairness</a:t>
            </a:r>
            <a:endParaRPr kumimoji="1" lang="zh-CN" altLang="en-US" sz="40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DFF2023F-487A-8D91-11E1-A55DB19AC1DA}"/>
              </a:ext>
            </a:extLst>
          </p:cNvPr>
          <p:cNvSpPr>
            <a:spLocks noGrp="1"/>
          </p:cNvSpPr>
          <p:nvPr>
            <p:ph idx="1"/>
          </p:nvPr>
        </p:nvSpPr>
        <p:spPr>
          <a:xfrm>
            <a:off x="838199" y="1825625"/>
            <a:ext cx="11168271" cy="4351338"/>
          </a:xfrm>
        </p:spPr>
        <p:txBody>
          <a:bodyPr>
            <a:normAutofit lnSpcReduction="10000"/>
          </a:bodyPr>
          <a:lstStyle/>
          <a:p>
            <a:pPr marL="0" indent="0">
              <a:buNone/>
            </a:pPr>
            <a:r>
              <a:rPr lang="en-US" sz="3200" b="1" dirty="0"/>
              <a:t>Equal Opportunity Difference (EOD)</a:t>
            </a:r>
          </a:p>
          <a:p>
            <a:pPr marL="0" indent="0">
              <a:buNone/>
            </a:pPr>
            <a:r>
              <a:rPr lang="en-US" sz="3200" dirty="0"/>
              <a:t>measures whether different subgroups have  equal likelihood of being accurately classified</a:t>
            </a:r>
          </a:p>
          <a:p>
            <a:pPr marL="0" indent="0">
              <a:buNone/>
            </a:pPr>
            <a:r>
              <a:rPr lang="en-US" b="1" dirty="0"/>
              <a:t> </a:t>
            </a:r>
          </a:p>
          <a:p>
            <a:pPr marL="0" indent="0">
              <a:buNone/>
            </a:pPr>
            <a:endParaRPr lang="en-US" sz="2800" b="1" dirty="0"/>
          </a:p>
          <a:p>
            <a:pPr marL="0" indent="0">
              <a:buNone/>
            </a:pPr>
            <a:endParaRPr lang="en-US" b="1" dirty="0"/>
          </a:p>
          <a:p>
            <a:pPr marL="0" indent="0">
              <a:buNone/>
            </a:pPr>
            <a:r>
              <a:rPr lang="en-US" sz="3200" b="1" dirty="0" err="1">
                <a:solidFill>
                  <a:srgbClr val="101418"/>
                </a:solidFill>
                <a:cs typeface="Arial" panose="020B0604020202020204" pitchFamily="34" charset="0"/>
              </a:rPr>
              <a:t>Ŷ</a:t>
            </a:r>
            <a:r>
              <a:rPr lang="en-US" sz="3200" b="1" dirty="0">
                <a:solidFill>
                  <a:srgbClr val="101418"/>
                </a:solidFill>
                <a:cs typeface="Arial" panose="020B0604020202020204" pitchFamily="34" charset="0"/>
              </a:rPr>
              <a:t> </a:t>
            </a:r>
            <a:r>
              <a:rPr lang="en-US" sz="3200" b="1" dirty="0">
                <a:cs typeface="Arial" panose="020B0604020202020204" pitchFamily="34" charset="0"/>
              </a:rPr>
              <a:t>= </a:t>
            </a:r>
            <a:r>
              <a:rPr lang="en-US" sz="3200" dirty="0">
                <a:cs typeface="Arial" panose="020B0604020202020204" pitchFamily="34" charset="0"/>
              </a:rPr>
              <a:t>outcome, </a:t>
            </a:r>
            <a:r>
              <a:rPr lang="en-US" sz="3200" b="1" dirty="0">
                <a:cs typeface="Arial" panose="020B0604020202020204" pitchFamily="34" charset="0"/>
              </a:rPr>
              <a:t>Y= </a:t>
            </a:r>
            <a:r>
              <a:rPr lang="en-US" sz="3200" dirty="0">
                <a:cs typeface="Arial" panose="020B0604020202020204" pitchFamily="34" charset="0"/>
              </a:rPr>
              <a:t>ground truth,</a:t>
            </a:r>
            <a:r>
              <a:rPr lang="en-US" sz="3200" b="1" dirty="0">
                <a:cs typeface="Arial" panose="020B0604020202020204" pitchFamily="34" charset="0"/>
              </a:rPr>
              <a:t> Z</a:t>
            </a:r>
            <a:r>
              <a:rPr lang="en-US" sz="3200" dirty="0">
                <a:cs typeface="Arial" panose="020B0604020202020204" pitchFamily="34" charset="0"/>
              </a:rPr>
              <a:t>=</a:t>
            </a:r>
            <a:r>
              <a:rPr lang="en-US" sz="3200" b="1" dirty="0">
                <a:cs typeface="Arial" panose="020B0604020202020204" pitchFamily="34" charset="0"/>
              </a:rPr>
              <a:t> </a:t>
            </a:r>
            <a:r>
              <a:rPr lang="en-US" sz="3200" dirty="0">
                <a:cs typeface="Arial" panose="020B0604020202020204" pitchFamily="34" charset="0"/>
              </a:rPr>
              <a:t>protected attribute (demographic information)</a:t>
            </a:r>
          </a:p>
          <a:p>
            <a:pPr marL="0" indent="0">
              <a:buNone/>
            </a:pPr>
            <a:r>
              <a:rPr lang="en-US" b="1" dirty="0"/>
              <a:t>                   </a:t>
            </a:r>
          </a:p>
        </p:txBody>
      </p:sp>
      <p:sp>
        <p:nvSpPr>
          <p:cNvPr id="3" name="TextBox 2">
            <a:extLst>
              <a:ext uri="{FF2B5EF4-FFF2-40B4-BE49-F238E27FC236}">
                <a16:creationId xmlns:a16="http://schemas.microsoft.com/office/drawing/2014/main" id="{D1DBF0ED-5381-10C2-647B-22028CCA3021}"/>
              </a:ext>
            </a:extLst>
          </p:cNvPr>
          <p:cNvSpPr txBox="1"/>
          <p:nvPr/>
        </p:nvSpPr>
        <p:spPr>
          <a:xfrm>
            <a:off x="1296713" y="3739684"/>
            <a:ext cx="921757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i="1" dirty="0">
                <a:latin typeface="Arial" panose="020B0604020202020204" pitchFamily="34" charset="0"/>
                <a:ea typeface="Calibri"/>
                <a:cs typeface="Arial" panose="020B0604020202020204" pitchFamily="34" charset="0"/>
              </a:rPr>
              <a:t>EOD = P( </a:t>
            </a:r>
            <a:r>
              <a:rPr lang="en-US" sz="2800" i="1" dirty="0">
                <a:solidFill>
                  <a:srgbClr val="101418"/>
                </a:solidFill>
                <a:latin typeface="Arial" panose="020B0604020202020204" pitchFamily="34" charset="0"/>
                <a:ea typeface="+mn-lt"/>
                <a:cs typeface="Arial" panose="020B0604020202020204" pitchFamily="34" charset="0"/>
              </a:rPr>
              <a:t>Ŷ</a:t>
            </a:r>
            <a:r>
              <a:rPr lang="en-US" sz="2800" i="1" dirty="0">
                <a:solidFill>
                  <a:srgbClr val="101418"/>
                </a:solidFill>
                <a:latin typeface="Arial" panose="020B0604020202020204" pitchFamily="34" charset="0"/>
                <a:ea typeface="Calibri"/>
                <a:cs typeface="Arial" panose="020B0604020202020204" pitchFamily="34" charset="0"/>
              </a:rPr>
              <a:t> = 1 | </a:t>
            </a:r>
            <a:r>
              <a:rPr lang="en-US" sz="2800" dirty="0">
                <a:solidFill>
                  <a:srgbClr val="202122"/>
                </a:solidFill>
                <a:latin typeface="Arial" panose="020B0604020202020204" pitchFamily="34" charset="0"/>
                <a:ea typeface="+mn-lt"/>
                <a:cs typeface="Arial" panose="020B0604020202020204" pitchFamily="34" charset="0"/>
              </a:rPr>
              <a:t>𝑌 = 1</a:t>
            </a:r>
            <a:r>
              <a:rPr lang="en-US" sz="2800" dirty="0">
                <a:solidFill>
                  <a:srgbClr val="202122"/>
                </a:solidFill>
                <a:latin typeface="Arial" panose="020B0604020202020204" pitchFamily="34" charset="0"/>
                <a:ea typeface="Calibri"/>
                <a:cs typeface="Arial" panose="020B0604020202020204" pitchFamily="34" charset="0"/>
              </a:rPr>
              <a:t>, 𝑍</a:t>
            </a:r>
            <a:r>
              <a:rPr lang="en-US" sz="2800" i="1" dirty="0">
                <a:solidFill>
                  <a:srgbClr val="101418"/>
                </a:solidFill>
                <a:latin typeface="Arial" panose="020B0604020202020204" pitchFamily="34" charset="0"/>
                <a:ea typeface="Calibri"/>
                <a:cs typeface="Arial" panose="020B0604020202020204" pitchFamily="34" charset="0"/>
              </a:rPr>
              <a:t> = </a:t>
            </a:r>
            <a:r>
              <a:rPr lang="en-US" sz="2800" dirty="0">
                <a:solidFill>
                  <a:srgbClr val="202122"/>
                </a:solidFill>
                <a:latin typeface="Arial" panose="020B0604020202020204" pitchFamily="34" charset="0"/>
                <a:ea typeface="Calibri"/>
                <a:cs typeface="Arial" panose="020B0604020202020204" pitchFamily="34" charset="0"/>
              </a:rPr>
              <a:t>𝑧</a:t>
            </a:r>
            <a:r>
              <a:rPr lang="en-US" sz="2800" baseline="-25000" dirty="0">
                <a:solidFill>
                  <a:srgbClr val="202122"/>
                </a:solidFill>
                <a:latin typeface="Arial" panose="020B0604020202020204" pitchFamily="34" charset="0"/>
                <a:ea typeface="Calibri"/>
                <a:cs typeface="Arial" panose="020B0604020202020204" pitchFamily="34" charset="0"/>
              </a:rPr>
              <a:t>𝑖  </a:t>
            </a:r>
            <a:r>
              <a:rPr lang="en-US" sz="2800" i="1" dirty="0">
                <a:solidFill>
                  <a:srgbClr val="101418"/>
                </a:solidFill>
                <a:latin typeface="Arial" panose="020B0604020202020204" pitchFamily="34" charset="0"/>
                <a:ea typeface="Calibri"/>
                <a:cs typeface="Arial" panose="020B0604020202020204" pitchFamily="34" charset="0"/>
              </a:rPr>
              <a:t>) - P( Ŷ = 1 |</a:t>
            </a:r>
            <a:r>
              <a:rPr lang="en-US" sz="2800" i="1" dirty="0">
                <a:solidFill>
                  <a:srgbClr val="101418"/>
                </a:solidFill>
                <a:latin typeface="Arial" panose="020B0604020202020204" pitchFamily="34" charset="0"/>
                <a:ea typeface="+mn-lt"/>
                <a:cs typeface="Arial" panose="020B0604020202020204" pitchFamily="34" charset="0"/>
              </a:rPr>
              <a:t> </a:t>
            </a:r>
            <a:r>
              <a:rPr lang="en-US" sz="2800" dirty="0">
                <a:solidFill>
                  <a:srgbClr val="202122"/>
                </a:solidFill>
                <a:latin typeface="Arial" panose="020B0604020202020204" pitchFamily="34" charset="0"/>
                <a:ea typeface="+mn-lt"/>
                <a:cs typeface="Arial" panose="020B0604020202020204" pitchFamily="34" charset="0"/>
              </a:rPr>
              <a:t>𝑌</a:t>
            </a:r>
            <a:r>
              <a:rPr lang="en-US" sz="2800" dirty="0">
                <a:solidFill>
                  <a:srgbClr val="202122"/>
                </a:solidFill>
                <a:latin typeface="Arial" panose="020B0604020202020204" pitchFamily="34" charset="0"/>
                <a:ea typeface="Calibri"/>
                <a:cs typeface="Arial" panose="020B0604020202020204" pitchFamily="34" charset="0"/>
              </a:rPr>
              <a:t> = 1,</a:t>
            </a:r>
            <a:r>
              <a:rPr lang="en-US" sz="2800" i="1" dirty="0">
                <a:solidFill>
                  <a:srgbClr val="101418"/>
                </a:solidFill>
                <a:latin typeface="Arial" panose="020B0604020202020204" pitchFamily="34" charset="0"/>
                <a:ea typeface="Calibri"/>
                <a:cs typeface="Arial" panose="020B0604020202020204" pitchFamily="34" charset="0"/>
              </a:rPr>
              <a:t> </a:t>
            </a:r>
            <a:r>
              <a:rPr lang="en-US" sz="2800" dirty="0">
                <a:solidFill>
                  <a:srgbClr val="202122"/>
                </a:solidFill>
                <a:latin typeface="Arial" panose="020B0604020202020204" pitchFamily="34" charset="0"/>
                <a:ea typeface="Calibri"/>
                <a:cs typeface="Arial" panose="020B0604020202020204" pitchFamily="34" charset="0"/>
              </a:rPr>
              <a:t>𝑍</a:t>
            </a:r>
            <a:r>
              <a:rPr lang="en-US" sz="2800" i="1" dirty="0">
                <a:solidFill>
                  <a:srgbClr val="101418"/>
                </a:solidFill>
                <a:latin typeface="Arial" panose="020B0604020202020204" pitchFamily="34" charset="0"/>
                <a:ea typeface="Calibri"/>
                <a:cs typeface="Arial" panose="020B0604020202020204" pitchFamily="34" charset="0"/>
              </a:rPr>
              <a:t> ≠ </a:t>
            </a:r>
            <a:r>
              <a:rPr lang="en-US" sz="2800" dirty="0">
                <a:solidFill>
                  <a:srgbClr val="202122"/>
                </a:solidFill>
                <a:latin typeface="Arial" panose="020B0604020202020204" pitchFamily="34" charset="0"/>
                <a:ea typeface="Calibri"/>
                <a:cs typeface="Arial" panose="020B0604020202020204" pitchFamily="34" charset="0"/>
              </a:rPr>
              <a:t>𝑧</a:t>
            </a:r>
            <a:r>
              <a:rPr lang="en-US" sz="2800" baseline="-25000" dirty="0">
                <a:solidFill>
                  <a:srgbClr val="202122"/>
                </a:solidFill>
                <a:latin typeface="Arial" panose="020B0604020202020204" pitchFamily="34" charset="0"/>
                <a:ea typeface="Calibri"/>
                <a:cs typeface="Arial" panose="020B0604020202020204" pitchFamily="34" charset="0"/>
              </a:rPr>
              <a:t>𝑖  </a:t>
            </a:r>
            <a:r>
              <a:rPr lang="en-US" sz="2800" i="1" dirty="0">
                <a:solidFill>
                  <a:srgbClr val="101418"/>
                </a:solidFill>
                <a:latin typeface="Arial" panose="020B0604020202020204" pitchFamily="34" charset="0"/>
                <a:ea typeface="Calibri"/>
                <a:cs typeface="Arial" panose="020B0604020202020204" pitchFamily="34" charset="0"/>
              </a:rPr>
              <a:t>)</a:t>
            </a:r>
            <a:endParaRPr lang="en-US" sz="2800" dirty="0">
              <a:latin typeface="Arial" panose="020B0604020202020204" pitchFamily="34" charset="0"/>
              <a:ea typeface="Calibri"/>
              <a:cs typeface="Arial" panose="020B0604020202020204" pitchFamily="34" charset="0"/>
            </a:endParaRPr>
          </a:p>
        </p:txBody>
      </p:sp>
      <p:sp>
        <p:nvSpPr>
          <p:cNvPr id="5" name="Slide Number Placeholder 4">
            <a:extLst>
              <a:ext uri="{FF2B5EF4-FFF2-40B4-BE49-F238E27FC236}">
                <a16:creationId xmlns:a16="http://schemas.microsoft.com/office/drawing/2014/main" id="{0B66B243-EE19-D68E-4872-A9355843B205}"/>
              </a:ext>
            </a:extLst>
          </p:cNvPr>
          <p:cNvSpPr>
            <a:spLocks noGrp="1"/>
          </p:cNvSpPr>
          <p:nvPr>
            <p:ph type="sldNum" sz="quarter" idx="12"/>
          </p:nvPr>
        </p:nvSpPr>
        <p:spPr/>
        <p:txBody>
          <a:bodyPr/>
          <a:lstStyle/>
          <a:p>
            <a:fld id="{C3A81FF4-CBB3-DF43-B274-0E49682E6498}" type="slidenum">
              <a:rPr lang="en-US" smtClean="0"/>
              <a:t>15</a:t>
            </a:fld>
            <a:endParaRPr lang="en-US"/>
          </a:p>
        </p:txBody>
      </p:sp>
    </p:spTree>
    <p:extLst>
      <p:ext uri="{BB962C8B-B14F-4D97-AF65-F5344CB8AC3E}">
        <p14:creationId xmlns:p14="http://schemas.microsoft.com/office/powerpoint/2010/main" val="86500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16867-AF42-6AC0-3435-AC23DE624037}"/>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6EB3FC62-C60F-EEAF-29DC-5A9D9821DF97}"/>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FE12E38D-A457-B475-5446-4DB2EF8DFEE1}"/>
              </a:ext>
            </a:extLst>
          </p:cNvPr>
          <p:cNvSpPr>
            <a:spLocks noGrp="1"/>
          </p:cNvSpPr>
          <p:nvPr>
            <p:ph type="title"/>
          </p:nvPr>
        </p:nvSpPr>
        <p:spPr>
          <a:xfrm>
            <a:off x="1755228" y="365123"/>
            <a:ext cx="8589741" cy="1325563"/>
          </a:xfrm>
        </p:spPr>
        <p:txBody>
          <a:bodyPr>
            <a:normAutofit/>
          </a:bodyPr>
          <a:lstStyle/>
          <a:p>
            <a:r>
              <a:rPr kumimoji="1" lang="en-US" altLang="zh-CN" sz="3600" dirty="0">
                <a:latin typeface="Arial" panose="020B0604020202020204" pitchFamily="34" charset="0"/>
                <a:cs typeface="Arial" panose="020B0604020202020204" pitchFamily="34" charset="0"/>
              </a:rPr>
              <a:t> </a:t>
            </a:r>
            <a:r>
              <a:rPr kumimoji="1" lang="en-US" altLang="zh-CN" sz="4000" b="1" dirty="0">
                <a:latin typeface="Arial" panose="020B0604020202020204" pitchFamily="34" charset="0"/>
                <a:cs typeface="Arial" panose="020B0604020202020204" pitchFamily="34" charset="0"/>
              </a:rPr>
              <a:t>Fairness – Predict Mortality </a:t>
            </a:r>
            <a:endParaRPr kumimoji="1" lang="zh-CN" altLang="en-US" sz="4000" b="1"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33BD0511-9DCF-A68D-9625-911648530FC3}"/>
              </a:ext>
            </a:extLst>
          </p:cNvPr>
          <p:cNvSpPr>
            <a:spLocks noGrp="1"/>
          </p:cNvSpPr>
          <p:nvPr>
            <p:ph idx="1"/>
          </p:nvPr>
        </p:nvSpPr>
        <p:spPr>
          <a:xfrm>
            <a:off x="762000" y="2310534"/>
            <a:ext cx="11168271" cy="4351338"/>
          </a:xfrm>
        </p:spPr>
        <p:txBody>
          <a:bodyPr vert="horz" lIns="91440" tIns="45720" rIns="91440" bIns="45720" rtlCol="0" anchor="t">
            <a:normAutofit/>
          </a:bodyPr>
          <a:lstStyle/>
          <a:p>
            <a:pPr marL="0" indent="0">
              <a:buNone/>
            </a:pPr>
            <a:endParaRPr lang="en-US" b="1" dirty="0"/>
          </a:p>
          <a:p>
            <a:pPr marL="0" indent="0">
              <a:buNone/>
            </a:pPr>
            <a:endParaRPr lang="en-US" b="1" dirty="0"/>
          </a:p>
          <a:p>
            <a:pPr marL="0" indent="0">
              <a:buNone/>
            </a:pPr>
            <a:endParaRPr lang="en-US" sz="1800" dirty="0">
              <a:solidFill>
                <a:schemeClr val="dk1"/>
              </a:solidFill>
            </a:endParaRPr>
          </a:p>
          <a:p>
            <a:pPr marL="0" indent="0">
              <a:buNone/>
            </a:pPr>
            <a:endParaRPr lang="en-US" b="1" dirty="0"/>
          </a:p>
          <a:p>
            <a:pPr marL="0" indent="0">
              <a:buNone/>
            </a:pPr>
            <a:endParaRPr lang="en-US" b="1" dirty="0"/>
          </a:p>
          <a:p>
            <a:pPr marL="0" indent="0">
              <a:buNone/>
            </a:pPr>
            <a:r>
              <a:rPr lang="en-US" sz="2400" dirty="0"/>
              <a:t>Unfairness present across all tasks, more in race than gender </a:t>
            </a:r>
          </a:p>
          <a:p>
            <a:pPr>
              <a:buFontTx/>
              <a:buChar char="-"/>
            </a:pPr>
            <a:r>
              <a:rPr lang="en-US" sz="2400" dirty="0"/>
              <a:t> African American patients consistently receive less favorable predictions</a:t>
            </a:r>
          </a:p>
          <a:p>
            <a:pPr>
              <a:buFontTx/>
              <a:buChar char="-"/>
            </a:pPr>
            <a:r>
              <a:rPr lang="en-US" sz="2400" dirty="0"/>
              <a:t>Fine-tuning improves fairness for some tasks (readmission) but worsens others (mortality, health coaching)</a:t>
            </a:r>
          </a:p>
        </p:txBody>
      </p:sp>
      <p:graphicFrame>
        <p:nvGraphicFramePr>
          <p:cNvPr id="3" name="Table 2">
            <a:extLst>
              <a:ext uri="{FF2B5EF4-FFF2-40B4-BE49-F238E27FC236}">
                <a16:creationId xmlns:a16="http://schemas.microsoft.com/office/drawing/2014/main" id="{AFF8B19C-2900-1F8A-0629-EC653EE023A5}"/>
              </a:ext>
            </a:extLst>
          </p:cNvPr>
          <p:cNvGraphicFramePr>
            <a:graphicFrameLocks noGrp="1"/>
          </p:cNvGraphicFramePr>
          <p:nvPr>
            <p:extLst>
              <p:ext uri="{D42A27DB-BD31-4B8C-83A1-F6EECF244321}">
                <p14:modId xmlns:p14="http://schemas.microsoft.com/office/powerpoint/2010/main" val="1014188161"/>
              </p:ext>
            </p:extLst>
          </p:nvPr>
        </p:nvGraphicFramePr>
        <p:xfrm>
          <a:off x="838199" y="1690686"/>
          <a:ext cx="9896982" cy="2987040"/>
        </p:xfrm>
        <a:graphic>
          <a:graphicData uri="http://schemas.openxmlformats.org/drawingml/2006/table">
            <a:tbl>
              <a:tblPr firstRow="1" bandRow="1">
                <a:tableStyleId>{00A15C55-8517-42AA-B614-E9B94910E393}</a:tableStyleId>
              </a:tblPr>
              <a:tblGrid>
                <a:gridCol w="1986037">
                  <a:extLst>
                    <a:ext uri="{9D8B030D-6E8A-4147-A177-3AD203B41FA5}">
                      <a16:colId xmlns:a16="http://schemas.microsoft.com/office/drawing/2014/main" val="2711060930"/>
                    </a:ext>
                  </a:extLst>
                </a:gridCol>
                <a:gridCol w="2292027">
                  <a:extLst>
                    <a:ext uri="{9D8B030D-6E8A-4147-A177-3AD203B41FA5}">
                      <a16:colId xmlns:a16="http://schemas.microsoft.com/office/drawing/2014/main" val="1533253143"/>
                    </a:ext>
                  </a:extLst>
                </a:gridCol>
                <a:gridCol w="1580069">
                  <a:extLst>
                    <a:ext uri="{9D8B030D-6E8A-4147-A177-3AD203B41FA5}">
                      <a16:colId xmlns:a16="http://schemas.microsoft.com/office/drawing/2014/main" val="3782334534"/>
                    </a:ext>
                  </a:extLst>
                </a:gridCol>
                <a:gridCol w="2539796">
                  <a:extLst>
                    <a:ext uri="{9D8B030D-6E8A-4147-A177-3AD203B41FA5}">
                      <a16:colId xmlns:a16="http://schemas.microsoft.com/office/drawing/2014/main" val="2409527687"/>
                    </a:ext>
                  </a:extLst>
                </a:gridCol>
                <a:gridCol w="1499053">
                  <a:extLst>
                    <a:ext uri="{9D8B030D-6E8A-4147-A177-3AD203B41FA5}">
                      <a16:colId xmlns:a16="http://schemas.microsoft.com/office/drawing/2014/main" val="1531526089"/>
                    </a:ext>
                  </a:extLst>
                </a:gridCol>
              </a:tblGrid>
              <a:tr h="232006">
                <a:tc>
                  <a:txBody>
                    <a:bodyPr/>
                    <a:lstStyle/>
                    <a:p>
                      <a:pPr algn="ctr"/>
                      <a:r>
                        <a:rPr lang="en-US" sz="2200" dirty="0"/>
                        <a:t>Setting</a:t>
                      </a:r>
                    </a:p>
                  </a:txBody>
                  <a:tcPr/>
                </a:tc>
                <a:tc gridSpan="2">
                  <a:txBody>
                    <a:bodyPr/>
                    <a:lstStyle/>
                    <a:p>
                      <a:pPr algn="ctr"/>
                      <a:r>
                        <a:rPr lang="en-US" sz="2200" dirty="0"/>
                        <a:t>DPD</a:t>
                      </a:r>
                    </a:p>
                  </a:txBody>
                  <a:tcPr/>
                </a:tc>
                <a:tc hMerge="1">
                  <a:txBody>
                    <a:bodyPr/>
                    <a:lstStyle/>
                    <a:p>
                      <a:endParaRPr lang="en-US"/>
                    </a:p>
                  </a:txBody>
                  <a:tcPr/>
                </a:tc>
                <a:tc gridSpan="2">
                  <a:txBody>
                    <a:bodyPr/>
                    <a:lstStyle/>
                    <a:p>
                      <a:pPr algn="ctr"/>
                      <a:r>
                        <a:rPr lang="en-US" sz="2200" dirty="0"/>
                        <a:t>EOD</a:t>
                      </a:r>
                    </a:p>
                  </a:txBody>
                  <a:tcPr/>
                </a:tc>
                <a:tc hMerge="1">
                  <a:txBody>
                    <a:bodyPr/>
                    <a:lstStyle/>
                    <a:p>
                      <a:endParaRPr lang="en-US"/>
                    </a:p>
                  </a:txBody>
                  <a:tcPr/>
                </a:tc>
                <a:extLst>
                  <a:ext uri="{0D108BD9-81ED-4DB2-BD59-A6C34878D82A}">
                    <a16:rowId xmlns:a16="http://schemas.microsoft.com/office/drawing/2014/main" val="381091555"/>
                  </a:ext>
                </a:extLst>
              </a:tr>
              <a:tr h="371779">
                <a:tc>
                  <a:txBody>
                    <a:bodyPr/>
                    <a:lstStyle/>
                    <a:p>
                      <a:pPr algn="ctr"/>
                      <a:endParaRPr lang="en-US" sz="2200" dirty="0"/>
                    </a:p>
                  </a:txBody>
                  <a:tcPr/>
                </a:tc>
                <a:tc>
                  <a:txBody>
                    <a:bodyPr/>
                    <a:lstStyle/>
                    <a:p>
                      <a:pPr algn="ctr"/>
                      <a:r>
                        <a:rPr lang="en-US" sz="2200" b="1" dirty="0" err="1"/>
                        <a:t>AfrAm</a:t>
                      </a:r>
                      <a:r>
                        <a:rPr lang="en-US" sz="2200" b="1" dirty="0"/>
                        <a:t> - White</a:t>
                      </a:r>
                    </a:p>
                  </a:txBody>
                  <a:tcPr/>
                </a:tc>
                <a:tc>
                  <a:txBody>
                    <a:bodyPr/>
                    <a:lstStyle/>
                    <a:p>
                      <a:pPr algn="ctr"/>
                      <a:r>
                        <a:rPr lang="en-US" sz="2200" b="1" dirty="0"/>
                        <a:t>Fem - Male</a:t>
                      </a:r>
                    </a:p>
                  </a:txBody>
                  <a:tcPr/>
                </a:tc>
                <a:tc>
                  <a:txBody>
                    <a:bodyPr/>
                    <a:lstStyle/>
                    <a:p>
                      <a:pPr lvl="0" algn="ctr">
                        <a:lnSpc>
                          <a:spcPct val="100000"/>
                        </a:lnSpc>
                        <a:spcBef>
                          <a:spcPts val="0"/>
                        </a:spcBef>
                        <a:spcAft>
                          <a:spcPts val="0"/>
                        </a:spcAft>
                        <a:buNone/>
                      </a:pPr>
                      <a:r>
                        <a:rPr lang="en-US" sz="2200" b="1" u="none" strike="noStrike" noProof="0" dirty="0" err="1"/>
                        <a:t>AfrAm</a:t>
                      </a:r>
                      <a:r>
                        <a:rPr lang="en-US" sz="2200" b="1" u="none" strike="noStrike" noProof="0" dirty="0"/>
                        <a:t>  - White</a:t>
                      </a:r>
                      <a:endParaRPr lang="en-US" sz="2200" b="1" i="0" u="none" strike="noStrike" noProof="0" dirty="0">
                        <a:latin typeface="Calibri"/>
                      </a:endParaRPr>
                    </a:p>
                  </a:txBody>
                  <a:tcPr/>
                </a:tc>
                <a:tc>
                  <a:txBody>
                    <a:bodyPr/>
                    <a:lstStyle/>
                    <a:p>
                      <a:pPr lvl="0" algn="ctr">
                        <a:lnSpc>
                          <a:spcPct val="100000"/>
                        </a:lnSpc>
                        <a:spcBef>
                          <a:spcPts val="0"/>
                        </a:spcBef>
                        <a:spcAft>
                          <a:spcPts val="0"/>
                        </a:spcAft>
                        <a:buNone/>
                      </a:pPr>
                      <a:r>
                        <a:rPr lang="en-US" sz="2200" b="1" u="none" strike="noStrike" noProof="0" dirty="0"/>
                        <a:t>Fem - Male</a:t>
                      </a:r>
                      <a:endParaRPr lang="en-US" sz="2200" b="1" i="0" u="none" strike="noStrike" noProof="0" dirty="0">
                        <a:latin typeface="Calibri"/>
                      </a:endParaRPr>
                    </a:p>
                  </a:txBody>
                  <a:tcPr/>
                </a:tc>
                <a:extLst>
                  <a:ext uri="{0D108BD9-81ED-4DB2-BD59-A6C34878D82A}">
                    <a16:rowId xmlns:a16="http://schemas.microsoft.com/office/drawing/2014/main" val="2809028161"/>
                  </a:ext>
                </a:extLst>
              </a:tr>
              <a:tr h="324115">
                <a:tc>
                  <a:txBody>
                    <a:bodyPr/>
                    <a:lstStyle/>
                    <a:p>
                      <a:pPr algn="ctr"/>
                      <a:r>
                        <a:rPr lang="en-US" sz="2200" dirty="0"/>
                        <a:t>COT-GPT-4</a:t>
                      </a:r>
                    </a:p>
                  </a:txBody>
                  <a:tcPr/>
                </a:tc>
                <a:tc>
                  <a:txBody>
                    <a:bodyPr/>
                    <a:lstStyle/>
                    <a:p>
                      <a:pPr algn="ctr"/>
                      <a:r>
                        <a:rPr lang="en-US" sz="2200" dirty="0">
                          <a:solidFill>
                            <a:srgbClr val="FF0000"/>
                          </a:solidFill>
                        </a:rPr>
                        <a:t>-8.2 (-7.4)</a:t>
                      </a:r>
                    </a:p>
                  </a:txBody>
                  <a:tcPr/>
                </a:tc>
                <a:tc>
                  <a:txBody>
                    <a:bodyPr/>
                    <a:lstStyle/>
                    <a:p>
                      <a:pPr algn="ctr"/>
                      <a:r>
                        <a:rPr lang="en-US" sz="2200" dirty="0">
                          <a:solidFill>
                            <a:srgbClr val="FF0000"/>
                          </a:solidFill>
                        </a:rPr>
                        <a:t>-5.1 (-2.7)</a:t>
                      </a:r>
                    </a:p>
                  </a:txBody>
                  <a:tcPr/>
                </a:tc>
                <a:tc>
                  <a:txBody>
                    <a:bodyPr/>
                    <a:lstStyle/>
                    <a:p>
                      <a:pPr algn="ctr"/>
                      <a:r>
                        <a:rPr lang="en-US" sz="2200" dirty="0">
                          <a:solidFill>
                            <a:srgbClr val="FF0000"/>
                          </a:solidFill>
                        </a:rPr>
                        <a:t>-2.5 (-4.4)</a:t>
                      </a:r>
                    </a:p>
                  </a:txBody>
                  <a:tcPr/>
                </a:tc>
                <a:tc>
                  <a:txBody>
                    <a:bodyPr/>
                    <a:lstStyle/>
                    <a:p>
                      <a:pPr algn="ctr"/>
                      <a:r>
                        <a:rPr lang="en-US" sz="2200" dirty="0">
                          <a:solidFill>
                            <a:srgbClr val="FF0000"/>
                          </a:solidFill>
                        </a:rPr>
                        <a:t>-4.6 (-5.3)</a:t>
                      </a:r>
                    </a:p>
                  </a:txBody>
                  <a:tcPr/>
                </a:tc>
                <a:extLst>
                  <a:ext uri="{0D108BD9-81ED-4DB2-BD59-A6C34878D82A}">
                    <a16:rowId xmlns:a16="http://schemas.microsoft.com/office/drawing/2014/main" val="1358104406"/>
                  </a:ext>
                </a:extLst>
              </a:tr>
              <a:tr h="324115">
                <a:tc>
                  <a:txBody>
                    <a:bodyPr/>
                    <a:lstStyle/>
                    <a:p>
                      <a:pPr algn="ctr"/>
                      <a:r>
                        <a:rPr lang="en-US" sz="2200" dirty="0"/>
                        <a:t>COT-Claude-3</a:t>
                      </a:r>
                    </a:p>
                  </a:txBody>
                  <a:tcPr/>
                </a:tc>
                <a:tc>
                  <a:txBody>
                    <a:bodyPr/>
                    <a:lstStyle/>
                    <a:p>
                      <a:pPr marL="0" indent="0" algn="ctr">
                        <a:buNone/>
                      </a:pPr>
                      <a:r>
                        <a:rPr lang="en-US" sz="2200" dirty="0">
                          <a:solidFill>
                            <a:srgbClr val="FF0000"/>
                          </a:solidFill>
                        </a:rPr>
                        <a:t>-11.5 (-6.4)</a:t>
                      </a:r>
                    </a:p>
                  </a:txBody>
                  <a:tcPr/>
                </a:tc>
                <a:tc>
                  <a:txBody>
                    <a:bodyPr/>
                    <a:lstStyle/>
                    <a:p>
                      <a:pPr algn="ctr"/>
                      <a:r>
                        <a:rPr lang="en-US" sz="2200" dirty="0">
                          <a:solidFill>
                            <a:srgbClr val="FF0000"/>
                          </a:solidFill>
                        </a:rPr>
                        <a:t>-8.7 </a:t>
                      </a:r>
                      <a:r>
                        <a:rPr lang="en-US" sz="2200" dirty="0">
                          <a:solidFill>
                            <a:schemeClr val="tx1"/>
                          </a:solidFill>
                        </a:rPr>
                        <a:t>(+1.5)</a:t>
                      </a:r>
                    </a:p>
                  </a:txBody>
                  <a:tcPr/>
                </a:tc>
                <a:tc>
                  <a:txBody>
                    <a:bodyPr/>
                    <a:lstStyle/>
                    <a:p>
                      <a:pPr algn="ctr"/>
                      <a:r>
                        <a:rPr lang="en-US" sz="2200" dirty="0">
                          <a:solidFill>
                            <a:srgbClr val="FF0000"/>
                          </a:solidFill>
                        </a:rPr>
                        <a:t>-3.8 (</a:t>
                      </a:r>
                      <a:r>
                        <a:rPr lang="en-US" sz="2200" b="0" u="none" strike="noStrike" noProof="0" dirty="0">
                          <a:solidFill>
                            <a:srgbClr val="FF0000"/>
                          </a:solidFill>
                        </a:rPr>
                        <a:t>-3.8)</a:t>
                      </a:r>
                      <a:endParaRPr lang="en-US" sz="2200" dirty="0">
                        <a:solidFill>
                          <a:srgbClr val="FF0000"/>
                        </a:solidFill>
                      </a:endParaRPr>
                    </a:p>
                  </a:txBody>
                  <a:tcPr/>
                </a:tc>
                <a:tc>
                  <a:txBody>
                    <a:bodyPr/>
                    <a:lstStyle/>
                    <a:p>
                      <a:pPr algn="ctr"/>
                      <a:r>
                        <a:rPr lang="en-US" sz="2200" dirty="0">
                          <a:solidFill>
                            <a:srgbClr val="FF0000"/>
                          </a:solidFill>
                        </a:rPr>
                        <a:t>-4.5 (-7.2)</a:t>
                      </a:r>
                    </a:p>
                  </a:txBody>
                  <a:tcPr/>
                </a:tc>
                <a:extLst>
                  <a:ext uri="{0D108BD9-81ED-4DB2-BD59-A6C34878D82A}">
                    <a16:rowId xmlns:a16="http://schemas.microsoft.com/office/drawing/2014/main" val="2046829856"/>
                  </a:ext>
                </a:extLst>
              </a:tr>
              <a:tr h="324115">
                <a:tc>
                  <a:txBody>
                    <a:bodyPr/>
                    <a:lstStyle/>
                    <a:p>
                      <a:pPr algn="ctr"/>
                      <a:r>
                        <a:rPr lang="en-US" sz="2200" dirty="0"/>
                        <a:t>COT-LLaMA-3</a:t>
                      </a:r>
                    </a:p>
                  </a:txBody>
                  <a:tcPr/>
                </a:tc>
                <a:tc>
                  <a:txBody>
                    <a:bodyPr/>
                    <a:lstStyle/>
                    <a:p>
                      <a:pPr algn="ctr"/>
                      <a:r>
                        <a:rPr lang="en-US" sz="2200" dirty="0">
                          <a:solidFill>
                            <a:srgbClr val="FF0000"/>
                          </a:solidFill>
                        </a:rPr>
                        <a:t>-8.3 (-17.6)</a:t>
                      </a:r>
                    </a:p>
                  </a:txBody>
                  <a:tcPr/>
                </a:tc>
                <a:tc>
                  <a:txBody>
                    <a:bodyPr/>
                    <a:lstStyle/>
                    <a:p>
                      <a:pPr algn="ctr"/>
                      <a:r>
                        <a:rPr lang="en-US" sz="2200" dirty="0">
                          <a:solidFill>
                            <a:srgbClr val="FF0000"/>
                          </a:solidFill>
                        </a:rPr>
                        <a:t>-2.8 (-3.0)</a:t>
                      </a:r>
                    </a:p>
                  </a:txBody>
                  <a:tcPr/>
                </a:tc>
                <a:tc>
                  <a:txBody>
                    <a:bodyPr/>
                    <a:lstStyle/>
                    <a:p>
                      <a:pPr algn="ctr"/>
                      <a:r>
                        <a:rPr lang="en-US" sz="2200" dirty="0">
                          <a:solidFill>
                            <a:srgbClr val="FF0000"/>
                          </a:solidFill>
                        </a:rPr>
                        <a:t>-4.2 (-8.0)</a:t>
                      </a:r>
                    </a:p>
                  </a:txBody>
                  <a:tcPr/>
                </a:tc>
                <a:tc>
                  <a:txBody>
                    <a:bodyPr/>
                    <a:lstStyle/>
                    <a:p>
                      <a:pPr algn="ctr"/>
                      <a:r>
                        <a:rPr lang="en-US" sz="2200" dirty="0">
                          <a:solidFill>
                            <a:srgbClr val="FF0000"/>
                          </a:solidFill>
                        </a:rPr>
                        <a:t>-5.9 (-5.2)</a:t>
                      </a:r>
                    </a:p>
                  </a:txBody>
                  <a:tcPr/>
                </a:tc>
                <a:extLst>
                  <a:ext uri="{0D108BD9-81ED-4DB2-BD59-A6C34878D82A}">
                    <a16:rowId xmlns:a16="http://schemas.microsoft.com/office/drawing/2014/main" val="1802054655"/>
                  </a:ext>
                </a:extLst>
              </a:tr>
              <a:tr h="324115">
                <a:tc>
                  <a:txBody>
                    <a:bodyPr/>
                    <a:lstStyle/>
                    <a:p>
                      <a:pPr algn="ctr"/>
                      <a:r>
                        <a:rPr lang="en-US" sz="2200" dirty="0" err="1"/>
                        <a:t>FinTun</a:t>
                      </a:r>
                      <a:r>
                        <a:rPr lang="en-US" sz="2200" dirty="0"/>
                        <a:t> LlaMA-3</a:t>
                      </a:r>
                    </a:p>
                  </a:txBody>
                  <a:tcPr/>
                </a:tc>
                <a:tc>
                  <a:txBody>
                    <a:bodyPr/>
                    <a:lstStyle/>
                    <a:p>
                      <a:pPr algn="ctr"/>
                      <a:r>
                        <a:rPr lang="en-US" sz="2200" dirty="0">
                          <a:solidFill>
                            <a:srgbClr val="FF0000"/>
                          </a:solidFill>
                        </a:rPr>
                        <a:t>-14.3</a:t>
                      </a:r>
                    </a:p>
                  </a:txBody>
                  <a:tcPr/>
                </a:tc>
                <a:tc>
                  <a:txBody>
                    <a:bodyPr/>
                    <a:lstStyle/>
                    <a:p>
                      <a:pPr algn="ctr"/>
                      <a:r>
                        <a:rPr lang="en-US" sz="2200" dirty="0">
                          <a:solidFill>
                            <a:srgbClr val="FF0000"/>
                          </a:solidFill>
                        </a:rPr>
                        <a:t>-12.7</a:t>
                      </a:r>
                    </a:p>
                  </a:txBody>
                  <a:tcPr/>
                </a:tc>
                <a:tc>
                  <a:txBody>
                    <a:bodyPr/>
                    <a:lstStyle/>
                    <a:p>
                      <a:pPr algn="ctr"/>
                      <a:r>
                        <a:rPr lang="en-US" sz="2200" dirty="0">
                          <a:solidFill>
                            <a:srgbClr val="FF0000"/>
                          </a:solidFill>
                        </a:rPr>
                        <a:t>-9.4</a:t>
                      </a:r>
                    </a:p>
                  </a:txBody>
                  <a:tcPr/>
                </a:tc>
                <a:tc>
                  <a:txBody>
                    <a:bodyPr/>
                    <a:lstStyle/>
                    <a:p>
                      <a:pPr algn="ctr"/>
                      <a:r>
                        <a:rPr lang="en-US" sz="2200" dirty="0">
                          <a:solidFill>
                            <a:srgbClr val="FF0000"/>
                          </a:solidFill>
                        </a:rPr>
                        <a:t>-5.3</a:t>
                      </a:r>
                    </a:p>
                  </a:txBody>
                  <a:tcPr/>
                </a:tc>
                <a:extLst>
                  <a:ext uri="{0D108BD9-81ED-4DB2-BD59-A6C34878D82A}">
                    <a16:rowId xmlns:a16="http://schemas.microsoft.com/office/drawing/2014/main" val="3247402719"/>
                  </a:ext>
                </a:extLst>
              </a:tr>
              <a:tr h="324115">
                <a:tc>
                  <a:txBody>
                    <a:bodyPr/>
                    <a:lstStyle/>
                    <a:p>
                      <a:pPr algn="ctr"/>
                      <a:r>
                        <a:rPr lang="en-US" sz="2200" dirty="0"/>
                        <a:t> Agent (GPT-4)</a:t>
                      </a:r>
                    </a:p>
                  </a:txBody>
                  <a:tcPr/>
                </a:tc>
                <a:tc>
                  <a:txBody>
                    <a:bodyPr/>
                    <a:lstStyle/>
                    <a:p>
                      <a:pPr algn="ctr"/>
                      <a:r>
                        <a:rPr lang="en-US" sz="2200" dirty="0"/>
                        <a:t>+2.1</a:t>
                      </a:r>
                    </a:p>
                  </a:txBody>
                  <a:tcPr/>
                </a:tc>
                <a:tc>
                  <a:txBody>
                    <a:bodyPr/>
                    <a:lstStyle/>
                    <a:p>
                      <a:pPr algn="ctr"/>
                      <a:r>
                        <a:rPr lang="en-US" sz="2200" dirty="0">
                          <a:solidFill>
                            <a:srgbClr val="FF0000"/>
                          </a:solidFill>
                        </a:rPr>
                        <a:t>-2.1</a:t>
                      </a:r>
                    </a:p>
                  </a:txBody>
                  <a:tcPr/>
                </a:tc>
                <a:tc>
                  <a:txBody>
                    <a:bodyPr/>
                    <a:lstStyle/>
                    <a:p>
                      <a:pPr algn="ctr"/>
                      <a:r>
                        <a:rPr lang="en-US" sz="2200" dirty="0"/>
                        <a:t>+2.4</a:t>
                      </a:r>
                    </a:p>
                  </a:txBody>
                  <a:tcPr/>
                </a:tc>
                <a:tc>
                  <a:txBody>
                    <a:bodyPr/>
                    <a:lstStyle/>
                    <a:p>
                      <a:pPr algn="ctr"/>
                      <a:r>
                        <a:rPr lang="en-US" sz="2200" dirty="0"/>
                        <a:t>+2.8</a:t>
                      </a:r>
                    </a:p>
                  </a:txBody>
                  <a:tcPr/>
                </a:tc>
                <a:extLst>
                  <a:ext uri="{0D108BD9-81ED-4DB2-BD59-A6C34878D82A}">
                    <a16:rowId xmlns:a16="http://schemas.microsoft.com/office/drawing/2014/main" val="1185228141"/>
                  </a:ext>
                </a:extLst>
              </a:tr>
            </a:tbl>
          </a:graphicData>
        </a:graphic>
      </p:graphicFrame>
      <p:sp>
        <p:nvSpPr>
          <p:cNvPr id="5" name="Slide Number Placeholder 4">
            <a:extLst>
              <a:ext uri="{FF2B5EF4-FFF2-40B4-BE49-F238E27FC236}">
                <a16:creationId xmlns:a16="http://schemas.microsoft.com/office/drawing/2014/main" id="{BC688ABB-DC37-CAE3-35FB-C7F1A632C632}"/>
              </a:ext>
            </a:extLst>
          </p:cNvPr>
          <p:cNvSpPr>
            <a:spLocks noGrp="1"/>
          </p:cNvSpPr>
          <p:nvPr>
            <p:ph type="sldNum" sz="quarter" idx="12"/>
          </p:nvPr>
        </p:nvSpPr>
        <p:spPr/>
        <p:txBody>
          <a:bodyPr/>
          <a:lstStyle/>
          <a:p>
            <a:fld id="{C3A81FF4-CBB3-DF43-B274-0E49682E6498}" type="slidenum">
              <a:rPr lang="en-US" smtClean="0"/>
              <a:t>16</a:t>
            </a:fld>
            <a:endParaRPr lang="en-US"/>
          </a:p>
        </p:txBody>
      </p:sp>
    </p:spTree>
    <p:extLst>
      <p:ext uri="{BB962C8B-B14F-4D97-AF65-F5344CB8AC3E}">
        <p14:creationId xmlns:p14="http://schemas.microsoft.com/office/powerpoint/2010/main" val="216727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32B16-0332-458E-444B-614339014672}"/>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907E5CE4-E0A0-B857-9E98-26E4A0AD0B50}"/>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94C32ABD-BF47-97A8-2923-5142997E6854}"/>
              </a:ext>
            </a:extLst>
          </p:cNvPr>
          <p:cNvSpPr>
            <a:spLocks noGrp="1"/>
          </p:cNvSpPr>
          <p:nvPr>
            <p:ph type="title"/>
          </p:nvPr>
        </p:nvSpPr>
        <p:spPr>
          <a:xfrm>
            <a:off x="1755228" y="365123"/>
            <a:ext cx="8295861" cy="1325563"/>
          </a:xfrm>
        </p:spPr>
        <p:txBody>
          <a:bodyPr>
            <a:normAutofit fontScale="90000"/>
          </a:bodyPr>
          <a:lstStyle/>
          <a:p>
            <a:r>
              <a:rPr kumimoji="1" lang="en-US" altLang="zh-CN" sz="3600" dirty="0">
                <a:latin typeface="Arial" panose="020B0604020202020204" pitchFamily="34" charset="0"/>
                <a:cs typeface="Arial" panose="020B0604020202020204" pitchFamily="34" charset="0"/>
              </a:rPr>
              <a:t> </a:t>
            </a:r>
            <a:br>
              <a:rPr kumimoji="1" lang="en-US" altLang="zh-CN" sz="3600" dirty="0">
                <a:latin typeface="Arial" panose="020B0604020202020204" pitchFamily="34" charset="0"/>
                <a:cs typeface="Arial" panose="020B0604020202020204" pitchFamily="34" charset="0"/>
              </a:rPr>
            </a:br>
            <a:r>
              <a:rPr kumimoji="1" lang="en-US" altLang="zh-CN" sz="4000" dirty="0">
                <a:latin typeface="Arial" panose="020B0604020202020204" pitchFamily="34" charset="0"/>
                <a:cs typeface="Arial" panose="020B0604020202020204" pitchFamily="34" charset="0"/>
              </a:rPr>
              <a:t>Additional Experiments: </a:t>
            </a:r>
            <a:r>
              <a:rPr lang="en-US" b="1" dirty="0"/>
              <a:t>Demographic Awareness and Bias in  Conversation</a:t>
            </a:r>
            <a:br>
              <a:rPr lang="en-US" sz="2000" b="1" dirty="0"/>
            </a:b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C330BC4A-A255-F5B9-77AF-A80BC4DEB77B}"/>
              </a:ext>
            </a:extLst>
          </p:cNvPr>
          <p:cNvSpPr>
            <a:spLocks noGrp="1"/>
          </p:cNvSpPr>
          <p:nvPr>
            <p:ph idx="1"/>
          </p:nvPr>
        </p:nvSpPr>
        <p:spPr>
          <a:xfrm>
            <a:off x="623455" y="1825625"/>
            <a:ext cx="11383015" cy="4351338"/>
          </a:xfrm>
        </p:spPr>
        <p:txBody>
          <a:bodyPr vert="horz" lIns="91440" tIns="45720" rIns="91440" bIns="45720" rtlCol="0" anchor="t">
            <a:normAutofit/>
          </a:bodyPr>
          <a:lstStyle/>
          <a:p>
            <a:pPr marL="0" indent="0">
              <a:buNone/>
            </a:pPr>
            <a:r>
              <a:rPr lang="en-US" dirty="0"/>
              <a:t>Accuracy in predicting patient’s race in conversational data:</a:t>
            </a:r>
          </a:p>
          <a:p>
            <a:pPr marL="0" indent="0">
              <a:buNone/>
            </a:pPr>
            <a:endParaRPr lang="en-US" sz="2000" b="1" dirty="0"/>
          </a:p>
          <a:p>
            <a:pPr marL="0" indent="0">
              <a:buNone/>
            </a:pPr>
            <a:endParaRPr lang="en-US" sz="2000" b="1" dirty="0">
              <a:ea typeface="Calibri" panose="020F0502020204030204"/>
              <a:cs typeface="Calibri" panose="020F0502020204030204"/>
            </a:endParaRPr>
          </a:p>
          <a:p>
            <a:pPr marL="0" indent="0">
              <a:buNone/>
            </a:pPr>
            <a:endParaRPr lang="en-US" sz="2000" b="1" dirty="0"/>
          </a:p>
          <a:p>
            <a:pPr marL="0" indent="0">
              <a:buNone/>
            </a:pPr>
            <a:r>
              <a:rPr lang="en-US" sz="2000" b="1" dirty="0"/>
              <a:t> </a:t>
            </a:r>
          </a:p>
          <a:p>
            <a:pPr marL="0" indent="0">
              <a:buNone/>
            </a:pPr>
            <a:endParaRPr lang="en-US" sz="2000" b="1" dirty="0"/>
          </a:p>
          <a:p>
            <a:pPr marL="0" indent="0">
              <a:buNone/>
            </a:pPr>
            <a:endParaRPr lang="en-US" sz="2400" dirty="0"/>
          </a:p>
          <a:p>
            <a:pPr marL="0" indent="0">
              <a:buNone/>
            </a:pPr>
            <a:endParaRPr lang="en-US" sz="2400" dirty="0"/>
          </a:p>
          <a:p>
            <a:pPr marL="0" indent="0">
              <a:buNone/>
            </a:pPr>
            <a:r>
              <a:rPr lang="en-US" dirty="0"/>
              <a:t>Ask for explanation: Trite stereotypes in </a:t>
            </a:r>
            <a:r>
              <a:rPr lang="en-US" dirty="0" err="1"/>
              <a:t>LLaMA</a:t>
            </a:r>
            <a:r>
              <a:rPr lang="en-US" dirty="0"/>
              <a:t> reasoning (in paper appendix)</a:t>
            </a:r>
          </a:p>
        </p:txBody>
      </p:sp>
      <p:graphicFrame>
        <p:nvGraphicFramePr>
          <p:cNvPr id="3" name="Table 2">
            <a:extLst>
              <a:ext uri="{FF2B5EF4-FFF2-40B4-BE49-F238E27FC236}">
                <a16:creationId xmlns:a16="http://schemas.microsoft.com/office/drawing/2014/main" id="{300BACF4-2407-589E-13DB-D1C9CA693D94}"/>
              </a:ext>
            </a:extLst>
          </p:cNvPr>
          <p:cNvGraphicFramePr>
            <a:graphicFrameLocks noGrp="1"/>
          </p:cNvGraphicFramePr>
          <p:nvPr>
            <p:extLst>
              <p:ext uri="{D42A27DB-BD31-4B8C-83A1-F6EECF244321}">
                <p14:modId xmlns:p14="http://schemas.microsoft.com/office/powerpoint/2010/main" val="2277178728"/>
              </p:ext>
            </p:extLst>
          </p:nvPr>
        </p:nvGraphicFramePr>
        <p:xfrm>
          <a:off x="1755228" y="2518353"/>
          <a:ext cx="8168640" cy="2468880"/>
        </p:xfrm>
        <a:graphic>
          <a:graphicData uri="http://schemas.openxmlformats.org/drawingml/2006/table">
            <a:tbl>
              <a:tblPr firstRow="1" bandRow="1">
                <a:tableStyleId>{00A15C55-8517-42AA-B614-E9B94910E393}</a:tableStyleId>
              </a:tblPr>
              <a:tblGrid>
                <a:gridCol w="2042160">
                  <a:extLst>
                    <a:ext uri="{9D8B030D-6E8A-4147-A177-3AD203B41FA5}">
                      <a16:colId xmlns:a16="http://schemas.microsoft.com/office/drawing/2014/main" val="1416287230"/>
                    </a:ext>
                  </a:extLst>
                </a:gridCol>
                <a:gridCol w="2042160">
                  <a:extLst>
                    <a:ext uri="{9D8B030D-6E8A-4147-A177-3AD203B41FA5}">
                      <a16:colId xmlns:a16="http://schemas.microsoft.com/office/drawing/2014/main" val="84343667"/>
                    </a:ext>
                  </a:extLst>
                </a:gridCol>
                <a:gridCol w="2042160">
                  <a:extLst>
                    <a:ext uri="{9D8B030D-6E8A-4147-A177-3AD203B41FA5}">
                      <a16:colId xmlns:a16="http://schemas.microsoft.com/office/drawing/2014/main" val="3308660279"/>
                    </a:ext>
                  </a:extLst>
                </a:gridCol>
                <a:gridCol w="2042160">
                  <a:extLst>
                    <a:ext uri="{9D8B030D-6E8A-4147-A177-3AD203B41FA5}">
                      <a16:colId xmlns:a16="http://schemas.microsoft.com/office/drawing/2014/main" val="992655823"/>
                    </a:ext>
                  </a:extLst>
                </a:gridCol>
              </a:tblGrid>
              <a:tr h="269278">
                <a:tc>
                  <a:txBody>
                    <a:bodyPr/>
                    <a:lstStyle/>
                    <a:p>
                      <a:pPr algn="ctr"/>
                      <a:endParaRPr lang="en-US" sz="2200" dirty="0"/>
                    </a:p>
                  </a:txBody>
                  <a:tcPr/>
                </a:tc>
                <a:tc>
                  <a:txBody>
                    <a:bodyPr/>
                    <a:lstStyle/>
                    <a:p>
                      <a:pPr algn="ctr"/>
                      <a:r>
                        <a:rPr lang="en-US" sz="2200" dirty="0"/>
                        <a:t>Health Coaching</a:t>
                      </a:r>
                    </a:p>
                  </a:txBody>
                  <a:tcPr/>
                </a:tc>
                <a:tc>
                  <a:txBody>
                    <a:bodyPr/>
                    <a:lstStyle/>
                    <a:p>
                      <a:pPr algn="ctr"/>
                      <a:r>
                        <a:rPr lang="en-US" sz="2200" dirty="0"/>
                        <a:t>SCZ/Bipolar</a:t>
                      </a:r>
                    </a:p>
                    <a:p>
                      <a:pPr algn="ctr"/>
                      <a:r>
                        <a:rPr lang="en-US" sz="2200" dirty="0"/>
                        <a:t>(Neighbor)</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t>SCZ/Bipolar</a:t>
                      </a:r>
                    </a:p>
                    <a:p>
                      <a:pPr algn="ctr"/>
                      <a:r>
                        <a:rPr lang="en-US" sz="2200" dirty="0"/>
                        <a:t>(Landlord)</a:t>
                      </a:r>
                    </a:p>
                  </a:txBody>
                  <a:tcPr/>
                </a:tc>
                <a:extLst>
                  <a:ext uri="{0D108BD9-81ED-4DB2-BD59-A6C34878D82A}">
                    <a16:rowId xmlns:a16="http://schemas.microsoft.com/office/drawing/2014/main" val="2918591552"/>
                  </a:ext>
                </a:extLst>
              </a:tr>
              <a:tr h="370840">
                <a:tc>
                  <a:txBody>
                    <a:bodyPr/>
                    <a:lstStyle/>
                    <a:p>
                      <a:pPr algn="ctr"/>
                      <a:r>
                        <a:rPr lang="en-US" sz="2200" dirty="0"/>
                        <a:t>Random</a:t>
                      </a:r>
                    </a:p>
                  </a:txBody>
                  <a:tcPr/>
                </a:tc>
                <a:tc>
                  <a:txBody>
                    <a:bodyPr/>
                    <a:lstStyle/>
                    <a:p>
                      <a:pPr algn="ctr"/>
                      <a:r>
                        <a:rPr lang="en-US" sz="2200" dirty="0"/>
                        <a:t>33.3</a:t>
                      </a:r>
                    </a:p>
                  </a:txBody>
                  <a:tcPr/>
                </a:tc>
                <a:tc>
                  <a:txBody>
                    <a:bodyPr/>
                    <a:lstStyle/>
                    <a:p>
                      <a:pPr algn="ctr"/>
                      <a:r>
                        <a:rPr lang="en-US" sz="2200" dirty="0"/>
                        <a:t>50.0</a:t>
                      </a:r>
                    </a:p>
                  </a:txBody>
                  <a:tcPr/>
                </a:tc>
                <a:tc>
                  <a:txBody>
                    <a:bodyPr/>
                    <a:lstStyle/>
                    <a:p>
                      <a:pPr algn="ctr"/>
                      <a:r>
                        <a:rPr lang="en-US" sz="2200" dirty="0"/>
                        <a:t>50.0</a:t>
                      </a:r>
                    </a:p>
                  </a:txBody>
                  <a:tcPr/>
                </a:tc>
                <a:extLst>
                  <a:ext uri="{0D108BD9-81ED-4DB2-BD59-A6C34878D82A}">
                    <a16:rowId xmlns:a16="http://schemas.microsoft.com/office/drawing/2014/main" val="4049286566"/>
                  </a:ext>
                </a:extLst>
              </a:tr>
              <a:tr h="370840">
                <a:tc>
                  <a:txBody>
                    <a:bodyPr/>
                    <a:lstStyle/>
                    <a:p>
                      <a:pPr lvl="0" algn="ctr">
                        <a:buNone/>
                      </a:pPr>
                      <a:r>
                        <a:rPr lang="en-US" sz="2200" b="0" u="none" strike="noStrike" noProof="0" dirty="0"/>
                        <a:t>GPT-4</a:t>
                      </a:r>
                      <a:endParaRPr lang="en-US" sz="2200" dirty="0"/>
                    </a:p>
                  </a:txBody>
                  <a:tcPr/>
                </a:tc>
                <a:tc>
                  <a:txBody>
                    <a:bodyPr/>
                    <a:lstStyle/>
                    <a:p>
                      <a:pPr algn="ctr"/>
                      <a:r>
                        <a:rPr lang="en-US" sz="2200" dirty="0">
                          <a:solidFill>
                            <a:srgbClr val="00B050"/>
                          </a:solidFill>
                        </a:rPr>
                        <a:t>Refusal</a:t>
                      </a:r>
                    </a:p>
                  </a:txBody>
                  <a:tcPr/>
                </a:tc>
                <a:tc>
                  <a:txBody>
                    <a:bodyPr/>
                    <a:lstStyle/>
                    <a:p>
                      <a:pPr algn="ctr"/>
                      <a:r>
                        <a:rPr lang="en-US" sz="2200" dirty="0"/>
                        <a:t>75.3</a:t>
                      </a:r>
                    </a:p>
                  </a:txBody>
                  <a:tcPr/>
                </a:tc>
                <a:tc>
                  <a:txBody>
                    <a:bodyPr/>
                    <a:lstStyle/>
                    <a:p>
                      <a:pPr algn="ctr"/>
                      <a:r>
                        <a:rPr lang="en-US" sz="2200" dirty="0"/>
                        <a:t>78.8</a:t>
                      </a:r>
                    </a:p>
                  </a:txBody>
                  <a:tcPr/>
                </a:tc>
                <a:extLst>
                  <a:ext uri="{0D108BD9-81ED-4DB2-BD59-A6C34878D82A}">
                    <a16:rowId xmlns:a16="http://schemas.microsoft.com/office/drawing/2014/main" val="1955925453"/>
                  </a:ext>
                </a:extLst>
              </a:tr>
              <a:tr h="370840">
                <a:tc>
                  <a:txBody>
                    <a:bodyPr/>
                    <a:lstStyle/>
                    <a:p>
                      <a:pPr algn="ctr"/>
                      <a:r>
                        <a:rPr lang="en-US" sz="2200" dirty="0"/>
                        <a:t>Claude-3</a:t>
                      </a:r>
                    </a:p>
                  </a:txBody>
                  <a:tcPr/>
                </a:tc>
                <a:tc>
                  <a:txBody>
                    <a:bodyPr/>
                    <a:lstStyle/>
                    <a:p>
                      <a:pPr algn="ctr"/>
                      <a:r>
                        <a:rPr lang="en-US" sz="2200" dirty="0">
                          <a:solidFill>
                            <a:srgbClr val="00B050"/>
                          </a:solidFill>
                        </a:rPr>
                        <a:t>Refusal</a:t>
                      </a:r>
                    </a:p>
                  </a:txBody>
                  <a:tcPr/>
                </a:tc>
                <a:tc>
                  <a:txBody>
                    <a:bodyPr/>
                    <a:lstStyle/>
                    <a:p>
                      <a:pPr lvl="0" algn="ctr">
                        <a:lnSpc>
                          <a:spcPct val="100000"/>
                        </a:lnSpc>
                        <a:spcBef>
                          <a:spcPts val="0"/>
                        </a:spcBef>
                        <a:spcAft>
                          <a:spcPts val="0"/>
                        </a:spcAft>
                        <a:buNone/>
                      </a:pPr>
                      <a:r>
                        <a:rPr lang="en-US" sz="2200" b="0" u="none" strike="noStrike" noProof="0" dirty="0">
                          <a:solidFill>
                            <a:srgbClr val="00B050"/>
                          </a:solidFill>
                        </a:rPr>
                        <a:t>Refusal</a:t>
                      </a:r>
                      <a:endParaRPr lang="en-US" sz="2200" b="0" i="0" u="none" strike="noStrike" noProof="0" dirty="0">
                        <a:solidFill>
                          <a:srgbClr val="00B050"/>
                        </a:solidFill>
                        <a:latin typeface="Calibri"/>
                      </a:endParaRPr>
                    </a:p>
                  </a:txBody>
                  <a:tcPr/>
                </a:tc>
                <a:tc>
                  <a:txBody>
                    <a:bodyPr/>
                    <a:lstStyle/>
                    <a:p>
                      <a:pPr lvl="0" algn="ctr">
                        <a:lnSpc>
                          <a:spcPct val="100000"/>
                        </a:lnSpc>
                        <a:spcBef>
                          <a:spcPts val="0"/>
                        </a:spcBef>
                        <a:spcAft>
                          <a:spcPts val="0"/>
                        </a:spcAft>
                        <a:buNone/>
                      </a:pPr>
                      <a:r>
                        <a:rPr lang="en-US" sz="2200" b="0" u="none" strike="noStrike" noProof="0" dirty="0">
                          <a:solidFill>
                            <a:srgbClr val="00B050"/>
                          </a:solidFill>
                        </a:rPr>
                        <a:t>Refusal</a:t>
                      </a:r>
                      <a:endParaRPr lang="en-US" sz="2200" b="0" i="0" u="none" strike="noStrike" noProof="0" dirty="0">
                        <a:solidFill>
                          <a:srgbClr val="00B050"/>
                        </a:solidFill>
                        <a:latin typeface="Calibri"/>
                      </a:endParaRPr>
                    </a:p>
                  </a:txBody>
                  <a:tcPr/>
                </a:tc>
                <a:extLst>
                  <a:ext uri="{0D108BD9-81ED-4DB2-BD59-A6C34878D82A}">
                    <a16:rowId xmlns:a16="http://schemas.microsoft.com/office/drawing/2014/main" val="1477011915"/>
                  </a:ext>
                </a:extLst>
              </a:tr>
              <a:tr h="370840">
                <a:tc>
                  <a:txBody>
                    <a:bodyPr/>
                    <a:lstStyle/>
                    <a:p>
                      <a:pPr algn="ctr"/>
                      <a:r>
                        <a:rPr lang="en-US" sz="2200" dirty="0"/>
                        <a:t>LLaMA-3</a:t>
                      </a:r>
                    </a:p>
                  </a:txBody>
                  <a:tcPr/>
                </a:tc>
                <a:tc>
                  <a:txBody>
                    <a:bodyPr/>
                    <a:lstStyle/>
                    <a:p>
                      <a:pPr lvl="0" algn="ctr">
                        <a:buNone/>
                      </a:pPr>
                      <a:r>
                        <a:rPr lang="en-US" sz="2200" b="0" u="none" strike="noStrike" noProof="0" dirty="0"/>
                        <a:t>40.0</a:t>
                      </a:r>
                      <a:endParaRPr lang="en-US" sz="2200" dirty="0"/>
                    </a:p>
                  </a:txBody>
                  <a:tcPr/>
                </a:tc>
                <a:tc>
                  <a:txBody>
                    <a:bodyPr/>
                    <a:lstStyle/>
                    <a:p>
                      <a:pPr algn="ctr"/>
                      <a:r>
                        <a:rPr lang="en-US" sz="2200" dirty="0"/>
                        <a:t>59.6</a:t>
                      </a:r>
                    </a:p>
                  </a:txBody>
                  <a:tcPr/>
                </a:tc>
                <a:tc>
                  <a:txBody>
                    <a:bodyPr/>
                    <a:lstStyle/>
                    <a:p>
                      <a:pPr algn="ctr"/>
                      <a:r>
                        <a:rPr lang="en-US" sz="2200" dirty="0"/>
                        <a:t>61.7</a:t>
                      </a:r>
                    </a:p>
                  </a:txBody>
                  <a:tcPr/>
                </a:tc>
                <a:extLst>
                  <a:ext uri="{0D108BD9-81ED-4DB2-BD59-A6C34878D82A}">
                    <a16:rowId xmlns:a16="http://schemas.microsoft.com/office/drawing/2014/main" val="548334808"/>
                  </a:ext>
                </a:extLst>
              </a:tr>
            </a:tbl>
          </a:graphicData>
        </a:graphic>
      </p:graphicFrame>
      <p:sp>
        <p:nvSpPr>
          <p:cNvPr id="5" name="Slide Number Placeholder 4">
            <a:extLst>
              <a:ext uri="{FF2B5EF4-FFF2-40B4-BE49-F238E27FC236}">
                <a16:creationId xmlns:a16="http://schemas.microsoft.com/office/drawing/2014/main" id="{C2A469F3-553D-DBE7-1D76-746BF453FDBA}"/>
              </a:ext>
            </a:extLst>
          </p:cNvPr>
          <p:cNvSpPr>
            <a:spLocks noGrp="1"/>
          </p:cNvSpPr>
          <p:nvPr>
            <p:ph type="sldNum" sz="quarter" idx="12"/>
          </p:nvPr>
        </p:nvSpPr>
        <p:spPr/>
        <p:txBody>
          <a:bodyPr/>
          <a:lstStyle/>
          <a:p>
            <a:fld id="{C3A81FF4-CBB3-DF43-B274-0E49682E6498}" type="slidenum">
              <a:rPr lang="en-US" smtClean="0"/>
              <a:t>17</a:t>
            </a:fld>
            <a:endParaRPr lang="en-US"/>
          </a:p>
        </p:txBody>
      </p:sp>
    </p:spTree>
    <p:extLst>
      <p:ext uri="{BB962C8B-B14F-4D97-AF65-F5344CB8AC3E}">
        <p14:creationId xmlns:p14="http://schemas.microsoft.com/office/powerpoint/2010/main" val="2277333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80EC9-554E-76D5-FBC7-04DE447EC4EA}"/>
              </a:ext>
            </a:extLst>
          </p:cNvPr>
          <p:cNvSpPr>
            <a:spLocks noGrp="1"/>
          </p:cNvSpPr>
          <p:nvPr>
            <p:ph type="title"/>
          </p:nvPr>
        </p:nvSpPr>
        <p:spPr/>
        <p:txBody>
          <a:bodyPr/>
          <a:lstStyle/>
          <a:p>
            <a:pPr algn="ctr"/>
            <a:r>
              <a:rPr lang="en-IT" b="1" dirty="0"/>
              <a:t>Conclusions &amp; Future Work </a:t>
            </a:r>
          </a:p>
        </p:txBody>
      </p:sp>
      <p:sp>
        <p:nvSpPr>
          <p:cNvPr id="3" name="Content Placeholder 2">
            <a:extLst>
              <a:ext uri="{FF2B5EF4-FFF2-40B4-BE49-F238E27FC236}">
                <a16:creationId xmlns:a16="http://schemas.microsoft.com/office/drawing/2014/main" id="{D0EDCC6D-3DF2-8A70-824C-0CAE56B6502A}"/>
              </a:ext>
            </a:extLst>
          </p:cNvPr>
          <p:cNvSpPr>
            <a:spLocks noGrp="1"/>
          </p:cNvSpPr>
          <p:nvPr>
            <p:ph idx="1"/>
          </p:nvPr>
        </p:nvSpPr>
        <p:spPr/>
        <p:txBody>
          <a:bodyPr/>
          <a:lstStyle/>
          <a:p>
            <a:r>
              <a:rPr lang="en-IT" dirty="0"/>
              <a:t>LLMs are not as performant in real-world healthcare tasks</a:t>
            </a:r>
          </a:p>
          <a:p>
            <a:r>
              <a:rPr lang="en-IT" dirty="0"/>
              <a:t>Substantial differences in Demographic Parity and more importantly in Equal Opportunity</a:t>
            </a:r>
          </a:p>
          <a:p>
            <a:pPr marL="0" indent="0">
              <a:buNone/>
            </a:pPr>
            <a:endParaRPr lang="en-IT" dirty="0"/>
          </a:p>
          <a:p>
            <a:pPr marL="0" indent="0">
              <a:buNone/>
            </a:pPr>
            <a:r>
              <a:rPr lang="en-IT" dirty="0"/>
              <a:t>Need: more healthcare data with demographic information</a:t>
            </a:r>
          </a:p>
          <a:p>
            <a:pPr marL="0" indent="0">
              <a:buNone/>
            </a:pPr>
            <a:endParaRPr lang="en-IT" dirty="0"/>
          </a:p>
          <a:p>
            <a:pPr marL="0" indent="0">
              <a:buNone/>
            </a:pPr>
            <a:r>
              <a:rPr lang="en-IT" dirty="0"/>
              <a:t>Big question: how to mitigate bias and improve fairness? </a:t>
            </a:r>
          </a:p>
        </p:txBody>
      </p:sp>
      <p:pic>
        <p:nvPicPr>
          <p:cNvPr id="4" name="Picture 6" descr="Logo&#10;&#10;Description automatically generated">
            <a:extLst>
              <a:ext uri="{FF2B5EF4-FFF2-40B4-BE49-F238E27FC236}">
                <a16:creationId xmlns:a16="http://schemas.microsoft.com/office/drawing/2014/main" id="{6045135B-6299-349D-FD0F-F6A6F6DF72E4}"/>
              </a:ext>
            </a:extLst>
          </p:cNvPr>
          <p:cNvPicPr>
            <a:picLocks noChangeAspect="1"/>
          </p:cNvPicPr>
          <p:nvPr/>
        </p:nvPicPr>
        <p:blipFill>
          <a:blip r:embed="rId2"/>
          <a:stretch>
            <a:fillRect/>
          </a:stretch>
        </p:blipFill>
        <p:spPr>
          <a:xfrm>
            <a:off x="838199" y="569391"/>
            <a:ext cx="917029" cy="917029"/>
          </a:xfrm>
          <a:prstGeom prst="rect">
            <a:avLst/>
          </a:prstGeom>
        </p:spPr>
      </p:pic>
      <p:sp>
        <p:nvSpPr>
          <p:cNvPr id="5" name="Slide Number Placeholder 4">
            <a:extLst>
              <a:ext uri="{FF2B5EF4-FFF2-40B4-BE49-F238E27FC236}">
                <a16:creationId xmlns:a16="http://schemas.microsoft.com/office/drawing/2014/main" id="{ED2243FF-596A-E6DD-CB4B-E75D3EDE15BF}"/>
              </a:ext>
            </a:extLst>
          </p:cNvPr>
          <p:cNvSpPr>
            <a:spLocks noGrp="1"/>
          </p:cNvSpPr>
          <p:nvPr>
            <p:ph type="sldNum" sz="quarter" idx="12"/>
          </p:nvPr>
        </p:nvSpPr>
        <p:spPr/>
        <p:txBody>
          <a:bodyPr/>
          <a:lstStyle/>
          <a:p>
            <a:fld id="{C3A81FF4-CBB3-DF43-B274-0E49682E6498}" type="slidenum">
              <a:rPr lang="en-US" smtClean="0"/>
              <a:t>18</a:t>
            </a:fld>
            <a:endParaRPr lang="en-US"/>
          </a:p>
        </p:txBody>
      </p:sp>
    </p:spTree>
    <p:extLst>
      <p:ext uri="{BB962C8B-B14F-4D97-AF65-F5344CB8AC3E}">
        <p14:creationId xmlns:p14="http://schemas.microsoft.com/office/powerpoint/2010/main" val="1358858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5E3CF-C9B5-685C-4A6A-A8ACE0490C85}"/>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EAC49465-FE72-1123-FF1A-86045CF3538C}"/>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E9F89C6E-2B4D-C94F-16E3-0E35041D5290}"/>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a:ea typeface="等线 Light"/>
                <a:cs typeface="Arial"/>
              </a:rPr>
              <a:t> References (COLING 25)</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13503F7C-E1E3-42BF-9FE8-E0EADACBA6D7}"/>
              </a:ext>
            </a:extLst>
          </p:cNvPr>
          <p:cNvSpPr>
            <a:spLocks noGrp="1"/>
          </p:cNvSpPr>
          <p:nvPr>
            <p:ph idx="1"/>
          </p:nvPr>
        </p:nvSpPr>
        <p:spPr>
          <a:xfrm>
            <a:off x="838199" y="1718048"/>
            <a:ext cx="11168271" cy="684774"/>
          </a:xfrm>
        </p:spPr>
        <p:txBody>
          <a:bodyPr vert="horz" lIns="91440" tIns="45720" rIns="91440" bIns="45720" rtlCol="0" anchor="t">
            <a:normAutofit/>
          </a:bodyPr>
          <a:lstStyle/>
          <a:p>
            <a:pPr marL="0" indent="0">
              <a:buNone/>
            </a:pPr>
            <a:r>
              <a:rPr lang="en-US" sz="1000" dirty="0"/>
              <a:t>1.Alistair Johnson, Lucas Bulgarelli, Tom </a:t>
            </a:r>
            <a:r>
              <a:rPr lang="en-US" sz="1000" dirty="0" err="1"/>
              <a:t>Pollard,Steven</a:t>
            </a:r>
            <a:r>
              <a:rPr lang="en-US" sz="1000" dirty="0"/>
              <a:t> Horng, Leo Anthony Celi, and Roger Mark.2020. Mimic-iv. PhysioNet. Available online </a:t>
            </a:r>
            <a:r>
              <a:rPr lang="en-US" sz="1000" dirty="0" err="1"/>
              <a:t>at:https</a:t>
            </a:r>
            <a:r>
              <a:rPr lang="en-US" sz="1000" dirty="0"/>
              <a:t>://</a:t>
            </a:r>
            <a:r>
              <a:rPr lang="en-US" sz="1000" dirty="0" err="1"/>
              <a:t>physionet</a:t>
            </a:r>
            <a:r>
              <a:rPr lang="en-US" sz="1000" dirty="0"/>
              <a:t>. org/content/</a:t>
            </a:r>
            <a:r>
              <a:rPr lang="en-US" sz="1000" dirty="0" err="1"/>
              <a:t>mimiciv</a:t>
            </a:r>
            <a:r>
              <a:rPr lang="en-US" sz="1000" dirty="0"/>
              <a:t>/1.0/(accessed August 23, 2021).</a:t>
            </a:r>
            <a:endParaRPr lang="en-US" sz="1000">
              <a:ea typeface="Calibri" panose="020F0502020204030204"/>
              <a:cs typeface="Calibri" panose="020F0502020204030204"/>
            </a:endParaRPr>
          </a:p>
          <a:p>
            <a:pPr>
              <a:buAutoNum type="arabicPeriod"/>
            </a:pPr>
            <a:endParaRPr lang="en-US" sz="1000" dirty="0">
              <a:ea typeface="Calibri" panose="020F0502020204030204"/>
              <a:cs typeface="Calibri" panose="020F0502020204030204"/>
            </a:endParaRPr>
          </a:p>
          <a:p>
            <a:pPr>
              <a:buAutoNum type="arabicPeriod"/>
            </a:pPr>
            <a:endParaRPr lang="en-US" sz="1000" dirty="0">
              <a:ea typeface="Calibri" panose="020F0502020204030204"/>
              <a:cs typeface="Calibri" panose="020F0502020204030204"/>
            </a:endParaRPr>
          </a:p>
          <a:p>
            <a:pPr>
              <a:buAutoNum type="arabicPeriod"/>
            </a:pPr>
            <a:endParaRPr lang="en-US" sz="1000" dirty="0">
              <a:ea typeface="+mn-lt"/>
              <a:cs typeface="+mn-lt"/>
            </a:endParaRPr>
          </a:p>
        </p:txBody>
      </p:sp>
      <p:sp>
        <p:nvSpPr>
          <p:cNvPr id="3" name="TextBox 2">
            <a:extLst>
              <a:ext uri="{FF2B5EF4-FFF2-40B4-BE49-F238E27FC236}">
                <a16:creationId xmlns:a16="http://schemas.microsoft.com/office/drawing/2014/main" id="{91E68D88-2556-EC79-0565-A28E641F8A54}"/>
              </a:ext>
            </a:extLst>
          </p:cNvPr>
          <p:cNvSpPr txBox="1"/>
          <p:nvPr/>
        </p:nvSpPr>
        <p:spPr>
          <a:xfrm>
            <a:off x="837395" y="2054756"/>
            <a:ext cx="1116933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1000" dirty="0">
                <a:latin typeface="Calibri"/>
                <a:ea typeface="Calibri"/>
                <a:cs typeface="Calibri"/>
              </a:rPr>
              <a:t>2. Itika Gupta, Barbara Di Eugenio, Brian Ziebart, Aiswarya Baiju, Bing Liu, Ben Gerber, Lisa Sharp, Nadia Nabulsi, and Mary Smart. 2020. Human-human health coaching via text messages: </a:t>
            </a:r>
            <a:r>
              <a:rPr lang="en-US" sz="1000" dirty="0" err="1">
                <a:latin typeface="Calibri"/>
                <a:ea typeface="Calibri"/>
                <a:cs typeface="Calibri"/>
              </a:rPr>
              <a:t>Corpus,annotation</a:t>
            </a:r>
            <a:r>
              <a:rPr lang="en-US" sz="1000" dirty="0">
                <a:latin typeface="Calibri"/>
                <a:ea typeface="Calibri"/>
                <a:cs typeface="Calibri"/>
              </a:rPr>
              <a:t>, and analysis. In Proceedings of the 21th Annual Meeting of the Special Interest Group </a:t>
            </a:r>
            <a:r>
              <a:rPr lang="en-US" sz="1000" dirty="0" err="1">
                <a:latin typeface="Calibri"/>
                <a:ea typeface="Calibri"/>
                <a:cs typeface="Calibri"/>
              </a:rPr>
              <a:t>onDiscourse</a:t>
            </a:r>
            <a:r>
              <a:rPr lang="en-US" sz="1000" dirty="0">
                <a:latin typeface="Calibri"/>
                <a:ea typeface="Calibri"/>
                <a:cs typeface="Calibri"/>
              </a:rPr>
              <a:t> and Dialogue, pages 246–256, 1st virtual meeting. Association for Computational Linguistics.</a:t>
            </a:r>
            <a:endParaRPr lang="en-US" sz="1000">
              <a:ea typeface="Calibri"/>
              <a:cs typeface="Calibri"/>
            </a:endParaRPr>
          </a:p>
          <a:p>
            <a:r>
              <a:rPr lang="en-US" sz="1000" dirty="0">
                <a:latin typeface="Calibri"/>
              </a:rPr>
              <a:t> </a:t>
            </a:r>
            <a:r>
              <a:rPr lang="en-US" sz="1000" baseline="0" dirty="0">
                <a:latin typeface="Calibri"/>
              </a:rPr>
              <a:t>Yue Zhou, Barbara Di Eugenio, Brian Ziebart, Lisa Sharp, Bing Liu, and Nikolaos </a:t>
            </a:r>
            <a:r>
              <a:rPr lang="en-US" sz="1000" baseline="0" err="1">
                <a:latin typeface="Calibri"/>
              </a:rPr>
              <a:t>Agadakos</a:t>
            </a:r>
            <a:r>
              <a:rPr lang="en-US" sz="1000" baseline="0" dirty="0">
                <a:latin typeface="Calibri"/>
              </a:rPr>
              <a:t>. 2024b.Modeling low-resource health coaching dialogues via neuro-symbolic goal</a:t>
            </a:r>
            <a:r>
              <a:rPr lang="en-US" sz="1000" dirty="0">
                <a:latin typeface="Calibri"/>
              </a:rPr>
              <a:t> </a:t>
            </a:r>
            <a:r>
              <a:rPr lang="en-US" sz="1000" baseline="0" dirty="0">
                <a:latin typeface="Calibri"/>
              </a:rPr>
              <a:t>summarization and text-units-text generation. In Proceedings of the 2024 Joint International Conference on Computational </a:t>
            </a:r>
            <a:r>
              <a:rPr lang="en-US" sz="1000" baseline="0" err="1">
                <a:latin typeface="Calibri"/>
              </a:rPr>
              <a:t>Linguis</a:t>
            </a:r>
            <a:r>
              <a:rPr lang="en-US" sz="1000" baseline="0" dirty="0">
                <a:latin typeface="Calibri"/>
              </a:rPr>
              <a:t>-tics, Language Resources and Evaluation (LREC-COLING 2024), pages 11498–11509, Torino, Italia.ELRA and ICCL.</a:t>
            </a:r>
            <a:endParaRPr lang="en-US" sz="1000">
              <a:ea typeface="Calibri"/>
              <a:cs typeface="Calibri"/>
            </a:endParaRPr>
          </a:p>
        </p:txBody>
      </p:sp>
      <p:sp>
        <p:nvSpPr>
          <p:cNvPr id="6" name="TextBox 5">
            <a:extLst>
              <a:ext uri="{FF2B5EF4-FFF2-40B4-BE49-F238E27FC236}">
                <a16:creationId xmlns:a16="http://schemas.microsoft.com/office/drawing/2014/main" id="{E3B22E6C-C845-066F-3280-F815BA692185}"/>
              </a:ext>
            </a:extLst>
          </p:cNvPr>
          <p:cNvSpPr txBox="1"/>
          <p:nvPr/>
        </p:nvSpPr>
        <p:spPr>
          <a:xfrm>
            <a:off x="806018" y="3431644"/>
            <a:ext cx="1116841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Calibri"/>
                <a:cs typeface="Calibri"/>
              </a:rPr>
              <a:t>5. Jason Wei, </a:t>
            </a:r>
            <a:r>
              <a:rPr lang="en-US" sz="1000" err="1">
                <a:ea typeface="Calibri"/>
                <a:cs typeface="Calibri"/>
              </a:rPr>
              <a:t>Xuezhi</a:t>
            </a:r>
            <a:r>
              <a:rPr lang="en-US" sz="1000" dirty="0">
                <a:ea typeface="Calibri"/>
                <a:cs typeface="Calibri"/>
              </a:rPr>
              <a:t> Wang, Dale Schuurmans, Maarten Bosma, Fei Xia, Ed Chi, Quoc V Le, Denny Zhou, et al. 2022. Chain-of-thought prompting elicits reasoning in large language models. Advances in Neural </a:t>
            </a:r>
            <a:r>
              <a:rPr lang="en-US" sz="1000" err="1">
                <a:ea typeface="Calibri"/>
                <a:cs typeface="Calibri"/>
              </a:rPr>
              <a:t>nformation</a:t>
            </a:r>
            <a:r>
              <a:rPr lang="en-US" sz="1000" dirty="0">
                <a:ea typeface="Calibri"/>
                <a:cs typeface="Calibri"/>
              </a:rPr>
              <a:t> Processing Systems, 35:24824–24837.</a:t>
            </a:r>
            <a:endParaRPr lang="en-US" sz="1000">
              <a:ea typeface="Calibri"/>
              <a:cs typeface="Calibri"/>
            </a:endParaRPr>
          </a:p>
          <a:p>
            <a:r>
              <a:rPr lang="en-US" sz="1000" dirty="0">
                <a:ea typeface="+mn-lt"/>
                <a:cs typeface="+mn-lt"/>
              </a:rPr>
              <a:t> Takeshi Kojima, </a:t>
            </a:r>
            <a:r>
              <a:rPr lang="en-US" sz="1000" err="1">
                <a:ea typeface="+mn-lt"/>
                <a:cs typeface="+mn-lt"/>
              </a:rPr>
              <a:t>Shixiang</a:t>
            </a:r>
            <a:r>
              <a:rPr lang="en-US" sz="1000" dirty="0">
                <a:ea typeface="+mn-lt"/>
                <a:cs typeface="+mn-lt"/>
              </a:rPr>
              <a:t> (Shane) Gu, Machel Reid, Yutaka Matsuo, and Yusuke Iwasawa. 2022. Large language models are zero-shot reasoners. In Advances in Neural Information Processing Systems, volume 35,pages 5547–5560</a:t>
            </a:r>
          </a:p>
          <a:p>
            <a:r>
              <a:rPr lang="en-US" sz="1000" dirty="0">
                <a:ea typeface="+mn-lt"/>
                <a:cs typeface="+mn-lt"/>
              </a:rPr>
              <a:t> Yue Zhou, Yada Zhu, Diego </a:t>
            </a:r>
            <a:r>
              <a:rPr lang="en-US" sz="1000" dirty="0" err="1">
                <a:ea typeface="+mn-lt"/>
                <a:cs typeface="+mn-lt"/>
              </a:rPr>
              <a:t>Antognini</a:t>
            </a:r>
            <a:r>
              <a:rPr lang="en-US" sz="1000" dirty="0">
                <a:ea typeface="+mn-lt"/>
                <a:cs typeface="+mn-lt"/>
              </a:rPr>
              <a:t>, Yoon Kim, and Yang Zhang. 2024c. Paraphrase and solve: Exploring and exploiting the impact of surface form on  mathematical reasoning in large language models. In Proceedings of the 2024 Conference of the North American Chapter of the Association for Computational Linguistics: Human Language Technologies (Volume 1: Long Papers), pages 2793–2804, Mexico City, Mexico. Association for Computational Linguistics.</a:t>
            </a:r>
            <a:endParaRPr lang="en-US" sz="1000" dirty="0">
              <a:ea typeface="Calibri"/>
              <a:cs typeface="Calibri"/>
            </a:endParaRPr>
          </a:p>
        </p:txBody>
      </p:sp>
      <p:sp>
        <p:nvSpPr>
          <p:cNvPr id="8" name="TextBox 7">
            <a:extLst>
              <a:ext uri="{FF2B5EF4-FFF2-40B4-BE49-F238E27FC236}">
                <a16:creationId xmlns:a16="http://schemas.microsoft.com/office/drawing/2014/main" id="{5114E022-3C3A-41B9-181B-416CBC16DF56}"/>
              </a:ext>
            </a:extLst>
          </p:cNvPr>
          <p:cNvSpPr txBox="1"/>
          <p:nvPr/>
        </p:nvSpPr>
        <p:spPr>
          <a:xfrm>
            <a:off x="803260" y="2739523"/>
            <a:ext cx="11174275" cy="1041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1000" dirty="0">
                <a:ea typeface="Calibri"/>
                <a:cs typeface="Calibri"/>
              </a:rPr>
              <a:t>3. Ankit Aich, Avery Quynh, Varsha Badal, Amy Pinkham, Philip Harvey, Colin Depp, and Natalie Parde. 2022. Towards intelligent clinically-informed </a:t>
            </a:r>
            <a:r>
              <a:rPr lang="en-US" sz="1000" dirty="0" err="1">
                <a:ea typeface="Calibri"/>
                <a:cs typeface="Calibri"/>
              </a:rPr>
              <a:t>lan</a:t>
            </a:r>
            <a:r>
              <a:rPr lang="en-US" sz="1000" dirty="0">
                <a:ea typeface="Calibri"/>
                <a:cs typeface="Calibri"/>
              </a:rPr>
              <a:t>- </a:t>
            </a:r>
            <a:r>
              <a:rPr lang="en-US" sz="1000" dirty="0" err="1">
                <a:ea typeface="Calibri"/>
                <a:cs typeface="Calibri"/>
              </a:rPr>
              <a:t>guage</a:t>
            </a:r>
            <a:r>
              <a:rPr lang="en-US" sz="1000" dirty="0">
                <a:ea typeface="Calibri"/>
                <a:cs typeface="Calibri"/>
              </a:rPr>
              <a:t> analyses of people with bipolar disorder and schizophrenia. In Findings of the Association for Computational Linguistics: EMNLP 2022, pages 2871–2887, Abu Dhabi, United Arab Emirates. As- sociation for Computational Linguistics.</a:t>
            </a:r>
            <a:endParaRPr lang="en-US" sz="1000">
              <a:ea typeface="Calibri"/>
              <a:cs typeface="Calibri"/>
            </a:endParaRPr>
          </a:p>
          <a:p>
            <a:pPr>
              <a:lnSpc>
                <a:spcPct val="90000"/>
              </a:lnSpc>
              <a:spcBef>
                <a:spcPts val="1000"/>
              </a:spcBef>
            </a:pPr>
            <a:r>
              <a:rPr lang="en-US" sz="1000" dirty="0">
                <a:ea typeface="Calibri"/>
                <a:cs typeface="Calibri"/>
              </a:rPr>
              <a:t>4. Di Jin, Eileen Pan, Nassim </a:t>
            </a:r>
            <a:r>
              <a:rPr lang="en-US" sz="1000" dirty="0" err="1">
                <a:ea typeface="Calibri"/>
                <a:cs typeface="Calibri"/>
              </a:rPr>
              <a:t>Oufattole</a:t>
            </a:r>
            <a:r>
              <a:rPr lang="en-US" sz="1000" dirty="0">
                <a:ea typeface="Calibri"/>
                <a:cs typeface="Calibri"/>
              </a:rPr>
              <a:t>, Wei-Hung Weng, Hanyi Fang, and Peter </a:t>
            </a:r>
            <a:r>
              <a:rPr lang="en-US" sz="1000" dirty="0" err="1">
                <a:ea typeface="Calibri"/>
                <a:cs typeface="Calibri"/>
              </a:rPr>
              <a:t>Szolovits</a:t>
            </a:r>
            <a:r>
              <a:rPr lang="en-US" sz="1000" dirty="0">
                <a:ea typeface="Calibri"/>
                <a:cs typeface="Calibri"/>
              </a:rPr>
              <a:t>. 2021. What disease does this patient have? a large-scale open domain question answering dataset from medical exams. Applied Sciences, 11(14):6421. </a:t>
            </a:r>
          </a:p>
          <a:p>
            <a:pPr>
              <a:lnSpc>
                <a:spcPct val="90000"/>
              </a:lnSpc>
              <a:spcBef>
                <a:spcPts val="1000"/>
              </a:spcBef>
            </a:pPr>
            <a:endParaRPr lang="en-US" sz="1000" dirty="0">
              <a:ea typeface="Calibri"/>
              <a:cs typeface="Calibri"/>
            </a:endParaRPr>
          </a:p>
        </p:txBody>
      </p:sp>
      <p:sp>
        <p:nvSpPr>
          <p:cNvPr id="9" name="TextBox 8">
            <a:extLst>
              <a:ext uri="{FF2B5EF4-FFF2-40B4-BE49-F238E27FC236}">
                <a16:creationId xmlns:a16="http://schemas.microsoft.com/office/drawing/2014/main" id="{048B6CF6-4CEE-C760-22CD-95A9B3676E8C}"/>
              </a:ext>
            </a:extLst>
          </p:cNvPr>
          <p:cNvSpPr txBox="1"/>
          <p:nvPr/>
        </p:nvSpPr>
        <p:spPr>
          <a:xfrm>
            <a:off x="805904" y="4596020"/>
            <a:ext cx="1111738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ea typeface="Calibri"/>
                <a:cs typeface="Calibri"/>
              </a:rPr>
              <a:t>6.</a:t>
            </a:r>
            <a:r>
              <a:rPr lang="en-US" sz="1000" dirty="0">
                <a:ea typeface="+mn-lt"/>
                <a:cs typeface="+mn-lt"/>
              </a:rPr>
              <a:t> Edward J. Hu, </a:t>
            </a:r>
            <a:r>
              <a:rPr lang="en-US" sz="1000" dirty="0" err="1">
                <a:ea typeface="+mn-lt"/>
                <a:cs typeface="+mn-lt"/>
              </a:rPr>
              <a:t>Yelong</a:t>
            </a:r>
            <a:r>
              <a:rPr lang="en-US" sz="1000" dirty="0">
                <a:ea typeface="+mn-lt"/>
                <a:cs typeface="+mn-lt"/>
              </a:rPr>
              <a:t> Shen, Phillip Wallis, </a:t>
            </a:r>
            <a:r>
              <a:rPr lang="en-US" sz="1000" dirty="0" err="1">
                <a:ea typeface="+mn-lt"/>
                <a:cs typeface="+mn-lt"/>
              </a:rPr>
              <a:t>Zeyuan</a:t>
            </a:r>
            <a:r>
              <a:rPr lang="en-US" sz="1000" dirty="0">
                <a:ea typeface="+mn-lt"/>
                <a:cs typeface="+mn-lt"/>
              </a:rPr>
              <a:t> Allen-Zhu, </a:t>
            </a:r>
            <a:r>
              <a:rPr lang="en-US" sz="1000" dirty="0" err="1">
                <a:ea typeface="+mn-lt"/>
                <a:cs typeface="+mn-lt"/>
              </a:rPr>
              <a:t>Yuanzhi</a:t>
            </a:r>
            <a:r>
              <a:rPr lang="en-US" sz="1000" dirty="0">
                <a:ea typeface="+mn-lt"/>
                <a:cs typeface="+mn-lt"/>
              </a:rPr>
              <a:t> Li, Shean Wang, Lu Wang, and </a:t>
            </a:r>
            <a:r>
              <a:rPr lang="en-US" sz="1000" dirty="0" err="1">
                <a:ea typeface="+mn-lt"/>
                <a:cs typeface="+mn-lt"/>
              </a:rPr>
              <a:t>Weizhu</a:t>
            </a:r>
            <a:r>
              <a:rPr lang="en-US" sz="1000" dirty="0">
                <a:ea typeface="+mn-lt"/>
                <a:cs typeface="+mn-lt"/>
              </a:rPr>
              <a:t> Chen. 2022. Lora: Low-rank adaptation of large language models. In International Conference on Learning Representations (ICLR).</a:t>
            </a:r>
            <a:endParaRPr lang="en-US" sz="1000" dirty="0"/>
          </a:p>
        </p:txBody>
      </p:sp>
      <p:sp>
        <p:nvSpPr>
          <p:cNvPr id="5" name="TextBox 4">
            <a:extLst>
              <a:ext uri="{FF2B5EF4-FFF2-40B4-BE49-F238E27FC236}">
                <a16:creationId xmlns:a16="http://schemas.microsoft.com/office/drawing/2014/main" id="{237DB1BD-FCB8-6010-5046-1D884141E474}"/>
              </a:ext>
            </a:extLst>
          </p:cNvPr>
          <p:cNvSpPr txBox="1"/>
          <p:nvPr/>
        </p:nvSpPr>
        <p:spPr>
          <a:xfrm>
            <a:off x="807512" y="4987135"/>
            <a:ext cx="1097084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ea typeface="Calibri"/>
                <a:cs typeface="Calibri"/>
              </a:rPr>
              <a:t>7.</a:t>
            </a:r>
            <a:r>
              <a:rPr lang="en-US" sz="1000" dirty="0">
                <a:ea typeface="+mn-lt"/>
                <a:cs typeface="+mn-lt"/>
              </a:rPr>
              <a:t> </a:t>
            </a:r>
            <a:r>
              <a:rPr lang="en-US" sz="1000" dirty="0" err="1">
                <a:ea typeface="+mn-lt"/>
                <a:cs typeface="+mn-lt"/>
              </a:rPr>
              <a:t>Shunyu</a:t>
            </a:r>
            <a:r>
              <a:rPr lang="en-US" sz="1000" dirty="0">
                <a:ea typeface="+mn-lt"/>
                <a:cs typeface="+mn-lt"/>
              </a:rPr>
              <a:t> Yao, Jeffrey Zhao, Dian Yu, Nan Du, </a:t>
            </a:r>
            <a:r>
              <a:rPr lang="en-US" sz="1000" dirty="0" err="1">
                <a:ea typeface="+mn-lt"/>
                <a:cs typeface="+mn-lt"/>
              </a:rPr>
              <a:t>Izhak</a:t>
            </a:r>
            <a:r>
              <a:rPr lang="en-US" sz="1000" dirty="0">
                <a:ea typeface="+mn-lt"/>
                <a:cs typeface="+mn-lt"/>
              </a:rPr>
              <a:t> Shafran, Karthik Narasimhan, and Yuan Cao. 2023. React: Synergizing reasoning and acting in language models. In The Eleventh International Conference on Learning Representations.</a:t>
            </a:r>
          </a:p>
        </p:txBody>
      </p:sp>
      <p:sp>
        <p:nvSpPr>
          <p:cNvPr id="10" name="TextBox 9">
            <a:extLst>
              <a:ext uri="{FF2B5EF4-FFF2-40B4-BE49-F238E27FC236}">
                <a16:creationId xmlns:a16="http://schemas.microsoft.com/office/drawing/2014/main" id="{0347F13A-76F1-B6A3-830D-03E30609B87D}"/>
              </a:ext>
            </a:extLst>
          </p:cNvPr>
          <p:cNvSpPr txBox="1"/>
          <p:nvPr/>
        </p:nvSpPr>
        <p:spPr>
          <a:xfrm>
            <a:off x="807512" y="5386868"/>
            <a:ext cx="1111175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ea typeface="Calibri"/>
                <a:cs typeface="Calibri"/>
              </a:rPr>
              <a:t>8.</a:t>
            </a:r>
            <a:r>
              <a:rPr lang="en-US" sz="1000" dirty="0">
                <a:ea typeface="+mn-lt"/>
                <a:cs typeface="+mn-lt"/>
              </a:rPr>
              <a:t>Noah Shinn, Federico Cassano, Edward Berman, Ashwin Gopinath, Karthik Narasimhan, and </a:t>
            </a:r>
            <a:r>
              <a:rPr lang="en-US" sz="1000" err="1">
                <a:ea typeface="+mn-lt"/>
                <a:cs typeface="+mn-lt"/>
              </a:rPr>
              <a:t>Shunyu</a:t>
            </a:r>
            <a:r>
              <a:rPr lang="en-US" sz="1000" dirty="0">
                <a:ea typeface="+mn-lt"/>
                <a:cs typeface="+mn-lt"/>
              </a:rPr>
              <a:t> Yao. 2023. </a:t>
            </a:r>
            <a:r>
              <a:rPr lang="en-US" sz="1000" err="1">
                <a:ea typeface="+mn-lt"/>
                <a:cs typeface="+mn-lt"/>
              </a:rPr>
              <a:t>Reflexion</a:t>
            </a:r>
            <a:r>
              <a:rPr lang="en-US" sz="1000" dirty="0">
                <a:ea typeface="+mn-lt"/>
                <a:cs typeface="+mn-lt"/>
              </a:rPr>
              <a:t>: Language agents with verbal reinforcement learning. In Advances in Neural Information Processing Systems (</a:t>
            </a:r>
            <a:r>
              <a:rPr lang="en-US" sz="1000" err="1">
                <a:ea typeface="+mn-lt"/>
                <a:cs typeface="+mn-lt"/>
              </a:rPr>
              <a:t>NeurIPS</a:t>
            </a:r>
            <a:r>
              <a:rPr lang="en-US" sz="1000" dirty="0">
                <a:ea typeface="+mn-lt"/>
                <a:cs typeface="+mn-lt"/>
              </a:rPr>
              <a:t>).</a:t>
            </a:r>
            <a:endParaRPr lang="en-US" sz="1000">
              <a:ea typeface="Calibri"/>
              <a:cs typeface="Calibri"/>
            </a:endParaRPr>
          </a:p>
        </p:txBody>
      </p:sp>
      <p:sp>
        <p:nvSpPr>
          <p:cNvPr id="11" name="Slide Number Placeholder 10">
            <a:extLst>
              <a:ext uri="{FF2B5EF4-FFF2-40B4-BE49-F238E27FC236}">
                <a16:creationId xmlns:a16="http://schemas.microsoft.com/office/drawing/2014/main" id="{1C7DC5D5-FC8D-9E99-68BE-93777DE943D7}"/>
              </a:ext>
            </a:extLst>
          </p:cNvPr>
          <p:cNvSpPr>
            <a:spLocks noGrp="1"/>
          </p:cNvSpPr>
          <p:nvPr>
            <p:ph type="sldNum" sz="quarter" idx="12"/>
          </p:nvPr>
        </p:nvSpPr>
        <p:spPr/>
        <p:txBody>
          <a:bodyPr/>
          <a:lstStyle/>
          <a:p>
            <a:fld id="{C3A81FF4-CBB3-DF43-B274-0E49682E6498}" type="slidenum">
              <a:rPr lang="en-US" smtClean="0"/>
              <a:t>19</a:t>
            </a:fld>
            <a:endParaRPr lang="en-US"/>
          </a:p>
        </p:txBody>
      </p:sp>
    </p:spTree>
    <p:extLst>
      <p:ext uri="{BB962C8B-B14F-4D97-AF65-F5344CB8AC3E}">
        <p14:creationId xmlns:p14="http://schemas.microsoft.com/office/powerpoint/2010/main" val="2857562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5C62-A676-F745-BAB5-8DBA62D905DE}"/>
              </a:ext>
            </a:extLst>
          </p:cNvPr>
          <p:cNvSpPr>
            <a:spLocks noGrp="1"/>
          </p:cNvSpPr>
          <p:nvPr>
            <p:ph type="ctrTitle"/>
          </p:nvPr>
        </p:nvSpPr>
        <p:spPr/>
        <p:txBody>
          <a:bodyPr/>
          <a:lstStyle/>
          <a:p>
            <a:pPr algn="ctr"/>
            <a:r>
              <a:rPr lang="en-IT" b="1" dirty="0"/>
              <a:t>Additional slides</a:t>
            </a:r>
          </a:p>
        </p:txBody>
      </p:sp>
      <p:sp>
        <p:nvSpPr>
          <p:cNvPr id="3" name="Subtitle 2">
            <a:extLst>
              <a:ext uri="{FF2B5EF4-FFF2-40B4-BE49-F238E27FC236}">
                <a16:creationId xmlns:a16="http://schemas.microsoft.com/office/drawing/2014/main" id="{9F793EBA-BD73-DB4F-A44B-6DD3063DBF68}"/>
              </a:ext>
            </a:extLst>
          </p:cNvPr>
          <p:cNvSpPr>
            <a:spLocks noGrp="1"/>
          </p:cNvSpPr>
          <p:nvPr>
            <p:ph type="subTitle" idx="1"/>
          </p:nvPr>
        </p:nvSpPr>
        <p:spPr/>
        <p:txBody>
          <a:bodyPr/>
          <a:lstStyle/>
          <a:p>
            <a:endParaRPr lang="en-IT" dirty="0"/>
          </a:p>
        </p:txBody>
      </p:sp>
      <p:sp>
        <p:nvSpPr>
          <p:cNvPr id="4" name="Slide Number Placeholder 3">
            <a:extLst>
              <a:ext uri="{FF2B5EF4-FFF2-40B4-BE49-F238E27FC236}">
                <a16:creationId xmlns:a16="http://schemas.microsoft.com/office/drawing/2014/main" id="{77A5F9EE-F317-BF4D-9E1B-A0296B9EFECF}"/>
              </a:ext>
            </a:extLst>
          </p:cNvPr>
          <p:cNvSpPr>
            <a:spLocks noGrp="1"/>
          </p:cNvSpPr>
          <p:nvPr>
            <p:ph type="sldNum" sz="quarter" idx="12"/>
          </p:nvPr>
        </p:nvSpPr>
        <p:spPr/>
        <p:txBody>
          <a:bodyPr/>
          <a:lstStyle/>
          <a:p>
            <a:fld id="{4FAB73BC-B049-4115-A692-8D63A059BFB8}" type="slidenum">
              <a:rPr lang="en-US" smtClean="0"/>
              <a:t>20</a:t>
            </a:fld>
            <a:endParaRPr lang="en-US" dirty="0"/>
          </a:p>
        </p:txBody>
      </p:sp>
      <p:pic>
        <p:nvPicPr>
          <p:cNvPr id="5" name="Picture 4" descr="A red circle with black text&#10;&#10;Description automatically generated">
            <a:extLst>
              <a:ext uri="{FF2B5EF4-FFF2-40B4-BE49-F238E27FC236}">
                <a16:creationId xmlns:a16="http://schemas.microsoft.com/office/drawing/2014/main" id="{4AA49E93-0708-3CE3-0E6A-7FD6DEBD466D}"/>
              </a:ext>
            </a:extLst>
          </p:cNvPr>
          <p:cNvPicPr>
            <a:picLocks noChangeAspect="1"/>
          </p:cNvPicPr>
          <p:nvPr/>
        </p:nvPicPr>
        <p:blipFill>
          <a:blip r:embed="rId2"/>
          <a:stretch>
            <a:fillRect/>
          </a:stretch>
        </p:blipFill>
        <p:spPr>
          <a:xfrm>
            <a:off x="397820" y="152528"/>
            <a:ext cx="1126180" cy="1136822"/>
          </a:xfrm>
          <a:prstGeom prst="rect">
            <a:avLst/>
          </a:prstGeom>
        </p:spPr>
      </p:pic>
    </p:spTree>
    <p:extLst>
      <p:ext uri="{BB962C8B-B14F-4D97-AF65-F5344CB8AC3E}">
        <p14:creationId xmlns:p14="http://schemas.microsoft.com/office/powerpoint/2010/main" val="552323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D46BE-C737-B6A1-FD47-FC9E200B4AA7}"/>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F246EB9B-4A77-22A8-FB5A-C32F31500328}"/>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A8E8E0EB-BE94-8DD0-1205-38EC068ED6C8}"/>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6 Datasets and Task Formulations</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F3355F61-7C3C-3434-F6B1-5617FC5DABE9}"/>
              </a:ext>
            </a:extLst>
          </p:cNvPr>
          <p:cNvSpPr>
            <a:spLocks noGrp="1"/>
          </p:cNvSpPr>
          <p:nvPr>
            <p:ph idx="1"/>
          </p:nvPr>
        </p:nvSpPr>
        <p:spPr>
          <a:xfrm>
            <a:off x="275303" y="1486420"/>
            <a:ext cx="11731167" cy="4690543"/>
          </a:xfrm>
        </p:spPr>
        <p:txBody>
          <a:bodyPr/>
          <a:lstStyle/>
          <a:p>
            <a:pPr marL="0" indent="0">
              <a:buNone/>
            </a:pPr>
            <a:endParaRPr lang="en-US" dirty="0"/>
          </a:p>
          <a:p>
            <a:pPr marL="0" indent="0">
              <a:buNone/>
            </a:pPr>
            <a:r>
              <a:rPr lang="en-US" dirty="0"/>
              <a:t> </a:t>
            </a:r>
          </a:p>
        </p:txBody>
      </p:sp>
      <p:pic>
        <p:nvPicPr>
          <p:cNvPr id="5" name="Picture 4">
            <a:extLst>
              <a:ext uri="{FF2B5EF4-FFF2-40B4-BE49-F238E27FC236}">
                <a16:creationId xmlns:a16="http://schemas.microsoft.com/office/drawing/2014/main" id="{3C87665D-6E03-FBD6-EB4B-35D1577FFF55}"/>
              </a:ext>
            </a:extLst>
          </p:cNvPr>
          <p:cNvPicPr>
            <a:picLocks noChangeAspect="1"/>
          </p:cNvPicPr>
          <p:nvPr/>
        </p:nvPicPr>
        <p:blipFill>
          <a:blip r:embed="rId4"/>
          <a:stretch>
            <a:fillRect/>
          </a:stretch>
        </p:blipFill>
        <p:spPr>
          <a:xfrm>
            <a:off x="730043" y="1690685"/>
            <a:ext cx="11186653" cy="4951469"/>
          </a:xfrm>
          <a:prstGeom prst="rect">
            <a:avLst/>
          </a:prstGeom>
        </p:spPr>
      </p:pic>
      <p:sp>
        <p:nvSpPr>
          <p:cNvPr id="3" name="Slide Number Placeholder 2">
            <a:extLst>
              <a:ext uri="{FF2B5EF4-FFF2-40B4-BE49-F238E27FC236}">
                <a16:creationId xmlns:a16="http://schemas.microsoft.com/office/drawing/2014/main" id="{23EAC7D7-8F21-C2DF-9595-5F05D0E50193}"/>
              </a:ext>
            </a:extLst>
          </p:cNvPr>
          <p:cNvSpPr>
            <a:spLocks noGrp="1"/>
          </p:cNvSpPr>
          <p:nvPr>
            <p:ph type="sldNum" sz="quarter" idx="12"/>
          </p:nvPr>
        </p:nvSpPr>
        <p:spPr/>
        <p:txBody>
          <a:bodyPr/>
          <a:lstStyle/>
          <a:p>
            <a:fld id="{C3A81FF4-CBB3-DF43-B274-0E49682E6498}" type="slidenum">
              <a:rPr lang="en-US" smtClean="0"/>
              <a:t>21</a:t>
            </a:fld>
            <a:endParaRPr lang="en-US"/>
          </a:p>
        </p:txBody>
      </p:sp>
    </p:spTree>
    <p:extLst>
      <p:ext uri="{BB962C8B-B14F-4D97-AF65-F5344CB8AC3E}">
        <p14:creationId xmlns:p14="http://schemas.microsoft.com/office/powerpoint/2010/main" val="2464408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C348B-CC39-ED77-DE40-A42C2C1EB258}"/>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BE5976DC-6A7B-6DA4-60F6-8BCA91429514}"/>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80B5D6E8-F011-546F-B73C-2D39C52684EC}"/>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Results: Accuracy</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E52B3ECA-AA71-E6A4-B26F-D2A2E658B387}"/>
              </a:ext>
            </a:extLst>
          </p:cNvPr>
          <p:cNvSpPr>
            <a:spLocks noGrp="1"/>
          </p:cNvSpPr>
          <p:nvPr>
            <p:ph idx="1"/>
          </p:nvPr>
        </p:nvSpPr>
        <p:spPr>
          <a:xfrm>
            <a:off x="739587" y="2121460"/>
            <a:ext cx="11168271" cy="4351338"/>
          </a:xfrm>
        </p:spPr>
        <p:txBody>
          <a:bodyPr>
            <a:normAutofit/>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a:buFontTx/>
              <a:buChar char="-"/>
            </a:pPr>
            <a:r>
              <a:rPr lang="en-US" sz="2000" dirty="0"/>
              <a:t>LLMs struggle with real-world healthcare tasks (Some barely surpass random guess)</a:t>
            </a:r>
          </a:p>
          <a:p>
            <a:pPr>
              <a:buFontTx/>
              <a:buChar char="-"/>
            </a:pPr>
            <a:r>
              <a:rPr lang="en-US" sz="2000" dirty="0"/>
              <a:t>While generally close-source &gt; open-source, best framework varies by tasks</a:t>
            </a:r>
          </a:p>
          <a:p>
            <a:pPr>
              <a:buFontTx/>
              <a:buChar char="-"/>
            </a:pPr>
            <a:r>
              <a:rPr lang="en-US" sz="2000" dirty="0"/>
              <a:t>Agent approach works for </a:t>
            </a:r>
            <a:r>
              <a:rPr lang="en-US" sz="2000" dirty="0" err="1"/>
              <a:t>MedQA</a:t>
            </a:r>
            <a:r>
              <a:rPr lang="en-US" sz="2000" dirty="0"/>
              <a:t>, fails real-world cases </a:t>
            </a:r>
          </a:p>
          <a:p>
            <a:pPr>
              <a:buFontTx/>
              <a:buChar char="-"/>
            </a:pPr>
            <a:r>
              <a:rPr lang="en-US" sz="2000" dirty="0"/>
              <a:t>Demographics prompting shows mixed results</a:t>
            </a:r>
          </a:p>
        </p:txBody>
      </p:sp>
      <p:graphicFrame>
        <p:nvGraphicFramePr>
          <p:cNvPr id="5" name="Table 4">
            <a:extLst>
              <a:ext uri="{FF2B5EF4-FFF2-40B4-BE49-F238E27FC236}">
                <a16:creationId xmlns:a16="http://schemas.microsoft.com/office/drawing/2014/main" id="{843DD283-AF7B-1F26-D66A-9B65314669E2}"/>
              </a:ext>
            </a:extLst>
          </p:cNvPr>
          <p:cNvGraphicFramePr>
            <a:graphicFrameLocks noGrp="1"/>
          </p:cNvGraphicFramePr>
          <p:nvPr>
            <p:extLst>
              <p:ext uri="{D42A27DB-BD31-4B8C-83A1-F6EECF244321}">
                <p14:modId xmlns:p14="http://schemas.microsoft.com/office/powerpoint/2010/main" val="2472299110"/>
              </p:ext>
            </p:extLst>
          </p:nvPr>
        </p:nvGraphicFramePr>
        <p:xfrm>
          <a:off x="448235" y="1685365"/>
          <a:ext cx="11302942" cy="2614636"/>
        </p:xfrm>
        <a:graphic>
          <a:graphicData uri="http://schemas.openxmlformats.org/drawingml/2006/table">
            <a:tbl>
              <a:tblPr firstRow="1" bandRow="1">
                <a:tableStyleId>{5C22544A-7EE6-4342-B048-85BDC9FD1C3A}</a:tableStyleId>
              </a:tblPr>
              <a:tblGrid>
                <a:gridCol w="2500922">
                  <a:extLst>
                    <a:ext uri="{9D8B030D-6E8A-4147-A177-3AD203B41FA5}">
                      <a16:colId xmlns:a16="http://schemas.microsoft.com/office/drawing/2014/main" val="1031572637"/>
                    </a:ext>
                  </a:extLst>
                </a:gridCol>
                <a:gridCol w="1257432">
                  <a:extLst>
                    <a:ext uri="{9D8B030D-6E8A-4147-A177-3AD203B41FA5}">
                      <a16:colId xmlns:a16="http://schemas.microsoft.com/office/drawing/2014/main" val="432150631"/>
                    </a:ext>
                  </a:extLst>
                </a:gridCol>
                <a:gridCol w="1257432">
                  <a:extLst>
                    <a:ext uri="{9D8B030D-6E8A-4147-A177-3AD203B41FA5}">
                      <a16:colId xmlns:a16="http://schemas.microsoft.com/office/drawing/2014/main" val="3899939555"/>
                    </a:ext>
                  </a:extLst>
                </a:gridCol>
                <a:gridCol w="1553307">
                  <a:extLst>
                    <a:ext uri="{9D8B030D-6E8A-4147-A177-3AD203B41FA5}">
                      <a16:colId xmlns:a16="http://schemas.microsoft.com/office/drawing/2014/main" val="2458368993"/>
                    </a:ext>
                  </a:extLst>
                </a:gridCol>
                <a:gridCol w="967153">
                  <a:extLst>
                    <a:ext uri="{9D8B030D-6E8A-4147-A177-3AD203B41FA5}">
                      <a16:colId xmlns:a16="http://schemas.microsoft.com/office/drawing/2014/main" val="2998752772"/>
                    </a:ext>
                  </a:extLst>
                </a:gridCol>
                <a:gridCol w="1251832">
                  <a:extLst>
                    <a:ext uri="{9D8B030D-6E8A-4147-A177-3AD203B41FA5}">
                      <a16:colId xmlns:a16="http://schemas.microsoft.com/office/drawing/2014/main" val="980405192"/>
                    </a:ext>
                  </a:extLst>
                </a:gridCol>
                <a:gridCol w="1257432">
                  <a:extLst>
                    <a:ext uri="{9D8B030D-6E8A-4147-A177-3AD203B41FA5}">
                      <a16:colId xmlns:a16="http://schemas.microsoft.com/office/drawing/2014/main" val="1044647987"/>
                    </a:ext>
                  </a:extLst>
                </a:gridCol>
                <a:gridCol w="1257432">
                  <a:extLst>
                    <a:ext uri="{9D8B030D-6E8A-4147-A177-3AD203B41FA5}">
                      <a16:colId xmlns:a16="http://schemas.microsoft.com/office/drawing/2014/main" val="4058541569"/>
                    </a:ext>
                  </a:extLst>
                </a:gridCol>
              </a:tblGrid>
              <a:tr h="420076">
                <a:tc>
                  <a:txBody>
                    <a:bodyPr/>
                    <a:lstStyle/>
                    <a:p>
                      <a:r>
                        <a:rPr lang="en-US" dirty="0"/>
                        <a:t>Baselines</a:t>
                      </a:r>
                    </a:p>
                  </a:txBody>
                  <a:tcPr/>
                </a:tc>
                <a:tc>
                  <a:txBody>
                    <a:bodyPr/>
                    <a:lstStyle/>
                    <a:p>
                      <a:r>
                        <a:rPr lang="en-US" dirty="0"/>
                        <a:t>Backbones</a:t>
                      </a:r>
                    </a:p>
                  </a:txBody>
                  <a:tcPr/>
                </a:tc>
                <a:tc>
                  <a:txBody>
                    <a:bodyPr/>
                    <a:lstStyle/>
                    <a:p>
                      <a:r>
                        <a:rPr lang="en-US" dirty="0"/>
                        <a:t>Mortality</a:t>
                      </a:r>
                    </a:p>
                  </a:txBody>
                  <a:tcPr/>
                </a:tc>
                <a:tc>
                  <a:txBody>
                    <a:bodyPr/>
                    <a:lstStyle/>
                    <a:p>
                      <a:r>
                        <a:rPr lang="en-US" dirty="0"/>
                        <a:t>Readmission</a:t>
                      </a:r>
                    </a:p>
                  </a:txBody>
                  <a:tcPr/>
                </a:tc>
                <a:tc>
                  <a:txBody>
                    <a:bodyPr/>
                    <a:lstStyle/>
                    <a:p>
                      <a:r>
                        <a:rPr lang="en-US" err="1"/>
                        <a:t>MedQA</a:t>
                      </a:r>
                      <a:endParaRPr lang="en-US" dirty="0" err="1"/>
                    </a:p>
                  </a:txBody>
                  <a:tcPr/>
                </a:tc>
                <a:tc>
                  <a:txBody>
                    <a:bodyPr/>
                    <a:lstStyle/>
                    <a:p>
                      <a:r>
                        <a:rPr lang="en-US" dirty="0" err="1"/>
                        <a:t>HealthCo</a:t>
                      </a:r>
                      <a:endParaRPr lang="en-US" dirty="0"/>
                    </a:p>
                  </a:txBody>
                  <a:tcPr/>
                </a:tc>
                <a:tc>
                  <a:txBody>
                    <a:bodyPr/>
                    <a:lstStyle/>
                    <a:p>
                      <a:r>
                        <a:rPr lang="en-US" dirty="0"/>
                        <a:t>Neighbor</a:t>
                      </a:r>
                    </a:p>
                  </a:txBody>
                  <a:tcPr/>
                </a:tc>
                <a:tc>
                  <a:txBody>
                    <a:bodyPr/>
                    <a:lstStyle/>
                    <a:p>
                      <a:r>
                        <a:rPr lang="en-US" dirty="0"/>
                        <a:t>Landlord</a:t>
                      </a:r>
                    </a:p>
                  </a:txBody>
                  <a:tcPr/>
                </a:tc>
                <a:extLst>
                  <a:ext uri="{0D108BD9-81ED-4DB2-BD59-A6C34878D82A}">
                    <a16:rowId xmlns:a16="http://schemas.microsoft.com/office/drawing/2014/main" val="505790925"/>
                  </a:ext>
                </a:extLst>
              </a:tr>
              <a:tr h="358563">
                <a:tc>
                  <a:txBody>
                    <a:bodyPr/>
                    <a:lstStyle/>
                    <a:p>
                      <a:r>
                        <a:rPr lang="en-US" dirty="0"/>
                        <a:t>Random Guess</a:t>
                      </a:r>
                      <a:endParaRPr lang="en-US"/>
                    </a:p>
                  </a:txBody>
                  <a:tcPr/>
                </a:tc>
                <a:tc>
                  <a:txBody>
                    <a:bodyPr/>
                    <a:lstStyle/>
                    <a:p>
                      <a:pPr algn="ctr"/>
                      <a:r>
                        <a:rPr lang="en-US" dirty="0"/>
                        <a:t>-</a:t>
                      </a:r>
                    </a:p>
                  </a:txBody>
                  <a:tcPr/>
                </a:tc>
                <a:tc>
                  <a:txBody>
                    <a:bodyPr/>
                    <a:lstStyle/>
                    <a:p>
                      <a:pPr algn="ctr"/>
                      <a:r>
                        <a:rPr lang="en-US" dirty="0"/>
                        <a:t>50.0</a:t>
                      </a:r>
                    </a:p>
                  </a:txBody>
                  <a:tcPr/>
                </a:tc>
                <a:tc>
                  <a:txBody>
                    <a:bodyPr/>
                    <a:lstStyle/>
                    <a:p>
                      <a:pPr lvl="0" algn="ctr">
                        <a:buNone/>
                      </a:pPr>
                      <a:r>
                        <a:rPr lang="en-US" sz="1800" u="none" strike="noStrike" noProof="0" dirty="0"/>
                        <a:t>50.0</a:t>
                      </a:r>
                      <a:endParaRPr lang="en-US" dirty="0"/>
                    </a:p>
                  </a:txBody>
                  <a:tcPr/>
                </a:tc>
                <a:tc>
                  <a:txBody>
                    <a:bodyPr/>
                    <a:lstStyle/>
                    <a:p>
                      <a:pPr lvl="0" algn="ctr">
                        <a:buNone/>
                      </a:pPr>
                      <a:r>
                        <a:rPr lang="en-US" sz="1800" u="none" strike="noStrike" noProof="0" dirty="0"/>
                        <a:t>20.0</a:t>
                      </a:r>
                      <a:endParaRPr lang="en-US" dirty="0"/>
                    </a:p>
                  </a:txBody>
                  <a:tcPr/>
                </a:tc>
                <a:tc>
                  <a:txBody>
                    <a:bodyPr/>
                    <a:lstStyle/>
                    <a:p>
                      <a:pPr lvl="0" algn="ctr">
                        <a:buNone/>
                      </a:pPr>
                      <a:r>
                        <a:rPr lang="en-US" sz="1800" u="none" strike="noStrike" noProof="0" dirty="0"/>
                        <a:t>50.0</a:t>
                      </a:r>
                      <a:endParaRPr lang="en-US" dirty="0"/>
                    </a:p>
                  </a:txBody>
                  <a:tcPr/>
                </a:tc>
                <a:tc>
                  <a:txBody>
                    <a:bodyPr/>
                    <a:lstStyle/>
                    <a:p>
                      <a:pPr algn="ctr"/>
                      <a:r>
                        <a:rPr lang="en-US" dirty="0"/>
                        <a:t>33.3</a:t>
                      </a:r>
                    </a:p>
                  </a:txBody>
                  <a:tcPr/>
                </a:tc>
                <a:tc>
                  <a:txBody>
                    <a:bodyPr/>
                    <a:lstStyle/>
                    <a:p>
                      <a:pPr algn="ctr"/>
                      <a:r>
                        <a:rPr lang="en-US" dirty="0"/>
                        <a:t>33.3</a:t>
                      </a:r>
                    </a:p>
                  </a:txBody>
                  <a:tcPr/>
                </a:tc>
                <a:extLst>
                  <a:ext uri="{0D108BD9-81ED-4DB2-BD59-A6C34878D82A}">
                    <a16:rowId xmlns:a16="http://schemas.microsoft.com/office/drawing/2014/main" val="2471646094"/>
                  </a:ext>
                </a:extLst>
              </a:tr>
              <a:tr h="358563">
                <a:tc>
                  <a:txBody>
                    <a:bodyPr/>
                    <a:lstStyle/>
                    <a:p>
                      <a:r>
                        <a:rPr lang="en-US" dirty="0"/>
                        <a:t>ICL/Chain-of-Thought</a:t>
                      </a:r>
                    </a:p>
                  </a:txBody>
                  <a:tcPr/>
                </a:tc>
                <a:tc>
                  <a:txBody>
                    <a:bodyPr/>
                    <a:lstStyle/>
                    <a:p>
                      <a:pPr lvl="0" algn="ctr">
                        <a:buNone/>
                      </a:pPr>
                      <a:r>
                        <a:rPr lang="en-US" sz="1800" u="none" strike="noStrike" noProof="0" dirty="0"/>
                        <a:t>GPT-4</a:t>
                      </a:r>
                      <a:endParaRPr lang="en-US" dirty="0"/>
                    </a:p>
                  </a:txBody>
                  <a:tcPr/>
                </a:tc>
                <a:tc>
                  <a:txBody>
                    <a:bodyPr/>
                    <a:lstStyle/>
                    <a:p>
                      <a:pPr algn="ctr"/>
                      <a:r>
                        <a:rPr lang="en-US" dirty="0"/>
                        <a:t>77.0 (79.0)</a:t>
                      </a:r>
                    </a:p>
                  </a:txBody>
                  <a:tcPr/>
                </a:tc>
                <a:tc>
                  <a:txBody>
                    <a:bodyPr/>
                    <a:lstStyle/>
                    <a:p>
                      <a:pPr algn="ctr"/>
                      <a:r>
                        <a:rPr lang="en-US" dirty="0"/>
                        <a:t>55.3 (56.8)</a:t>
                      </a:r>
                    </a:p>
                  </a:txBody>
                  <a:tcPr/>
                </a:tc>
                <a:tc>
                  <a:txBody>
                    <a:bodyPr/>
                    <a:lstStyle/>
                    <a:p>
                      <a:pPr marL="0" indent="0" algn="ctr">
                        <a:buNone/>
                      </a:pPr>
                      <a:r>
                        <a:rPr lang="en-US" dirty="0"/>
                        <a:t>-(68.6)</a:t>
                      </a:r>
                    </a:p>
                  </a:txBody>
                  <a:tcPr/>
                </a:tc>
                <a:tc>
                  <a:txBody>
                    <a:bodyPr/>
                    <a:lstStyle/>
                    <a:p>
                      <a:pPr algn="ctr"/>
                      <a:r>
                        <a:rPr lang="en-US" dirty="0"/>
                        <a:t>76.7 (76.7)</a:t>
                      </a:r>
                    </a:p>
                  </a:txBody>
                  <a:tcPr/>
                </a:tc>
                <a:tc>
                  <a:txBody>
                    <a:bodyPr/>
                    <a:lstStyle/>
                    <a:p>
                      <a:pPr algn="ctr"/>
                      <a:r>
                        <a:rPr lang="en-US" dirty="0"/>
                        <a:t>41.0 (39.1)</a:t>
                      </a:r>
                    </a:p>
                  </a:txBody>
                  <a:tcPr/>
                </a:tc>
                <a:tc>
                  <a:txBody>
                    <a:bodyPr/>
                    <a:lstStyle/>
                    <a:p>
                      <a:pPr algn="ctr"/>
                      <a:r>
                        <a:rPr lang="en-US" dirty="0"/>
                        <a:t>28.2 (36.8)</a:t>
                      </a:r>
                    </a:p>
                  </a:txBody>
                  <a:tcPr/>
                </a:tc>
                <a:extLst>
                  <a:ext uri="{0D108BD9-81ED-4DB2-BD59-A6C34878D82A}">
                    <a16:rowId xmlns:a16="http://schemas.microsoft.com/office/drawing/2014/main" val="1746198234"/>
                  </a:ext>
                </a:extLst>
              </a:tr>
              <a:tr h="358563">
                <a:tc>
                  <a:txBody>
                    <a:bodyPr/>
                    <a:lstStyle/>
                    <a:p>
                      <a:pPr lvl="0">
                        <a:buNone/>
                      </a:pPr>
                      <a:r>
                        <a:rPr lang="en-US" sz="1800" u="none" strike="noStrike" noProof="0" dirty="0"/>
                        <a:t>ICL/Chain-of-Thought</a:t>
                      </a:r>
                      <a:endParaRPr lang="en-US" dirty="0"/>
                    </a:p>
                  </a:txBody>
                  <a:tcPr/>
                </a:tc>
                <a:tc>
                  <a:txBody>
                    <a:bodyPr/>
                    <a:lstStyle/>
                    <a:p>
                      <a:pPr algn="ctr"/>
                      <a:r>
                        <a:rPr lang="en-US" dirty="0"/>
                        <a:t>Claude-3</a:t>
                      </a:r>
                    </a:p>
                  </a:txBody>
                  <a:tcPr/>
                </a:tc>
                <a:tc>
                  <a:txBody>
                    <a:bodyPr/>
                    <a:lstStyle/>
                    <a:p>
                      <a:pPr algn="ctr"/>
                      <a:r>
                        <a:rPr lang="en-US" dirty="0"/>
                        <a:t>72.6 (50.8)</a:t>
                      </a:r>
                    </a:p>
                  </a:txBody>
                  <a:tcPr/>
                </a:tc>
                <a:tc>
                  <a:txBody>
                    <a:bodyPr/>
                    <a:lstStyle/>
                    <a:p>
                      <a:pPr algn="ctr"/>
                      <a:r>
                        <a:rPr lang="en-US" dirty="0"/>
                        <a:t>52.9 (57.6)</a:t>
                      </a:r>
                    </a:p>
                  </a:txBody>
                  <a:tcPr/>
                </a:tc>
                <a:tc>
                  <a:txBody>
                    <a:bodyPr/>
                    <a:lstStyle/>
                    <a:p>
                      <a:pPr algn="ctr"/>
                      <a:r>
                        <a:rPr lang="en-US" dirty="0"/>
                        <a:t>-(65.7)</a:t>
                      </a:r>
                    </a:p>
                  </a:txBody>
                  <a:tcPr/>
                </a:tc>
                <a:tc>
                  <a:txBody>
                    <a:bodyPr/>
                    <a:lstStyle/>
                    <a:p>
                      <a:pPr lvl="0" algn="ctr">
                        <a:buNone/>
                      </a:pPr>
                      <a:r>
                        <a:rPr lang="en-US" dirty="0"/>
                        <a:t>80.0 (80.0)</a:t>
                      </a:r>
                    </a:p>
                  </a:txBody>
                  <a:tcPr/>
                </a:tc>
                <a:tc>
                  <a:txBody>
                    <a:bodyPr/>
                    <a:lstStyle/>
                    <a:p>
                      <a:pPr algn="ctr"/>
                      <a:r>
                        <a:rPr lang="en-US" dirty="0"/>
                        <a:t>37.5 (38.3)</a:t>
                      </a:r>
                    </a:p>
                  </a:txBody>
                  <a:tcPr/>
                </a:tc>
                <a:tc>
                  <a:txBody>
                    <a:bodyPr/>
                    <a:lstStyle/>
                    <a:p>
                      <a:pPr algn="ctr"/>
                      <a:r>
                        <a:rPr lang="en-US" dirty="0"/>
                        <a:t>37.2 (34.1)</a:t>
                      </a:r>
                    </a:p>
                  </a:txBody>
                  <a:tcPr/>
                </a:tc>
                <a:extLst>
                  <a:ext uri="{0D108BD9-81ED-4DB2-BD59-A6C34878D82A}">
                    <a16:rowId xmlns:a16="http://schemas.microsoft.com/office/drawing/2014/main" val="2429025892"/>
                  </a:ext>
                </a:extLst>
              </a:tr>
              <a:tr h="358563">
                <a:tc>
                  <a:txBody>
                    <a:bodyPr/>
                    <a:lstStyle/>
                    <a:p>
                      <a:pPr lvl="0">
                        <a:buNone/>
                      </a:pPr>
                      <a:r>
                        <a:rPr lang="en-US" sz="1800" u="none" strike="noStrike" noProof="0" dirty="0"/>
                        <a:t>ICL/Chain-of-Thought</a:t>
                      </a:r>
                      <a:endParaRPr lang="en-US" dirty="0"/>
                    </a:p>
                  </a:txBody>
                  <a:tcPr/>
                </a:tc>
                <a:tc>
                  <a:txBody>
                    <a:bodyPr/>
                    <a:lstStyle/>
                    <a:p>
                      <a:pPr algn="ctr"/>
                      <a:r>
                        <a:rPr lang="en-US" dirty="0"/>
                        <a:t>LLaMA-3</a:t>
                      </a:r>
                    </a:p>
                  </a:txBody>
                  <a:tcPr/>
                </a:tc>
                <a:tc>
                  <a:txBody>
                    <a:bodyPr/>
                    <a:lstStyle/>
                    <a:p>
                      <a:pPr algn="ctr"/>
                      <a:r>
                        <a:rPr lang="en-US" dirty="0"/>
                        <a:t>73.0 (72.2)</a:t>
                      </a:r>
                    </a:p>
                  </a:txBody>
                  <a:tcPr/>
                </a:tc>
                <a:tc>
                  <a:txBody>
                    <a:bodyPr/>
                    <a:lstStyle/>
                    <a:p>
                      <a:pPr algn="ctr"/>
                      <a:r>
                        <a:rPr lang="en-US" dirty="0"/>
                        <a:t>53.3 (55.3)</a:t>
                      </a:r>
                    </a:p>
                  </a:txBody>
                  <a:tcPr/>
                </a:tc>
                <a:tc>
                  <a:txBody>
                    <a:bodyPr/>
                    <a:lstStyle/>
                    <a:p>
                      <a:pPr algn="ctr"/>
                      <a:r>
                        <a:rPr lang="en-US" dirty="0"/>
                        <a:t>-(59.4)</a:t>
                      </a:r>
                    </a:p>
                  </a:txBody>
                  <a:tcPr/>
                </a:tc>
                <a:tc>
                  <a:txBody>
                    <a:bodyPr/>
                    <a:lstStyle/>
                    <a:p>
                      <a:pPr algn="ctr"/>
                      <a:r>
                        <a:rPr lang="en-US" dirty="0"/>
                        <a:t>70.0(</a:t>
                      </a:r>
                      <a:r>
                        <a:rPr lang="en-US" sz="1800" u="none" strike="noStrike" noProof="0" dirty="0"/>
                        <a:t>70.0)</a:t>
                      </a:r>
                      <a:endParaRPr lang="en-US" dirty="0"/>
                    </a:p>
                  </a:txBody>
                  <a:tcPr/>
                </a:tc>
                <a:tc>
                  <a:txBody>
                    <a:bodyPr/>
                    <a:lstStyle/>
                    <a:p>
                      <a:pPr algn="ctr"/>
                      <a:r>
                        <a:rPr lang="en-US" dirty="0"/>
                        <a:t>33.0 (33.3)</a:t>
                      </a:r>
                    </a:p>
                  </a:txBody>
                  <a:tcPr/>
                </a:tc>
                <a:tc>
                  <a:txBody>
                    <a:bodyPr/>
                    <a:lstStyle/>
                    <a:p>
                      <a:pPr algn="ctr"/>
                      <a:r>
                        <a:rPr lang="en-US" dirty="0"/>
                        <a:t>34.1 ( 33.7)</a:t>
                      </a:r>
                    </a:p>
                  </a:txBody>
                  <a:tcPr/>
                </a:tc>
                <a:extLst>
                  <a:ext uri="{0D108BD9-81ED-4DB2-BD59-A6C34878D82A}">
                    <a16:rowId xmlns:a16="http://schemas.microsoft.com/office/drawing/2014/main" val="2826653749"/>
                  </a:ext>
                </a:extLst>
              </a:tr>
              <a:tr h="358563">
                <a:tc>
                  <a:txBody>
                    <a:bodyPr/>
                    <a:lstStyle/>
                    <a:p>
                      <a:r>
                        <a:rPr lang="en-US" dirty="0"/>
                        <a:t>Supervised Fine-Tuning</a:t>
                      </a:r>
                    </a:p>
                  </a:txBody>
                  <a:tcPr/>
                </a:tc>
                <a:tc>
                  <a:txBody>
                    <a:bodyPr/>
                    <a:lstStyle/>
                    <a:p>
                      <a:pPr lvl="0" algn="ctr">
                        <a:lnSpc>
                          <a:spcPct val="100000"/>
                        </a:lnSpc>
                        <a:spcBef>
                          <a:spcPts val="0"/>
                        </a:spcBef>
                        <a:spcAft>
                          <a:spcPts val="0"/>
                        </a:spcAft>
                        <a:buNone/>
                      </a:pPr>
                      <a:r>
                        <a:rPr lang="en-US" sz="1800" u="none" strike="noStrike" noProof="0" dirty="0"/>
                        <a:t>LLaMA-3</a:t>
                      </a:r>
                    </a:p>
                  </a:txBody>
                  <a:tcPr/>
                </a:tc>
                <a:tc>
                  <a:txBody>
                    <a:bodyPr/>
                    <a:lstStyle/>
                    <a:p>
                      <a:pPr algn="ctr"/>
                      <a:r>
                        <a:rPr lang="en-US" dirty="0"/>
                        <a:t>68.2</a:t>
                      </a:r>
                    </a:p>
                  </a:txBody>
                  <a:tcPr/>
                </a:tc>
                <a:tc>
                  <a:txBody>
                    <a:bodyPr/>
                    <a:lstStyle/>
                    <a:p>
                      <a:pPr algn="ctr"/>
                      <a:r>
                        <a:rPr lang="en-US" dirty="0"/>
                        <a:t>48.2</a:t>
                      </a:r>
                    </a:p>
                  </a:txBody>
                  <a:tcPr/>
                </a:tc>
                <a:tc>
                  <a:txBody>
                    <a:bodyPr/>
                    <a:lstStyle/>
                    <a:p>
                      <a:pPr algn="ctr"/>
                      <a:r>
                        <a:rPr lang="en-US" dirty="0"/>
                        <a:t>71.4</a:t>
                      </a:r>
                    </a:p>
                  </a:txBody>
                  <a:tcPr/>
                </a:tc>
                <a:tc>
                  <a:txBody>
                    <a:bodyPr/>
                    <a:lstStyle/>
                    <a:p>
                      <a:pPr lvl="0" algn="ctr">
                        <a:buNone/>
                      </a:pPr>
                      <a:r>
                        <a:rPr lang="en-US" sz="1800" u="none" strike="noStrike" noProof="0" dirty="0"/>
                        <a:t>70.0</a:t>
                      </a:r>
                      <a:endParaRPr lang="en-US" dirty="0"/>
                    </a:p>
                  </a:txBody>
                  <a:tcPr/>
                </a:tc>
                <a:tc>
                  <a:txBody>
                    <a:bodyPr/>
                    <a:lstStyle/>
                    <a:p>
                      <a:pPr algn="ctr"/>
                      <a:r>
                        <a:rPr lang="en-US" dirty="0"/>
                        <a:t>49.4</a:t>
                      </a:r>
                    </a:p>
                  </a:txBody>
                  <a:tcPr/>
                </a:tc>
                <a:tc>
                  <a:txBody>
                    <a:bodyPr/>
                    <a:lstStyle/>
                    <a:p>
                      <a:pPr algn="ctr"/>
                      <a:r>
                        <a:rPr lang="en-US" dirty="0"/>
                        <a:t>41.4</a:t>
                      </a:r>
                    </a:p>
                  </a:txBody>
                  <a:tcPr/>
                </a:tc>
                <a:extLst>
                  <a:ext uri="{0D108BD9-81ED-4DB2-BD59-A6C34878D82A}">
                    <a16:rowId xmlns:a16="http://schemas.microsoft.com/office/drawing/2014/main" val="3045172030"/>
                  </a:ext>
                </a:extLst>
              </a:tr>
              <a:tr h="358563">
                <a:tc>
                  <a:txBody>
                    <a:bodyPr/>
                    <a:lstStyle/>
                    <a:p>
                      <a:r>
                        <a:rPr lang="en-US" dirty="0"/>
                        <a:t>LLM as Agent</a:t>
                      </a:r>
                    </a:p>
                  </a:txBody>
                  <a:tcPr/>
                </a:tc>
                <a:tc>
                  <a:txBody>
                    <a:bodyPr/>
                    <a:lstStyle/>
                    <a:p>
                      <a:pPr lvl="0" algn="ctr">
                        <a:lnSpc>
                          <a:spcPct val="100000"/>
                        </a:lnSpc>
                        <a:spcBef>
                          <a:spcPts val="0"/>
                        </a:spcBef>
                        <a:spcAft>
                          <a:spcPts val="0"/>
                        </a:spcAft>
                        <a:buNone/>
                      </a:pPr>
                      <a:r>
                        <a:rPr lang="en-US" sz="1800" u="none" strike="noStrike" noProof="0" dirty="0"/>
                        <a:t>GPT-4</a:t>
                      </a:r>
                    </a:p>
                  </a:txBody>
                  <a:tcPr/>
                </a:tc>
                <a:tc>
                  <a:txBody>
                    <a:bodyPr/>
                    <a:lstStyle/>
                    <a:p>
                      <a:pPr algn="ctr"/>
                      <a:r>
                        <a:rPr lang="en-US" dirty="0"/>
                        <a:t>66.7</a:t>
                      </a:r>
                    </a:p>
                  </a:txBody>
                  <a:tcPr/>
                </a:tc>
                <a:tc>
                  <a:txBody>
                    <a:bodyPr/>
                    <a:lstStyle/>
                    <a:p>
                      <a:pPr algn="ctr"/>
                      <a:r>
                        <a:rPr lang="en-US" dirty="0"/>
                        <a:t>53.3</a:t>
                      </a:r>
                    </a:p>
                  </a:txBody>
                  <a:tcPr/>
                </a:tc>
                <a:tc>
                  <a:txBody>
                    <a:bodyPr/>
                    <a:lstStyle/>
                    <a:p>
                      <a:pPr algn="ctr"/>
                      <a:r>
                        <a:rPr lang="en-US" dirty="0"/>
                        <a:t>86.9</a:t>
                      </a:r>
                    </a:p>
                  </a:txBody>
                  <a:tcPr/>
                </a:tc>
                <a:tc>
                  <a:txBody>
                    <a:bodyPr/>
                    <a:lstStyle/>
                    <a:p>
                      <a:pPr lvl="0" algn="ctr">
                        <a:buNone/>
                      </a:pPr>
                      <a:r>
                        <a:rPr lang="en-US" sz="1800" u="none" strike="noStrike" noProof="0" dirty="0"/>
                        <a:t>70.0</a:t>
                      </a:r>
                      <a:endParaRPr lang="en-US" dirty="0"/>
                    </a:p>
                  </a:txBody>
                  <a:tcPr/>
                </a:tc>
                <a:tc>
                  <a:txBody>
                    <a:bodyPr/>
                    <a:lstStyle/>
                    <a:p>
                      <a:pPr algn="ctr"/>
                      <a:r>
                        <a:rPr lang="en-US" dirty="0"/>
                        <a:t>36.8</a:t>
                      </a:r>
                    </a:p>
                  </a:txBody>
                  <a:tcPr/>
                </a:tc>
                <a:tc>
                  <a:txBody>
                    <a:bodyPr/>
                    <a:lstStyle/>
                    <a:p>
                      <a:pPr algn="ctr"/>
                      <a:r>
                        <a:rPr lang="en-US" dirty="0"/>
                        <a:t>36.8</a:t>
                      </a:r>
                    </a:p>
                  </a:txBody>
                  <a:tcPr/>
                </a:tc>
                <a:extLst>
                  <a:ext uri="{0D108BD9-81ED-4DB2-BD59-A6C34878D82A}">
                    <a16:rowId xmlns:a16="http://schemas.microsoft.com/office/drawing/2014/main" val="863131511"/>
                  </a:ext>
                </a:extLst>
              </a:tr>
            </a:tbl>
          </a:graphicData>
        </a:graphic>
      </p:graphicFrame>
      <p:sp>
        <p:nvSpPr>
          <p:cNvPr id="3" name="Slide Number Placeholder 2">
            <a:extLst>
              <a:ext uri="{FF2B5EF4-FFF2-40B4-BE49-F238E27FC236}">
                <a16:creationId xmlns:a16="http://schemas.microsoft.com/office/drawing/2014/main" id="{19B5B81C-83A0-5BA7-9CE3-C3A0BB82C1EA}"/>
              </a:ext>
            </a:extLst>
          </p:cNvPr>
          <p:cNvSpPr>
            <a:spLocks noGrp="1"/>
          </p:cNvSpPr>
          <p:nvPr>
            <p:ph type="sldNum" sz="quarter" idx="12"/>
          </p:nvPr>
        </p:nvSpPr>
        <p:spPr/>
        <p:txBody>
          <a:bodyPr/>
          <a:lstStyle/>
          <a:p>
            <a:fld id="{C3A81FF4-CBB3-DF43-B274-0E49682E6498}" type="slidenum">
              <a:rPr lang="en-US" smtClean="0"/>
              <a:t>22</a:t>
            </a:fld>
            <a:endParaRPr lang="en-US"/>
          </a:p>
        </p:txBody>
      </p:sp>
    </p:spTree>
    <p:extLst>
      <p:ext uri="{BB962C8B-B14F-4D97-AF65-F5344CB8AC3E}">
        <p14:creationId xmlns:p14="http://schemas.microsoft.com/office/powerpoint/2010/main" val="3351195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5F6FA-E71F-088C-5E25-4D3429536910}"/>
            </a:ext>
          </a:extLst>
        </p:cNvPr>
        <p:cNvGrpSpPr/>
        <p:nvPr/>
      </p:nvGrpSpPr>
      <p:grpSpPr>
        <a:xfrm>
          <a:off x="0" y="0"/>
          <a:ext cx="0" cy="0"/>
          <a:chOff x="0" y="0"/>
          <a:chExt cx="0" cy="0"/>
        </a:xfrm>
      </p:grpSpPr>
      <p:pic>
        <p:nvPicPr>
          <p:cNvPr id="2" name="Picture 6" descr="Logo&#10;&#10;Description automatically generated">
            <a:extLst>
              <a:ext uri="{FF2B5EF4-FFF2-40B4-BE49-F238E27FC236}">
                <a16:creationId xmlns:a16="http://schemas.microsoft.com/office/drawing/2014/main" id="{017CCC27-B607-FF59-4A1E-40467D3AC8D4}"/>
              </a:ext>
            </a:extLst>
          </p:cNvPr>
          <p:cNvPicPr>
            <a:picLocks noChangeAspect="1"/>
          </p:cNvPicPr>
          <p:nvPr/>
        </p:nvPicPr>
        <p:blipFill>
          <a:blip r:embed="rId3"/>
          <a:stretch>
            <a:fillRect/>
          </a:stretch>
        </p:blipFill>
        <p:spPr>
          <a:xfrm>
            <a:off x="838199" y="569391"/>
            <a:ext cx="917029" cy="917029"/>
          </a:xfrm>
          <a:prstGeom prst="rect">
            <a:avLst/>
          </a:prstGeom>
        </p:spPr>
      </p:pic>
      <p:sp>
        <p:nvSpPr>
          <p:cNvPr id="7" name="标题 1">
            <a:extLst>
              <a:ext uri="{FF2B5EF4-FFF2-40B4-BE49-F238E27FC236}">
                <a16:creationId xmlns:a16="http://schemas.microsoft.com/office/drawing/2014/main" id="{0CFE2F2C-A37B-DEFD-ED63-7CE81216BA72}"/>
              </a:ext>
            </a:extLst>
          </p:cNvPr>
          <p:cNvSpPr>
            <a:spLocks noGrp="1"/>
          </p:cNvSpPr>
          <p:nvPr>
            <p:ph type="title"/>
          </p:nvPr>
        </p:nvSpPr>
        <p:spPr>
          <a:xfrm>
            <a:off x="1755228" y="365123"/>
            <a:ext cx="8295861" cy="1325563"/>
          </a:xfrm>
        </p:spPr>
        <p:txBody>
          <a:bodyPr>
            <a:normAutofit/>
          </a:bodyPr>
          <a:lstStyle/>
          <a:p>
            <a:r>
              <a:rPr kumimoji="1" lang="en-US" altLang="zh-CN" sz="3600" dirty="0">
                <a:latin typeface="Arial" panose="020B0604020202020204" pitchFamily="34" charset="0"/>
                <a:cs typeface="Arial" panose="020B0604020202020204" pitchFamily="34" charset="0"/>
              </a:rPr>
              <a:t> Results: </a:t>
            </a:r>
            <a:r>
              <a:rPr kumimoji="1" lang="en-US" altLang="zh-CN" sz="3600" dirty="0" err="1">
                <a:latin typeface="Arial" panose="020B0604020202020204" pitchFamily="34" charset="0"/>
                <a:cs typeface="Arial" panose="020B0604020202020204" pitchFamily="34" charset="0"/>
              </a:rPr>
              <a:t>MedQA</a:t>
            </a:r>
            <a:r>
              <a:rPr kumimoji="1" lang="en-US" altLang="zh-CN" sz="3600" dirty="0">
                <a:latin typeface="Arial" panose="020B0604020202020204" pitchFamily="34" charset="0"/>
                <a:cs typeface="Arial" panose="020B0604020202020204" pitchFamily="34" charset="0"/>
              </a:rPr>
              <a:t> Accuracy</a:t>
            </a:r>
            <a:endParaRPr kumimoji="1" lang="zh-CN" altLang="en-US" sz="36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9BC096D9-57A7-5A2D-4E48-2A06E09676FB}"/>
              </a:ext>
            </a:extLst>
          </p:cNvPr>
          <p:cNvSpPr>
            <a:spLocks noGrp="1"/>
          </p:cNvSpPr>
          <p:nvPr>
            <p:ph idx="1"/>
          </p:nvPr>
        </p:nvSpPr>
        <p:spPr>
          <a:xfrm>
            <a:off x="838199" y="1951131"/>
            <a:ext cx="11159837" cy="4671342"/>
          </a:xfrm>
        </p:spPr>
        <p:txBody>
          <a:bodyPr vert="horz" lIns="91440" tIns="45720" rIns="91440" bIns="45720" rtlCol="0" anchor="t">
            <a:normAutofit/>
          </a:bodyPr>
          <a:lstStyle/>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a:buFontTx/>
              <a:buChar char="-"/>
            </a:pPr>
            <a:endParaRPr lang="en-US" sz="2000" dirty="0"/>
          </a:p>
          <a:p>
            <a:pPr>
              <a:buFontTx/>
              <a:buChar char="-"/>
            </a:pPr>
            <a:endParaRPr lang="en-US" sz="2000" dirty="0"/>
          </a:p>
          <a:p>
            <a:pPr>
              <a:buFontTx/>
              <a:buChar char="-"/>
            </a:pPr>
            <a:endParaRPr lang="en-US" sz="2000" dirty="0"/>
          </a:p>
          <a:p>
            <a:pPr>
              <a:buFontTx/>
              <a:buChar char="-"/>
            </a:pPr>
            <a:r>
              <a:rPr lang="en-US" sz="2000" dirty="0"/>
              <a:t>Discrepancy in in-context learning performance in </a:t>
            </a:r>
            <a:r>
              <a:rPr lang="en-US" sz="2000" dirty="0" err="1"/>
              <a:t>MedQA</a:t>
            </a:r>
            <a:r>
              <a:rPr lang="en-US" sz="2000" dirty="0"/>
              <a:t> targeting different racial groups</a:t>
            </a:r>
          </a:p>
          <a:p>
            <a:pPr>
              <a:buFontTx/>
              <a:buChar char="-"/>
            </a:pPr>
            <a:r>
              <a:rPr lang="en-US" sz="2000" dirty="0"/>
              <a:t>LLM-as-Agent trivially works well since it can access answer from internet</a:t>
            </a:r>
          </a:p>
        </p:txBody>
      </p:sp>
      <p:graphicFrame>
        <p:nvGraphicFramePr>
          <p:cNvPr id="5" name="Table 4">
            <a:extLst>
              <a:ext uri="{FF2B5EF4-FFF2-40B4-BE49-F238E27FC236}">
                <a16:creationId xmlns:a16="http://schemas.microsoft.com/office/drawing/2014/main" id="{E8AF5B69-D929-A7BE-A2FF-E44FD8728A9A}"/>
              </a:ext>
            </a:extLst>
          </p:cNvPr>
          <p:cNvGraphicFramePr>
            <a:graphicFrameLocks noGrp="1"/>
          </p:cNvGraphicFramePr>
          <p:nvPr>
            <p:extLst>
              <p:ext uri="{D42A27DB-BD31-4B8C-83A1-F6EECF244321}">
                <p14:modId xmlns:p14="http://schemas.microsoft.com/office/powerpoint/2010/main" val="48219075"/>
              </p:ext>
            </p:extLst>
          </p:nvPr>
        </p:nvGraphicFramePr>
        <p:xfrm>
          <a:off x="1751703" y="1413164"/>
          <a:ext cx="8168629" cy="3773978"/>
        </p:xfrm>
        <a:graphic>
          <a:graphicData uri="http://schemas.openxmlformats.org/drawingml/2006/table">
            <a:tbl>
              <a:tblPr firstRow="1" bandRow="1">
                <a:tableStyleId>{00A15C55-8517-42AA-B614-E9B94910E393}</a:tableStyleId>
              </a:tblPr>
              <a:tblGrid>
                <a:gridCol w="2127570">
                  <a:extLst>
                    <a:ext uri="{9D8B030D-6E8A-4147-A177-3AD203B41FA5}">
                      <a16:colId xmlns:a16="http://schemas.microsoft.com/office/drawing/2014/main" val="4149657117"/>
                    </a:ext>
                  </a:extLst>
                </a:gridCol>
                <a:gridCol w="1538156">
                  <a:extLst>
                    <a:ext uri="{9D8B030D-6E8A-4147-A177-3AD203B41FA5}">
                      <a16:colId xmlns:a16="http://schemas.microsoft.com/office/drawing/2014/main" val="4149511477"/>
                    </a:ext>
                  </a:extLst>
                </a:gridCol>
                <a:gridCol w="1475153">
                  <a:extLst>
                    <a:ext uri="{9D8B030D-6E8A-4147-A177-3AD203B41FA5}">
                      <a16:colId xmlns:a16="http://schemas.microsoft.com/office/drawing/2014/main" val="2049800654"/>
                    </a:ext>
                  </a:extLst>
                </a:gridCol>
                <a:gridCol w="1394024">
                  <a:extLst>
                    <a:ext uri="{9D8B030D-6E8A-4147-A177-3AD203B41FA5}">
                      <a16:colId xmlns:a16="http://schemas.microsoft.com/office/drawing/2014/main" val="4041335420"/>
                    </a:ext>
                  </a:extLst>
                </a:gridCol>
                <a:gridCol w="1633726">
                  <a:extLst>
                    <a:ext uri="{9D8B030D-6E8A-4147-A177-3AD203B41FA5}">
                      <a16:colId xmlns:a16="http://schemas.microsoft.com/office/drawing/2014/main" val="1921983193"/>
                    </a:ext>
                  </a:extLst>
                </a:gridCol>
              </a:tblGrid>
              <a:tr h="665018">
                <a:tc>
                  <a:txBody>
                    <a:bodyPr/>
                    <a:lstStyle/>
                    <a:p>
                      <a:pPr algn="ctr"/>
                      <a:r>
                        <a:rPr lang="en-US" sz="2800" b="1" dirty="0"/>
                        <a:t>Baselines</a:t>
                      </a:r>
                    </a:p>
                  </a:txBody>
                  <a:tcPr/>
                </a:tc>
                <a:tc gridSpan="4">
                  <a:txBody>
                    <a:bodyPr/>
                    <a:lstStyle/>
                    <a:p>
                      <a:pPr algn="ctr"/>
                      <a:r>
                        <a:rPr lang="en-US" sz="2800" b="1" dirty="0"/>
                        <a:t>Accuracy</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0210805"/>
                  </a:ext>
                </a:extLst>
              </a:tr>
              <a:tr h="370840">
                <a:tc>
                  <a:txBody>
                    <a:bodyPr/>
                    <a:lstStyle/>
                    <a:p>
                      <a:pPr algn="ctr"/>
                      <a:endParaRPr lang="en-US" sz="2200" b="1" dirty="0"/>
                    </a:p>
                  </a:txBody>
                  <a:tcPr/>
                </a:tc>
                <a:tc>
                  <a:txBody>
                    <a:bodyPr/>
                    <a:lstStyle/>
                    <a:p>
                      <a:pPr algn="ctr"/>
                      <a:r>
                        <a:rPr lang="en-US" sz="2400" b="1" dirty="0"/>
                        <a:t>African-American</a:t>
                      </a:r>
                    </a:p>
                  </a:txBody>
                  <a:tcPr/>
                </a:tc>
                <a:tc>
                  <a:txBody>
                    <a:bodyPr/>
                    <a:lstStyle/>
                    <a:p>
                      <a:pPr algn="ctr"/>
                      <a:r>
                        <a:rPr lang="en-US" sz="2400" b="1" dirty="0"/>
                        <a:t>Asian</a:t>
                      </a:r>
                    </a:p>
                  </a:txBody>
                  <a:tcPr/>
                </a:tc>
                <a:tc>
                  <a:txBody>
                    <a:bodyPr/>
                    <a:lstStyle/>
                    <a:p>
                      <a:pPr algn="ctr"/>
                      <a:r>
                        <a:rPr lang="en-US" sz="2400" b="1" dirty="0"/>
                        <a:t>Hispanic</a:t>
                      </a:r>
                    </a:p>
                  </a:txBody>
                  <a:tcPr/>
                </a:tc>
                <a:tc>
                  <a:txBody>
                    <a:bodyPr/>
                    <a:lstStyle/>
                    <a:p>
                      <a:pPr algn="ctr"/>
                      <a:r>
                        <a:rPr lang="en-US" sz="2400" b="1" dirty="0"/>
                        <a:t>White</a:t>
                      </a:r>
                    </a:p>
                  </a:txBody>
                  <a:tcPr/>
                </a:tc>
                <a:extLst>
                  <a:ext uri="{0D108BD9-81ED-4DB2-BD59-A6C34878D82A}">
                    <a16:rowId xmlns:a16="http://schemas.microsoft.com/office/drawing/2014/main" val="1955785495"/>
                  </a:ext>
                </a:extLst>
              </a:tr>
              <a:tr h="370840">
                <a:tc>
                  <a:txBody>
                    <a:bodyPr/>
                    <a:lstStyle/>
                    <a:p>
                      <a:pPr lvl="0" algn="ctr">
                        <a:lnSpc>
                          <a:spcPct val="100000"/>
                        </a:lnSpc>
                        <a:spcBef>
                          <a:spcPts val="0"/>
                        </a:spcBef>
                        <a:spcAft>
                          <a:spcPts val="0"/>
                        </a:spcAft>
                        <a:buNone/>
                      </a:pPr>
                      <a:r>
                        <a:rPr lang="en-US" sz="2400" b="1" u="none" strike="noStrike" noProof="0" dirty="0"/>
                        <a:t>COT-GPT-4</a:t>
                      </a:r>
                      <a:endParaRPr lang="en-US" sz="2400" b="1" i="0" u="none" strike="noStrike" noProof="0" dirty="0">
                        <a:latin typeface="Calibri"/>
                      </a:endParaRPr>
                    </a:p>
                  </a:txBody>
                  <a:tcPr/>
                </a:tc>
                <a:tc>
                  <a:txBody>
                    <a:bodyPr/>
                    <a:lstStyle/>
                    <a:p>
                      <a:pPr algn="ctr"/>
                      <a:r>
                        <a:rPr lang="en-US" sz="2200" dirty="0"/>
                        <a:t>62</a:t>
                      </a:r>
                    </a:p>
                  </a:txBody>
                  <a:tcPr/>
                </a:tc>
                <a:tc>
                  <a:txBody>
                    <a:bodyPr/>
                    <a:lstStyle/>
                    <a:p>
                      <a:pPr algn="ctr"/>
                      <a:r>
                        <a:rPr lang="en-US" sz="2200" dirty="0"/>
                        <a:t>60</a:t>
                      </a:r>
                    </a:p>
                  </a:txBody>
                  <a:tcPr/>
                </a:tc>
                <a:tc>
                  <a:txBody>
                    <a:bodyPr/>
                    <a:lstStyle/>
                    <a:p>
                      <a:pPr algn="ctr"/>
                      <a:r>
                        <a:rPr lang="en-US" sz="2200" dirty="0"/>
                        <a:t>68</a:t>
                      </a:r>
                    </a:p>
                  </a:txBody>
                  <a:tcPr/>
                </a:tc>
                <a:tc>
                  <a:txBody>
                    <a:bodyPr/>
                    <a:lstStyle/>
                    <a:p>
                      <a:pPr algn="ctr"/>
                      <a:r>
                        <a:rPr lang="en-US" sz="2200" b="1" dirty="0"/>
                        <a:t>84</a:t>
                      </a:r>
                    </a:p>
                  </a:txBody>
                  <a:tcPr/>
                </a:tc>
                <a:extLst>
                  <a:ext uri="{0D108BD9-81ED-4DB2-BD59-A6C34878D82A}">
                    <a16:rowId xmlns:a16="http://schemas.microsoft.com/office/drawing/2014/main" val="1892515028"/>
                  </a:ext>
                </a:extLst>
              </a:tr>
              <a:tr h="370840">
                <a:tc>
                  <a:txBody>
                    <a:bodyPr/>
                    <a:lstStyle/>
                    <a:p>
                      <a:pPr lvl="0" algn="ctr">
                        <a:lnSpc>
                          <a:spcPct val="100000"/>
                        </a:lnSpc>
                        <a:spcBef>
                          <a:spcPts val="0"/>
                        </a:spcBef>
                        <a:spcAft>
                          <a:spcPts val="0"/>
                        </a:spcAft>
                        <a:buNone/>
                      </a:pPr>
                      <a:r>
                        <a:rPr lang="en-US" sz="2400" b="1" u="none" strike="noStrike" noProof="0" dirty="0"/>
                        <a:t>COT-Claude-3</a:t>
                      </a:r>
                      <a:endParaRPr lang="en-US" sz="2400" b="1" i="0" u="none" strike="noStrike" noProof="0" dirty="0">
                        <a:latin typeface="Calibri"/>
                      </a:endParaRPr>
                    </a:p>
                  </a:txBody>
                  <a:tcPr/>
                </a:tc>
                <a:tc>
                  <a:txBody>
                    <a:bodyPr/>
                    <a:lstStyle/>
                    <a:p>
                      <a:pPr algn="ctr"/>
                      <a:r>
                        <a:rPr lang="en-US" sz="2200" dirty="0"/>
                        <a:t>64</a:t>
                      </a:r>
                    </a:p>
                  </a:txBody>
                  <a:tcPr/>
                </a:tc>
                <a:tc>
                  <a:txBody>
                    <a:bodyPr/>
                    <a:lstStyle/>
                    <a:p>
                      <a:pPr algn="ctr"/>
                      <a:r>
                        <a:rPr lang="en-US" sz="2200" dirty="0"/>
                        <a:t>62</a:t>
                      </a:r>
                    </a:p>
                  </a:txBody>
                  <a:tcPr/>
                </a:tc>
                <a:tc>
                  <a:txBody>
                    <a:bodyPr/>
                    <a:lstStyle/>
                    <a:p>
                      <a:pPr algn="ctr"/>
                      <a:r>
                        <a:rPr lang="en-US" sz="2200" dirty="0"/>
                        <a:t>60</a:t>
                      </a:r>
                    </a:p>
                  </a:txBody>
                  <a:tcPr/>
                </a:tc>
                <a:tc>
                  <a:txBody>
                    <a:bodyPr/>
                    <a:lstStyle/>
                    <a:p>
                      <a:pPr algn="ctr"/>
                      <a:r>
                        <a:rPr lang="en-US" sz="2200" b="1" dirty="0"/>
                        <a:t>74</a:t>
                      </a:r>
                    </a:p>
                  </a:txBody>
                  <a:tcPr/>
                </a:tc>
                <a:extLst>
                  <a:ext uri="{0D108BD9-81ED-4DB2-BD59-A6C34878D82A}">
                    <a16:rowId xmlns:a16="http://schemas.microsoft.com/office/drawing/2014/main" val="915496226"/>
                  </a:ext>
                </a:extLst>
              </a:tr>
              <a:tr h="370840">
                <a:tc>
                  <a:txBody>
                    <a:bodyPr/>
                    <a:lstStyle/>
                    <a:p>
                      <a:pPr lvl="0" algn="ctr">
                        <a:buNone/>
                      </a:pPr>
                      <a:r>
                        <a:rPr lang="en-US" sz="2400" b="1" u="none" strike="noStrike" noProof="0" dirty="0"/>
                        <a:t>COT-LLaMA-3</a:t>
                      </a:r>
                      <a:endParaRPr lang="en-US" sz="2400" b="1" dirty="0"/>
                    </a:p>
                  </a:txBody>
                  <a:tcPr/>
                </a:tc>
                <a:tc>
                  <a:txBody>
                    <a:bodyPr/>
                    <a:lstStyle/>
                    <a:p>
                      <a:pPr algn="ctr"/>
                      <a:r>
                        <a:rPr lang="en-US" sz="2200" dirty="0"/>
                        <a:t>60</a:t>
                      </a:r>
                    </a:p>
                  </a:txBody>
                  <a:tcPr/>
                </a:tc>
                <a:tc>
                  <a:txBody>
                    <a:bodyPr/>
                    <a:lstStyle/>
                    <a:p>
                      <a:pPr algn="ctr"/>
                      <a:r>
                        <a:rPr lang="en-US" sz="2200" dirty="0"/>
                        <a:t>56</a:t>
                      </a:r>
                    </a:p>
                  </a:txBody>
                  <a:tcPr/>
                </a:tc>
                <a:tc>
                  <a:txBody>
                    <a:bodyPr/>
                    <a:lstStyle/>
                    <a:p>
                      <a:pPr algn="ctr"/>
                      <a:r>
                        <a:rPr lang="en-US" sz="2200" dirty="0"/>
                        <a:t>52</a:t>
                      </a:r>
                    </a:p>
                  </a:txBody>
                  <a:tcPr/>
                </a:tc>
                <a:tc>
                  <a:txBody>
                    <a:bodyPr/>
                    <a:lstStyle/>
                    <a:p>
                      <a:pPr algn="ctr"/>
                      <a:r>
                        <a:rPr lang="en-US" sz="2200" b="1" dirty="0"/>
                        <a:t>66</a:t>
                      </a:r>
                    </a:p>
                  </a:txBody>
                  <a:tcPr/>
                </a:tc>
                <a:extLst>
                  <a:ext uri="{0D108BD9-81ED-4DB2-BD59-A6C34878D82A}">
                    <a16:rowId xmlns:a16="http://schemas.microsoft.com/office/drawing/2014/main" val="1627027319"/>
                  </a:ext>
                </a:extLst>
              </a:tr>
              <a:tr h="370840">
                <a:tc>
                  <a:txBody>
                    <a:bodyPr/>
                    <a:lstStyle/>
                    <a:p>
                      <a:pPr lvl="0" algn="ctr">
                        <a:buNone/>
                      </a:pPr>
                      <a:r>
                        <a:rPr lang="en-US" sz="2400" b="1" u="none" strike="noStrike" noProof="0" dirty="0"/>
                        <a:t>SFT (LLaMA-3)</a:t>
                      </a:r>
                      <a:endParaRPr lang="en-US" sz="2400" b="1" dirty="0"/>
                    </a:p>
                  </a:txBody>
                  <a:tcPr/>
                </a:tc>
                <a:tc>
                  <a:txBody>
                    <a:bodyPr/>
                    <a:lstStyle/>
                    <a:p>
                      <a:pPr algn="ctr"/>
                      <a:r>
                        <a:rPr lang="en-US" sz="2200" b="1" dirty="0"/>
                        <a:t>86</a:t>
                      </a:r>
                    </a:p>
                  </a:txBody>
                  <a:tcPr/>
                </a:tc>
                <a:tc>
                  <a:txBody>
                    <a:bodyPr/>
                    <a:lstStyle/>
                    <a:p>
                      <a:pPr algn="ctr"/>
                      <a:r>
                        <a:rPr lang="en-US" sz="2200" dirty="0"/>
                        <a:t>62</a:t>
                      </a:r>
                    </a:p>
                  </a:txBody>
                  <a:tcPr/>
                </a:tc>
                <a:tc>
                  <a:txBody>
                    <a:bodyPr/>
                    <a:lstStyle/>
                    <a:p>
                      <a:pPr algn="ctr"/>
                      <a:r>
                        <a:rPr lang="en-US" sz="2200" dirty="0"/>
                        <a:t>52</a:t>
                      </a:r>
                    </a:p>
                  </a:txBody>
                  <a:tcPr/>
                </a:tc>
                <a:tc>
                  <a:txBody>
                    <a:bodyPr/>
                    <a:lstStyle/>
                    <a:p>
                      <a:pPr algn="ctr"/>
                      <a:r>
                        <a:rPr lang="en-US" sz="2200" b="0" dirty="0"/>
                        <a:t>76</a:t>
                      </a:r>
                    </a:p>
                  </a:txBody>
                  <a:tcPr/>
                </a:tc>
                <a:extLst>
                  <a:ext uri="{0D108BD9-81ED-4DB2-BD59-A6C34878D82A}">
                    <a16:rowId xmlns:a16="http://schemas.microsoft.com/office/drawing/2014/main" val="2981361293"/>
                  </a:ext>
                </a:extLst>
              </a:tr>
              <a:tr h="370840">
                <a:tc>
                  <a:txBody>
                    <a:bodyPr/>
                    <a:lstStyle/>
                    <a:p>
                      <a:pPr algn="ctr"/>
                      <a:r>
                        <a:rPr lang="en-US" sz="2400" b="1" dirty="0"/>
                        <a:t>Agent (GPT-4)</a:t>
                      </a:r>
                    </a:p>
                  </a:txBody>
                  <a:tcPr/>
                </a:tc>
                <a:tc>
                  <a:txBody>
                    <a:bodyPr/>
                    <a:lstStyle/>
                    <a:p>
                      <a:pPr algn="ctr"/>
                      <a:r>
                        <a:rPr lang="en-US" sz="2200" b="1" dirty="0"/>
                        <a:t>86</a:t>
                      </a:r>
                    </a:p>
                  </a:txBody>
                  <a:tcPr/>
                </a:tc>
                <a:tc>
                  <a:txBody>
                    <a:bodyPr/>
                    <a:lstStyle/>
                    <a:p>
                      <a:pPr algn="ctr"/>
                      <a:r>
                        <a:rPr lang="en-US" sz="2200" b="1" dirty="0"/>
                        <a:t>86</a:t>
                      </a:r>
                    </a:p>
                  </a:txBody>
                  <a:tcPr/>
                </a:tc>
                <a:tc>
                  <a:txBody>
                    <a:bodyPr/>
                    <a:lstStyle/>
                    <a:p>
                      <a:pPr algn="ctr"/>
                      <a:r>
                        <a:rPr lang="en-US" sz="2200" b="1" dirty="0"/>
                        <a:t>88</a:t>
                      </a:r>
                    </a:p>
                  </a:txBody>
                  <a:tcPr/>
                </a:tc>
                <a:tc>
                  <a:txBody>
                    <a:bodyPr/>
                    <a:lstStyle/>
                    <a:p>
                      <a:pPr algn="ctr"/>
                      <a:r>
                        <a:rPr lang="en-US" sz="2200" b="1" dirty="0"/>
                        <a:t>88</a:t>
                      </a:r>
                    </a:p>
                  </a:txBody>
                  <a:tcPr/>
                </a:tc>
                <a:extLst>
                  <a:ext uri="{0D108BD9-81ED-4DB2-BD59-A6C34878D82A}">
                    <a16:rowId xmlns:a16="http://schemas.microsoft.com/office/drawing/2014/main" val="2010444697"/>
                  </a:ext>
                </a:extLst>
              </a:tr>
            </a:tbl>
          </a:graphicData>
        </a:graphic>
      </p:graphicFrame>
      <p:sp>
        <p:nvSpPr>
          <p:cNvPr id="3" name="Slide Number Placeholder 2">
            <a:extLst>
              <a:ext uri="{FF2B5EF4-FFF2-40B4-BE49-F238E27FC236}">
                <a16:creationId xmlns:a16="http://schemas.microsoft.com/office/drawing/2014/main" id="{AB522438-E0EF-BDD0-E2D3-67914A90DC34}"/>
              </a:ext>
            </a:extLst>
          </p:cNvPr>
          <p:cNvSpPr>
            <a:spLocks noGrp="1"/>
          </p:cNvSpPr>
          <p:nvPr>
            <p:ph type="sldNum" sz="quarter" idx="12"/>
          </p:nvPr>
        </p:nvSpPr>
        <p:spPr/>
        <p:txBody>
          <a:bodyPr/>
          <a:lstStyle/>
          <a:p>
            <a:fld id="{C3A81FF4-CBB3-DF43-B274-0E49682E6498}" type="slidenum">
              <a:rPr lang="en-US" smtClean="0"/>
              <a:t>23</a:t>
            </a:fld>
            <a:endParaRPr lang="en-US"/>
          </a:p>
        </p:txBody>
      </p:sp>
    </p:spTree>
    <p:extLst>
      <p:ext uri="{BB962C8B-B14F-4D97-AF65-F5344CB8AC3E}">
        <p14:creationId xmlns:p14="http://schemas.microsoft.com/office/powerpoint/2010/main" val="257065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_wcp" id="{5D285711-C3B7-8C4E-AD8E-D4CBA7490C2A}" vid="{0B54B39F-F545-1244-964C-E19277ED41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4796</TotalTime>
  <Words>2147</Words>
  <Application>Microsoft Macintosh PowerPoint</Application>
  <PresentationFormat>Widescreen</PresentationFormat>
  <Paragraphs>416</Paragraphs>
  <Slides>23</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Times New Roman</vt:lpstr>
      <vt:lpstr>Office Theme</vt:lpstr>
      <vt:lpstr>LLMs, bias and fairness</vt:lpstr>
      <vt:lpstr>Definizioni</vt:lpstr>
      <vt:lpstr>Google Scholar “llm bias” search</vt:lpstr>
      <vt:lpstr>Unveiling Performance Challenges of LLMs  in Low-Resource Healthcare:  A Demographic Fairness Perspective (COLING 25)</vt:lpstr>
      <vt:lpstr> Introduction</vt:lpstr>
      <vt:lpstr>PowerPoint Presentation</vt:lpstr>
      <vt:lpstr> Four Datasets, Six Benchmarks</vt:lpstr>
      <vt:lpstr>PowerPoint Presentation</vt:lpstr>
      <vt:lpstr> Dataset Statistics</vt:lpstr>
      <vt:lpstr> Three approaches, three LLMs</vt:lpstr>
      <vt:lpstr>Prompt example:</vt:lpstr>
      <vt:lpstr> LLM as Agents</vt:lpstr>
      <vt:lpstr> Results: Accuracy</vt:lpstr>
      <vt:lpstr> Two Metrics for Fairness  [Zemel et al 2013, Liu et al 2023] </vt:lpstr>
      <vt:lpstr>Two Metrics for Fairness</vt:lpstr>
      <vt:lpstr> Fairness – Predict Mortality </vt:lpstr>
      <vt:lpstr>  Additional Experiments: Demographic Awareness and Bias in  Conversation </vt:lpstr>
      <vt:lpstr>Conclusions &amp; Future Work </vt:lpstr>
      <vt:lpstr> References (COLING 25)</vt:lpstr>
      <vt:lpstr>Additional slides</vt:lpstr>
      <vt:lpstr> 6 Datasets and Task Formulations</vt:lpstr>
      <vt:lpstr> Results: Accuracy</vt:lpstr>
      <vt:lpstr> Results: MedQA Accuracy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Unveiling Performance Challenges of Large Language Models in Low-Resource Healthcare:  A Demographic Fairness Perspective</dc:title>
  <dc:creator>Zhou, Yue</dc:creator>
  <cp:lastModifiedBy>Di Eugenio, Barbara</cp:lastModifiedBy>
  <cp:revision>634</cp:revision>
  <dcterms:created xsi:type="dcterms:W3CDTF">2025-01-12T00:22:50Z</dcterms:created>
  <dcterms:modified xsi:type="dcterms:W3CDTF">2026-05-21T12:29:13Z</dcterms:modified>
</cp:coreProperties>
</file>