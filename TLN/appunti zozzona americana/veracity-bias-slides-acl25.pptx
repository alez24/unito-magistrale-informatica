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tags/tag4.xml" ContentType="application/vnd.openxmlformats-officedocument.presentationml.tags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8"/>
  </p:notesMasterIdLst>
  <p:sldIdLst>
    <p:sldId id="257" r:id="rId2"/>
    <p:sldId id="275" r:id="rId3"/>
    <p:sldId id="276" r:id="rId4"/>
    <p:sldId id="595" r:id="rId5"/>
    <p:sldId id="596" r:id="rId6"/>
    <p:sldId id="282" r:id="rId7"/>
    <p:sldId id="605" r:id="rId8"/>
    <p:sldId id="598" r:id="rId9"/>
    <p:sldId id="597" r:id="rId10"/>
    <p:sldId id="599" r:id="rId11"/>
    <p:sldId id="606" r:id="rId12"/>
    <p:sldId id="607" r:id="rId13"/>
    <p:sldId id="604" r:id="rId14"/>
    <p:sldId id="600" r:id="rId15"/>
    <p:sldId id="602" r:id="rId16"/>
    <p:sldId id="297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–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929F9F4-4A8F-4326-A1B4-22849713DDAB}" styleName="Dark Style 1 –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E171933-4619-4E11-9A3F-F7608DF75F80}" styleName="Medium Style 1 –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113A9D2-9D6B-4929-AA2D-F23B5EE8CBE7}" styleName="Themed Style 2 –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–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–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–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–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–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DA37D80-6434-44D0-A028-1B22A696006F}" styleName="Light Style 3 –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84E427A-3D55-4303-BF80-6455036E1DE7}" styleName="Themed Style 1 –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8A107856-5554-42FB-B03E-39F5DBC370BA}" styleName="Medium Style 4 –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37CE84F3-28C3-443E-9E96-99CF82512B78}" styleName="Dark Style 1 –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88"/>
    <p:restoredTop sz="80288"/>
  </p:normalViewPr>
  <p:slideViewPr>
    <p:cSldViewPr snapToGrid="0">
      <p:cViewPr varScale="1">
        <p:scale>
          <a:sx n="100" d="100"/>
          <a:sy n="100" d="100"/>
        </p:scale>
        <p:origin x="117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A64D15-D22C-6343-B3EC-CB1C30AE0658}" type="datetimeFigureOut">
              <a:rPr lang="en-US" smtClean="0"/>
              <a:t>5/20/26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635AE5-9B4E-5A4B-9D93-CA0104E8C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0971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bm.com/think/topics/dataset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www.ibm.com/think/topics/machine-learning-algorithms" TargetMode="External"/><Relationship Id="rId4" Type="http://schemas.openxmlformats.org/officeDocument/2006/relationships/hyperlink" Target="https://www.ibm.com/think/topics/unit-testing" TargetMode="Externa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907403-E387-B24D-BDE6-FF95C12485DD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915297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A5FB3-0017-BA50-CE05-8802DACF7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D2A4D9A-F9E3-EA43-91B2-0EA0BDDDF1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36D58A7-99C6-6C95-0436-5ECA35ABB3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assigning personas to LLMs to observe decision discrepancies in social scenarios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73130F-A5A5-A6A4-C964-4F60D1F1D5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907403-E387-B24D-BDE6-FF95C12485DD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643769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A832E0-F73D-4995-3448-8E6A95779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F404D92-DFE5-A373-7420-74D93741AA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327D1C1-9FEC-7EF4-AFCB-443D9EFA23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FA2036A-ABD0-9CE0-3920-6E4A8E600C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907403-E387-B24D-BDE6-FF95C12485DD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162174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7ED911-7FE7-886F-2826-CAF7A38E4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0171062-A352-53AD-54B9-33762F3EBC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FAAD6F3-D465-5EEE-4E10-B3D1AE3913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6C37F24-0DE1-50BF-C0E7-0130896016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907403-E387-B24D-BDE6-FF95C12485DD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670523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D01DB5-1E38-90EA-8AE6-DBEE39F776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19B1DE9-A419-8317-F396-E40FFEFBBC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0921C78-C325-49EA-582B-EC81762E88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0E2E255-8D31-7D7E-A676-DF2DEFE8A5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907403-E387-B24D-BDE6-FF95C12485DD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4069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F66BC-53A0-71B9-945D-9589A10A7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EC95620-C83B-3BA9-8802-AD70FC5EB8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7A93A97-2292-002F-7D53-6D99664E58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GSM8K benchmark comprises </a:t>
            </a:r>
            <a:r>
              <a:rPr lang="en-GB" i="1" dirty="0"/>
              <a:t>1319 grade school math word problems</a:t>
            </a:r>
          </a:p>
          <a:p>
            <a:endParaRPr lang="en-GB" sz="1200" b="0" i="1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dirty="0"/>
              <a:t>MATH500: Sourced from challenging high-school math competitions like the American Mathematics Competitions (AMC) and the American Invitational Mathematics Examination (AIME), MATH-500 comprises 500 problems spanning five core mathematical domains: algebra, combinatorics, geometry, number theory, and precalculus. Each problem is designed to test multi-step reasoning and complex problem-solving abilities, requiring more than simple calculation or knowledge recall.</a:t>
            </a:r>
          </a:p>
          <a:p>
            <a:endParaRPr lang="en-GB" sz="1200" b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dirty="0"/>
              <a:t> “</a:t>
            </a:r>
            <a:r>
              <a:rPr lang="en-GB" dirty="0" err="1"/>
              <a:t>HumanEval</a:t>
            </a:r>
            <a:r>
              <a:rPr lang="en-GB" dirty="0"/>
              <a:t> </a:t>
            </a:r>
            <a:r>
              <a:rPr lang="en-GB" dirty="0">
                <a:hlinkClick r:id="rId3"/>
              </a:rPr>
              <a:t>dataset</a:t>
            </a:r>
            <a:r>
              <a:rPr lang="en-GB" dirty="0"/>
              <a:t> consists of 164 handwritten programming problems with their corresponding </a:t>
            </a:r>
            <a:r>
              <a:rPr lang="en-GB" dirty="0">
                <a:hlinkClick r:id="rId4"/>
              </a:rPr>
              <a:t>unit tests</a:t>
            </a:r>
            <a:r>
              <a:rPr lang="en-GB" dirty="0"/>
              <a:t> developed by OpenAI. These problems gauge a model’s ability to comprehend language, manipulate strings, search and sort. They also assess problem-solving skills in terms of simple math and complex </a:t>
            </a:r>
            <a:r>
              <a:rPr lang="en-GB" dirty="0">
                <a:hlinkClick r:id="rId5"/>
              </a:rPr>
              <a:t>algorithms</a:t>
            </a:r>
            <a:r>
              <a:rPr lang="en-GB" dirty="0"/>
              <a:t>. These programming tasks are similar to the algorithmic questions, coding exercises or system design challenges software developers work through during technical interviews. Each code generation task contains the following components:</a:t>
            </a:r>
          </a:p>
          <a:p>
            <a:r>
              <a:rPr lang="en-GB" dirty="0"/>
              <a:t>Function signature; Docstring (in NL); Function body; Unit tests</a:t>
            </a:r>
          </a:p>
          <a:p>
            <a:endParaRPr lang="en-GB" sz="1200" b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CommonSEnse</a:t>
            </a:r>
            <a:r>
              <a:rPr lang="en-GB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QA – generated by crowd workers, starting from a concept, with 5 multiple choice answers 12,247 commonsense questions https://</a:t>
            </a:r>
            <a:r>
              <a:rPr lang="en-GB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aclanthology.org</a:t>
            </a:r>
            <a:r>
              <a:rPr lang="en-GB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/N19-1421.pdf</a:t>
            </a:r>
          </a:p>
          <a:p>
            <a:r>
              <a:rPr lang="en-GB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 on a river can you hold a cup upright to catch water on a sunny day?</a:t>
            </a:r>
          </a:p>
          <a:p>
            <a:r>
              <a:rPr lang="en-GB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✔ waterfall, ✘ bridge, ✘ valley, ✘ pebble, ✘ mountain</a:t>
            </a:r>
          </a:p>
          <a:p>
            <a:endParaRPr lang="en-GB" sz="1200" b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ARC-easy: </a:t>
            </a:r>
            <a:r>
              <a:rPr lang="en-GB" dirty="0"/>
              <a:t>dataset of 7,787 genuine grade-school level, multiple-choice science questions, assembled to encourage research in advanced question-answering. The dataset is partitioned into a Challenge Set and an Easy Set, where the former contains only questions answered incorrectly by both a retrieval-based algorithm and a word co-occurrence algorithm</a:t>
            </a:r>
          </a:p>
          <a:p>
            <a:endParaRPr lang="en-GB" sz="1200" b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dirty="0"/>
              <a:t>ASAP-AES (Automated Student Assessment Prize - Automated Essay Scoring): Features approximately 13000 essays written by U.S. students across 8 distinct prompts. 1-6 score. Students grades 7-10 (</a:t>
            </a:r>
            <a:r>
              <a:rPr lang="en-GB" dirty="0" err="1"/>
              <a:t>seconda</a:t>
            </a:r>
            <a:r>
              <a:rPr lang="en-GB" dirty="0"/>
              <a:t> media a </a:t>
            </a:r>
            <a:r>
              <a:rPr lang="en-GB" dirty="0" err="1"/>
              <a:t>seconda</a:t>
            </a:r>
            <a:r>
              <a:rPr lang="en-GB" dirty="0"/>
              <a:t> </a:t>
            </a:r>
            <a:r>
              <a:rPr lang="en-GB" dirty="0" err="1"/>
              <a:t>liceo</a:t>
            </a:r>
            <a:r>
              <a:rPr lang="en-GB" dirty="0"/>
              <a:t>)</a:t>
            </a:r>
            <a:endParaRPr lang="en-GB" sz="1200" b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GB" sz="1200" b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OpenAI does not publicly disclose exact parameter counts for its recent models. However, industry estimates and analyses suggest GPT-3.5 has roughly </a:t>
            </a:r>
            <a:r>
              <a:rPr lang="en-GB" dirty="0"/>
              <a:t>\(175\text{B}\) parameters, while GPT-4o uses a Mixture-of-Experts (</a:t>
            </a:r>
            <a:r>
              <a:rPr lang="en-GB" dirty="0" err="1"/>
              <a:t>MoE</a:t>
            </a:r>
            <a:r>
              <a:rPr lang="en-GB" dirty="0"/>
              <a:t>) architecture with an estimated total pool of \(\sim 1.8\text{T}\) parameters (though only a fraction are active per token) (web search)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3BBD6B7-8B5E-2B78-1355-3E91DAE349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907403-E387-B24D-BDE6-FF95C12485DD}" type="slidenum">
              <a:rPr kumimoji="1" lang="zh-CN" altLang="en-US" smtClean="0"/>
              <a:t>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331645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T" dirty="0"/>
              <a:t>Wrong solution generation: </a:t>
            </a:r>
            <a:r>
              <a:rPr lang="en-GB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commonsense</a:t>
            </a:r>
            <a:r>
              <a:rPr lang="en-GB" sz="120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reasoning (</a:t>
            </a:r>
            <a:r>
              <a:rPr lang="en-GB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CommonsenseQA</a:t>
            </a:r>
            <a:r>
              <a:rPr lang="en-GB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ARC-Easy), we</a:t>
            </a:r>
            <a:r>
              <a:rPr lang="en-GB" sz="120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randomly select one of the incorrect choices from</a:t>
            </a:r>
            <a:endParaRPr lang="en-GB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multiple-choice options. For </a:t>
            </a:r>
            <a:r>
              <a:rPr lang="en-GB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HumanEval</a:t>
            </a:r>
            <a:r>
              <a:rPr lang="en-GB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code</a:t>
            </a:r>
            <a:r>
              <a:rPr lang="en-GB" sz="120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completion, incorrect solutions are created either</a:t>
            </a:r>
            <a:r>
              <a:rPr lang="en-GB" sz="120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 randomly perturbing the correct solution or by</a:t>
            </a:r>
            <a:endParaRPr lang="en-GB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generating code that is hard-coded to pass the provided</a:t>
            </a:r>
            <a:r>
              <a:rPr lang="en-GB" sz="120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 cases. For GSM8K math problems, we</a:t>
            </a:r>
            <a:r>
              <a:rPr lang="en-GB" sz="120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 a script that extracts all numerical values from the question and generates incorrect answers</a:t>
            </a:r>
            <a:endParaRPr lang="en-GB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 randomly combining these numbers with mathematical</a:t>
            </a:r>
            <a:r>
              <a:rPr lang="en-GB" sz="120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operations</a:t>
            </a:r>
            <a:endParaRPr lang="en-GB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GB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635AE5-9B4E-5A4B-9D93-CA0104E8CD3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4079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F4816-09D5-9BDB-662A-068CA47FB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04B42B3-A68C-C88E-4EF8-130F999358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88DEA20-34DB-F37D-072A-AD357A56FB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E84B73B-3A4A-569E-1405-57E512B672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907403-E387-B24D-BDE6-FF95C12485DD}" type="slidenum">
              <a:rPr kumimoji="1" lang="zh-CN" altLang="en-US" smtClean="0"/>
              <a:t>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930210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336E0-66F5-5CF1-3F80-335420DCC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80D0E8F-7483-5CF2-20BC-970757C160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6B94166-6A37-AED1-F06D-5250A8E41A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each demographic subgroup d, we define Correctness Attribution Bias (</a:t>
            </a:r>
            <a:r>
              <a:rPr lang="en-US" dirty="0" err="1"/>
              <a:t>ABcor</a:t>
            </a:r>
            <a:r>
              <a:rPr lang="en-US" dirty="0"/>
              <a:t>) and Incorrectness Attribution Bias (</a:t>
            </a:r>
            <a:r>
              <a:rPr lang="en-US" dirty="0" err="1"/>
              <a:t>ABinc</a:t>
            </a:r>
            <a:r>
              <a:rPr lang="en-US" dirty="0"/>
              <a:t>)  to identify the demographic group that shows the largest difference between its probability of being assigned to correct versus incorrect solutions. </a:t>
            </a:r>
          </a:p>
          <a:p>
            <a:endParaRPr kumimoji="1" lang="en-US" altLang="zh-CN" dirty="0"/>
          </a:p>
          <a:p>
            <a:r>
              <a:rPr lang="en-US" dirty="0"/>
              <a:t>The first one, Evaluation Inconsistency (EI), captures how inconsistently LLMs evaluate the same solution across demographic groups. A high EI indicates that the LLM frequently changes its evaluation based on the stated demographic group of the solution provider.</a:t>
            </a:r>
            <a:endParaRPr kumimoji="1" lang="en-US" dirty="0"/>
          </a:p>
          <a:p>
            <a:endParaRPr kumimoji="1" lang="en-US" altLang="zh-CN" dirty="0"/>
          </a:p>
          <a:p>
            <a:r>
              <a:rPr lang="en-US" dirty="0"/>
              <a:t>The second metric, Evaluation Preference (EP), quantifies the strongest pairwise evaluation bias between demographic groups: EP measures the probability that solutions from one group receive higher evaluations compared to another group, maximized over all group pairs.</a:t>
            </a:r>
            <a:endParaRPr kumimoji="1" lang="en-US" altLang="zh-CN" dirty="0"/>
          </a:p>
          <a:p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17FE784-5672-2877-4724-11D700EB29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907403-E387-B24D-BDE6-FF95C12485DD}" type="slidenum">
              <a:rPr kumimoji="1" lang="zh-CN" altLang="en-US" smtClean="0"/>
              <a:t>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83309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071873-226B-BA6E-289C-C70264F68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0CB89B5-553C-5CED-6283-B2182BF8AA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836C832-3FE5-A756-C90C-0309EC6D0A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Correctness Attribution Bias (</a:t>
            </a:r>
            <a:r>
              <a:rPr lang="en-US" dirty="0" err="1"/>
              <a:t>ABcor</a:t>
            </a:r>
            <a:r>
              <a:rPr lang="en-US" dirty="0"/>
              <a:t>) and Incorrectness Attribution Bias (</a:t>
            </a:r>
            <a:r>
              <a:rPr lang="en-US" dirty="0" err="1"/>
              <a:t>ABinc</a:t>
            </a:r>
            <a:r>
              <a:rPr lang="en-US" dirty="0"/>
              <a:t>)  to identify the demographic group that shows the largest difference between its probability of being assigned to correct versus incorrect solutions. </a:t>
            </a:r>
          </a:p>
          <a:p>
            <a:endParaRPr kumimoji="1" lang="en-US" altLang="zh-CN" dirty="0"/>
          </a:p>
          <a:p>
            <a:endParaRPr lang="en-GB" sz="1200" i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GB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A01899A-CFF0-C0FF-B236-814B81BF97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907403-E387-B24D-BDE6-FF95C12485DD}" type="slidenum">
              <a:rPr kumimoji="1" lang="zh-CN" altLang="en-US" smtClean="0"/>
              <a:t>10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544627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Refusal rates: GPT-4o (14%</a:t>
            </a:r>
            <a:r>
              <a:rPr lang="en-GB" sz="120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math, 28% coding, 6% commonsense with racial groups); Claude (2% commonsense with racial/gender groups)</a:t>
            </a:r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635AE5-9B4E-5A4B-9D93-CA0104E8CD3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8537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F2CE92-81A5-E248-7E52-917DC9E18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FF07632-F155-8C4A-A440-23712BC164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524D24C-82C8-F61D-3038-43D7C90A63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Correctness Attribution Bias (</a:t>
            </a:r>
            <a:r>
              <a:rPr lang="en-US" dirty="0" err="1"/>
              <a:t>ABcor</a:t>
            </a:r>
            <a:r>
              <a:rPr lang="en-US" dirty="0"/>
              <a:t>) and Incorrectness Attribution Bias (</a:t>
            </a:r>
            <a:r>
              <a:rPr lang="en-US" dirty="0" err="1"/>
              <a:t>ABinc</a:t>
            </a:r>
            <a:r>
              <a:rPr lang="en-US" dirty="0"/>
              <a:t>)  to identify the demographic group that shows the largest difference between its probability of being assigned to correct versus incorrect solutions. </a:t>
            </a:r>
          </a:p>
          <a:p>
            <a:endParaRPr kumimoji="1" lang="en-US" altLang="zh-CN" dirty="0"/>
          </a:p>
          <a:p>
            <a:r>
              <a:rPr kumimoji="1" lang="en-US" altLang="zh-CN" dirty="0"/>
              <a:t>GPT-4.0, GPT 3.5, and GEMINI 1.5 disfavor males; Claude 3 and Llama-3 disfavors females (Claude 3 the most balanced)</a:t>
            </a:r>
          </a:p>
          <a:p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A66504E-845F-2498-759B-081D359585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907403-E387-B24D-BDE6-FF95C12485DD}" type="slidenum">
              <a:rPr kumimoji="1" lang="zh-CN" altLang="en-US" smtClean="0"/>
              <a:t>13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131132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B26F73-7F54-92B7-4EBB-87B12C7AA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E9D170F-D017-FC32-6FFD-FE482EF487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1C4A377-6DB6-C543-B81C-30A85CE28D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first one, Evaluation Inconsistency (EI), captures how inconsistently LLMs evaluate the same solution across demographic groups. A high EI indicates that the LLM frequently changes its evaluation based on the stated demographic group of the solution provider.</a:t>
            </a:r>
            <a:endParaRPr kumimoji="1" lang="en-US" dirty="0"/>
          </a:p>
          <a:p>
            <a:endParaRPr kumimoji="1" lang="en-US" altLang="zh-CN" dirty="0"/>
          </a:p>
          <a:p>
            <a:r>
              <a:rPr lang="en-US" dirty="0"/>
              <a:t>The second metric, Evaluation Preference (EP), quantifies the strongest pairwise evaluation bias between demographic groups: EP measures the probability that solutions from one group receive higher evaluations compared to another group, maximized over all group pairs.</a:t>
            </a:r>
            <a:endParaRPr kumimoji="1" lang="en-US" altLang="zh-CN" dirty="0"/>
          </a:p>
          <a:p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428C4F2-D9D4-978B-45EF-F9FCAE9DBD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907403-E387-B24D-BDE6-FF95C12485DD}" type="slidenum">
              <a:rPr kumimoji="1" lang="zh-CN" altLang="en-US" smtClean="0"/>
              <a:t>14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262820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88E2F2-2548-969D-A0E5-0E900119D6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70850A9-AEAC-045B-3459-FDDA93B147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AE282D2-1551-1E3C-C7C0-CB3CE5C0E4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dirty="0"/>
              <a:t>Prompt: Create a Python function to plot the frequency of a list of elements containing A, B, C, and D, which represent [White, Black, Asian, Hispanic] groups, respectively. Use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dirty="0"/>
              <a:t>a bar plot and show the colors in the legend.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D78392A-47E5-4642-9613-C20E7E65A0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907403-E387-B24D-BDE6-FF95C12485DD}" type="slidenum">
              <a:rPr kumimoji="1" lang="zh-CN" altLang="en-US" smtClean="0"/>
              <a:t>15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0698006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635AE5-9B4E-5A4B-9D93-CA0104E8CD3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3658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0DFE1-F93B-0C90-DCFF-578622A55B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D94F6B-30F9-6AEC-A17C-92606AAEBA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CBB229-6474-DC39-BC5A-757445D8F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202C5-E23C-6B4C-A5BC-8BDF4EE911B3}" type="datetime1">
              <a:rPr lang="it-IT" smtClean="0"/>
              <a:t>20/05/26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813509-3AB3-3D0D-DC1B-D1B5E1F7B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42D5A9-B2AE-0D21-2D94-69AF2797F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81FF4-CBB3-DF43-B274-0E49682E64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903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7E0CB-2F09-1563-9361-B921CBD98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6A705F-E0E7-0274-2A0A-ECDCAE0CF9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84F87B-2D33-75F5-50E6-E7BF303F2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5FE64-213E-5D4D-97AE-D64838B09BCB}" type="datetime1">
              <a:rPr lang="it-IT" smtClean="0"/>
              <a:t>20/05/26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34B6A2-36FA-C56C-CA1A-CAD835C82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9A0103-F449-2C36-DD4D-C6C73CDBD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81FF4-CBB3-DF43-B274-0E49682E64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1583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B56CA-9FF6-ACC3-EFA0-D7993B8AF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AF78C9-E1FB-37E5-5FA5-6A28C0DD33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151514-280A-4605-E2C4-CD206E204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832A1-535F-934E-AAC2-DD50B6014E35}" type="datetime1">
              <a:rPr lang="it-IT" smtClean="0"/>
              <a:t>20/05/26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CCA1B3-B93A-A827-BF21-F2A14A214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75BDD8-6AD0-3CEF-F4E5-A3660EAA6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81FF4-CBB3-DF43-B274-0E49682E64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9075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F153E-04CF-4A8A-9C68-97D7A0608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1BAD1C-B6C9-38F4-A03D-9DB3395D72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FA528C-F20D-5F35-9A5E-9A678613EA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204600-AC07-842B-615C-0DF4508A6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3DDA4-CA9B-9F43-944A-5B2E0F6AE352}" type="datetime1">
              <a:rPr lang="it-IT" smtClean="0"/>
              <a:t>20/05/26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B33ABE-424C-04AB-38C6-851DEA97F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E4D8DE-A16A-DDCB-AADF-CFAC1EF20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81FF4-CBB3-DF43-B274-0E49682E64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915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4ADFE-EA0B-D619-8AD2-418E2D267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90BC27-FD7A-B4F3-A337-83027B2466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8FFBDF-668D-354F-5A91-C038DD4D99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E8A911-68C1-0635-5AC7-4A4045D719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EC4790-23DE-03CC-36C1-0B03C29C40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7508CF6-D0BB-6727-4CB2-F6AF8C055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FE3C3-33FA-8E46-8BB2-4612DADFD807}" type="datetime1">
              <a:rPr lang="it-IT" smtClean="0"/>
              <a:t>20/05/26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AD8BE7-FD74-28E7-975B-0F4C300D0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217F2F-9A83-0C1E-AB67-6B424FA50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81FF4-CBB3-DF43-B274-0E49682E64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356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66B41-A213-B283-6CCD-E66E4B133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7E0415-A0E6-2014-8287-6A6CCCECF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D8C14-AD85-7A4F-B067-53E8B5A60A1F}" type="datetime1">
              <a:rPr lang="it-IT" smtClean="0"/>
              <a:t>20/05/26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890654-E4C6-15C8-53BA-6BA071335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52A2EE-FCE8-4DE9-1720-B12259AA1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81FF4-CBB3-DF43-B274-0E49682E64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2036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5276CE-85F7-2440-7303-8A2A570DB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D2225-4304-3A40-A47A-A442CA9FC593}" type="datetime1">
              <a:rPr lang="it-IT" smtClean="0"/>
              <a:t>20/05/26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0F5A15-EBD3-F21D-24EE-EA562CB58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E0B9EC-9419-0D3E-4705-BFB9A6C88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81FF4-CBB3-DF43-B274-0E49682E64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5795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35CFA-8D10-3E2E-373C-2F081AFE0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2A0BFB-BC27-A9E7-07A5-132207ECFD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E09C5E-A10D-61AF-68FE-F6189A6D36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95F8AE-C77D-75A8-131A-0A78F5273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8B931-ED0F-3748-9204-C6843B297667}" type="datetime1">
              <a:rPr lang="it-IT" smtClean="0"/>
              <a:t>20/05/26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CD03AA-DCFD-F207-4904-47397A802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4C5ED9-CBFC-484A-00D8-5F7CDE1DB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81FF4-CBB3-DF43-B274-0E49682E64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7749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8BC83-D65B-608D-6D09-6E4F89F05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61D668-C333-3BFB-24B5-54C7B1D24D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AD480B-4957-8E82-2CE6-7D6E5AF17F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86F829-BF08-B017-B4E1-0D2BE10F7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3929F-A19A-A748-830C-417AFDBDB1DC}" type="datetime1">
              <a:rPr lang="it-IT" smtClean="0"/>
              <a:t>20/05/26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B3B83A-5740-2DA4-EF94-9D0E0A642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59F975-89BD-8DA9-CD85-F07D9149C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81FF4-CBB3-DF43-B274-0E49682E64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8120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95F4C-4F65-C906-E537-B3371D90D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129AC6-1A64-9432-2F62-96BDA4D13D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270A0F-4DE6-D92F-2006-64D4DC6CF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54C6A-F6EF-4F4A-BEE1-9C470AE8A0BD}" type="datetime1">
              <a:rPr lang="it-IT" smtClean="0"/>
              <a:t>20/05/26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598404-2000-9342-E28E-86E246980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263283-087C-3585-457E-75AEC7A47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81FF4-CBB3-DF43-B274-0E49682E64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9465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CCCA29-C090-EDCB-82EC-E478A551BA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3DF5E1-CBD6-4B5A-01B3-9EB0EC370C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CBAEEB-DD17-D72B-D2B7-99E484BEA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476EF-C96C-C449-9C08-24A87C8761D0}" type="datetime1">
              <a:rPr lang="it-IT" smtClean="0"/>
              <a:t>20/05/26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6D733B-26FC-0D22-B708-EC6383AE8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24785D-ECE4-7DFE-F451-93174E78E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81FF4-CBB3-DF43-B274-0E49682E64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9190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928965B-FBE2-1B9B-E96C-8477732478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A1C60F-66C0-3DD9-05B5-917DB53C90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7B4A06-6142-503A-6DB9-AA16E3ADAC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5174B6-D502-0242-BE5F-35A9F6436F53}" type="datetime1">
              <a:rPr lang="it-IT" smtClean="0"/>
              <a:t>20/05/26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28FAB0-375B-EDA7-3298-B9E1BF870B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352F34-577D-83B9-D981-50CEB5731A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A81FF4-CBB3-DF43-B274-0E49682E64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871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5" Type="http://schemas.openxmlformats.org/officeDocument/2006/relationships/image" Target="../media/image4.emf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73E0B0-F38E-6142-81B2-D6D3EA4BD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325" y="952326"/>
            <a:ext cx="10255475" cy="1357738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400" b="1" dirty="0">
                <a:latin typeface="+mn-lt"/>
              </a:rPr>
              <a:t>Veracity Bias and Beyond: Uncovering LLMs' Hidden Beliefs in Problem-Solving</a:t>
            </a:r>
            <a:br>
              <a:rPr lang="en-US" sz="4400" b="1" dirty="0"/>
            </a:br>
            <a:r>
              <a:rPr lang="en-US" sz="4400" b="1" dirty="0"/>
              <a:t>(ACL 25)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173C662-BD54-5D4B-A1F5-EB0FC7E83F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37483" y="2980807"/>
            <a:ext cx="6917033" cy="270479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kumimoji="1"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Yue Zhou and Barbara Di Eugenio</a:t>
            </a:r>
          </a:p>
          <a:p>
            <a:pPr marL="0" indent="0" algn="ctr">
              <a:buNone/>
            </a:pPr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Department of Computer Science </a:t>
            </a:r>
          </a:p>
          <a:p>
            <a:pPr marL="0" indent="0" algn="ctr">
              <a:buNone/>
            </a:pPr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University of Illinois Chicago </a:t>
            </a:r>
          </a:p>
          <a:p>
            <a:pPr marL="0" indent="0" algn="ctr">
              <a:buNone/>
            </a:pPr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Chicago, IL, USA</a:t>
            </a:r>
          </a:p>
          <a:p>
            <a:pPr marL="0" indent="0" algn="ctr">
              <a:buNone/>
            </a:pPr>
            <a:endParaRPr kumimoji="1"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kumimoji="1"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kumimoji="1"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endParaRPr kumimoji="1"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6" descr="Logo&#10;&#10;Description automatically generated">
            <a:extLst>
              <a:ext uri="{FF2B5EF4-FFF2-40B4-BE49-F238E27FC236}">
                <a16:creationId xmlns:a16="http://schemas.microsoft.com/office/drawing/2014/main" id="{1C04939D-3180-B477-048C-7A40189334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330" y="5537909"/>
            <a:ext cx="917739" cy="917739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EBE842-BFB9-01A5-D70F-13E2772DE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B829E-9366-CA43-A76A-D5E06D76C2C5}" type="slidenum">
              <a:rPr lang="en-US" sz="1600" smtClean="0"/>
              <a:t>1</a:t>
            </a:fld>
            <a:endParaRPr lang="en-US" sz="1600" dirty="0"/>
          </a:p>
        </p:txBody>
      </p:sp>
      <p:pic>
        <p:nvPicPr>
          <p:cNvPr id="7" name="Picture 6" descr="A person wearing glasses and smiling&#10;&#10;AI-generated content may be incorrect.">
            <a:extLst>
              <a:ext uri="{FF2B5EF4-FFF2-40B4-BE49-F238E27FC236}">
                <a16:creationId xmlns:a16="http://schemas.microsoft.com/office/drawing/2014/main" id="{523FC41A-E49E-F094-B494-CCB1F9442C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3516" y="4062396"/>
            <a:ext cx="1418284" cy="1843278"/>
          </a:xfrm>
          <a:prstGeom prst="rect">
            <a:avLst/>
          </a:prstGeom>
        </p:spPr>
      </p:pic>
      <p:pic>
        <p:nvPicPr>
          <p:cNvPr id="8" name="Picture 7" descr="A person with short hair wearing a scarf&#10;&#10;AI-generated content may be incorrect.">
            <a:extLst>
              <a:ext uri="{FF2B5EF4-FFF2-40B4-BE49-F238E27FC236}">
                <a16:creationId xmlns:a16="http://schemas.microsoft.com/office/drawing/2014/main" id="{5722DBBC-6A45-CB25-E347-2A57118F95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63347" y="4062393"/>
            <a:ext cx="14859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601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1D63A3-E3AC-2334-E7A3-A01739903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EB288137-693C-DE1B-5EB2-6EC76C302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5228" y="365123"/>
            <a:ext cx="8295861" cy="1325563"/>
          </a:xfrm>
        </p:spPr>
        <p:txBody>
          <a:bodyPr>
            <a:normAutofit/>
          </a:bodyPr>
          <a:lstStyle/>
          <a:p>
            <a:r>
              <a:rPr kumimoji="1"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 Introduction</a:t>
            </a:r>
            <a:endParaRPr kumimoji="1" lang="zh-CN" alt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内容占位符 8">
            <a:extLst>
              <a:ext uri="{FF2B5EF4-FFF2-40B4-BE49-F238E27FC236}">
                <a16:creationId xmlns:a16="http://schemas.microsoft.com/office/drawing/2014/main" id="{14670ACB-0D60-C4D2-68A9-29AD0884B4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90686"/>
            <a:ext cx="10515600" cy="5032375"/>
          </a:xfrm>
        </p:spPr>
        <p:txBody>
          <a:bodyPr>
            <a:normAutofit/>
          </a:bodyPr>
          <a:lstStyle/>
          <a:p>
            <a:pPr marL="0" indent="0">
              <a:lnSpc>
                <a:spcPct val="140000"/>
              </a:lnSpc>
              <a:buNone/>
            </a:pPr>
            <a:r>
              <a:rPr lang="en-US" sz="3200" dirty="0"/>
              <a:t>LLMs have been shown to exhibit biases under various social contexts:</a:t>
            </a:r>
          </a:p>
          <a:p>
            <a:pPr marL="0" indent="0">
              <a:lnSpc>
                <a:spcPct val="140000"/>
              </a:lnSpc>
              <a:buNone/>
            </a:pPr>
            <a:r>
              <a:rPr lang="en-US" sz="3200" i="1" dirty="0"/>
              <a:t>“you are religious, your answer should reflect your values” </a:t>
            </a:r>
          </a:p>
          <a:p>
            <a:pPr marL="0" indent="0">
              <a:lnSpc>
                <a:spcPct val="140000"/>
              </a:lnSpc>
              <a:buNone/>
            </a:pPr>
            <a:r>
              <a:rPr lang="en-US" sz="3200" dirty="0"/>
              <a:t>or when asked to associate specific attributes with targets:</a:t>
            </a:r>
          </a:p>
          <a:p>
            <a:pPr marL="0" indent="0">
              <a:lnSpc>
                <a:spcPct val="140000"/>
              </a:lnSpc>
              <a:buNone/>
            </a:pPr>
            <a:r>
              <a:rPr lang="en-US" sz="3200" i="1" dirty="0"/>
              <a:t>e.g., “women” </a:t>
            </a:r>
            <a:r>
              <a:rPr lang="en-US" sz="3200" dirty="0"/>
              <a:t>to</a:t>
            </a:r>
            <a:r>
              <a:rPr lang="en-US" sz="3200" i="1" dirty="0"/>
              <a:t> “nurses” </a:t>
            </a:r>
            <a:r>
              <a:rPr lang="en-US" sz="3200" dirty="0"/>
              <a:t>while</a:t>
            </a:r>
            <a:r>
              <a:rPr lang="en-US" sz="3200" i="1" dirty="0"/>
              <a:t> “men’’ </a:t>
            </a:r>
            <a:r>
              <a:rPr lang="en-US" sz="3200" dirty="0"/>
              <a:t>to</a:t>
            </a:r>
            <a:r>
              <a:rPr lang="en-US" sz="3200" i="1" dirty="0"/>
              <a:t> “surgeons”</a:t>
            </a:r>
            <a:endParaRPr lang="en-US" altLang="zh-CN" sz="30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6" descr="Logo&#10;&#10;Description automatically generated">
            <a:extLst>
              <a:ext uri="{FF2B5EF4-FFF2-40B4-BE49-F238E27FC236}">
                <a16:creationId xmlns:a16="http://schemas.microsoft.com/office/drawing/2014/main" id="{76CF912F-EF56-8A23-B8C6-7EDA762E5C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199" y="569391"/>
            <a:ext cx="917029" cy="917029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13E16C7-0622-E5CC-6684-C539F9D65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81FF4-CBB3-DF43-B274-0E49682E6498}" type="slidenum">
              <a:rPr lang="en-US" smtClean="0"/>
              <a:t>2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96798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ADBD7-C148-58A8-B4E0-98E9A1285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8">
            <a:extLst>
              <a:ext uri="{FF2B5EF4-FFF2-40B4-BE49-F238E27FC236}">
                <a16:creationId xmlns:a16="http://schemas.microsoft.com/office/drawing/2014/main" id="{A4245EF9-1E28-41AB-E89E-48A24D3808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90686"/>
            <a:ext cx="10515600" cy="5032375"/>
          </a:xfrm>
        </p:spPr>
        <p:txBody>
          <a:bodyPr>
            <a:normAutofit/>
          </a:bodyPr>
          <a:lstStyle/>
          <a:p>
            <a:pPr marL="0" indent="0">
              <a:lnSpc>
                <a:spcPct val="140000"/>
              </a:lnSpc>
              <a:buNone/>
            </a:pPr>
            <a:r>
              <a:rPr lang="en-US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Veracity bias: </a:t>
            </a:r>
            <a:r>
              <a:rPr lang="en-US" sz="3200" dirty="0"/>
              <a:t>LLMs exhibit concerning biases in how they associate </a:t>
            </a:r>
            <a:r>
              <a:rPr lang="en-US" sz="3200" b="1" dirty="0"/>
              <a:t>solution veracity </a:t>
            </a:r>
            <a:r>
              <a:rPr lang="en-US" sz="3200" dirty="0"/>
              <a:t>with </a:t>
            </a:r>
            <a:r>
              <a:rPr lang="en-US" sz="3200" b="1" dirty="0"/>
              <a:t>demographics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3200" i="1" dirty="0">
                <a:latin typeface="Arial" panose="020B0604020202020204" pitchFamily="34" charset="0"/>
                <a:cs typeface="Arial" panose="020B0604020202020204" pitchFamily="34" charset="0"/>
              </a:rPr>
              <a:t>without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any </a:t>
            </a:r>
            <a:r>
              <a:rPr lang="en-US" sz="3200" dirty="0"/>
              <a:t>social context provocations.</a:t>
            </a:r>
          </a:p>
          <a:p>
            <a:pPr marL="0" indent="0">
              <a:lnSpc>
                <a:spcPct val="140000"/>
              </a:lnSpc>
              <a:buNone/>
            </a:pP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40000"/>
              </a:lnSpc>
              <a:buNone/>
            </a:pP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6" descr="Logo&#10;&#10;Description automatically generated">
            <a:extLst>
              <a:ext uri="{FF2B5EF4-FFF2-40B4-BE49-F238E27FC236}">
                <a16:creationId xmlns:a16="http://schemas.microsoft.com/office/drawing/2014/main" id="{89BA514D-5F46-1A3D-1DAD-D065A9E088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199" y="569391"/>
            <a:ext cx="917029" cy="917029"/>
          </a:xfrm>
          <a:prstGeom prst="rect">
            <a:avLst/>
          </a:prstGeom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C360362C-7B07-9384-CC4B-E1876188BA15}"/>
              </a:ext>
            </a:extLst>
          </p:cNvPr>
          <p:cNvSpPr txBox="1">
            <a:spLocks/>
          </p:cNvSpPr>
          <p:nvPr/>
        </p:nvSpPr>
        <p:spPr>
          <a:xfrm>
            <a:off x="1755228" y="365123"/>
            <a:ext cx="829586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 Introduction</a:t>
            </a:r>
            <a:endParaRPr kumimoji="1" lang="zh-CN" alt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4DDCEC5-98B6-D6BE-4DF2-8056633AD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81FF4-CBB3-DF43-B274-0E49682E6498}" type="slidenum">
              <a:rPr lang="en-US" smtClean="0"/>
              <a:t>3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17323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7F6E1-5CA6-F04E-E623-EEC71F19F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8">
            <a:extLst>
              <a:ext uri="{FF2B5EF4-FFF2-40B4-BE49-F238E27FC236}">
                <a16:creationId xmlns:a16="http://schemas.microsoft.com/office/drawing/2014/main" id="{9A63E396-47F0-6096-4D07-0B75A3DB55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703386"/>
            <a:ext cx="10515600" cy="5032375"/>
          </a:xfrm>
        </p:spPr>
        <p:txBody>
          <a:bodyPr>
            <a:normAutofit/>
          </a:bodyPr>
          <a:lstStyle/>
          <a:p>
            <a:pPr marL="0" indent="0">
              <a:lnSpc>
                <a:spcPct val="140000"/>
              </a:lnSpc>
              <a:buNone/>
            </a:pP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40000"/>
              </a:lnSpc>
              <a:buNone/>
            </a:pP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6" descr="Logo&#10;&#10;Description automatically generated">
            <a:extLst>
              <a:ext uri="{FF2B5EF4-FFF2-40B4-BE49-F238E27FC236}">
                <a16:creationId xmlns:a16="http://schemas.microsoft.com/office/drawing/2014/main" id="{6CD568D2-4CAA-C4D9-2B9E-2B19CDA1DE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199" y="569391"/>
            <a:ext cx="917029" cy="917029"/>
          </a:xfrm>
          <a:prstGeom prst="rect">
            <a:avLst/>
          </a:prstGeom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2943C94E-6CFF-7B78-C5F5-0D38E1CD0C0D}"/>
              </a:ext>
            </a:extLst>
          </p:cNvPr>
          <p:cNvSpPr txBox="1">
            <a:spLocks/>
          </p:cNvSpPr>
          <p:nvPr/>
        </p:nvSpPr>
        <p:spPr>
          <a:xfrm>
            <a:off x="1755228" y="365123"/>
            <a:ext cx="920487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Two new forms of bias: (1) Attribution Bias</a:t>
            </a:r>
            <a:endParaRPr kumimoji="1" lang="zh-CN" alt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9C614E2-408F-6613-43A3-F68E0698C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81FF4-CBB3-DF43-B274-0E49682E6498}" type="slidenum">
              <a:rPr lang="en-US" smtClean="0"/>
              <a:t>4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87ADB2-8078-63BC-5751-C06C48B7B0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4540" y="1690686"/>
            <a:ext cx="6989722" cy="407949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7BD598A-8105-BC90-091E-F1A01ADFBC76}"/>
              </a:ext>
            </a:extLst>
          </p:cNvPr>
          <p:cNvSpPr txBox="1"/>
          <p:nvPr/>
        </p:nvSpPr>
        <p:spPr>
          <a:xfrm>
            <a:off x="532759" y="2304151"/>
            <a:ext cx="369634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cs typeface="Times New Roman" panose="02020603050405020304" pitchFamily="18" charset="0"/>
              </a:rPr>
              <a:t>Attribution Bias: </a:t>
            </a:r>
            <a:r>
              <a:rPr lang="en-GB" sz="3200" dirty="0">
                <a:cs typeface="Times New Roman" panose="02020603050405020304" pitchFamily="18" charset="0"/>
              </a:rPr>
              <a:t>model attributes solutions to demographic groups based on inferred veracity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28823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F0CD72-ACE8-ED1E-449E-59C78EBD2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8">
            <a:extLst>
              <a:ext uri="{FF2B5EF4-FFF2-40B4-BE49-F238E27FC236}">
                <a16:creationId xmlns:a16="http://schemas.microsoft.com/office/drawing/2014/main" id="{EA848B68-A2AA-A5E1-770C-5A001B9B15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90686"/>
            <a:ext cx="10515600" cy="5032375"/>
          </a:xfrm>
        </p:spPr>
        <p:txBody>
          <a:bodyPr>
            <a:normAutofit/>
          </a:bodyPr>
          <a:lstStyle/>
          <a:p>
            <a:pPr marL="0" indent="0">
              <a:lnSpc>
                <a:spcPct val="140000"/>
              </a:lnSpc>
              <a:buNone/>
            </a:pP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40000"/>
              </a:lnSpc>
              <a:buNone/>
            </a:pP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6" descr="Logo&#10;&#10;Description automatically generated">
            <a:extLst>
              <a:ext uri="{FF2B5EF4-FFF2-40B4-BE49-F238E27FC236}">
                <a16:creationId xmlns:a16="http://schemas.microsoft.com/office/drawing/2014/main" id="{506705FB-06F5-D1A8-0099-DD51750542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569391"/>
            <a:ext cx="917029" cy="917029"/>
          </a:xfrm>
          <a:prstGeom prst="rect">
            <a:avLst/>
          </a:prstGeom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80D49CE-61C3-B10A-3356-B6F89E64CD3E}"/>
              </a:ext>
            </a:extLst>
          </p:cNvPr>
          <p:cNvSpPr txBox="1">
            <a:spLocks/>
          </p:cNvSpPr>
          <p:nvPr/>
        </p:nvSpPr>
        <p:spPr>
          <a:xfrm>
            <a:off x="1755228" y="365123"/>
            <a:ext cx="829586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kumimoji="1" lang="zh-CN" alt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C1A1605-639F-5C99-3FB9-CB6EFA964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81FF4-CBB3-DF43-B274-0E49682E6498}" type="slidenum">
              <a:rPr lang="en-US" smtClean="0"/>
              <a:t>5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A63FCE-AB68-0427-DBE0-4E339FE992F2}"/>
              </a:ext>
            </a:extLst>
          </p:cNvPr>
          <p:cNvSpPr txBox="1"/>
          <p:nvPr/>
        </p:nvSpPr>
        <p:spPr>
          <a:xfrm>
            <a:off x="357328" y="2261898"/>
            <a:ext cx="3998772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="1" dirty="0">
                <a:cs typeface="Times New Roman" panose="02020603050405020304" pitchFamily="18" charset="0"/>
              </a:rPr>
              <a:t>Evaluation Bias: </a:t>
            </a:r>
            <a:r>
              <a:rPr lang="en-GB" sz="3200" dirty="0">
                <a:cs typeface="Times New Roman" panose="02020603050405020304" pitchFamily="18" charset="0"/>
              </a:rPr>
              <a:t>model assesses veracity of </a:t>
            </a:r>
            <a:r>
              <a:rPr lang="en-GB" sz="3200" i="1" dirty="0">
                <a:cs typeface="Times New Roman" panose="02020603050405020304" pitchFamily="18" charset="0"/>
              </a:rPr>
              <a:t>identical solutions</a:t>
            </a:r>
            <a:r>
              <a:rPr lang="en-GB" sz="3200" dirty="0">
                <a:cs typeface="Times New Roman" panose="02020603050405020304" pitchFamily="18" charset="0"/>
              </a:rPr>
              <a:t> depending on perceived demographic of author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2003EA9-6E5D-9509-907C-91697482C8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0101" y="1690685"/>
            <a:ext cx="7224570" cy="4434390"/>
          </a:xfrm>
          <a:prstGeom prst="rect">
            <a:avLst/>
          </a:prstGeom>
        </p:spPr>
      </p:pic>
      <p:sp>
        <p:nvSpPr>
          <p:cNvPr id="12" name="标题 1">
            <a:extLst>
              <a:ext uri="{FF2B5EF4-FFF2-40B4-BE49-F238E27FC236}">
                <a16:creationId xmlns:a16="http://schemas.microsoft.com/office/drawing/2014/main" id="{CEE890EB-0E50-8604-51BA-D5C852B7139C}"/>
              </a:ext>
            </a:extLst>
          </p:cNvPr>
          <p:cNvSpPr txBox="1">
            <a:spLocks/>
          </p:cNvSpPr>
          <p:nvPr/>
        </p:nvSpPr>
        <p:spPr>
          <a:xfrm>
            <a:off x="1755228" y="365123"/>
            <a:ext cx="920487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Two new forms of bias: (2) Evaluation Bias</a:t>
            </a:r>
            <a:endParaRPr kumimoji="1" lang="zh-CN" alt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3433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004D1-5786-4AD4-E455-4E5305AAC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 descr="Logo&#10;&#10;Description automatically generated">
            <a:extLst>
              <a:ext uri="{FF2B5EF4-FFF2-40B4-BE49-F238E27FC236}">
                <a16:creationId xmlns:a16="http://schemas.microsoft.com/office/drawing/2014/main" id="{A3B1B0C6-7A79-0F4C-7019-D2E51DECEC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569391"/>
            <a:ext cx="917029" cy="917029"/>
          </a:xfrm>
          <a:prstGeom prst="rect">
            <a:avLst/>
          </a:prstGeom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6E610E61-6798-12C1-358D-81805DDA8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5228" y="365123"/>
            <a:ext cx="8295861" cy="1325563"/>
          </a:xfrm>
        </p:spPr>
        <p:txBody>
          <a:bodyPr>
            <a:normAutofit/>
          </a:bodyPr>
          <a:lstStyle/>
          <a:p>
            <a:r>
              <a:rPr kumimoji="1"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  <a:t>Experimental Settings</a:t>
            </a:r>
            <a:endParaRPr kumimoji="1" lang="zh-CN" altLang="en-U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455EF5-9372-10B3-4654-3CFDBD8084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90686"/>
            <a:ext cx="11168271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Datasets: </a:t>
            </a:r>
          </a:p>
          <a:p>
            <a:pPr>
              <a:buFontTx/>
              <a:buChar char="-"/>
            </a:pPr>
            <a:r>
              <a:rPr lang="en-US" dirty="0"/>
              <a:t>Math (GSM8K, MATH500)</a:t>
            </a:r>
          </a:p>
          <a:p>
            <a:pPr>
              <a:buFontTx/>
              <a:buChar char="-"/>
            </a:pPr>
            <a:r>
              <a:rPr lang="en-US" dirty="0"/>
              <a:t>Coding (</a:t>
            </a:r>
            <a:r>
              <a:rPr lang="en-US" dirty="0" err="1"/>
              <a:t>HumanEval</a:t>
            </a:r>
            <a:r>
              <a:rPr lang="en-US" dirty="0"/>
              <a:t>)</a:t>
            </a:r>
          </a:p>
          <a:p>
            <a:pPr>
              <a:buFontTx/>
              <a:buChar char="-"/>
            </a:pPr>
            <a:r>
              <a:rPr lang="en-US" dirty="0"/>
              <a:t>Commonsense Reasoning (</a:t>
            </a:r>
            <a:r>
              <a:rPr lang="en-US" dirty="0" err="1"/>
              <a:t>CommonsenseQA</a:t>
            </a:r>
            <a:r>
              <a:rPr lang="en-US" dirty="0"/>
              <a:t>, ARC-easy)</a:t>
            </a:r>
          </a:p>
          <a:p>
            <a:pPr>
              <a:buFontTx/>
              <a:buChar char="-"/>
            </a:pPr>
            <a:r>
              <a:rPr lang="en-US" dirty="0"/>
              <a:t>Essay Evaluation (ASAP-AES)</a:t>
            </a:r>
          </a:p>
          <a:p>
            <a:pPr>
              <a:buFontTx/>
              <a:buChar char="-"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LLMs:</a:t>
            </a:r>
          </a:p>
          <a:p>
            <a:pPr marL="0" indent="0">
              <a:buNone/>
            </a:pPr>
            <a:r>
              <a:rPr lang="en-US" dirty="0"/>
              <a:t>- GPT-3.5-turbo, GPT-4o, Claude-3 sonnet, Gemini-Pro-1.5, LLaMA-3-8b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0ABEC20-56DD-5333-F3AE-DC615249C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81FF4-CBB3-DF43-B274-0E49682E649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5969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A32ED-F67D-8F76-E774-6D943E29D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00" y="314157"/>
            <a:ext cx="10515600" cy="1325563"/>
          </a:xfrm>
        </p:spPr>
        <p:txBody>
          <a:bodyPr>
            <a:normAutofit/>
          </a:bodyPr>
          <a:lstStyle/>
          <a:p>
            <a:r>
              <a:rPr kumimoji="1"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Experimental Settings (1): Prompts</a:t>
            </a:r>
            <a:endParaRPr lang="en-IT" sz="4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B6C8EF-D436-30B1-AF89-9DA8B2D39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81FF4-CBB3-DF43-B274-0E49682E6498}" type="slidenum">
              <a:rPr lang="en-US" smtClean="0"/>
              <a:t>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2D88FD-D179-D637-DC59-E246F287DF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033" y="1690688"/>
            <a:ext cx="5465967" cy="360521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75C3E84-715C-3F32-9424-E3D06FDEF3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2533" y="1639720"/>
            <a:ext cx="6359467" cy="3578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71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DB6A46-CE1B-FE17-856F-22D11F4BA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 descr="Logo&#10;&#10;Description automatically generated">
            <a:extLst>
              <a:ext uri="{FF2B5EF4-FFF2-40B4-BE49-F238E27FC236}">
                <a16:creationId xmlns:a16="http://schemas.microsoft.com/office/drawing/2014/main" id="{09F3FD92-693F-BC03-2ACC-F6EC178668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569391"/>
            <a:ext cx="917029" cy="917029"/>
          </a:xfrm>
          <a:prstGeom prst="rect">
            <a:avLst/>
          </a:prstGeom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2E9E0BA6-27D0-9ADA-254F-606A63F40E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5228" y="365123"/>
            <a:ext cx="8295861" cy="1325563"/>
          </a:xfrm>
        </p:spPr>
        <p:txBody>
          <a:bodyPr>
            <a:normAutofit/>
          </a:bodyPr>
          <a:lstStyle/>
          <a:p>
            <a:r>
              <a:rPr kumimoji="1"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  <a:t>Experimental Settings (2)</a:t>
            </a:r>
            <a:endParaRPr kumimoji="1" lang="zh-CN" altLang="en-U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FCDE91-1B0D-A920-E602-7070D0BE99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90686"/>
            <a:ext cx="11168271" cy="4351338"/>
          </a:xfrm>
        </p:spPr>
        <p:txBody>
          <a:bodyPr>
            <a:normAutofit/>
          </a:bodyPr>
          <a:lstStyle/>
          <a:p>
            <a:r>
              <a:rPr lang="en-US" sz="3000" b="1" dirty="0"/>
              <a:t>Attribution bias:</a:t>
            </a:r>
            <a:r>
              <a:rPr lang="en-US" sz="3000" dirty="0"/>
              <a:t> Solution and demographic pairs  randomized each time </a:t>
            </a:r>
          </a:p>
          <a:p>
            <a:pPr>
              <a:lnSpc>
                <a:spcPct val="120000"/>
              </a:lnSpc>
            </a:pPr>
            <a:r>
              <a:rPr lang="en-US" sz="3000" b="1" dirty="0"/>
              <a:t>Problems:</a:t>
            </a:r>
            <a:r>
              <a:rPr lang="en-US" sz="3000" dirty="0"/>
              <a:t> those that  LLM can solve at multiple temperature to ensure it knows  correctness of  solution</a:t>
            </a:r>
          </a:p>
          <a:p>
            <a:pPr>
              <a:lnSpc>
                <a:spcPct val="120000"/>
              </a:lnSpc>
            </a:pPr>
            <a:r>
              <a:rPr lang="en-US" sz="3000" b="1" dirty="0"/>
              <a:t>Rubrics: </a:t>
            </a:r>
            <a:r>
              <a:rPr lang="en-US" sz="3000" dirty="0"/>
              <a:t>Binary other than essays (1-6)</a:t>
            </a:r>
          </a:p>
          <a:p>
            <a:pPr>
              <a:lnSpc>
                <a:spcPct val="120000"/>
              </a:lnSpc>
            </a:pPr>
            <a:endParaRPr lang="en-US" sz="30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6F69BAA-CD1C-4479-83C7-65CD74B05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81FF4-CBB3-DF43-B274-0E49682E649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9137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0BC3AC-5BAC-B3BE-09EC-739111B8C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 descr="Logo&#10;&#10;Description automatically generated">
            <a:extLst>
              <a:ext uri="{FF2B5EF4-FFF2-40B4-BE49-F238E27FC236}">
                <a16:creationId xmlns:a16="http://schemas.microsoft.com/office/drawing/2014/main" id="{A78F9221-A595-6830-75A5-C10F512DB3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569391"/>
            <a:ext cx="917029" cy="917029"/>
          </a:xfrm>
          <a:prstGeom prst="rect">
            <a:avLst/>
          </a:prstGeom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5415E8D9-29F3-A240-32B7-E15C84D0E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5228" y="365123"/>
            <a:ext cx="8295861" cy="1325563"/>
          </a:xfrm>
        </p:spPr>
        <p:txBody>
          <a:bodyPr>
            <a:normAutofit/>
          </a:bodyPr>
          <a:lstStyle/>
          <a:p>
            <a:r>
              <a:rPr kumimoji="1"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  <a:t>Experimental Settings (3): Metrics</a:t>
            </a:r>
            <a:br>
              <a:rPr kumimoji="1" lang="en-US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1" lang="zh-CN" altLang="en-U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DCA52C-ADA8-54A6-E458-50B119FA04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9299" y="1488006"/>
            <a:ext cx="11163301" cy="4868344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en-GB" dirty="0">
                <a:cs typeface="Times New Roman" panose="02020603050405020304" pitchFamily="18" charset="0"/>
              </a:rPr>
              <a:t>Correctness Attribution Bias and Incorrectness Attribution Bias: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i="1" dirty="0"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sz="2000" i="1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sz="2000" i="1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sz="2000" i="1" dirty="0"/>
          </a:p>
          <a:p>
            <a:pPr marL="0" indent="0">
              <a:buNone/>
              <a:defRPr/>
            </a:pPr>
            <a:r>
              <a:rPr lang="en-GB" dirty="0">
                <a:cs typeface="Times New Roman" panose="02020603050405020304" pitchFamily="18" charset="0"/>
              </a:rPr>
              <a:t>Evaluation Preference  [and Evaluation Inconsistency]: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sz="2000" i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8764215-B269-2D9F-99CA-EDAA1EEE5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81FF4-CBB3-DF43-B274-0E49682E6498}" type="slidenum">
              <a:rPr lang="en-US" smtClean="0"/>
              <a:t>9</a:t>
            </a:fld>
            <a:endParaRPr lang="en-US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7AED56D1-0016-65E3-B24B-7E68DBA9A9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39678" y="2150787"/>
            <a:ext cx="6603270" cy="1325563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CCB9C00-B07B-3CB5-DEFC-CCE30F9C64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41313" y="5378630"/>
            <a:ext cx="4314526" cy="78051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8C46DA6-082D-105C-F075-EC69F16FA3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39678" y="4473974"/>
            <a:ext cx="3668813" cy="53953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3D7B479-46F0-E258-0446-30C648E52498}"/>
              </a:ext>
            </a:extLst>
          </p:cNvPr>
          <p:cNvSpPr txBox="1"/>
          <p:nvPr/>
        </p:nvSpPr>
        <p:spPr>
          <a:xfrm>
            <a:off x="5594349" y="5466749"/>
            <a:ext cx="825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T" sz="2800" dirty="0"/>
              <a:t>[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69E39E-D1A8-7875-44A8-802E96E7CB34}"/>
              </a:ext>
            </a:extLst>
          </p:cNvPr>
          <p:cNvSpPr txBox="1"/>
          <p:nvPr/>
        </p:nvSpPr>
        <p:spPr>
          <a:xfrm>
            <a:off x="10155839" y="5466749"/>
            <a:ext cx="825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T" sz="2800" dirty="0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40195749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B31C46-94B9-EA25-FF1D-1451576DC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 descr="Logo&#10;&#10;Description automatically generated">
            <a:extLst>
              <a:ext uri="{FF2B5EF4-FFF2-40B4-BE49-F238E27FC236}">
                <a16:creationId xmlns:a16="http://schemas.microsoft.com/office/drawing/2014/main" id="{6334719B-2606-067C-B982-BF0C4B9E3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431101"/>
            <a:ext cx="917029" cy="917029"/>
          </a:xfrm>
          <a:prstGeom prst="rect">
            <a:avLst/>
          </a:prstGeom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EA102E72-4721-5A6D-4030-576C7A283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5228" y="226835"/>
            <a:ext cx="9306472" cy="1325563"/>
          </a:xfrm>
        </p:spPr>
        <p:txBody>
          <a:bodyPr>
            <a:normAutofit fontScale="90000"/>
          </a:bodyPr>
          <a:lstStyle/>
          <a:p>
            <a:br>
              <a:rPr kumimoji="1" lang="en-US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1" lang="en-US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  <a:t>Results: Attribution Bias, Demographics</a:t>
            </a:r>
            <a:br>
              <a:rPr kumimoji="1" lang="en-US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3600" dirty="0">
                <a:cs typeface="Times New Roman" panose="02020603050405020304" pitchFamily="18" charset="0"/>
              </a:rPr>
              <a:t>(A=Asian; W=White; B=Black)</a:t>
            </a:r>
            <a:br>
              <a:rPr lang="en-GB" sz="3600" dirty="0">
                <a:cs typeface="Times New Roman" panose="02020603050405020304" pitchFamily="18" charset="0"/>
              </a:rPr>
            </a:br>
            <a:r>
              <a:rPr kumimoji="1" lang="en-US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  <a:t>      </a:t>
            </a:r>
            <a:endParaRPr kumimoji="1" lang="zh-CN" altLang="en-U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981C16B-A8AA-A4CA-D1FE-05235F5F2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81FF4-CBB3-DF43-B274-0E49682E6498}" type="slidenum">
              <a:rPr lang="en-US" smtClean="0"/>
              <a:t>10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1CE13E-DDDC-66E9-CD36-C4A3F43D4475}"/>
              </a:ext>
            </a:extLst>
          </p:cNvPr>
          <p:cNvSpPr txBox="1"/>
          <p:nvPr/>
        </p:nvSpPr>
        <p:spPr>
          <a:xfrm>
            <a:off x="921755" y="5061541"/>
            <a:ext cx="10771209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800" dirty="0">
                <a:cs typeface="Times New Roman" panose="02020603050405020304" pitchFamily="18" charset="0"/>
              </a:rPr>
              <a:t>Black demographic  (B) consistently least likely to be associated with correct solutions across tasks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B9FED2D7-125E-4F09-2992-D411160D51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8146210"/>
              </p:ext>
            </p:extLst>
          </p:nvPr>
        </p:nvGraphicFramePr>
        <p:xfrm>
          <a:off x="838199" y="1647687"/>
          <a:ext cx="10720705" cy="1463040"/>
        </p:xfrm>
        <a:graphic>
          <a:graphicData uri="http://schemas.openxmlformats.org/drawingml/2006/table">
            <a:tbl>
              <a:tblPr>
                <a:solidFill>
                  <a:schemeClr val="accent2">
                    <a:lumMod val="20000"/>
                    <a:lumOff val="80000"/>
                  </a:schemeClr>
                </a:solidFill>
                <a:tableStyleId>{284E427A-3D55-4303-BF80-6455036E1DE7}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2419375749"/>
                    </a:ext>
                  </a:extLst>
                </a:gridCol>
                <a:gridCol w="1957705">
                  <a:extLst>
                    <a:ext uri="{9D8B030D-6E8A-4147-A177-3AD203B41FA5}">
                      <a16:colId xmlns:a16="http://schemas.microsoft.com/office/drawing/2014/main" val="1219790734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92672274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504128007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4161227478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79608747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GPT-4o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GPT-3.5-turbo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Claude-3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Gemini-1.5-Pro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LLaMA-3-8b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508139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/>
                        <a:t>Math</a:t>
                      </a:r>
                      <a:endParaRPr lang="en-US" dirty="0"/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14 (A) / </a:t>
                      </a:r>
                      <a:r>
                        <a:rPr lang="en-US" b="1" dirty="0"/>
                        <a:t>21 (B)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60 (W) / </a:t>
                      </a:r>
                      <a:r>
                        <a:rPr lang="en-US" b="1" dirty="0"/>
                        <a:t>36 (B)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14 (W) / </a:t>
                      </a:r>
                      <a:r>
                        <a:rPr lang="en-US" b="1" dirty="0"/>
                        <a:t>20 (B)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22 (W) / </a:t>
                      </a:r>
                      <a:r>
                        <a:rPr lang="en-US" b="1" dirty="0"/>
                        <a:t>28 (B)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36 (W) / </a:t>
                      </a:r>
                      <a:r>
                        <a:rPr lang="en-US" b="1" dirty="0"/>
                        <a:t>38 (B)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439485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/>
                        <a:t>Coding</a:t>
                      </a:r>
                      <a:endParaRPr lang="en-US" dirty="0"/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57 (A) / 46 (W)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 (A) / </a:t>
                      </a:r>
                      <a:r>
                        <a:rPr lang="en-US" b="1" dirty="0"/>
                        <a:t>10 (B)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 (A) / </a:t>
                      </a:r>
                      <a:r>
                        <a:rPr lang="en-US" b="1" dirty="0"/>
                        <a:t>28 (B)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28 (A) / </a:t>
                      </a:r>
                      <a:r>
                        <a:rPr lang="en-US" b="1" dirty="0"/>
                        <a:t>42 (B)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22 (A) / 16 (W)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693770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/>
                        <a:t>Commonsense</a:t>
                      </a:r>
                      <a:endParaRPr lang="en-US" dirty="0"/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40.4 (W) / 23.4 (A)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 (W) / </a:t>
                      </a:r>
                      <a:r>
                        <a:rPr lang="en-US" b="1" dirty="0"/>
                        <a:t>10 (B)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18.8 (A) / </a:t>
                      </a:r>
                      <a:r>
                        <a:rPr lang="en-US" b="1" dirty="0"/>
                        <a:t>25 (B)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 (W) / </a:t>
                      </a:r>
                      <a:r>
                        <a:rPr lang="en-US" b="1" dirty="0"/>
                        <a:t>16 (B)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14 (W) / </a:t>
                      </a:r>
                      <a:r>
                        <a:rPr lang="en-US" b="1" dirty="0"/>
                        <a:t>10 (B)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587700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9BE4DE5-68E2-4DFC-9B4B-75C8157BCE92}"/>
              </a:ext>
            </a:extLst>
          </p:cNvPr>
          <p:cNvSpPr txBox="1"/>
          <p:nvPr/>
        </p:nvSpPr>
        <p:spPr>
          <a:xfrm>
            <a:off x="2453687" y="3301304"/>
            <a:ext cx="68989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Race-Wise </a:t>
            </a:r>
            <a:r>
              <a:rPr lang="en-US" sz="2800" dirty="0" err="1"/>
              <a:t>AB</a:t>
            </a:r>
            <a:r>
              <a:rPr lang="en-US" sz="2800" baseline="-25000" dirty="0" err="1"/>
              <a:t>cor</a:t>
            </a:r>
            <a:r>
              <a:rPr lang="en-US" sz="2800" dirty="0"/>
              <a:t> / </a:t>
            </a:r>
            <a:r>
              <a:rPr lang="en-US" sz="2800" dirty="0" err="1"/>
              <a:t>Ab</a:t>
            </a:r>
            <a:r>
              <a:rPr lang="en-US" sz="2800" baseline="-25000" dirty="0" err="1"/>
              <a:t>inc</a:t>
            </a:r>
            <a:r>
              <a:rPr lang="en-US" sz="2800" baseline="-25000" dirty="0"/>
              <a:t>  </a:t>
            </a:r>
            <a:r>
              <a:rPr lang="en-US" sz="2800" dirty="0"/>
              <a:t>across LLMs and Tasks </a:t>
            </a:r>
            <a:endParaRPr lang="en-US" sz="2800" baseline="-25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71C584-E079-5C61-C884-B4374A8F10A7}"/>
              </a:ext>
            </a:extLst>
          </p:cNvPr>
          <p:cNvSpPr txBox="1"/>
          <p:nvPr/>
        </p:nvSpPr>
        <p:spPr>
          <a:xfrm>
            <a:off x="936798" y="3956266"/>
            <a:ext cx="993271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sz="2400" dirty="0"/>
              <a:t>As example, [Math,GPT-4o]: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T" sz="2400" dirty="0"/>
              <a:t>A(sians) are attributed correct solutions 14% more than incorrect solutions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T" sz="2400" dirty="0"/>
              <a:t>B(Blacks) are attributed incorrect solutions 21% more than correct solutions</a:t>
            </a:r>
          </a:p>
        </p:txBody>
      </p:sp>
    </p:spTree>
    <p:extLst>
      <p:ext uri="{BB962C8B-B14F-4D97-AF65-F5344CB8AC3E}">
        <p14:creationId xmlns:p14="http://schemas.microsoft.com/office/powerpoint/2010/main" val="241438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4" grpId="0"/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CE5E4-F0C9-EA89-4B0F-D472780A4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b="1" dirty="0">
                <a:latin typeface="+mn-lt"/>
              </a:rPr>
              <a:t>Example of bias + reasoning …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FCB23EE-A07F-97C0-5C72-5CD5C72F0B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11580" y="1425388"/>
            <a:ext cx="9747761" cy="475157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73C254-F0B0-C45F-F856-2B7CDAA50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81FF4-CBB3-DF43-B274-0E49682E649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9935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03340-C27F-AB19-D37E-4AAC615F1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b="1" dirty="0">
                <a:latin typeface="+mn-lt"/>
              </a:rPr>
              <a:t>Refusal rates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36B2E3-F0E1-2596-9D3A-7BC61F8A62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sz="3600" dirty="0"/>
              <a:t>Direct attribution prompts:  </a:t>
            </a:r>
          </a:p>
          <a:p>
            <a:r>
              <a:rPr lang="en-GB" sz="3600" dirty="0"/>
              <a:t> GPT-4o refuses but only on race, and only: 14% rate in math, 28% in coding, 6% commonsense; </a:t>
            </a:r>
          </a:p>
          <a:p>
            <a:r>
              <a:rPr lang="en-GB" sz="3600" dirty="0"/>
              <a:t>Claude refuses on race &amp; gender but only 2% on commonsense </a:t>
            </a:r>
          </a:p>
          <a:p>
            <a:pPr marL="0" indent="0">
              <a:buNone/>
            </a:pPr>
            <a:endParaRPr lang="en-GB" sz="3600" dirty="0"/>
          </a:p>
          <a:p>
            <a:r>
              <a:rPr lang="en-GB" sz="3600" dirty="0"/>
              <a:t>Indirect attribution via names: no model refuses to answer</a:t>
            </a:r>
          </a:p>
          <a:p>
            <a:endParaRPr lang="en-I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DDE7DA-1E17-EF0A-BA0B-9B62A3CD9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81FF4-CBB3-DF43-B274-0E49682E649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051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B9F2C0-6D6A-A3BC-73A3-4A54743E1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 descr="Logo&#10;&#10;Description automatically generated">
            <a:extLst>
              <a:ext uri="{FF2B5EF4-FFF2-40B4-BE49-F238E27FC236}">
                <a16:creationId xmlns:a16="http://schemas.microsoft.com/office/drawing/2014/main" id="{16DAA219-BC30-BEFA-44F1-97DE19812C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569391"/>
            <a:ext cx="917029" cy="917029"/>
          </a:xfrm>
          <a:prstGeom prst="rect">
            <a:avLst/>
          </a:prstGeom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5773DAE0-86FD-28ED-EC6A-D1CEF9D7B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5228" y="365123"/>
            <a:ext cx="8798472" cy="1325563"/>
          </a:xfrm>
        </p:spPr>
        <p:txBody>
          <a:bodyPr>
            <a:normAutofit/>
          </a:bodyPr>
          <a:lstStyle/>
          <a:p>
            <a:r>
              <a:rPr kumimoji="1"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  <a:t>Results: Attribution Bias, Gender</a:t>
            </a:r>
            <a:endParaRPr kumimoji="1" lang="zh-CN" altLang="en-U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783E41A-EAAA-F395-99EC-7E3B238FC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81FF4-CBB3-DF43-B274-0E49682E6498}" type="slidenum">
              <a:rPr lang="en-US" smtClean="0"/>
              <a:t>13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8856AE-5D24-C988-4E02-01E298F82D82}"/>
              </a:ext>
            </a:extLst>
          </p:cNvPr>
          <p:cNvSpPr txBox="1"/>
          <p:nvPr/>
        </p:nvSpPr>
        <p:spPr>
          <a:xfrm>
            <a:off x="965200" y="1427933"/>
            <a:ext cx="1064340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800" dirty="0">
                <a:cs typeface="Times New Roman" panose="02020603050405020304" pitchFamily="18" charset="0"/>
              </a:rPr>
              <a:t>Gender-wise attribution bias shows mixed results depending on LLM</a:t>
            </a: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DE85EDB7-36AE-E74F-FA83-22CCE6F637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3050308"/>
              </p:ext>
            </p:extLst>
          </p:nvPr>
        </p:nvGraphicFramePr>
        <p:xfrm>
          <a:off x="965200" y="2927919"/>
          <a:ext cx="10388598" cy="1737360"/>
        </p:xfrm>
        <a:graphic>
          <a:graphicData uri="http://schemas.openxmlformats.org/drawingml/2006/table">
            <a:tbl>
              <a:tblPr>
                <a:tableStyleId>{8A107856-5554-42FB-B03E-39F5DBC370BA}</a:tableStyleId>
              </a:tblPr>
              <a:tblGrid>
                <a:gridCol w="1593343">
                  <a:extLst>
                    <a:ext uri="{9D8B030D-6E8A-4147-A177-3AD203B41FA5}">
                      <a16:colId xmlns:a16="http://schemas.microsoft.com/office/drawing/2014/main" val="1813494804"/>
                    </a:ext>
                  </a:extLst>
                </a:gridCol>
                <a:gridCol w="1759051">
                  <a:extLst>
                    <a:ext uri="{9D8B030D-6E8A-4147-A177-3AD203B41FA5}">
                      <a16:colId xmlns:a16="http://schemas.microsoft.com/office/drawing/2014/main" val="733245530"/>
                    </a:ext>
                  </a:extLst>
                </a:gridCol>
                <a:gridCol w="1759051">
                  <a:extLst>
                    <a:ext uri="{9D8B030D-6E8A-4147-A177-3AD203B41FA5}">
                      <a16:colId xmlns:a16="http://schemas.microsoft.com/office/drawing/2014/main" val="1119922545"/>
                    </a:ext>
                  </a:extLst>
                </a:gridCol>
                <a:gridCol w="1759051">
                  <a:extLst>
                    <a:ext uri="{9D8B030D-6E8A-4147-A177-3AD203B41FA5}">
                      <a16:colId xmlns:a16="http://schemas.microsoft.com/office/drawing/2014/main" val="1932312286"/>
                    </a:ext>
                  </a:extLst>
                </a:gridCol>
                <a:gridCol w="1759051">
                  <a:extLst>
                    <a:ext uri="{9D8B030D-6E8A-4147-A177-3AD203B41FA5}">
                      <a16:colId xmlns:a16="http://schemas.microsoft.com/office/drawing/2014/main" val="1483231628"/>
                    </a:ext>
                  </a:extLst>
                </a:gridCol>
                <a:gridCol w="1759051">
                  <a:extLst>
                    <a:ext uri="{9D8B030D-6E8A-4147-A177-3AD203B41FA5}">
                      <a16:colId xmlns:a16="http://schemas.microsoft.com/office/drawing/2014/main" val="35788997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GPT-4o </a:t>
                      </a:r>
                    </a:p>
                    <a:p>
                      <a:r>
                        <a:rPr lang="en-US" b="1" dirty="0"/>
                        <a:t>(favors F)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GPT-3.5-turbo</a:t>
                      </a:r>
                    </a:p>
                    <a:p>
                      <a:r>
                        <a:rPr lang="en-US" b="1" dirty="0"/>
                        <a:t>(favors F)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Claude-3</a:t>
                      </a:r>
                    </a:p>
                    <a:p>
                      <a:r>
                        <a:rPr lang="en-US" b="1" dirty="0"/>
                        <a:t>(favors M)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Gemini-1.5-Pro</a:t>
                      </a:r>
                    </a:p>
                    <a:p>
                      <a:r>
                        <a:rPr lang="en-US" b="1" dirty="0"/>
                        <a:t>(favors F)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LLaMA-3-8b</a:t>
                      </a:r>
                    </a:p>
                    <a:p>
                      <a:r>
                        <a:rPr lang="en-US" b="1" dirty="0"/>
                        <a:t>(favors M)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34422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/>
                        <a:t>Math</a:t>
                      </a:r>
                      <a:endParaRPr lang="en-US" dirty="0"/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36 (F) / 36 (M)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 (F) / 6 (M)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0 (-) / 0 (-)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24 (F) / 24 (M)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18 (M) / 18 (F)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84766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/>
                        <a:t>Coding</a:t>
                      </a:r>
                      <a:endParaRPr lang="en-US" dirty="0"/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 (F) / 40 (M)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 (F) / 4 (M)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4 (M) / 4 (F)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14 (F) / 14 (M)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4 (M) / 4 (F)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768117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/>
                        <a:t>Commonsense</a:t>
                      </a:r>
                      <a:endParaRPr lang="en-US" dirty="0"/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20 (F) / 20 (M)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 (F) / 10 (M)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6.1 (M) / 6.1 (F)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18 (F) / 18 (M)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 (M) / 6 (F)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5065456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F75B550F-FC29-F981-0A07-1925F9BF714A}"/>
              </a:ext>
            </a:extLst>
          </p:cNvPr>
          <p:cNvSpPr txBox="1"/>
          <p:nvPr/>
        </p:nvSpPr>
        <p:spPr>
          <a:xfrm>
            <a:off x="2753939" y="4987594"/>
            <a:ext cx="72282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Gender-Wise </a:t>
            </a:r>
            <a:r>
              <a:rPr lang="en-US" sz="2800" dirty="0" err="1"/>
              <a:t>AB</a:t>
            </a:r>
            <a:r>
              <a:rPr lang="en-US" sz="2800" baseline="-25000" dirty="0" err="1"/>
              <a:t>cor</a:t>
            </a:r>
            <a:r>
              <a:rPr lang="en-US" sz="2800" dirty="0"/>
              <a:t> / </a:t>
            </a:r>
            <a:r>
              <a:rPr lang="en-US" sz="2800" dirty="0" err="1"/>
              <a:t>AB</a:t>
            </a:r>
            <a:r>
              <a:rPr lang="en-US" sz="2800" baseline="-25000" dirty="0" err="1"/>
              <a:t>inc</a:t>
            </a:r>
            <a:r>
              <a:rPr lang="en-US" sz="2800" baseline="-25000" dirty="0"/>
              <a:t> </a:t>
            </a:r>
            <a:r>
              <a:rPr lang="en-US" sz="2800" dirty="0"/>
              <a:t>across LLMs and Tasks </a:t>
            </a:r>
            <a:endParaRPr lang="en-US" sz="2800" baseline="-25000" dirty="0"/>
          </a:p>
        </p:txBody>
      </p:sp>
    </p:spTree>
    <p:extLst>
      <p:ext uri="{BB962C8B-B14F-4D97-AF65-F5344CB8AC3E}">
        <p14:creationId xmlns:p14="http://schemas.microsoft.com/office/powerpoint/2010/main" val="14874834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6F827E-83B8-ADA5-4545-D2AC6AB369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 descr="Logo&#10;&#10;Description automatically generated">
            <a:extLst>
              <a:ext uri="{FF2B5EF4-FFF2-40B4-BE49-F238E27FC236}">
                <a16:creationId xmlns:a16="http://schemas.microsoft.com/office/drawing/2014/main" id="{7FF0F7FB-7DB4-B090-8344-0D615B9DD4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569391"/>
            <a:ext cx="917029" cy="917029"/>
          </a:xfrm>
          <a:prstGeom prst="rect">
            <a:avLst/>
          </a:prstGeom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1D8E33A4-7AE5-174F-633F-34B1149A2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5228" y="365123"/>
            <a:ext cx="8295861" cy="1325563"/>
          </a:xfrm>
        </p:spPr>
        <p:txBody>
          <a:bodyPr>
            <a:normAutofit/>
          </a:bodyPr>
          <a:lstStyle/>
          <a:p>
            <a:r>
              <a:rPr kumimoji="1"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  <a:t>Main Results: Evaluation Bias</a:t>
            </a:r>
            <a:endParaRPr kumimoji="1" lang="zh-CN" altLang="en-U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8BA5536-B1F0-9110-F5C7-24BC512FC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81FF4-CBB3-DF43-B274-0E49682E6498}" type="slidenum">
              <a:rPr lang="en-US" smtClean="0"/>
              <a:t>14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78AD41-D869-AA2F-112F-653B04989609}"/>
              </a:ext>
            </a:extLst>
          </p:cNvPr>
          <p:cNvSpPr txBox="1"/>
          <p:nvPr/>
        </p:nvSpPr>
        <p:spPr>
          <a:xfrm>
            <a:off x="918257" y="1640824"/>
            <a:ext cx="3196543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Tx/>
              <a:buChar char="-"/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en-GB" sz="2800" dirty="0">
                <a:cs typeface="Times New Roman" panose="02020603050405020304" pitchFamily="18" charset="0"/>
              </a:rPr>
              <a:t>Evaluation bias appears less severe than attribution bias</a:t>
            </a:r>
          </a:p>
          <a:p>
            <a:pPr marL="285750" indent="-285750">
              <a:buFontTx/>
              <a:buChar char="-"/>
            </a:pPr>
            <a:endParaRPr lang="en-GB" sz="2400" dirty="0"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en-GB" sz="2800" b="1" dirty="0">
                <a:cs typeface="Times New Roman" panose="02020603050405020304" pitchFamily="18" charset="0"/>
              </a:rPr>
              <a:t>Asian </a:t>
            </a:r>
            <a:r>
              <a:rPr lang="en-GB" sz="2800" dirty="0">
                <a:cs typeface="Times New Roman" panose="02020603050405020304" pitchFamily="18" charset="0"/>
              </a:rPr>
              <a:t>groups receive lowest scores/evaluation on average for  same essay</a:t>
            </a:r>
          </a:p>
          <a:p>
            <a:pPr marL="571500" indent="-571500">
              <a:buFontTx/>
              <a:buChar char="-"/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1B7AD225-455C-B255-CB24-24FC128B4E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8938981"/>
              </p:ext>
            </p:extLst>
          </p:nvPr>
        </p:nvGraphicFramePr>
        <p:xfrm>
          <a:off x="4498431" y="1486420"/>
          <a:ext cx="6775312" cy="3867425"/>
        </p:xfrm>
        <a:graphic>
          <a:graphicData uri="http://schemas.openxmlformats.org/drawingml/2006/table">
            <a:tbl>
              <a:tblPr>
                <a:tableStyleId>{21E4AEA4-8DFA-4A89-87EB-49C32662AFE0}</a:tableStyleId>
              </a:tblPr>
              <a:tblGrid>
                <a:gridCol w="1751291">
                  <a:extLst>
                    <a:ext uri="{9D8B030D-6E8A-4147-A177-3AD203B41FA5}">
                      <a16:colId xmlns:a16="http://schemas.microsoft.com/office/drawing/2014/main" val="2981357766"/>
                    </a:ext>
                  </a:extLst>
                </a:gridCol>
                <a:gridCol w="2665678">
                  <a:extLst>
                    <a:ext uri="{9D8B030D-6E8A-4147-A177-3AD203B41FA5}">
                      <a16:colId xmlns:a16="http://schemas.microsoft.com/office/drawing/2014/main" val="448044472"/>
                    </a:ext>
                  </a:extLst>
                </a:gridCol>
                <a:gridCol w="2358343">
                  <a:extLst>
                    <a:ext uri="{9D8B030D-6E8A-4147-A177-3AD203B41FA5}">
                      <a16:colId xmlns:a16="http://schemas.microsoft.com/office/drawing/2014/main" val="1251411800"/>
                    </a:ext>
                  </a:extLst>
                </a:gridCol>
              </a:tblGrid>
              <a:tr h="336298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Model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0" marR="9525" marT="9525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</a:rPr>
                        <a:t>Racial EP (%)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0" marR="9525" marT="9525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Gender EP (%)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0" marR="9525" marT="9525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3295980"/>
                  </a:ext>
                </a:extLst>
              </a:tr>
              <a:tr h="642023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GPT-4o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0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13.3% (Hispanic &gt; </a:t>
                      </a:r>
                      <a:r>
                        <a:rPr lang="en-US" sz="18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Asian</a:t>
                      </a:r>
                      <a:r>
                        <a:rPr lang="en-US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)**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0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3.3% (Female &gt; Male)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0" marR="9525" marT="9525" marB="0" anchor="ctr"/>
                </a:tc>
                <a:extLst>
                  <a:ext uri="{0D108BD9-81ED-4DB2-BD59-A6C34878D82A}">
                    <a16:rowId xmlns:a16="http://schemas.microsoft.com/office/drawing/2014/main" val="1174477212"/>
                  </a:ext>
                </a:extLst>
              </a:tr>
              <a:tr h="321012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Claude-3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0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6.7% (Hispanic &gt; </a:t>
                      </a:r>
                      <a:r>
                        <a:rPr lang="en-US" sz="18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Asian</a:t>
                      </a:r>
                      <a:r>
                        <a:rPr lang="en-US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)**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0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6.7% (Female &gt; Male)**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0" marR="9525" marT="9525" marB="0" anchor="ctr"/>
                </a:tc>
                <a:extLst>
                  <a:ext uri="{0D108BD9-81ED-4DB2-BD59-A6C34878D82A}">
                    <a16:rowId xmlns:a16="http://schemas.microsoft.com/office/drawing/2014/main" val="2817661275"/>
                  </a:ext>
                </a:extLst>
              </a:tr>
              <a:tr h="642023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Gemini-1.5-Pro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0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6.7% (White &gt; </a:t>
                      </a:r>
                      <a:r>
                        <a:rPr lang="en-US" sz="18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Asian</a:t>
                      </a:r>
                      <a:r>
                        <a:rPr lang="en-US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)**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0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10% (Female &gt; Male)**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0" marR="9525" marT="9525" marB="0" anchor="ctr"/>
                </a:tc>
                <a:extLst>
                  <a:ext uri="{0D108BD9-81ED-4DB2-BD59-A6C34878D82A}">
                    <a16:rowId xmlns:a16="http://schemas.microsoft.com/office/drawing/2014/main" val="3944379926"/>
                  </a:ext>
                </a:extLst>
              </a:tr>
              <a:tr h="642023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LLaMA-3-8b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0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13.3% (Hispanic &gt; </a:t>
                      </a:r>
                      <a:r>
                        <a:rPr lang="en-US" sz="18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Asian</a:t>
                      </a:r>
                      <a:r>
                        <a:rPr lang="en-US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)**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0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3.3% (Male &gt; Female)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0" marR="9525" marT="9525" marB="0" anchor="ctr"/>
                </a:tc>
                <a:extLst>
                  <a:ext uri="{0D108BD9-81ED-4DB2-BD59-A6C34878D82A}">
                    <a16:rowId xmlns:a16="http://schemas.microsoft.com/office/drawing/2014/main" val="2580129192"/>
                  </a:ext>
                </a:extLst>
              </a:tr>
              <a:tr h="642023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DeepSeek-V3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0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16.7% (Black &gt;</a:t>
                      </a:r>
                      <a:r>
                        <a:rPr lang="en-US" sz="18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Asian</a:t>
                      </a:r>
                      <a:r>
                        <a:rPr lang="en-US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)∗ 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0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6.7% (Female &gt;Male)∗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0" marR="9525" marT="9525" marB="0" anchor="ctr"/>
                </a:tc>
                <a:extLst>
                  <a:ext uri="{0D108BD9-81ED-4DB2-BD59-A6C34878D82A}">
                    <a16:rowId xmlns:a16="http://schemas.microsoft.com/office/drawing/2014/main" val="3449339262"/>
                  </a:ext>
                </a:extLst>
              </a:tr>
              <a:tr h="642023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 Qwen2.5-72B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0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3.3% (White &gt;Black)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0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3% (Female &gt;Male)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0" marR="9525" marT="9525" marB="0" anchor="ctr"/>
                </a:tc>
                <a:extLst>
                  <a:ext uri="{0D108BD9-81ED-4DB2-BD59-A6C34878D82A}">
                    <a16:rowId xmlns:a16="http://schemas.microsoft.com/office/drawing/2014/main" val="2801098915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F1BE6077-B5F4-C888-3CFF-4F5F3457C443}"/>
              </a:ext>
            </a:extLst>
          </p:cNvPr>
          <p:cNvSpPr txBox="1"/>
          <p:nvPr/>
        </p:nvSpPr>
        <p:spPr>
          <a:xfrm>
            <a:off x="4501439" y="5531932"/>
            <a:ext cx="67723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Evaluation Bias in Writing Assessment. Statistical significance, McNemar tests: ∗∗ p &lt; 0.05, ∗  p &lt; 0.1</a:t>
            </a:r>
          </a:p>
        </p:txBody>
      </p:sp>
    </p:spTree>
    <p:extLst>
      <p:ext uri="{BB962C8B-B14F-4D97-AF65-F5344CB8AC3E}">
        <p14:creationId xmlns:p14="http://schemas.microsoft.com/office/powerpoint/2010/main" val="37874864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73456-340B-78E1-5B6E-DAB2E5361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 descr="Logo&#10;&#10;Description automatically generated">
            <a:extLst>
              <a:ext uri="{FF2B5EF4-FFF2-40B4-BE49-F238E27FC236}">
                <a16:creationId xmlns:a16="http://schemas.microsoft.com/office/drawing/2014/main" id="{63055A88-EC6F-70F3-CB73-5E6C3C1FF6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569391"/>
            <a:ext cx="917029" cy="917029"/>
          </a:xfrm>
          <a:prstGeom prst="rect">
            <a:avLst/>
          </a:prstGeom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63DC9CA7-F80A-202E-54B2-8AD332367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5228" y="365123"/>
            <a:ext cx="8295861" cy="1325563"/>
          </a:xfrm>
        </p:spPr>
        <p:txBody>
          <a:bodyPr>
            <a:normAutofit/>
          </a:bodyPr>
          <a:lstStyle/>
          <a:p>
            <a:r>
              <a:rPr kumimoji="1" lang="en-US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  <a:t>Additional Study</a:t>
            </a:r>
            <a:endParaRPr kumimoji="1" lang="zh-CN" altLang="en-U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42CC949-25F4-A2D7-A0AB-4EC67A85C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81FF4-CBB3-DF43-B274-0E49682E6498}" type="slidenum">
              <a:rPr lang="en-US" smtClean="0"/>
              <a:t>15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A0CC45-732A-957F-5E16-26B1D2F462F5}"/>
              </a:ext>
            </a:extLst>
          </p:cNvPr>
          <p:cNvSpPr txBox="1"/>
          <p:nvPr/>
        </p:nvSpPr>
        <p:spPr>
          <a:xfrm>
            <a:off x="878228" y="1690686"/>
            <a:ext cx="10435543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Tx/>
              <a:buChar char="-"/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400" dirty="0">
                <a:cs typeface="Times New Roman" panose="02020603050405020304" pitchFamily="18" charset="0"/>
              </a:rPr>
              <a:t>Veracity Bias is one manifestation of LLM hidden biases </a:t>
            </a:r>
          </a:p>
          <a:p>
            <a:r>
              <a:rPr lang="en-GB" sz="2400" dirty="0">
                <a:cs typeface="Times New Roman" panose="02020603050405020304" pitchFamily="18" charset="0"/>
              </a:rPr>
              <a:t>LLM can  assign stereotypical </a:t>
            </a:r>
            <a:r>
              <a:rPr lang="en-GB" sz="2400" dirty="0" err="1">
                <a:cs typeface="Times New Roman" panose="02020603050405020304" pitchFamily="18" charset="0"/>
              </a:rPr>
              <a:t>colors</a:t>
            </a:r>
            <a:r>
              <a:rPr lang="en-GB" sz="2400" dirty="0">
                <a:cs typeface="Times New Roman" panose="02020603050405020304" pitchFamily="18" charset="0"/>
              </a:rPr>
              <a:t> to racial groups in its generated plot code </a:t>
            </a:r>
          </a:p>
          <a:p>
            <a:pPr marL="571500" indent="-571500">
              <a:buFontTx/>
              <a:buChar char="-"/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11D92E-33DF-A42C-ABB2-27FBBB98F6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8298" y="3134135"/>
            <a:ext cx="7029209" cy="2695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5336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80EC9-554E-76D5-FBC7-04DE447EC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T" b="1" dirty="0"/>
              <a:t>Conclusions &amp; Future Work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EDCC6D-3DF2-8A70-824C-0CAE56B650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Introduced a </a:t>
            </a:r>
            <a:r>
              <a:rPr lang="en-US" b="1" dirty="0"/>
              <a:t>novel lens on demographic bias</a:t>
            </a:r>
            <a:r>
              <a:rPr lang="en-US" dirty="0"/>
              <a:t> in LLMs:</a:t>
            </a:r>
            <a:br>
              <a:rPr lang="en-US" dirty="0"/>
            </a:br>
            <a:r>
              <a:rPr lang="en-US" dirty="0"/>
              <a:t>Focused on </a:t>
            </a:r>
            <a:r>
              <a:rPr lang="en-US" b="1" dirty="0"/>
              <a:t>reasoning about veracity</a:t>
            </a:r>
            <a:r>
              <a:rPr lang="en-US" dirty="0"/>
              <a:t>, not just social prompts.</a:t>
            </a:r>
          </a:p>
          <a:p>
            <a:endParaRPr lang="en-US" dirty="0"/>
          </a:p>
          <a:p>
            <a:r>
              <a:rPr lang="en-US" b="1" dirty="0"/>
              <a:t>Importance of fairness</a:t>
            </a:r>
            <a:r>
              <a:rPr lang="en-US" dirty="0"/>
              <a:t> in reasoning tasks: Especially relevant as LLMs are used in </a:t>
            </a:r>
            <a:r>
              <a:rPr lang="en-US" b="1" dirty="0"/>
              <a:t>education and assessment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b="1" dirty="0"/>
              <a:t>Broadening the bias discourse</a:t>
            </a:r>
            <a:r>
              <a:rPr lang="en-US" dirty="0"/>
              <a:t>: Beyond traditional fairness tests toward </a:t>
            </a:r>
            <a:r>
              <a:rPr lang="en-US" b="1" dirty="0"/>
              <a:t>reasoning equity</a:t>
            </a:r>
            <a:r>
              <a:rPr lang="en-US" dirty="0"/>
              <a:t>.</a:t>
            </a:r>
          </a:p>
        </p:txBody>
      </p:sp>
      <p:pic>
        <p:nvPicPr>
          <p:cNvPr id="4" name="Picture 6" descr="Logo&#10;&#10;Description automatically generated">
            <a:extLst>
              <a:ext uri="{FF2B5EF4-FFF2-40B4-BE49-F238E27FC236}">
                <a16:creationId xmlns:a16="http://schemas.microsoft.com/office/drawing/2014/main" id="{6045135B-6299-349D-FD0F-F6A6F6DF72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199" y="569391"/>
            <a:ext cx="917029" cy="917029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2243FF-596A-E6DD-CB4B-E75D3EDE1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81FF4-CBB3-DF43-B274-0E49682E6498}" type="slidenum">
              <a:rPr lang="en-US" smtClean="0"/>
              <a:t>16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58858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4|5.7|8.7|4.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|14.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|0.5|4.2|8.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6|11.4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_wcp" id="{5D285711-C3B7-8C4E-AD8E-D4CBA7490C2A}" vid="{0B54B39F-F545-1244-964C-E19277ED413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7432</TotalTime>
  <Words>1891</Words>
  <Application>Microsoft Macintosh PowerPoint</Application>
  <PresentationFormat>Widescreen</PresentationFormat>
  <Paragraphs>218</Paragraphs>
  <Slides>16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Times New Roman</vt:lpstr>
      <vt:lpstr>Office Theme</vt:lpstr>
      <vt:lpstr>Veracity Bias and Beyond: Uncovering LLMs' Hidden Beliefs in Problem-Solving (ACL 25)</vt:lpstr>
      <vt:lpstr> Introduction</vt:lpstr>
      <vt:lpstr>PowerPoint Presentation</vt:lpstr>
      <vt:lpstr>PowerPoint Presentation</vt:lpstr>
      <vt:lpstr>PowerPoint Presentation</vt:lpstr>
      <vt:lpstr> Experimental Settings</vt:lpstr>
      <vt:lpstr>Experimental Settings (1): Prompts</vt:lpstr>
      <vt:lpstr> Experimental Settings (2)</vt:lpstr>
      <vt:lpstr> Experimental Settings (3): Metrics </vt:lpstr>
      <vt:lpstr> Results: Attribution Bias, Demographics (A=Asian; W=White; B=Black)       </vt:lpstr>
      <vt:lpstr>Example of bias + reasoning …</vt:lpstr>
      <vt:lpstr>Refusal rates </vt:lpstr>
      <vt:lpstr> Results: Attribution Bias, Gender</vt:lpstr>
      <vt:lpstr> Main Results: Evaluation Bias</vt:lpstr>
      <vt:lpstr>Additional Study</vt:lpstr>
      <vt:lpstr>Conclusions &amp; Future Work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  Unveiling Performance Challenges of Large Language Models in Low-Resource Healthcare:  A Demographic Fairness Perspective</dc:title>
  <dc:creator>Zhou, Yue</dc:creator>
  <cp:lastModifiedBy>Di Eugenio, Barbara</cp:lastModifiedBy>
  <cp:revision>648</cp:revision>
  <dcterms:created xsi:type="dcterms:W3CDTF">2025-01-12T00:22:50Z</dcterms:created>
  <dcterms:modified xsi:type="dcterms:W3CDTF">2026-05-21T14:37:00Z</dcterms:modified>
</cp:coreProperties>
</file>