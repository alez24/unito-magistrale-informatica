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9" r:id="rId1"/>
  </p:sldMasterIdLst>
  <p:notesMasterIdLst>
    <p:notesMasterId r:id="rId41"/>
  </p:notesMasterIdLst>
  <p:sldIdLst>
    <p:sldId id="579" r:id="rId2"/>
    <p:sldId id="510" r:id="rId3"/>
    <p:sldId id="685" r:id="rId4"/>
    <p:sldId id="593" r:id="rId5"/>
    <p:sldId id="661" r:id="rId6"/>
    <p:sldId id="583" r:id="rId7"/>
    <p:sldId id="681" r:id="rId8"/>
    <p:sldId id="684" r:id="rId9"/>
    <p:sldId id="682" r:id="rId10"/>
    <p:sldId id="683" r:id="rId11"/>
    <p:sldId id="633" r:id="rId12"/>
    <p:sldId id="634" r:id="rId13"/>
    <p:sldId id="635" r:id="rId14"/>
    <p:sldId id="636" r:id="rId15"/>
    <p:sldId id="653" r:id="rId16"/>
    <p:sldId id="638" r:id="rId17"/>
    <p:sldId id="637" r:id="rId18"/>
    <p:sldId id="640" r:id="rId19"/>
    <p:sldId id="543" r:id="rId20"/>
    <p:sldId id="639" r:id="rId21"/>
    <p:sldId id="643" r:id="rId22"/>
    <p:sldId id="642" r:id="rId23"/>
    <p:sldId id="608" r:id="rId24"/>
    <p:sldId id="649" r:id="rId25"/>
    <p:sldId id="647" r:id="rId26"/>
    <p:sldId id="678" r:id="rId27"/>
    <p:sldId id="644" r:id="rId28"/>
    <p:sldId id="686" r:id="rId29"/>
    <p:sldId id="687" r:id="rId30"/>
    <p:sldId id="673" r:id="rId31"/>
    <p:sldId id="650" r:id="rId32"/>
    <p:sldId id="651" r:id="rId33"/>
    <p:sldId id="652" r:id="rId34"/>
    <p:sldId id="281" r:id="rId35"/>
    <p:sldId id="660" r:id="rId36"/>
    <p:sldId id="666" r:id="rId37"/>
    <p:sldId id="667" r:id="rId38"/>
    <p:sldId id="675" r:id="rId39"/>
    <p:sldId id="676" r:id="rId40"/>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096"/>
    <p:restoredTop sz="96327"/>
  </p:normalViewPr>
  <p:slideViewPr>
    <p:cSldViewPr snapToGrid="0" snapToObjects="1">
      <p:cViewPr varScale="1">
        <p:scale>
          <a:sx n="80" d="100"/>
          <a:sy n="80" d="100"/>
        </p:scale>
        <p:origin x="208" y="1192"/>
      </p:cViewPr>
      <p:guideLst/>
    </p:cSldViewPr>
  </p:slideViewPr>
  <p:notesTextViewPr>
    <p:cViewPr>
      <p:scale>
        <a:sx n="1" d="1"/>
        <a:sy n="1" d="1"/>
      </p:scale>
      <p:origin x="0" y="0"/>
    </p:cViewPr>
  </p:notesTextViewPr>
  <p:sorterViewPr>
    <p:cViewPr>
      <p:scale>
        <a:sx n="95" d="100"/>
        <a:sy n="95" d="100"/>
      </p:scale>
      <p:origin x="0" y="0"/>
    </p:cViewPr>
  </p:sorterViewPr>
  <p:notesViewPr>
    <p:cSldViewPr snapToGrid="0" snapToObjects="1">
      <p:cViewPr varScale="1">
        <p:scale>
          <a:sx n="95" d="100"/>
          <a:sy n="95" d="100"/>
        </p:scale>
        <p:origin x="400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E21913-CA0F-4806-A148-2DA5E26954C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6A6FE048-457F-475B-A207-52A078A8014F}">
      <dgm:prSet custT="1"/>
      <dgm:spPr/>
      <dgm:t>
        <a:bodyPr/>
        <a:lstStyle/>
        <a:p>
          <a:pPr>
            <a:buNone/>
          </a:pPr>
          <a:r>
            <a:rPr lang="en-US" sz="2400" dirty="0">
              <a:latin typeface="+mn-lt"/>
            </a:rPr>
            <a:t>End-to-end neuro-symbolic workflow for goal summarization:</a:t>
          </a:r>
        </a:p>
      </dgm:t>
    </dgm:pt>
    <dgm:pt modelId="{8C517F31-FEF3-4BEB-8877-2FD49DCDEC1F}" type="parTrans" cxnId="{2D20D9B5-D72E-4302-8F48-E19D57BD8F6A}">
      <dgm:prSet/>
      <dgm:spPr/>
      <dgm:t>
        <a:bodyPr/>
        <a:lstStyle/>
        <a:p>
          <a:endParaRPr lang="en-US"/>
        </a:p>
      </dgm:t>
    </dgm:pt>
    <dgm:pt modelId="{34C47E8D-6E43-48DE-9592-C0FD425B9FC0}" type="sibTrans" cxnId="{2D20D9B5-D72E-4302-8F48-E19D57BD8F6A}">
      <dgm:prSet/>
      <dgm:spPr/>
      <dgm:t>
        <a:bodyPr/>
        <a:lstStyle/>
        <a:p>
          <a:endParaRPr lang="en-US"/>
        </a:p>
      </dgm:t>
    </dgm:pt>
    <dgm:pt modelId="{A6BAB909-4B12-4CBD-9DC0-08F6E26363E6}">
      <dgm:prSet custT="1"/>
      <dgm:spPr/>
      <dgm:t>
        <a:bodyPr/>
        <a:lstStyle/>
        <a:p>
          <a:r>
            <a:rPr lang="en-US" sz="2400" dirty="0">
              <a:latin typeface="+mn-lt"/>
            </a:rPr>
            <a:t>Neural: model trained to </a:t>
          </a:r>
          <a:r>
            <a:rPr lang="en-GB" sz="2400" dirty="0">
              <a:latin typeface="+mn-lt"/>
            </a:rPr>
            <a:t>generate  </a:t>
          </a:r>
          <a:r>
            <a:rPr lang="en-GB" sz="2400" i="1" dirty="0">
              <a:latin typeface="+mn-lt"/>
            </a:rPr>
            <a:t>executable</a:t>
          </a:r>
          <a:r>
            <a:rPr lang="en-GB" sz="2400" dirty="0">
              <a:latin typeface="+mn-lt"/>
            </a:rPr>
            <a:t> instruction (Copy {Days}) and to extract partial goal ("Walk 2,500 steps")</a:t>
          </a:r>
          <a:endParaRPr lang="en-US" sz="2400" dirty="0">
            <a:latin typeface="+mn-lt"/>
          </a:endParaRPr>
        </a:p>
      </dgm:t>
    </dgm:pt>
    <dgm:pt modelId="{6DCDD774-6363-482C-AD28-ECA4546D52F1}" type="parTrans" cxnId="{43E055AC-3A6B-4037-B06A-2AB4EACD8A20}">
      <dgm:prSet/>
      <dgm:spPr/>
      <dgm:t>
        <a:bodyPr/>
        <a:lstStyle/>
        <a:p>
          <a:endParaRPr lang="en-US"/>
        </a:p>
      </dgm:t>
    </dgm:pt>
    <dgm:pt modelId="{DF99F0D3-B81F-470A-B751-082A2209C558}" type="sibTrans" cxnId="{43E055AC-3A6B-4037-B06A-2AB4EACD8A20}">
      <dgm:prSet/>
      <dgm:spPr/>
      <dgm:t>
        <a:bodyPr/>
        <a:lstStyle/>
        <a:p>
          <a:endParaRPr lang="en-US"/>
        </a:p>
      </dgm:t>
    </dgm:pt>
    <dgm:pt modelId="{1B54AE6A-8A9A-2B4E-BD4D-5664DC1225B2}">
      <dgm:prSet custT="1"/>
      <dgm:spPr/>
      <dgm:t>
        <a:bodyPr/>
        <a:lstStyle/>
        <a:p>
          <a:pPr>
            <a:buNone/>
          </a:pPr>
          <a:endParaRPr lang="en-US" sz="2400" dirty="0">
            <a:latin typeface="+mn-lt"/>
          </a:endParaRPr>
        </a:p>
      </dgm:t>
    </dgm:pt>
    <dgm:pt modelId="{4F9BD4D4-77DF-6847-8DA6-1CB790122B47}" type="parTrans" cxnId="{2EC5CBA4-34FC-7444-BE37-323BE12F8F87}">
      <dgm:prSet/>
      <dgm:spPr/>
      <dgm:t>
        <a:bodyPr/>
        <a:lstStyle/>
        <a:p>
          <a:endParaRPr lang="en-GB"/>
        </a:p>
      </dgm:t>
    </dgm:pt>
    <dgm:pt modelId="{C56BB521-7245-1641-91A0-CD1A9567B0BA}" type="sibTrans" cxnId="{2EC5CBA4-34FC-7444-BE37-323BE12F8F87}">
      <dgm:prSet/>
      <dgm:spPr/>
      <dgm:t>
        <a:bodyPr/>
        <a:lstStyle/>
        <a:p>
          <a:endParaRPr lang="en-GB"/>
        </a:p>
      </dgm:t>
    </dgm:pt>
    <dgm:pt modelId="{E54629B7-080B-3143-97E5-227653E7905D}">
      <dgm:prSet custT="1"/>
      <dgm:spPr/>
      <dgm:t>
        <a:bodyPr/>
        <a:lstStyle/>
        <a:p>
          <a:r>
            <a:rPr lang="en-US" sz="2400" dirty="0">
              <a:latin typeface="+mn-lt"/>
            </a:rPr>
            <a:t>Symbolic: Then model edits partial goal on basis of previous goal and instruction</a:t>
          </a:r>
        </a:p>
      </dgm:t>
    </dgm:pt>
    <dgm:pt modelId="{845DD7BC-E1FB-8345-9450-04999849133E}" type="parTrans" cxnId="{04F26328-BF0A-B64F-8466-C43E3DFCFDBE}">
      <dgm:prSet/>
      <dgm:spPr/>
      <dgm:t>
        <a:bodyPr/>
        <a:lstStyle/>
        <a:p>
          <a:endParaRPr lang="en-GB"/>
        </a:p>
      </dgm:t>
    </dgm:pt>
    <dgm:pt modelId="{9BCB98F5-6994-7148-ADF2-08FB37ED5A6D}" type="sibTrans" cxnId="{04F26328-BF0A-B64F-8466-C43E3DFCFDBE}">
      <dgm:prSet/>
      <dgm:spPr/>
      <dgm:t>
        <a:bodyPr/>
        <a:lstStyle/>
        <a:p>
          <a:endParaRPr lang="en-GB"/>
        </a:p>
      </dgm:t>
    </dgm:pt>
    <dgm:pt modelId="{244AD3BF-3AFC-0C47-93DB-16248E4AF462}" type="pres">
      <dgm:prSet presAssocID="{99E21913-CA0F-4806-A148-2DA5E26954C1}" presName="diagram" presStyleCnt="0">
        <dgm:presLayoutVars>
          <dgm:dir/>
          <dgm:resizeHandles val="exact"/>
        </dgm:presLayoutVars>
      </dgm:prSet>
      <dgm:spPr/>
    </dgm:pt>
    <dgm:pt modelId="{0BA9F3AE-240C-3947-8D90-C323C0C80E60}" type="pres">
      <dgm:prSet presAssocID="{6A6FE048-457F-475B-A207-52A078A8014F}" presName="node" presStyleLbl="node1" presStyleIdx="0" presStyleCnt="1" custScaleX="100000" custScaleY="31858" custLinFactNeighborX="-154" custLinFactNeighborY="-8906">
        <dgm:presLayoutVars>
          <dgm:bulletEnabled val="1"/>
        </dgm:presLayoutVars>
      </dgm:prSet>
      <dgm:spPr/>
    </dgm:pt>
  </dgm:ptLst>
  <dgm:cxnLst>
    <dgm:cxn modelId="{2E4B2001-FD9B-E249-ACFA-82D349390638}" type="presOf" srcId="{1B54AE6A-8A9A-2B4E-BD4D-5664DC1225B2}" destId="{0BA9F3AE-240C-3947-8D90-C323C0C80E60}" srcOrd="0" destOrd="3" presId="urn:microsoft.com/office/officeart/2005/8/layout/default"/>
    <dgm:cxn modelId="{04F26328-BF0A-B64F-8466-C43E3DFCFDBE}" srcId="{6A6FE048-457F-475B-A207-52A078A8014F}" destId="{E54629B7-080B-3143-97E5-227653E7905D}" srcOrd="1" destOrd="0" parTransId="{845DD7BC-E1FB-8345-9450-04999849133E}" sibTransId="{9BCB98F5-6994-7148-ADF2-08FB37ED5A6D}"/>
    <dgm:cxn modelId="{F9A18642-3257-6948-B725-ADB72F935182}" type="presOf" srcId="{99E21913-CA0F-4806-A148-2DA5E26954C1}" destId="{244AD3BF-3AFC-0C47-93DB-16248E4AF462}" srcOrd="0" destOrd="0" presId="urn:microsoft.com/office/officeart/2005/8/layout/default"/>
    <dgm:cxn modelId="{F6514E72-495D-6C4C-93A4-2C35F2A1B277}" type="presOf" srcId="{6A6FE048-457F-475B-A207-52A078A8014F}" destId="{0BA9F3AE-240C-3947-8D90-C323C0C80E60}" srcOrd="0" destOrd="0" presId="urn:microsoft.com/office/officeart/2005/8/layout/default"/>
    <dgm:cxn modelId="{368BC678-BE0A-394F-8294-1D6B0ED9FACE}" type="presOf" srcId="{E54629B7-080B-3143-97E5-227653E7905D}" destId="{0BA9F3AE-240C-3947-8D90-C323C0C80E60}" srcOrd="0" destOrd="2" presId="urn:microsoft.com/office/officeart/2005/8/layout/default"/>
    <dgm:cxn modelId="{2EC5CBA4-34FC-7444-BE37-323BE12F8F87}" srcId="{6A6FE048-457F-475B-A207-52A078A8014F}" destId="{1B54AE6A-8A9A-2B4E-BD4D-5664DC1225B2}" srcOrd="2" destOrd="0" parTransId="{4F9BD4D4-77DF-6847-8DA6-1CB790122B47}" sibTransId="{C56BB521-7245-1641-91A0-CD1A9567B0BA}"/>
    <dgm:cxn modelId="{43E055AC-3A6B-4037-B06A-2AB4EACD8A20}" srcId="{6A6FE048-457F-475B-A207-52A078A8014F}" destId="{A6BAB909-4B12-4CBD-9DC0-08F6E26363E6}" srcOrd="0" destOrd="0" parTransId="{6DCDD774-6363-482C-AD28-ECA4546D52F1}" sibTransId="{DF99F0D3-B81F-470A-B751-082A2209C558}"/>
    <dgm:cxn modelId="{2D20D9B5-D72E-4302-8F48-E19D57BD8F6A}" srcId="{99E21913-CA0F-4806-A148-2DA5E26954C1}" destId="{6A6FE048-457F-475B-A207-52A078A8014F}" srcOrd="0" destOrd="0" parTransId="{8C517F31-FEF3-4BEB-8877-2FD49DCDEC1F}" sibTransId="{34C47E8D-6E43-48DE-9592-C0FD425B9FC0}"/>
    <dgm:cxn modelId="{10AA99CD-E97B-BC4A-B144-96B07C2A18E9}" type="presOf" srcId="{A6BAB909-4B12-4CBD-9DC0-08F6E26363E6}" destId="{0BA9F3AE-240C-3947-8D90-C323C0C80E60}" srcOrd="0" destOrd="1" presId="urn:microsoft.com/office/officeart/2005/8/layout/default"/>
    <dgm:cxn modelId="{64BDC6C1-F22C-6B4E-A87C-D7A90441B341}" type="presParOf" srcId="{244AD3BF-3AFC-0C47-93DB-16248E4AF462}" destId="{0BA9F3AE-240C-3947-8D90-C323C0C80E60}"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A9F3AE-240C-3947-8D90-C323C0C80E60}">
      <dsp:nvSpPr>
        <dsp:cNvPr id="0" name=""/>
        <dsp:cNvSpPr/>
      </dsp:nvSpPr>
      <dsp:spPr>
        <a:xfrm>
          <a:off x="0" y="0"/>
          <a:ext cx="11015321" cy="210555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latin typeface="+mn-lt"/>
            </a:rPr>
            <a:t>End-to-end neuro-symbolic workflow for goal summarization:</a:t>
          </a:r>
        </a:p>
        <a:p>
          <a:pPr marL="228600" lvl="1" indent="-228600" algn="l" defTabSz="1066800">
            <a:lnSpc>
              <a:spcPct val="90000"/>
            </a:lnSpc>
            <a:spcBef>
              <a:spcPct val="0"/>
            </a:spcBef>
            <a:spcAft>
              <a:spcPct val="15000"/>
            </a:spcAft>
            <a:buChar char="•"/>
          </a:pPr>
          <a:r>
            <a:rPr lang="en-US" sz="2400" kern="1200" dirty="0">
              <a:latin typeface="+mn-lt"/>
            </a:rPr>
            <a:t>Neural: model trained to </a:t>
          </a:r>
          <a:r>
            <a:rPr lang="en-GB" sz="2400" kern="1200" dirty="0">
              <a:latin typeface="+mn-lt"/>
            </a:rPr>
            <a:t>generate  </a:t>
          </a:r>
          <a:r>
            <a:rPr lang="en-GB" sz="2400" i="1" kern="1200" dirty="0">
              <a:latin typeface="+mn-lt"/>
            </a:rPr>
            <a:t>executable</a:t>
          </a:r>
          <a:r>
            <a:rPr lang="en-GB" sz="2400" kern="1200" dirty="0">
              <a:latin typeface="+mn-lt"/>
            </a:rPr>
            <a:t> instruction (Copy {Days}) and to extract partial goal ("Walk 2,500 steps")</a:t>
          </a:r>
          <a:endParaRPr lang="en-US" sz="2400" kern="1200" dirty="0">
            <a:latin typeface="+mn-lt"/>
          </a:endParaRPr>
        </a:p>
        <a:p>
          <a:pPr marL="228600" lvl="1" indent="-228600" algn="l" defTabSz="1066800">
            <a:lnSpc>
              <a:spcPct val="90000"/>
            </a:lnSpc>
            <a:spcBef>
              <a:spcPct val="0"/>
            </a:spcBef>
            <a:spcAft>
              <a:spcPct val="15000"/>
            </a:spcAft>
            <a:buChar char="•"/>
          </a:pPr>
          <a:r>
            <a:rPr lang="en-US" sz="2400" kern="1200" dirty="0">
              <a:latin typeface="+mn-lt"/>
            </a:rPr>
            <a:t>Symbolic: Then model edits partial goal on basis of previous goal and instruction</a:t>
          </a:r>
        </a:p>
        <a:p>
          <a:pPr marL="228600" lvl="1" indent="-228600" algn="l" defTabSz="1066800">
            <a:lnSpc>
              <a:spcPct val="90000"/>
            </a:lnSpc>
            <a:spcBef>
              <a:spcPct val="0"/>
            </a:spcBef>
            <a:spcAft>
              <a:spcPct val="15000"/>
            </a:spcAft>
            <a:buNone/>
          </a:pPr>
          <a:endParaRPr lang="en-US" sz="2400" kern="1200" dirty="0">
            <a:latin typeface="+mn-lt"/>
          </a:endParaRPr>
        </a:p>
      </dsp:txBody>
      <dsp:txXfrm>
        <a:off x="0" y="0"/>
        <a:ext cx="11015321" cy="210555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5B5603-95FD-2549-91E1-2F0404487A39}" type="datetimeFigureOut">
              <a:rPr lang="en-IT" smtClean="0"/>
              <a:t>13/05/26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AE790B-BCBB-D045-8167-9E17F7CFDC9D}" type="slidenum">
              <a:rPr lang="en-IT" smtClean="0"/>
              <a:t>‹#›</a:t>
            </a:fld>
            <a:endParaRPr lang="en-IT"/>
          </a:p>
        </p:txBody>
      </p:sp>
    </p:spTree>
    <p:extLst>
      <p:ext uri="{BB962C8B-B14F-4D97-AF65-F5344CB8AC3E}">
        <p14:creationId xmlns:p14="http://schemas.microsoft.com/office/powerpoint/2010/main" val="3217203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21ED056-C1B6-40ED-A405-D343EDEC2FF0}"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22194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68058C-63BC-8547-BBEA-68419AA1CD3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8677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A9534-FC6F-F316-61FD-97C8EC899B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A28DA-8817-46A3-1B4C-816A3237A2DB}"/>
              </a:ext>
            </a:extLst>
          </p:cNvPr>
          <p:cNvSpPr>
            <a:spLocks noGrp="1" noRot="1" noChangeAspect="1"/>
          </p:cNvSpPr>
          <p:nvPr>
            <p:ph type="sldImg"/>
          </p:nvPr>
        </p:nvSpPr>
        <p:spPr>
          <a:xfrm>
            <a:off x="685800" y="1155700"/>
            <a:ext cx="5486400" cy="3086100"/>
          </a:xfrm>
        </p:spPr>
      </p:sp>
      <p:sp>
        <p:nvSpPr>
          <p:cNvPr id="3" name="Notes Placeholder 2">
            <a:extLst>
              <a:ext uri="{FF2B5EF4-FFF2-40B4-BE49-F238E27FC236}">
                <a16:creationId xmlns:a16="http://schemas.microsoft.com/office/drawing/2014/main" id="{7E22AD16-3412-D713-7EA0-D42D333B913B}"/>
              </a:ext>
            </a:extLst>
          </p:cNvPr>
          <p:cNvSpPr>
            <a:spLocks noGrp="1"/>
          </p:cNvSpPr>
          <p:nvPr>
            <p:ph type="body" idx="1"/>
          </p:nvPr>
        </p:nvSpPr>
        <p:spPr/>
        <p:txBody>
          <a:bodyPr/>
          <a:lstStyle/>
          <a:p>
            <a:r>
              <a:rPr lang="en-GB" dirty="0"/>
              <a:t>T</a:t>
            </a:r>
            <a:r>
              <a:rPr lang="en-IT" dirty="0"/>
              <a:t>here is lots of  interdisciplinary research on all that I am presenting! I could fill slides and slides only with references. I will cite just few references and I apologize in advance if you don’t see your relevant work cited. Please talk to me</a:t>
            </a:r>
          </a:p>
          <a:p>
            <a:endParaRPr lang="en-IT" dirty="0"/>
          </a:p>
        </p:txBody>
      </p:sp>
      <p:sp>
        <p:nvSpPr>
          <p:cNvPr id="4" name="Slide Number Placeholder 3">
            <a:extLst>
              <a:ext uri="{FF2B5EF4-FFF2-40B4-BE49-F238E27FC236}">
                <a16:creationId xmlns:a16="http://schemas.microsoft.com/office/drawing/2014/main" id="{9CEF32B9-8CD6-1D11-7B8D-AC0B89E125C8}"/>
              </a:ext>
            </a:extLst>
          </p:cNvPr>
          <p:cNvSpPr>
            <a:spLocks noGrp="1"/>
          </p:cNvSpPr>
          <p:nvPr>
            <p:ph type="sldNum" sz="quarter" idx="5"/>
          </p:nvPr>
        </p:nvSpPr>
        <p:spPr/>
        <p:txBody>
          <a:bodyPr/>
          <a:lstStyle/>
          <a:p>
            <a:fld id="{13AE790B-BCBB-D045-8167-9E17F7CFDC9D}" type="slidenum">
              <a:rPr lang="en-IT" smtClean="0"/>
              <a:t>3</a:t>
            </a:fld>
            <a:endParaRPr lang="en-IT"/>
          </a:p>
        </p:txBody>
      </p:sp>
    </p:spTree>
    <p:extLst>
      <p:ext uri="{BB962C8B-B14F-4D97-AF65-F5344CB8AC3E}">
        <p14:creationId xmlns:p14="http://schemas.microsoft.com/office/powerpoint/2010/main" val="1671920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55700"/>
            <a:ext cx="5486400" cy="3086100"/>
          </a:xfrm>
        </p:spPr>
      </p:sp>
      <p:sp>
        <p:nvSpPr>
          <p:cNvPr id="3" name="Notes Placeholder 2"/>
          <p:cNvSpPr>
            <a:spLocks noGrp="1"/>
          </p:cNvSpPr>
          <p:nvPr>
            <p:ph type="body" idx="1"/>
          </p:nvPr>
        </p:nvSpPr>
        <p:spPr/>
        <p:txBody>
          <a:bodyPr/>
          <a:lstStyle/>
          <a:p>
            <a:r>
              <a:rPr lang="en-GB" dirty="0"/>
              <a:t>T</a:t>
            </a:r>
            <a:r>
              <a:rPr lang="en-IT" dirty="0"/>
              <a:t>here is lots of  interdisciplinary research on all that I am presenting! I could fill slides and slides only with references. I will cite just few references and I apologize in advance if you don’t see your relevant work cited. Please talk to me</a:t>
            </a:r>
          </a:p>
          <a:p>
            <a:endParaRPr lang="en-IT" dirty="0"/>
          </a:p>
        </p:txBody>
      </p:sp>
      <p:sp>
        <p:nvSpPr>
          <p:cNvPr id="4" name="Slide Number Placeholder 3"/>
          <p:cNvSpPr>
            <a:spLocks noGrp="1"/>
          </p:cNvSpPr>
          <p:nvPr>
            <p:ph type="sldNum" sz="quarter" idx="5"/>
          </p:nvPr>
        </p:nvSpPr>
        <p:spPr/>
        <p:txBody>
          <a:bodyPr/>
          <a:lstStyle/>
          <a:p>
            <a:fld id="{13AE790B-BCBB-D045-8167-9E17F7CFDC9D}" type="slidenum">
              <a:rPr lang="en-IT" smtClean="0"/>
              <a:t>4</a:t>
            </a:fld>
            <a:endParaRPr lang="en-IT"/>
          </a:p>
        </p:txBody>
      </p:sp>
    </p:spTree>
    <p:extLst>
      <p:ext uri="{BB962C8B-B14F-4D97-AF65-F5344CB8AC3E}">
        <p14:creationId xmlns:p14="http://schemas.microsoft.com/office/powerpoint/2010/main" val="3219315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4721D-FE85-3CF1-99C7-FDFE48EFBA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C7975-BBC4-20A6-3E06-A670F171763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977A161-12D2-4256-AB62-D091DD36C29B}"/>
              </a:ext>
            </a:extLst>
          </p:cNvPr>
          <p:cNvSpPr>
            <a:spLocks noGrp="1"/>
          </p:cNvSpPr>
          <p:nvPr>
            <p:ph type="body" idx="1"/>
          </p:nvPr>
        </p:nvSpPr>
        <p:spPr/>
        <p:txBody>
          <a:bodyPr/>
          <a:lstStyle/>
          <a:p>
            <a:r>
              <a:rPr lang="en-GB" dirty="0"/>
              <a:t>T</a:t>
            </a:r>
            <a:r>
              <a:rPr lang="en-IT" dirty="0"/>
              <a:t>here is lots of  interdisciplinary research on all that I am presenting! I could fill slides and slides only with references. I will cite just few references and I apologize in advance if you don’t see your relevant work cited. Please talk to me</a:t>
            </a:r>
          </a:p>
          <a:p>
            <a:endParaRPr lang="en-IT" dirty="0"/>
          </a:p>
        </p:txBody>
      </p:sp>
      <p:sp>
        <p:nvSpPr>
          <p:cNvPr id="4" name="Slide Number Placeholder 3">
            <a:extLst>
              <a:ext uri="{FF2B5EF4-FFF2-40B4-BE49-F238E27FC236}">
                <a16:creationId xmlns:a16="http://schemas.microsoft.com/office/drawing/2014/main" id="{D9D50826-42D7-1352-EDF2-130CB48BFFE6}"/>
              </a:ext>
            </a:extLst>
          </p:cNvPr>
          <p:cNvSpPr>
            <a:spLocks noGrp="1"/>
          </p:cNvSpPr>
          <p:nvPr>
            <p:ph type="sldNum" sz="quarter" idx="5"/>
          </p:nvPr>
        </p:nvSpPr>
        <p:spPr/>
        <p:txBody>
          <a:bodyPr/>
          <a:lstStyle/>
          <a:p>
            <a:fld id="{13AE790B-BCBB-D045-8167-9E17F7CFDC9D}" type="slidenum">
              <a:rPr lang="en-IT" smtClean="0"/>
              <a:t>5</a:t>
            </a:fld>
            <a:endParaRPr lang="en-IT"/>
          </a:p>
        </p:txBody>
      </p:sp>
    </p:spTree>
    <p:extLst>
      <p:ext uri="{BB962C8B-B14F-4D97-AF65-F5344CB8AC3E}">
        <p14:creationId xmlns:p14="http://schemas.microsoft.com/office/powerpoint/2010/main" val="170904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6</a:t>
            </a:fld>
            <a:endParaRPr lang="en-IT"/>
          </a:p>
        </p:txBody>
      </p:sp>
    </p:spTree>
    <p:extLst>
      <p:ext uri="{BB962C8B-B14F-4D97-AF65-F5344CB8AC3E}">
        <p14:creationId xmlns:p14="http://schemas.microsoft.com/office/powerpoint/2010/main" val="2716293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IT" dirty="0"/>
              <a:t>Ben Gerber U</a:t>
            </a:r>
            <a:r>
              <a:rPr lang="en-GB" dirty="0"/>
              <a:t>m</a:t>
            </a:r>
            <a:r>
              <a:rPr lang="en-IT" dirty="0"/>
              <a:t>ass</a:t>
            </a:r>
          </a:p>
          <a:p>
            <a:r>
              <a:rPr lang="en-IT" dirty="0"/>
              <a:t>Sharp: </a:t>
            </a:r>
            <a:r>
              <a:rPr lang="en-GB" dirty="0" err="1"/>
              <a:t>Biobehavioral</a:t>
            </a:r>
            <a:r>
              <a:rPr lang="en-GB" dirty="0"/>
              <a:t> Nursing Science </a:t>
            </a:r>
            <a:endParaRPr lang="en-IT" dirty="0"/>
          </a:p>
        </p:txBody>
      </p:sp>
      <p:sp>
        <p:nvSpPr>
          <p:cNvPr id="4" name="Slide Number Placeholder 3"/>
          <p:cNvSpPr>
            <a:spLocks noGrp="1"/>
          </p:cNvSpPr>
          <p:nvPr>
            <p:ph type="sldNum" sz="quarter" idx="5"/>
          </p:nvPr>
        </p:nvSpPr>
        <p:spPr/>
        <p:txBody>
          <a:bodyPr/>
          <a:lstStyle/>
          <a:p>
            <a:fld id="{13AE790B-BCBB-D045-8167-9E17F7CFDC9D}" type="slidenum">
              <a:rPr lang="en-IT" smtClean="0"/>
              <a:t>11</a:t>
            </a:fld>
            <a:endParaRPr lang="en-IT"/>
          </a:p>
        </p:txBody>
      </p:sp>
    </p:spTree>
    <p:extLst>
      <p:ext uri="{BB962C8B-B14F-4D97-AF65-F5344CB8AC3E}">
        <p14:creationId xmlns:p14="http://schemas.microsoft.com/office/powerpoint/2010/main" val="2262743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sz="1400" dirty="0"/>
              <a:t>Specific (S): Create a clear goal that is as specific as possible and focuses on a particular activity or task such as cycling, walking, or taking stairs.</a:t>
            </a:r>
          </a:p>
          <a:p>
            <a:r>
              <a:rPr lang="en-GB" sz="1400" dirty="0"/>
              <a:t>  Measurable (M): Quantify the goal to know when the goal has been accomplished.</a:t>
            </a:r>
          </a:p>
          <a:p>
            <a:r>
              <a:rPr lang="en-GB" sz="1400" dirty="0"/>
              <a:t>  Attainable (A): The goal should be attainable given the current situation such as workload and family responsibilities. The person should feel</a:t>
            </a:r>
          </a:p>
          <a:p>
            <a:r>
              <a:rPr lang="en-GB" sz="1400" dirty="0"/>
              <a:t>confident towards accomplishing the goal.</a:t>
            </a:r>
          </a:p>
          <a:p>
            <a:r>
              <a:rPr lang="en-GB" sz="1400" dirty="0"/>
              <a:t>  Realistic (R): Set goals that are not too easy, but at the same time are not too hard. The goal should appear like a challenge but still be realistic.</a:t>
            </a:r>
          </a:p>
          <a:p>
            <a:r>
              <a:rPr lang="en-GB" sz="1400" dirty="0"/>
              <a:t>In other words, it should be more challenging than the current average, but not too far off.</a:t>
            </a:r>
          </a:p>
          <a:p>
            <a:r>
              <a:rPr lang="en-GB" sz="1400" dirty="0"/>
              <a:t>  Time-Bound (T): Set an upper-bound time by which you want to achieve the goal. It is the higher level measurable component that is not</a:t>
            </a:r>
          </a:p>
          <a:p>
            <a:r>
              <a:rPr lang="en-GB" sz="1400" dirty="0"/>
              <a:t>set regularly but instead is an overall time frame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68058C-63BC-8547-BBEA-68419AA1CD3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64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68058C-63BC-8547-BBEA-68419AA1CD3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6715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We actually collected a third dataset too, but what will be presented based on this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68058C-63BC-8547-BBEA-68419AA1CD3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4770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Mention annotation for slots and stages and phases of goal setting – cannot discuss it, slide on it.</a:t>
            </a:r>
          </a:p>
        </p:txBody>
      </p:sp>
      <p:sp>
        <p:nvSpPr>
          <p:cNvPr id="4" name="Slide Number Placeholder 3"/>
          <p:cNvSpPr>
            <a:spLocks noGrp="1"/>
          </p:cNvSpPr>
          <p:nvPr>
            <p:ph type="sldNum" sz="quarter" idx="5"/>
          </p:nvPr>
        </p:nvSpPr>
        <p:spPr/>
        <p:txBody>
          <a:bodyPr/>
          <a:lstStyle/>
          <a:p>
            <a:fld id="{13AE790B-BCBB-D045-8167-9E17F7CFDC9D}" type="slidenum">
              <a:rPr lang="en-IT" smtClean="0"/>
              <a:t>15</a:t>
            </a:fld>
            <a:endParaRPr lang="en-IT"/>
          </a:p>
        </p:txBody>
      </p:sp>
    </p:spTree>
    <p:extLst>
      <p:ext uri="{BB962C8B-B14F-4D97-AF65-F5344CB8AC3E}">
        <p14:creationId xmlns:p14="http://schemas.microsoft.com/office/powerpoint/2010/main" val="3485870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Shortened example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68058C-63BC-8547-BBEA-68419AA1CD3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63545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68058C-63BC-8547-BBEA-68419AA1CD3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77478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68058C-63BC-8547-BBEA-68419AA1CD3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1184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68058C-63BC-8547-BBEA-68419AA1CD3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327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68058C-63BC-8547-BBEA-68419AA1CD3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17440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br>
              <a:rPr lang="en-US" dirty="0">
                <a:cs typeface="+mn-lt"/>
              </a:rPr>
            </a:br>
            <a:endParaRPr lang="en-US" dirty="0">
              <a:cs typeface="Calibri"/>
            </a:endParaRPr>
          </a:p>
        </p:txBody>
      </p:sp>
      <p:sp>
        <p:nvSpPr>
          <p:cNvPr id="4" name="Slide Number Placeholder 3"/>
          <p:cNvSpPr>
            <a:spLocks noGrp="1"/>
          </p:cNvSpPr>
          <p:nvPr>
            <p:ph type="sldNum" sz="quarter" idx="5"/>
          </p:nvPr>
        </p:nvSpPr>
        <p:spPr/>
        <p:txBody>
          <a:bodyPr/>
          <a:lstStyle/>
          <a:p>
            <a:fld id="{16F5BBAD-0791-854F-8AAD-54CD273F15DC}" type="slidenum">
              <a:rPr lang="en-CN" smtClean="0"/>
              <a:t>21</a:t>
            </a:fld>
            <a:endParaRPr lang="en-C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5923C0D-B1C6-D8DD-9F44-8837DCC2DE77}"/>
                  </a:ext>
                </a:extLst>
              </p:cNvPr>
              <p:cNvSpPr txBox="1"/>
              <p:nvPr/>
            </p:nvSpPr>
            <p:spPr>
              <a:xfrm>
                <a:off x="685800" y="4684926"/>
                <a:ext cx="5236698" cy="2031325"/>
              </a:xfrm>
              <a:prstGeom prst="rect">
                <a:avLst/>
              </a:prstGeom>
              <a:noFill/>
            </p:spPr>
            <p:txBody>
              <a:bodyPr wrap="square">
                <a:spAutoFit/>
              </a:bodyPr>
              <a:lstStyle/>
              <a:p>
                <a14:m>
                  <m:oMath xmlns:m="http://schemas.openxmlformats.org/officeDocument/2006/math">
                    <m:r>
                      <m:rPr>
                        <m:nor/>
                      </m:rPr>
                      <a:rPr lang="en-US" smtClean="0"/>
                      <m:t>Model</m:t>
                    </m:r>
                    <m:r>
                      <m:rPr>
                        <m:nor/>
                      </m:rPr>
                      <a:rPr lang="en-US" smtClean="0"/>
                      <m:t> </m:t>
                    </m:r>
                    <m:r>
                      <m:rPr>
                        <m:nor/>
                      </m:rPr>
                      <a:rPr lang="en-US" smtClean="0"/>
                      <m:t>architecture</m:t>
                    </m:r>
                    <m:r>
                      <m:rPr>
                        <m:nor/>
                      </m:rPr>
                      <a:rPr lang="en-US" smtClean="0"/>
                      <m:t> </m:t>
                    </m:r>
                    <m:r>
                      <m:rPr>
                        <m:nor/>
                      </m:rPr>
                      <a:rPr lang="en-US" smtClean="0"/>
                      <m:t>of</m:t>
                    </m:r>
                    <m:r>
                      <a:rPr lang="en-US" b="1" i="1" smtClean="0">
                        <a:latin typeface="Cambria Math" panose="02040503050406030204" pitchFamily="18" charset="0"/>
                      </a:rPr>
                      <m:t> </m:t>
                    </m:r>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𝑵𝑳𝑮</m:t>
                        </m:r>
                      </m:e>
                      <m:sub>
                        <m:r>
                          <a:rPr lang="en-US" b="1" i="1" dirty="0" smtClean="0">
                            <a:latin typeface="Cambria Math" panose="02040503050406030204" pitchFamily="18" charset="0"/>
                          </a:rPr>
                          <m:t>𝒉𝒄</m:t>
                        </m:r>
                      </m:sub>
                    </m:sSub>
                    <m:r>
                      <a:rPr lang="en-US" b="1" i="1" dirty="0">
                        <a:latin typeface="Cambria Math" panose="02040503050406030204" pitchFamily="18" charset="0"/>
                      </a:rPr>
                      <m:t> </m:t>
                    </m:r>
                    <m:r>
                      <a:rPr lang="en-US" b="1" i="1" dirty="0" smtClean="0">
                        <a:latin typeface="Cambria Math" panose="02040503050406030204" pitchFamily="18" charset="0"/>
                      </a:rPr>
                      <m:t>: </m:t>
                    </m:r>
                  </m:oMath>
                </a14:m>
                <a:r>
                  <a:rPr lang="en-US" dirty="0"/>
                  <a:t>context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𝐶</m:t>
                        </m:r>
                      </m:e>
                      <m:sub>
                        <m:r>
                          <a:rPr lang="en-US" b="0" i="1" dirty="0" smtClean="0">
                            <a:latin typeface="Cambria Math" panose="02040503050406030204" pitchFamily="18" charset="0"/>
                          </a:rPr>
                          <m:t>𝑡</m:t>
                        </m:r>
                      </m:sub>
                    </m:sSub>
                  </m:oMath>
                </a14:m>
                <a:r>
                  <a:rPr lang="en-US" dirty="0"/>
                  <a:t>, belief tokens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𝐵</m:t>
                        </m:r>
                      </m:e>
                      <m:sub>
                        <m:r>
                          <a:rPr lang="en-US" i="1" dirty="0">
                            <a:latin typeface="Cambria Math" panose="02040503050406030204" pitchFamily="18" charset="0"/>
                          </a:rPr>
                          <m:t>𝑡</m:t>
                        </m:r>
                      </m:sub>
                    </m:sSub>
                  </m:oMath>
                </a14:m>
                <a:r>
                  <a:rPr lang="en-US" dirty="0"/>
                  <a:t>, and  predicted stage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𝑆</m:t>
                        </m:r>
                      </m:e>
                      <m:sub>
                        <m:r>
                          <a:rPr lang="en-US" i="1" dirty="0">
                            <a:latin typeface="Cambria Math" panose="02040503050406030204" pitchFamily="18" charset="0"/>
                          </a:rPr>
                          <m:t>𝑡</m:t>
                        </m:r>
                      </m:sub>
                    </m:sSub>
                  </m:oMath>
                </a14:m>
                <a:r>
                  <a:rPr lang="en-US" dirty="0"/>
                  <a:t> are concatenated as single input sequence, training with  </a:t>
                </a:r>
                <a14:m>
                  <m:oMath xmlns:m="http://schemas.openxmlformats.org/officeDocument/2006/math">
                    <m:r>
                      <a:rPr lang="en-US" b="0" i="1" dirty="0" smtClean="0">
                        <a:latin typeface="Cambria Math" panose="02040503050406030204" pitchFamily="18" charset="0"/>
                      </a:rPr>
                      <m:t>𝑇</m:t>
                    </m:r>
                    <m:r>
                      <a:rPr lang="en-US" b="0" i="1" dirty="0" smtClean="0">
                        <a:latin typeface="Cambria Math" panose="02040503050406030204" pitchFamily="18" charset="0"/>
                      </a:rPr>
                      <m:t>5</m:t>
                    </m:r>
                  </m:oMath>
                </a14:m>
                <a:r>
                  <a:rPr lang="en-US" dirty="0"/>
                  <a:t> encoder-decoder model  [Reffel et al JLMR 2020]</a:t>
                </a:r>
              </a:p>
              <a:p>
                <a:endParaRPr lang="en-US" dirty="0"/>
              </a:p>
              <a:p>
                <a:r>
                  <a:rPr lang="en-GB" i="1" dirty="0"/>
                  <a:t>Text-to-Text Transfer Transformer</a:t>
                </a:r>
                <a:endParaRPr lang="en-GB" dirty="0"/>
              </a:p>
              <a:p>
                <a:endParaRPr lang="en-US" dirty="0"/>
              </a:p>
            </p:txBody>
          </p:sp>
        </mc:Choice>
        <mc:Fallback xmlns="">
          <p:sp>
            <p:nvSpPr>
              <p:cNvPr id="6" name="TextBox 5">
                <a:extLst>
                  <a:ext uri="{FF2B5EF4-FFF2-40B4-BE49-F238E27FC236}">
                    <a16:creationId xmlns:a16="http://schemas.microsoft.com/office/drawing/2014/main" id="{15923C0D-B1C6-D8DD-9F44-8837DCC2DE77}"/>
                  </a:ext>
                </a:extLst>
              </p:cNvPr>
              <p:cNvSpPr txBox="1">
                <a:spLocks noRot="1" noChangeAspect="1" noMove="1" noResize="1" noEditPoints="1" noAdjustHandles="1" noChangeArrowheads="1" noChangeShapeType="1" noTextEdit="1"/>
              </p:cNvSpPr>
              <p:nvPr/>
            </p:nvSpPr>
            <p:spPr>
              <a:xfrm>
                <a:off x="685800" y="4684926"/>
                <a:ext cx="5236698" cy="2031325"/>
              </a:xfrm>
              <a:prstGeom prst="rect">
                <a:avLst/>
              </a:prstGeom>
              <a:blipFill>
                <a:blip r:embed="rId3"/>
                <a:stretch>
                  <a:fillRect l="-1211" t="-1875"/>
                </a:stretch>
              </a:blipFill>
            </p:spPr>
            <p:txBody>
              <a:bodyPr/>
              <a:lstStyle/>
              <a:p>
                <a:r>
                  <a:rPr lang="en-IT">
                    <a:noFill/>
                  </a:rPr>
                  <a:t> </a:t>
                </a:r>
              </a:p>
            </p:txBody>
          </p:sp>
        </mc:Fallback>
      </mc:AlternateContent>
    </p:spTree>
    <p:extLst>
      <p:ext uri="{BB962C8B-B14F-4D97-AF65-F5344CB8AC3E}">
        <p14:creationId xmlns:p14="http://schemas.microsoft.com/office/powerpoint/2010/main" val="730041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So the overall framework of our health coaching dialogue system can be summarized by this figure.. So the NLU module consist of two models: slot-filing and carryover classifier. </a:t>
            </a:r>
          </a:p>
          <a:p>
            <a:endParaRPr lang="en-US" dirty="0">
              <a:cs typeface="+mn-lt"/>
            </a:endParaRPr>
          </a:p>
          <a:p>
            <a:r>
              <a:rPr lang="en-US" dirty="0"/>
              <a:t>, which outputs a binary value for each slot.. By which we can keep track of belief states represented by slot value pairs</a:t>
            </a:r>
            <a:br>
              <a:rPr lang="en-US" dirty="0">
                <a:cs typeface="+mn-lt"/>
              </a:rPr>
            </a:br>
            <a:endParaRPr lang="en-US" dirty="0">
              <a:cs typeface="+mn-lt"/>
            </a:endParaRPr>
          </a:p>
        </p:txBody>
      </p:sp>
      <p:sp>
        <p:nvSpPr>
          <p:cNvPr id="4" name="Slide Number Placeholder 3"/>
          <p:cNvSpPr>
            <a:spLocks noGrp="1"/>
          </p:cNvSpPr>
          <p:nvPr>
            <p:ph type="sldNum" sz="quarter" idx="5"/>
          </p:nvPr>
        </p:nvSpPr>
        <p:spPr/>
        <p:txBody>
          <a:bodyPr/>
          <a:lstStyle/>
          <a:p>
            <a:fld id="{16F5BBAD-0791-854F-8AAD-54CD273F15DC}" type="slidenum">
              <a:rPr lang="en-CN" smtClean="0"/>
              <a:t>22</a:t>
            </a:fld>
            <a:endParaRPr lang="en-CN"/>
          </a:p>
        </p:txBody>
      </p:sp>
    </p:spTree>
    <p:extLst>
      <p:ext uri="{BB962C8B-B14F-4D97-AF65-F5344CB8AC3E}">
        <p14:creationId xmlns:p14="http://schemas.microsoft.com/office/powerpoint/2010/main" val="3220904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IT" dirty="0"/>
              <a:t>Of course this idea is nto new – Resnik &amp; </a:t>
            </a:r>
          </a:p>
        </p:txBody>
      </p:sp>
      <p:sp>
        <p:nvSpPr>
          <p:cNvPr id="4" name="Slide Number Placeholder 3"/>
          <p:cNvSpPr>
            <a:spLocks noGrp="1"/>
          </p:cNvSpPr>
          <p:nvPr>
            <p:ph type="sldNum" sz="quarter" idx="5"/>
          </p:nvPr>
        </p:nvSpPr>
        <p:spPr/>
        <p:txBody>
          <a:bodyPr/>
          <a:lstStyle/>
          <a:p>
            <a:fld id="{13AE790B-BCBB-D045-8167-9E17F7CFDC9D}" type="slidenum">
              <a:rPr lang="en-IT" smtClean="0"/>
              <a:t>23</a:t>
            </a:fld>
            <a:endParaRPr lang="en-IT"/>
          </a:p>
        </p:txBody>
      </p:sp>
    </p:spTree>
    <p:extLst>
      <p:ext uri="{BB962C8B-B14F-4D97-AF65-F5344CB8AC3E}">
        <p14:creationId xmlns:p14="http://schemas.microsoft.com/office/powerpoint/2010/main" val="32679019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lvl="0"/>
            <a:r>
              <a:rPr lang="en-US" dirty="0"/>
              <a:t>avoids long input (N weeks’ dialogue) ; increases interpretability while requiring less data; no need for  slot-filling scheme and annotation (but we wouldn’t be here without those earlier efforts)</a:t>
            </a:r>
          </a:p>
          <a:p>
            <a:pPr lvl="0"/>
            <a:endParaRPr lang="en-US" dirty="0"/>
          </a:p>
          <a:p>
            <a:r>
              <a:rPr lang="en-GB" dirty="0"/>
              <a:t>For the goal summarizer, we use T5-base as the model backbone. To mitigate inefficient sampling, we manually annotate 40 positive examples, i.e., the sequences of instructions and partial goals that result in ground truth. The model was first finetuned with dialogue-to-goal pairs and then with the 40 examples we </a:t>
            </a:r>
            <a:r>
              <a:rPr lang="en-GB" dirty="0" err="1"/>
              <a:t>labeled</a:t>
            </a:r>
            <a:r>
              <a:rPr lang="en-GB" dirty="0"/>
              <a:t>. Finally, we contrast the sampled negative examples (the ones that fail) with</a:t>
            </a:r>
          </a:p>
          <a:p>
            <a:r>
              <a:rPr lang="en-GB" dirty="0"/>
              <a:t>the positive examples to update the gradient.</a:t>
            </a:r>
          </a:p>
          <a:p>
            <a:endParaRPr lang="en-GB" dirty="0"/>
          </a:p>
          <a:p>
            <a:r>
              <a:rPr lang="en-GB" dirty="0"/>
              <a:t>List of instructions</a:t>
            </a:r>
          </a:p>
          <a:p>
            <a:pPr lvl="0"/>
            <a:endParaRPr lang="en-US" dirty="0"/>
          </a:p>
          <a:p>
            <a:r>
              <a:rPr lang="en-GB" i="1" dirty="0"/>
              <a:t>" " Pass</a:t>
            </a:r>
            <a:endParaRPr lang="en-GB" dirty="0"/>
          </a:p>
          <a:p>
            <a:r>
              <a:rPr lang="en-GB" i="1" dirty="0"/>
              <a:t>Copy {Times} Copy times, e.g., “after 8 pm”</a:t>
            </a:r>
            <a:endParaRPr lang="en-GB" dirty="0"/>
          </a:p>
          <a:p>
            <a:r>
              <a:rPr lang="en-GB" i="1" dirty="0"/>
              <a:t>Copy {Days} Copy days, e.g., “Mon-Fri”</a:t>
            </a:r>
            <a:endParaRPr lang="en-GB" dirty="0"/>
          </a:p>
          <a:p>
            <a:r>
              <a:rPr lang="en-GB" i="1" dirty="0"/>
              <a:t>Copy {Num} Copy number, e.g., “3000 steps”</a:t>
            </a:r>
            <a:endParaRPr lang="en-GB" dirty="0"/>
          </a:p>
          <a:p>
            <a:r>
              <a:rPr lang="en-GB" i="1" dirty="0"/>
              <a:t>Add {Num} Add number from previous goal.</a:t>
            </a:r>
            <a:endParaRPr lang="en-GB" dirty="0"/>
          </a:p>
          <a:p>
            <a:r>
              <a:rPr lang="en-GB" i="1" dirty="0"/>
              <a:t>Add {Days} Add days from previous goal.</a:t>
            </a:r>
            <a:endParaRPr lang="en-GB" dirty="0"/>
          </a:p>
          <a:p>
            <a:r>
              <a:rPr lang="en-GB" i="1" dirty="0"/>
              <a:t>Copy {All} Copy all info from previous.</a:t>
            </a:r>
            <a:endParaRPr lang="en-GB" dirty="0"/>
          </a:p>
          <a:p>
            <a:pPr lvl="0"/>
            <a:endParaRPr lang="en-US" dirty="0"/>
          </a:p>
          <a:p>
            <a:endParaRPr lang="en-IT" dirty="0"/>
          </a:p>
        </p:txBody>
      </p:sp>
      <p:sp>
        <p:nvSpPr>
          <p:cNvPr id="4" name="Slide Number Placeholder 3"/>
          <p:cNvSpPr>
            <a:spLocks noGrp="1"/>
          </p:cNvSpPr>
          <p:nvPr>
            <p:ph type="sldNum" sz="quarter" idx="5"/>
          </p:nvPr>
        </p:nvSpPr>
        <p:spPr/>
        <p:txBody>
          <a:bodyPr/>
          <a:lstStyle/>
          <a:p>
            <a:fld id="{13AE790B-BCBB-D045-8167-9E17F7CFDC9D}" type="slidenum">
              <a:rPr lang="en-IT" smtClean="0"/>
              <a:t>24</a:t>
            </a:fld>
            <a:endParaRPr lang="en-IT"/>
          </a:p>
        </p:txBody>
      </p:sp>
    </p:spTree>
    <p:extLst>
      <p:ext uri="{BB962C8B-B14F-4D97-AF65-F5344CB8AC3E}">
        <p14:creationId xmlns:p14="http://schemas.microsoft.com/office/powerpoint/2010/main" val="10732430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25</a:t>
            </a:fld>
            <a:endParaRPr lang="en-IT"/>
          </a:p>
        </p:txBody>
      </p:sp>
    </p:spTree>
    <p:extLst>
      <p:ext uri="{BB962C8B-B14F-4D97-AF65-F5344CB8AC3E}">
        <p14:creationId xmlns:p14="http://schemas.microsoft.com/office/powerpoint/2010/main" val="27795131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5FBAA-4B72-A4BD-26E1-A68C92A12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FF474-3C20-76DE-B400-193809B65C6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F7AA4C7-9882-980A-D7EF-3CD8544CC71E}"/>
              </a:ext>
            </a:extLst>
          </p:cNvPr>
          <p:cNvSpPr>
            <a:spLocks noGrp="1"/>
          </p:cNvSpPr>
          <p:nvPr>
            <p:ph type="body" idx="1"/>
          </p:nvPr>
        </p:nvSpPr>
        <p:spPr/>
        <p:txBody>
          <a:bodyPr/>
          <a:lstStyle/>
          <a:p>
            <a:br>
              <a:rPr lang="en-US" dirty="0">
                <a:cs typeface="+mn-lt"/>
              </a:rPr>
            </a:br>
            <a:endParaRPr lang="en-US" dirty="0">
              <a:cs typeface="Calibri"/>
            </a:endParaRPr>
          </a:p>
        </p:txBody>
      </p:sp>
      <p:sp>
        <p:nvSpPr>
          <p:cNvPr id="4" name="Slide Number Placeholder 3">
            <a:extLst>
              <a:ext uri="{FF2B5EF4-FFF2-40B4-BE49-F238E27FC236}">
                <a16:creationId xmlns:a16="http://schemas.microsoft.com/office/drawing/2014/main" id="{75BC3445-F38D-D23D-3525-2C1394ED00F3}"/>
              </a:ext>
            </a:extLst>
          </p:cNvPr>
          <p:cNvSpPr>
            <a:spLocks noGrp="1"/>
          </p:cNvSpPr>
          <p:nvPr>
            <p:ph type="sldNum" sz="quarter" idx="5"/>
          </p:nvPr>
        </p:nvSpPr>
        <p:spPr/>
        <p:txBody>
          <a:bodyPr/>
          <a:lstStyle/>
          <a:p>
            <a:fld id="{16F5BBAD-0791-854F-8AAD-54CD273F15DC}" type="slidenum">
              <a:rPr lang="en-CN" smtClean="0"/>
              <a:t>26</a:t>
            </a:fld>
            <a:endParaRPr lang="en-C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CAFEE17-B275-DAE4-D027-C15A08E46FAE}"/>
                  </a:ext>
                </a:extLst>
              </p:cNvPr>
              <p:cNvSpPr txBox="1"/>
              <p:nvPr/>
            </p:nvSpPr>
            <p:spPr>
              <a:xfrm>
                <a:off x="685800" y="4684926"/>
                <a:ext cx="5236698" cy="2031325"/>
              </a:xfrm>
              <a:prstGeom prst="rect">
                <a:avLst/>
              </a:prstGeom>
              <a:noFill/>
            </p:spPr>
            <p:txBody>
              <a:bodyPr wrap="square">
                <a:spAutoFit/>
              </a:bodyPr>
              <a:lstStyle/>
              <a:p>
                <a14:m>
                  <m:oMath xmlns:m="http://schemas.openxmlformats.org/officeDocument/2006/math">
                    <m:r>
                      <m:rPr>
                        <m:nor/>
                      </m:rPr>
                      <a:rPr lang="en-US" smtClean="0"/>
                      <m:t>Model</m:t>
                    </m:r>
                    <m:r>
                      <m:rPr>
                        <m:nor/>
                      </m:rPr>
                      <a:rPr lang="en-US" smtClean="0"/>
                      <m:t> </m:t>
                    </m:r>
                    <m:r>
                      <m:rPr>
                        <m:nor/>
                      </m:rPr>
                      <a:rPr lang="en-US" smtClean="0"/>
                      <m:t>architecture</m:t>
                    </m:r>
                    <m:r>
                      <m:rPr>
                        <m:nor/>
                      </m:rPr>
                      <a:rPr lang="en-US" smtClean="0"/>
                      <m:t> </m:t>
                    </m:r>
                    <m:r>
                      <m:rPr>
                        <m:nor/>
                      </m:rPr>
                      <a:rPr lang="en-US" smtClean="0"/>
                      <m:t>of</m:t>
                    </m:r>
                    <m:r>
                      <a:rPr lang="en-US" b="1" i="1" smtClean="0">
                        <a:latin typeface="Cambria Math" panose="02040503050406030204" pitchFamily="18" charset="0"/>
                      </a:rPr>
                      <m:t> </m:t>
                    </m:r>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𝑵𝑳𝑮</m:t>
                        </m:r>
                      </m:e>
                      <m:sub>
                        <m:r>
                          <a:rPr lang="en-US" b="1" i="1" dirty="0" smtClean="0">
                            <a:latin typeface="Cambria Math" panose="02040503050406030204" pitchFamily="18" charset="0"/>
                          </a:rPr>
                          <m:t>𝒉𝒄</m:t>
                        </m:r>
                      </m:sub>
                    </m:sSub>
                    <m:r>
                      <a:rPr lang="en-US" b="1" i="1" dirty="0">
                        <a:latin typeface="Cambria Math" panose="02040503050406030204" pitchFamily="18" charset="0"/>
                      </a:rPr>
                      <m:t> </m:t>
                    </m:r>
                    <m:r>
                      <a:rPr lang="en-US" b="1" i="1" dirty="0" smtClean="0">
                        <a:latin typeface="Cambria Math" panose="02040503050406030204" pitchFamily="18" charset="0"/>
                      </a:rPr>
                      <m:t>: </m:t>
                    </m:r>
                  </m:oMath>
                </a14:m>
                <a:r>
                  <a:rPr lang="en-US" dirty="0"/>
                  <a:t>context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𝐶</m:t>
                        </m:r>
                      </m:e>
                      <m:sub>
                        <m:r>
                          <a:rPr lang="en-US" b="0" i="1" dirty="0" smtClean="0">
                            <a:latin typeface="Cambria Math" panose="02040503050406030204" pitchFamily="18" charset="0"/>
                          </a:rPr>
                          <m:t>𝑡</m:t>
                        </m:r>
                      </m:sub>
                    </m:sSub>
                  </m:oMath>
                </a14:m>
                <a:r>
                  <a:rPr lang="en-US" dirty="0"/>
                  <a:t>, belief tokens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𝐵</m:t>
                        </m:r>
                      </m:e>
                      <m:sub>
                        <m:r>
                          <a:rPr lang="en-US" i="1" dirty="0">
                            <a:latin typeface="Cambria Math" panose="02040503050406030204" pitchFamily="18" charset="0"/>
                          </a:rPr>
                          <m:t>𝑡</m:t>
                        </m:r>
                      </m:sub>
                    </m:sSub>
                  </m:oMath>
                </a14:m>
                <a:r>
                  <a:rPr lang="en-US" dirty="0"/>
                  <a:t>, and  predicted stage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𝑆</m:t>
                        </m:r>
                      </m:e>
                      <m:sub>
                        <m:r>
                          <a:rPr lang="en-US" i="1" dirty="0">
                            <a:latin typeface="Cambria Math" panose="02040503050406030204" pitchFamily="18" charset="0"/>
                          </a:rPr>
                          <m:t>𝑡</m:t>
                        </m:r>
                      </m:sub>
                    </m:sSub>
                  </m:oMath>
                </a14:m>
                <a:r>
                  <a:rPr lang="en-US" dirty="0"/>
                  <a:t> are concatenated as single input sequence, training with  </a:t>
                </a:r>
                <a14:m>
                  <m:oMath xmlns:m="http://schemas.openxmlformats.org/officeDocument/2006/math">
                    <m:r>
                      <a:rPr lang="en-US" b="0" i="1" dirty="0" smtClean="0">
                        <a:latin typeface="Cambria Math" panose="02040503050406030204" pitchFamily="18" charset="0"/>
                      </a:rPr>
                      <m:t>𝑇</m:t>
                    </m:r>
                    <m:r>
                      <a:rPr lang="en-US" b="0" i="1" dirty="0" smtClean="0">
                        <a:latin typeface="Cambria Math" panose="02040503050406030204" pitchFamily="18" charset="0"/>
                      </a:rPr>
                      <m:t>5</m:t>
                    </m:r>
                  </m:oMath>
                </a14:m>
                <a:r>
                  <a:rPr lang="en-US" dirty="0"/>
                  <a:t> encoder-decoder model  [Reffel et al JLMR 2020]</a:t>
                </a:r>
              </a:p>
              <a:p>
                <a:endParaRPr lang="en-US" dirty="0"/>
              </a:p>
              <a:p>
                <a:r>
                  <a:rPr lang="en-GB" i="1" dirty="0"/>
                  <a:t>Text-to-Text Transfer Transformer</a:t>
                </a:r>
                <a:endParaRPr lang="en-GB" dirty="0"/>
              </a:p>
              <a:p>
                <a:endParaRPr lang="en-US" dirty="0"/>
              </a:p>
            </p:txBody>
          </p:sp>
        </mc:Choice>
        <mc:Fallback xmlns="">
          <p:sp>
            <p:nvSpPr>
              <p:cNvPr id="6" name="TextBox 5">
                <a:extLst>
                  <a:ext uri="{FF2B5EF4-FFF2-40B4-BE49-F238E27FC236}">
                    <a16:creationId xmlns:a16="http://schemas.microsoft.com/office/drawing/2014/main" id="{15923C0D-B1C6-D8DD-9F44-8837DCC2DE77}"/>
                  </a:ext>
                </a:extLst>
              </p:cNvPr>
              <p:cNvSpPr txBox="1">
                <a:spLocks noRot="1" noChangeAspect="1" noMove="1" noResize="1" noEditPoints="1" noAdjustHandles="1" noChangeArrowheads="1" noChangeShapeType="1" noTextEdit="1"/>
              </p:cNvSpPr>
              <p:nvPr/>
            </p:nvSpPr>
            <p:spPr>
              <a:xfrm>
                <a:off x="685800" y="4684926"/>
                <a:ext cx="5236698" cy="2031325"/>
              </a:xfrm>
              <a:prstGeom prst="rect">
                <a:avLst/>
              </a:prstGeom>
              <a:blipFill>
                <a:blip r:embed="rId3"/>
                <a:stretch>
                  <a:fillRect l="-1211" t="-1875"/>
                </a:stretch>
              </a:blipFill>
            </p:spPr>
            <p:txBody>
              <a:bodyPr/>
              <a:lstStyle/>
              <a:p>
                <a:r>
                  <a:rPr lang="en-IT">
                    <a:noFill/>
                  </a:rPr>
                  <a:t> </a:t>
                </a:r>
              </a:p>
            </p:txBody>
          </p:sp>
        </mc:Fallback>
      </mc:AlternateContent>
    </p:spTree>
    <p:extLst>
      <p:ext uri="{BB962C8B-B14F-4D97-AF65-F5344CB8AC3E}">
        <p14:creationId xmlns:p14="http://schemas.microsoft.com/office/powerpoint/2010/main" val="1289142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Emotional reaction expresses direct emotions (e.g., compassion) to show empathy, such as "I would be very worried." </a:t>
            </a:r>
          </a:p>
          <a:p>
            <a:r>
              <a:rPr lang="en-US" dirty="0"/>
              <a:t>Interpretation communicates an understanding of the speaker’s experience, such as "I know anxiety is scary." Exploration expresses empathy by exploring the speaker’s feelings, such as "What happened? How come?"</a:t>
            </a:r>
            <a:br>
              <a:rPr lang="en-US" dirty="0">
                <a:cs typeface="+mn-lt"/>
              </a:rPr>
            </a:br>
            <a:endParaRPr lang="en-US" dirty="0">
              <a:cs typeface="+mn-lt"/>
            </a:endParaRPr>
          </a:p>
          <a:p>
            <a:r>
              <a:rPr lang="en-US" dirty="0"/>
              <a:t>We seek to use the mechanism signals to control the style of the generated empathetic response, making it flexible and appropriate for health coaching scenarios</a:t>
            </a:r>
            <a:endParaRPr lang="en-US" dirty="0">
              <a:cs typeface="Calibri"/>
            </a:endParaRPr>
          </a:p>
        </p:txBody>
      </p:sp>
      <p:sp>
        <p:nvSpPr>
          <p:cNvPr id="4" name="Slide Number Placeholder 3"/>
          <p:cNvSpPr>
            <a:spLocks noGrp="1"/>
          </p:cNvSpPr>
          <p:nvPr>
            <p:ph type="sldNum" sz="quarter" idx="5"/>
          </p:nvPr>
        </p:nvSpPr>
        <p:spPr/>
        <p:txBody>
          <a:bodyPr/>
          <a:lstStyle/>
          <a:p>
            <a:fld id="{16F5BBAD-0791-854F-8AAD-54CD273F15DC}" type="slidenum">
              <a:rPr lang="en-CN" smtClean="0"/>
              <a:t>27</a:t>
            </a:fld>
            <a:endParaRPr lang="en-CN"/>
          </a:p>
        </p:txBody>
      </p:sp>
    </p:spTree>
    <p:extLst>
      <p:ext uri="{BB962C8B-B14F-4D97-AF65-F5344CB8AC3E}">
        <p14:creationId xmlns:p14="http://schemas.microsoft.com/office/powerpoint/2010/main" val="37542642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A3884-D541-689E-A56C-FBB857E37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034B7-A99C-5008-42C4-C97A7163FE4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40DB9F6-1D98-3856-7415-ED0E00C268A5}"/>
              </a:ext>
            </a:extLst>
          </p:cNvPr>
          <p:cNvSpPr>
            <a:spLocks noGrp="1"/>
          </p:cNvSpPr>
          <p:nvPr>
            <p:ph type="body" idx="1"/>
          </p:nvPr>
        </p:nvSpPr>
        <p:spPr>
          <a:xfrm>
            <a:off x="685800" y="4400549"/>
            <a:ext cx="5486400" cy="4528297"/>
          </a:xfrm>
        </p:spPr>
        <p:txBody>
          <a:bodyPr/>
          <a:lstStyle/>
          <a:p>
            <a:r>
              <a:rPr lang="en-US" dirty="0"/>
              <a:t>Emotional reaction expresses direct emotions (e.g., compassion) to show empathy, such as "I would be very worried." </a:t>
            </a:r>
          </a:p>
          <a:p>
            <a:r>
              <a:rPr lang="en-US" dirty="0"/>
              <a:t>Interpretation communicates an understanding of the speaker’s experience, such as "I know anxiety is scary." Exploration expresses empathy by exploring the speaker’s feelings, such as "What happened? How come?"</a:t>
            </a:r>
            <a:br>
              <a:rPr lang="en-US" dirty="0">
                <a:cs typeface="+mn-lt"/>
              </a:rPr>
            </a:br>
            <a:endParaRPr lang="en-US" dirty="0">
              <a:cs typeface="+mn-lt"/>
            </a:endParaRPr>
          </a:p>
          <a:p>
            <a:r>
              <a:rPr lang="en-US" dirty="0"/>
              <a:t>We seek to use the mechanism signals to control the style of the generated empathetic response, making it flexible and appropriate for health coaching scenarios</a:t>
            </a:r>
          </a:p>
          <a:p>
            <a:endParaRPr lang="en-US" dirty="0">
              <a:cs typeface="Calibri"/>
            </a:endParaRPr>
          </a:p>
          <a:p>
            <a:r>
              <a:rPr lang="en-GB" i="1" dirty="0"/>
              <a:t>We utilized two benchmark</a:t>
            </a:r>
            <a:r>
              <a:rPr lang="en-GB" dirty="0"/>
              <a:t> </a:t>
            </a:r>
            <a:r>
              <a:rPr lang="en-GB" i="1" dirty="0"/>
              <a:t>empathetic dialogue datasets: (</a:t>
            </a:r>
            <a:r>
              <a:rPr lang="en-GB" i="1" dirty="0" err="1"/>
              <a:t>i</a:t>
            </a:r>
            <a:r>
              <a:rPr lang="en-GB" i="1" dirty="0"/>
              <a:t>) EMPATHETICDIALOGUES</a:t>
            </a:r>
            <a:endParaRPr lang="en-GB" dirty="0"/>
          </a:p>
          <a:p>
            <a:r>
              <a:rPr lang="en-GB" i="1" dirty="0"/>
              <a:t>(ED) (Rashkin et al., 2019)</a:t>
            </a:r>
            <a:r>
              <a:rPr lang="en-GB" dirty="0"/>
              <a:t> </a:t>
            </a:r>
            <a:r>
              <a:rPr lang="en-GB" i="1" dirty="0"/>
              <a:t>and (ii) EPITOME. EMPATHETICDIALOGUES</a:t>
            </a:r>
            <a:r>
              <a:rPr lang="en-GB" dirty="0"/>
              <a:t> </a:t>
            </a:r>
            <a:r>
              <a:rPr lang="en-GB" i="1" dirty="0"/>
              <a:t>(ED) is a open-domain empathetic dialogue dataset</a:t>
            </a:r>
            <a:r>
              <a:rPr lang="en-GB" dirty="0"/>
              <a:t> </a:t>
            </a:r>
            <a:r>
              <a:rPr lang="en-GB" i="1" dirty="0"/>
              <a:t>containing 24,850 dialogues, with each dialogue</a:t>
            </a:r>
            <a:endParaRPr lang="en-GB" dirty="0"/>
          </a:p>
          <a:p>
            <a:r>
              <a:rPr lang="en-GB" i="1" dirty="0"/>
              <a:t>grounded in one of 32 emotional context (e.g.,</a:t>
            </a:r>
            <a:r>
              <a:rPr lang="en-GB" dirty="0"/>
              <a:t> </a:t>
            </a:r>
            <a:r>
              <a:rPr lang="en-GB" i="1" dirty="0"/>
              <a:t>proud, apprehensive, confident, guilty). EPITOME</a:t>
            </a:r>
            <a:r>
              <a:rPr lang="en-GB" dirty="0"/>
              <a:t> </a:t>
            </a:r>
            <a:r>
              <a:rPr lang="en-GB" i="1" dirty="0"/>
              <a:t>(Sharma et al., 2020) is an empathetic dataset in</a:t>
            </a:r>
            <a:r>
              <a:rPr lang="en-GB" dirty="0"/>
              <a:t> </a:t>
            </a:r>
            <a:r>
              <a:rPr lang="en-GB" i="1" dirty="0"/>
              <a:t>mental health support settings. The dataset consists</a:t>
            </a:r>
            <a:r>
              <a:rPr lang="en-GB" dirty="0"/>
              <a:t> </a:t>
            </a:r>
            <a:r>
              <a:rPr lang="en-GB" i="1" dirty="0"/>
              <a:t>of 3k posts annotated with respect to the communication</a:t>
            </a:r>
            <a:r>
              <a:rPr lang="en-GB" dirty="0"/>
              <a:t> </a:t>
            </a:r>
            <a:r>
              <a:rPr lang="en-GB" i="1" dirty="0"/>
              <a:t>mechanisms (Emotional Reaction, Exploration,</a:t>
            </a:r>
            <a:r>
              <a:rPr lang="en-GB" dirty="0"/>
              <a:t> </a:t>
            </a:r>
            <a:r>
              <a:rPr lang="en-GB" i="1" dirty="0"/>
              <a:t>Interpretation) and level of empathy (from</a:t>
            </a:r>
            <a:r>
              <a:rPr lang="en-GB" dirty="0"/>
              <a:t> </a:t>
            </a:r>
            <a:r>
              <a:rPr lang="en-GB" i="1" dirty="0"/>
              <a:t>0 to 2, representing no empathy, weak and strong</a:t>
            </a:r>
            <a:endParaRPr lang="en-GB" dirty="0"/>
          </a:p>
          <a:p>
            <a:r>
              <a:rPr lang="en-GB" i="1" dirty="0"/>
              <a:t>empathy, respectively) in each mechanism.</a:t>
            </a:r>
          </a:p>
          <a:p>
            <a:r>
              <a:rPr lang="en-GB" i="1" dirty="0"/>
              <a:t>Finetuned on 64 virtual coach dialogues</a:t>
            </a:r>
          </a:p>
          <a:p>
            <a:endParaRPr lang="en-GB" i="1" dirty="0"/>
          </a:p>
          <a:p>
            <a:r>
              <a:rPr lang="en-GB" i="1" dirty="0"/>
              <a:t>a BERT-based multi-class</a:t>
            </a:r>
            <a:endParaRPr lang="en-GB" dirty="0"/>
          </a:p>
          <a:p>
            <a:r>
              <a:rPr lang="en-GB" i="1" dirty="0"/>
              <a:t>classifier to predict the emotion signals of the patient’s</a:t>
            </a:r>
            <a:endParaRPr lang="en-GB" dirty="0"/>
          </a:p>
          <a:p>
            <a:r>
              <a:rPr lang="en-GB" i="1" dirty="0"/>
              <a:t>utterance.</a:t>
            </a:r>
            <a:endParaRPr lang="en-GB" dirty="0"/>
          </a:p>
          <a:p>
            <a:endParaRPr lang="en-GB" dirty="0"/>
          </a:p>
          <a:p>
            <a:endParaRPr lang="en-US" dirty="0">
              <a:cs typeface="Calibri"/>
            </a:endParaRPr>
          </a:p>
        </p:txBody>
      </p:sp>
      <p:sp>
        <p:nvSpPr>
          <p:cNvPr id="4" name="Slide Number Placeholder 3">
            <a:extLst>
              <a:ext uri="{FF2B5EF4-FFF2-40B4-BE49-F238E27FC236}">
                <a16:creationId xmlns:a16="http://schemas.microsoft.com/office/drawing/2014/main" id="{7327AF8E-F694-FE5E-DB65-488227767B4A}"/>
              </a:ext>
            </a:extLst>
          </p:cNvPr>
          <p:cNvSpPr>
            <a:spLocks noGrp="1"/>
          </p:cNvSpPr>
          <p:nvPr>
            <p:ph type="sldNum" sz="quarter" idx="5"/>
          </p:nvPr>
        </p:nvSpPr>
        <p:spPr/>
        <p:txBody>
          <a:bodyPr/>
          <a:lstStyle/>
          <a:p>
            <a:fld id="{16F5BBAD-0791-854F-8AAD-54CD273F15DC}" type="slidenum">
              <a:rPr lang="en-CN" smtClean="0"/>
              <a:t>28</a:t>
            </a:fld>
            <a:endParaRPr lang="en-CN"/>
          </a:p>
        </p:txBody>
      </p:sp>
    </p:spTree>
    <p:extLst>
      <p:ext uri="{BB962C8B-B14F-4D97-AF65-F5344CB8AC3E}">
        <p14:creationId xmlns:p14="http://schemas.microsoft.com/office/powerpoint/2010/main" val="33672420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30</a:t>
            </a:fld>
            <a:endParaRPr lang="en-IT"/>
          </a:p>
        </p:txBody>
      </p:sp>
    </p:spTree>
    <p:extLst>
      <p:ext uri="{BB962C8B-B14F-4D97-AF65-F5344CB8AC3E}">
        <p14:creationId xmlns:p14="http://schemas.microsoft.com/office/powerpoint/2010/main" val="1006569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31</a:t>
            </a:fld>
            <a:endParaRPr lang="en-IT"/>
          </a:p>
        </p:txBody>
      </p:sp>
    </p:spTree>
    <p:extLst>
      <p:ext uri="{BB962C8B-B14F-4D97-AF65-F5344CB8AC3E}">
        <p14:creationId xmlns:p14="http://schemas.microsoft.com/office/powerpoint/2010/main" val="35270969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W</a:t>
            </a:r>
            <a:r>
              <a:rPr lang="en-IT" dirty="0"/>
              <a:t>hat do you think? </a:t>
            </a:r>
            <a:r>
              <a:rPr lang="en-GB" dirty="0"/>
              <a:t>W</a:t>
            </a:r>
            <a:r>
              <a:rPr lang="en-IT" dirty="0"/>
              <a:t>hich one do you prefer?</a:t>
            </a:r>
          </a:p>
        </p:txBody>
      </p:sp>
      <p:sp>
        <p:nvSpPr>
          <p:cNvPr id="4" name="Slide Number Placeholder 3"/>
          <p:cNvSpPr>
            <a:spLocks noGrp="1"/>
          </p:cNvSpPr>
          <p:nvPr>
            <p:ph type="sldNum" sz="quarter" idx="5"/>
          </p:nvPr>
        </p:nvSpPr>
        <p:spPr/>
        <p:txBody>
          <a:bodyPr/>
          <a:lstStyle/>
          <a:p>
            <a:fld id="{13AE790B-BCBB-D045-8167-9E17F7CFDC9D}" type="slidenum">
              <a:rPr lang="en-IT" smtClean="0"/>
              <a:t>32</a:t>
            </a:fld>
            <a:endParaRPr lang="en-IT"/>
          </a:p>
        </p:txBody>
      </p:sp>
    </p:spTree>
    <p:extLst>
      <p:ext uri="{BB962C8B-B14F-4D97-AF65-F5344CB8AC3E}">
        <p14:creationId xmlns:p14="http://schemas.microsoft.com/office/powerpoint/2010/main" val="35342149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"There will be approximately 30 proposed messages in each session requiring 20-30 minutes to complete. You can complete up to 3 sessions. However, you will be given the opportunity to indicate if they would like to complete a 2nd or 3rd session after each session. You may decide how many you wish to complete"  (from consent form)</a:t>
            </a:r>
            <a:endParaRPr lang="en-IT" dirty="0"/>
          </a:p>
        </p:txBody>
      </p:sp>
      <p:sp>
        <p:nvSpPr>
          <p:cNvPr id="4" name="Slide Number Placeholder 3"/>
          <p:cNvSpPr>
            <a:spLocks noGrp="1"/>
          </p:cNvSpPr>
          <p:nvPr>
            <p:ph type="sldNum" sz="quarter" idx="5"/>
          </p:nvPr>
        </p:nvSpPr>
        <p:spPr/>
        <p:txBody>
          <a:bodyPr/>
          <a:lstStyle/>
          <a:p>
            <a:fld id="{13AE790B-BCBB-D045-8167-9E17F7CFDC9D}" type="slidenum">
              <a:rPr lang="en-IT" smtClean="0"/>
              <a:t>33</a:t>
            </a:fld>
            <a:endParaRPr lang="en-IT"/>
          </a:p>
        </p:txBody>
      </p:sp>
    </p:spTree>
    <p:extLst>
      <p:ext uri="{BB962C8B-B14F-4D97-AF65-F5344CB8AC3E}">
        <p14:creationId xmlns:p14="http://schemas.microsoft.com/office/powerpoint/2010/main" val="37141616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34</a:t>
            </a:fld>
            <a:endParaRPr lang="en-IT"/>
          </a:p>
        </p:txBody>
      </p:sp>
    </p:spTree>
    <p:extLst>
      <p:ext uri="{BB962C8B-B14F-4D97-AF65-F5344CB8AC3E}">
        <p14:creationId xmlns:p14="http://schemas.microsoft.com/office/powerpoint/2010/main" val="37882162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35</a:t>
            </a:fld>
            <a:endParaRPr lang="en-IT"/>
          </a:p>
        </p:txBody>
      </p:sp>
    </p:spTree>
    <p:extLst>
      <p:ext uri="{BB962C8B-B14F-4D97-AF65-F5344CB8AC3E}">
        <p14:creationId xmlns:p14="http://schemas.microsoft.com/office/powerpoint/2010/main" val="31625533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A8525-A017-5FC3-0CC7-E8A0DC6917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15507-1D92-DAC6-28C5-A7E24BF1C92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61FF224-F182-AA88-656A-588947CC0D52}"/>
              </a:ext>
            </a:extLst>
          </p:cNvPr>
          <p:cNvSpPr>
            <a:spLocks noGrp="1"/>
          </p:cNvSpPr>
          <p:nvPr>
            <p:ph type="body" idx="1"/>
          </p:nvPr>
        </p:nvSpPr>
        <p:spPr/>
        <p:txBody>
          <a:bodyPr/>
          <a:lstStyle/>
          <a:p>
            <a:br>
              <a:rPr lang="en-US" dirty="0">
                <a:cs typeface="+mn-lt"/>
              </a:rPr>
            </a:br>
            <a:endParaRPr lang="en-US" dirty="0">
              <a:cs typeface="Calibri"/>
            </a:endParaRPr>
          </a:p>
        </p:txBody>
      </p:sp>
      <p:sp>
        <p:nvSpPr>
          <p:cNvPr id="4" name="Slide Number Placeholder 3">
            <a:extLst>
              <a:ext uri="{FF2B5EF4-FFF2-40B4-BE49-F238E27FC236}">
                <a16:creationId xmlns:a16="http://schemas.microsoft.com/office/drawing/2014/main" id="{F4CFD91B-8D09-F407-41EB-3A23133DBFE3}"/>
              </a:ext>
            </a:extLst>
          </p:cNvPr>
          <p:cNvSpPr>
            <a:spLocks noGrp="1"/>
          </p:cNvSpPr>
          <p:nvPr>
            <p:ph type="sldNum" sz="quarter" idx="5"/>
          </p:nvPr>
        </p:nvSpPr>
        <p:spPr/>
        <p:txBody>
          <a:bodyPr/>
          <a:lstStyle/>
          <a:p>
            <a:fld id="{16F5BBAD-0791-854F-8AAD-54CD273F15DC}" type="slidenum">
              <a:rPr lang="en-CN" smtClean="0"/>
              <a:t>37</a:t>
            </a:fld>
            <a:endParaRPr lang="en-C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97B7BF0-F413-0542-F472-C17C73B09F68}"/>
                  </a:ext>
                </a:extLst>
              </p:cNvPr>
              <p:cNvSpPr txBox="1"/>
              <p:nvPr/>
            </p:nvSpPr>
            <p:spPr>
              <a:xfrm>
                <a:off x="685800" y="4684926"/>
                <a:ext cx="5236698" cy="1200329"/>
              </a:xfrm>
              <a:prstGeom prst="rect">
                <a:avLst/>
              </a:prstGeom>
              <a:noFill/>
            </p:spPr>
            <p:txBody>
              <a:bodyPr wrap="square">
                <a:spAutoFit/>
              </a:bodyPr>
              <a:lstStyle/>
              <a:p>
                <a14:m>
                  <m:oMath xmlns:m="http://schemas.openxmlformats.org/officeDocument/2006/math">
                    <m:r>
                      <m:rPr>
                        <m:nor/>
                      </m:rPr>
                      <a:rPr lang="en-US" smtClean="0"/>
                      <m:t>Model</m:t>
                    </m:r>
                    <m:r>
                      <m:rPr>
                        <m:nor/>
                      </m:rPr>
                      <a:rPr lang="en-US" smtClean="0"/>
                      <m:t> </m:t>
                    </m:r>
                    <m:r>
                      <m:rPr>
                        <m:nor/>
                      </m:rPr>
                      <a:rPr lang="en-US" smtClean="0"/>
                      <m:t>architecture</m:t>
                    </m:r>
                    <m:r>
                      <m:rPr>
                        <m:nor/>
                      </m:rPr>
                      <a:rPr lang="en-US" smtClean="0"/>
                      <m:t> </m:t>
                    </m:r>
                    <m:r>
                      <m:rPr>
                        <m:nor/>
                      </m:rPr>
                      <a:rPr lang="en-US" smtClean="0"/>
                      <m:t>of</m:t>
                    </m:r>
                    <m:r>
                      <a:rPr lang="en-US" b="1" i="1" smtClean="0">
                        <a:latin typeface="Cambria Math" panose="02040503050406030204" pitchFamily="18" charset="0"/>
                      </a:rPr>
                      <m:t> </m:t>
                    </m:r>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𝑵𝑳𝑮</m:t>
                        </m:r>
                      </m:e>
                      <m:sub>
                        <m:r>
                          <a:rPr lang="en-US" b="1" i="1" dirty="0" smtClean="0">
                            <a:latin typeface="Cambria Math" panose="02040503050406030204" pitchFamily="18" charset="0"/>
                          </a:rPr>
                          <m:t>𝒉𝒄</m:t>
                        </m:r>
                      </m:sub>
                    </m:sSub>
                    <m:r>
                      <a:rPr lang="en-US" b="1" i="1" dirty="0">
                        <a:latin typeface="Cambria Math" panose="02040503050406030204" pitchFamily="18" charset="0"/>
                      </a:rPr>
                      <m:t> </m:t>
                    </m:r>
                    <m:r>
                      <a:rPr lang="en-US" b="1" i="1" dirty="0" smtClean="0">
                        <a:latin typeface="Cambria Math" panose="02040503050406030204" pitchFamily="18" charset="0"/>
                      </a:rPr>
                      <m:t>: </m:t>
                    </m:r>
                  </m:oMath>
                </a14:m>
                <a:r>
                  <a:rPr lang="en-US" dirty="0"/>
                  <a:t>context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𝐶</m:t>
                        </m:r>
                      </m:e>
                      <m:sub>
                        <m:r>
                          <a:rPr lang="en-US" b="0" i="1" dirty="0" smtClean="0">
                            <a:latin typeface="Cambria Math" panose="02040503050406030204" pitchFamily="18" charset="0"/>
                          </a:rPr>
                          <m:t>𝑡</m:t>
                        </m:r>
                      </m:sub>
                    </m:sSub>
                  </m:oMath>
                </a14:m>
                <a:r>
                  <a:rPr lang="en-US" dirty="0"/>
                  <a:t>, belief tokens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𝐵</m:t>
                        </m:r>
                      </m:e>
                      <m:sub>
                        <m:r>
                          <a:rPr lang="en-US" i="1" dirty="0">
                            <a:latin typeface="Cambria Math" panose="02040503050406030204" pitchFamily="18" charset="0"/>
                          </a:rPr>
                          <m:t>𝑡</m:t>
                        </m:r>
                      </m:sub>
                    </m:sSub>
                  </m:oMath>
                </a14:m>
                <a:r>
                  <a:rPr lang="en-US" dirty="0"/>
                  <a:t>, and  predicted stage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𝑆</m:t>
                        </m:r>
                      </m:e>
                      <m:sub>
                        <m:r>
                          <a:rPr lang="en-US" i="1" dirty="0">
                            <a:latin typeface="Cambria Math" panose="02040503050406030204" pitchFamily="18" charset="0"/>
                          </a:rPr>
                          <m:t>𝑡</m:t>
                        </m:r>
                      </m:sub>
                    </m:sSub>
                  </m:oMath>
                </a14:m>
                <a:r>
                  <a:rPr lang="en-US" dirty="0"/>
                  <a:t> are concatenated as single input sequence, training with  </a:t>
                </a:r>
                <a14:m>
                  <m:oMath xmlns:m="http://schemas.openxmlformats.org/officeDocument/2006/math">
                    <m:r>
                      <a:rPr lang="en-US" b="0" i="1" dirty="0" smtClean="0">
                        <a:latin typeface="Cambria Math" panose="02040503050406030204" pitchFamily="18" charset="0"/>
                      </a:rPr>
                      <m:t>𝑇</m:t>
                    </m:r>
                    <m:r>
                      <a:rPr lang="en-US" b="0" i="1" dirty="0" smtClean="0">
                        <a:latin typeface="Cambria Math" panose="02040503050406030204" pitchFamily="18" charset="0"/>
                      </a:rPr>
                      <m:t>5</m:t>
                    </m:r>
                  </m:oMath>
                </a14:m>
                <a:r>
                  <a:rPr lang="en-US" dirty="0"/>
                  <a:t> encoder-decoder model  [Reffel et al JLMR 2020]</a:t>
                </a:r>
              </a:p>
            </p:txBody>
          </p:sp>
        </mc:Choice>
        <mc:Fallback xmlns="">
          <p:sp>
            <p:nvSpPr>
              <p:cNvPr id="6" name="TextBox 5">
                <a:extLst>
                  <a:ext uri="{FF2B5EF4-FFF2-40B4-BE49-F238E27FC236}">
                    <a16:creationId xmlns:a16="http://schemas.microsoft.com/office/drawing/2014/main" id="{997B7BF0-F413-0542-F472-C17C73B09F68}"/>
                  </a:ext>
                </a:extLst>
              </p:cNvPr>
              <p:cNvSpPr txBox="1">
                <a:spLocks noRot="1" noChangeAspect="1" noMove="1" noResize="1" noEditPoints="1" noAdjustHandles="1" noChangeArrowheads="1" noChangeShapeType="1" noTextEdit="1"/>
              </p:cNvSpPr>
              <p:nvPr/>
            </p:nvSpPr>
            <p:spPr>
              <a:xfrm>
                <a:off x="685800" y="4684926"/>
                <a:ext cx="5236698" cy="1200329"/>
              </a:xfrm>
              <a:prstGeom prst="rect">
                <a:avLst/>
              </a:prstGeom>
              <a:blipFill>
                <a:blip r:embed="rId3"/>
                <a:stretch>
                  <a:fillRect l="-1211" t="-3158" b="-7368"/>
                </a:stretch>
              </a:blipFill>
            </p:spPr>
            <p:txBody>
              <a:bodyPr/>
              <a:lstStyle/>
              <a:p>
                <a:r>
                  <a:rPr lang="en-IT">
                    <a:noFill/>
                  </a:rPr>
                  <a:t> </a:t>
                </a:r>
              </a:p>
            </p:txBody>
          </p:sp>
        </mc:Fallback>
      </mc:AlternateContent>
    </p:spTree>
    <p:extLst>
      <p:ext uri="{BB962C8B-B14F-4D97-AF65-F5344CB8AC3E}">
        <p14:creationId xmlns:p14="http://schemas.microsoft.com/office/powerpoint/2010/main" val="588680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8"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T" sz="1800"/>
          </a:p>
        </p:txBody>
      </p:sp>
      <p:sp>
        <p:nvSpPr>
          <p:cNvPr id="8" name="Rectangle 7"/>
          <p:cNvSpPr/>
          <p:nvPr/>
        </p:nvSpPr>
        <p:spPr>
          <a:xfrm>
            <a:off x="18"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T" sz="1800"/>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0DBFF4-F0B8-6B49-AE20-16B50D0FD8F0}" type="datetime1">
              <a:rPr lang="it-IT" smtClean="0"/>
              <a:t>13/05/26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8979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65FA2E-D182-054E-BA6E-E578A21B5BBE}" type="datetime1">
              <a:rPr lang="it-IT" smtClean="0"/>
              <a:t>13/05/26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extLst>
      <p:ext uri="{BB962C8B-B14F-4D97-AF65-F5344CB8AC3E}">
        <p14:creationId xmlns:p14="http://schemas.microsoft.com/office/powerpoint/2010/main" val="3515165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8"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8"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FFE742-D922-6842-BF54-51983F93DFBF}" type="datetime1">
              <a:rPr lang="it-IT" smtClean="0"/>
              <a:t>13/05/26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8040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7"/>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493304-2AC2-2348-9439-C1904DF26387}" type="datetime1">
              <a:rPr lang="it-IT" smtClean="0"/>
              <a:t>13/05/26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552244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7"/>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1B0573-8349-D84D-9100-74C897D9B083}" type="datetime1">
              <a:rPr lang="it-IT" smtClean="0"/>
              <a:t>13/05/26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36114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C3B72B-DCFA-E04A-8285-49B3C784CF22}" type="datetime1">
              <a:rPr lang="it-IT" smtClean="0"/>
              <a:t>13/05/26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900768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8"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T" sz="1800"/>
          </a:p>
        </p:txBody>
      </p:sp>
      <p:sp>
        <p:nvSpPr>
          <p:cNvPr id="6" name="Rectangle 5"/>
          <p:cNvSpPr/>
          <p:nvPr/>
        </p:nvSpPr>
        <p:spPr>
          <a:xfrm>
            <a:off x="18"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T" sz="1800"/>
          </a:p>
        </p:txBody>
      </p:sp>
      <p:sp>
        <p:nvSpPr>
          <p:cNvPr id="7" name="Date Placeholder 6"/>
          <p:cNvSpPr>
            <a:spLocks noGrp="1"/>
          </p:cNvSpPr>
          <p:nvPr>
            <p:ph type="dt" sz="half" idx="10"/>
          </p:nvPr>
        </p:nvSpPr>
        <p:spPr/>
        <p:txBody>
          <a:bodyPr/>
          <a:lstStyle/>
          <a:p>
            <a:fld id="{3FAD7A0D-3B45-3548-B3C2-4D25743133C0}" type="datetime1">
              <a:rPr lang="it-IT" smtClean="0"/>
              <a:t>13/05/26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170593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9"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65514" y="6459789"/>
            <a:ext cx="2618511" cy="365125"/>
          </a:xfrm>
        </p:spPr>
        <p:txBody>
          <a:bodyPr/>
          <a:lstStyle>
            <a:lvl1pPr algn="l">
              <a:defRPr/>
            </a:lvl1pPr>
          </a:lstStyle>
          <a:p>
            <a:fld id="{10188FEF-4EF5-A948-8679-5CD36180D72C}" type="datetime1">
              <a:rPr lang="it-IT" smtClean="0"/>
              <a:t>13/05/26</a:t>
            </a:fld>
            <a:endParaRPr lang="en-US" dirty="0"/>
          </a:p>
        </p:txBody>
      </p:sp>
      <p:sp>
        <p:nvSpPr>
          <p:cNvPr id="6" name="Footer Placeholder 5"/>
          <p:cNvSpPr>
            <a:spLocks noGrp="1"/>
          </p:cNvSpPr>
          <p:nvPr>
            <p:ph type="ftr" sz="quarter" idx="11"/>
          </p:nvPr>
        </p:nvSpPr>
        <p:spPr>
          <a:xfrm>
            <a:off x="4800600" y="6459789"/>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836087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2"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8"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8" y="0"/>
            <a:ext cx="12191985" cy="4915076"/>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F5D0A7-D26E-FB43-882F-A17ACE3D75A8}" type="datetime1">
              <a:rPr lang="it-IT" smtClean="0"/>
              <a:t>13/05/26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648243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7D5C97-DBE8-FF46-AE96-6ADFD7D41704}" type="datetime1">
              <a:rPr lang="it-IT" smtClean="0"/>
              <a:t>13/05/26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129901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8"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8"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2" y="414781"/>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2"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D3734-51B0-A54B-8FA5-32A1E75B0CC3}" type="datetime1">
              <a:rPr lang="it-IT" smtClean="0"/>
              <a:t>13/05/26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50876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T" sz="1800"/>
          </a:p>
        </p:txBody>
      </p:sp>
      <p:sp>
        <p:nvSpPr>
          <p:cNvPr id="9" name="Rectangle 8"/>
          <p:cNvSpPr/>
          <p:nvPr/>
        </p:nvSpPr>
        <p:spPr>
          <a:xfrm>
            <a:off x="2"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T" sz="1800"/>
          </a:p>
        </p:txBody>
      </p:sp>
      <p:sp>
        <p:nvSpPr>
          <p:cNvPr id="2" name="Title Placeholder 1"/>
          <p:cNvSpPr>
            <a:spLocks noGrp="1"/>
          </p:cNvSpPr>
          <p:nvPr>
            <p:ph type="title"/>
          </p:nvPr>
        </p:nvSpPr>
        <p:spPr>
          <a:xfrm>
            <a:off x="1097280" y="286607"/>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3" y="6459789"/>
            <a:ext cx="2472271" cy="365125"/>
          </a:xfrm>
          <a:prstGeom prst="rect">
            <a:avLst/>
          </a:prstGeom>
        </p:spPr>
        <p:txBody>
          <a:bodyPr vert="horz" lIns="91440" tIns="45720" rIns="91440" bIns="45720" rtlCol="0" anchor="ctr"/>
          <a:lstStyle>
            <a:lvl1pPr algn="l">
              <a:defRPr sz="675">
                <a:solidFill>
                  <a:srgbClr val="FFFFFF"/>
                </a:solidFill>
              </a:defRPr>
            </a:lvl1pPr>
          </a:lstStyle>
          <a:p>
            <a:fld id="{3EBE14A6-C720-8046-A44B-2454921CA463}" type="datetime1">
              <a:rPr lang="it-IT" smtClean="0"/>
              <a:t>13/05/26</a:t>
            </a:fld>
            <a:endParaRPr lang="en-US" dirty="0"/>
          </a:p>
        </p:txBody>
      </p:sp>
      <p:sp>
        <p:nvSpPr>
          <p:cNvPr id="5" name="Footer Placeholder 4"/>
          <p:cNvSpPr>
            <a:spLocks noGrp="1"/>
          </p:cNvSpPr>
          <p:nvPr>
            <p:ph type="ftr" sz="quarter" idx="3"/>
          </p:nvPr>
        </p:nvSpPr>
        <p:spPr>
          <a:xfrm>
            <a:off x="3686186" y="6459789"/>
            <a:ext cx="4822804" cy="365125"/>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61" y="6459789"/>
            <a:ext cx="1312025" cy="365125"/>
          </a:xfrm>
          <a:prstGeom prst="rect">
            <a:avLst/>
          </a:prstGeom>
        </p:spPr>
        <p:txBody>
          <a:bodyPr vert="horz" lIns="91440" tIns="45720" rIns="91440" bIns="45720" rtlCol="0" anchor="ctr"/>
          <a:lstStyle>
            <a:lvl1pPr algn="r">
              <a:defRPr sz="788">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1861906"/>
      </p:ext>
    </p:extLst>
  </p:cSld>
  <p:clrMap bg1="lt1" tx1="dk1" bg2="lt2" tx2="dk2" accent1="accent1" accent2="accent2" accent3="accent3" accent4="accent4" accent5="accent5" accent6="accent6" hlink="hlink" folHlink="folHlink"/>
  <p:sldLayoutIdLst>
    <p:sldLayoutId id="2147484030" r:id="rId1"/>
    <p:sldLayoutId id="2147484031" r:id="rId2"/>
    <p:sldLayoutId id="2147484032" r:id="rId3"/>
    <p:sldLayoutId id="2147484033" r:id="rId4"/>
    <p:sldLayoutId id="2147484034" r:id="rId5"/>
    <p:sldLayoutId id="2147484035" r:id="rId6"/>
    <p:sldLayoutId id="2147484036" r:id="rId7"/>
    <p:sldLayoutId id="2147484037" r:id="rId8"/>
    <p:sldLayoutId id="2147484038" r:id="rId9"/>
    <p:sldLayoutId id="2147484039" r:id="rId10"/>
    <p:sldLayoutId id="2147484040" r:id="rId11"/>
  </p:sldLayoutIdLst>
  <p:hf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jpeg"/><Relationship Id="rId10" Type="http://schemas.openxmlformats.org/officeDocument/2006/relationships/image" Target="../media/image8.PNG"/><Relationship Id="rId4" Type="http://schemas.openxmlformats.org/officeDocument/2006/relationships/image" Target="../media/image14.jpeg"/><Relationship Id="rId9" Type="http://schemas.openxmlformats.org/officeDocument/2006/relationships/image" Target="../media/image19.jpe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uic-nlp-lab/virtualcoachdata"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4.jp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people.cs.ksu.edu/~hitzler/nesy/"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8.emf"/></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4.jp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01.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38740" y="1679715"/>
            <a:ext cx="8607286" cy="2393523"/>
          </a:xfrm>
        </p:spPr>
        <p:txBody>
          <a:bodyPr>
            <a:normAutofit fontScale="90000"/>
          </a:bodyPr>
          <a:lstStyle/>
          <a:p>
            <a:pPr algn="ct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r>
              <a:rPr lang="en-GB" sz="4900" b="1" dirty="0">
                <a:solidFill>
                  <a:srgbClr val="00B0F0"/>
                </a:solidFill>
                <a:latin typeface="+mn-lt"/>
              </a:rPr>
              <a:t>Engaging the Patient in Healthcare:</a:t>
            </a:r>
            <a:br>
              <a:rPr lang="en-GB" sz="4900" b="1" dirty="0">
                <a:solidFill>
                  <a:srgbClr val="00B0F0"/>
                </a:solidFill>
                <a:latin typeface="+mn-lt"/>
              </a:rPr>
            </a:br>
            <a:r>
              <a:rPr lang="en-GB" sz="4900" b="1" dirty="0">
                <a:solidFill>
                  <a:srgbClr val="00B0F0"/>
                </a:solidFill>
                <a:latin typeface="+mn-lt"/>
              </a:rPr>
              <a:t>Conversational Assistants  </a:t>
            </a:r>
            <a:br>
              <a:rPr lang="en-GB" sz="4900" b="1" dirty="0">
                <a:solidFill>
                  <a:srgbClr val="00B0F0"/>
                </a:solidFill>
                <a:latin typeface="+mn-lt"/>
              </a:rPr>
            </a:br>
            <a:r>
              <a:rPr lang="en-GB" sz="4900" b="1" dirty="0">
                <a:solidFill>
                  <a:srgbClr val="00B0F0"/>
                </a:solidFill>
                <a:latin typeface="+mn-lt"/>
              </a:rPr>
              <a:t>in the era of LLMs</a:t>
            </a:r>
            <a:br>
              <a:rPr lang="en-US" sz="4900" b="1" dirty="0">
                <a:solidFill>
                  <a:srgbClr val="00B0F0"/>
                </a:solidFill>
                <a:highlight>
                  <a:srgbClr val="00FFFF"/>
                </a:highlight>
                <a:latin typeface="+mn-lt"/>
              </a:rPr>
            </a:br>
            <a:endParaRPr lang="en-US" sz="4900" b="1" dirty="0">
              <a:solidFill>
                <a:srgbClr val="00B0F0"/>
              </a:solidFill>
              <a:highlight>
                <a:srgbClr val="00FFFF"/>
              </a:highlight>
              <a:latin typeface="+mn-lt"/>
            </a:endParaRPr>
          </a:p>
        </p:txBody>
      </p:sp>
      <p:sp>
        <p:nvSpPr>
          <p:cNvPr id="3" name="Subtitle 2"/>
          <p:cNvSpPr>
            <a:spLocks noGrp="1"/>
          </p:cNvSpPr>
          <p:nvPr>
            <p:ph type="subTitle" idx="1"/>
          </p:nvPr>
        </p:nvSpPr>
        <p:spPr>
          <a:xfrm>
            <a:off x="1194954" y="4417749"/>
            <a:ext cx="10235046" cy="1979503"/>
          </a:xfrm>
        </p:spPr>
        <p:txBody>
          <a:bodyPr>
            <a:noAutofit/>
          </a:bodyPr>
          <a:lstStyle/>
          <a:p>
            <a:pPr algn="ctr">
              <a:lnSpc>
                <a:spcPct val="80000"/>
              </a:lnSpc>
            </a:pPr>
            <a:r>
              <a:rPr lang="en-US" sz="3200" dirty="0"/>
              <a:t>Barbara Di Eugenio</a:t>
            </a:r>
          </a:p>
          <a:p>
            <a:pPr algn="ctr">
              <a:lnSpc>
                <a:spcPct val="80000"/>
              </a:lnSpc>
            </a:pPr>
            <a:r>
              <a:rPr lang="en-US" sz="3200" b="1" dirty="0"/>
              <a:t>University of Illinois Chicago </a:t>
            </a:r>
            <a:endParaRPr lang="en-US" sz="3200" dirty="0">
              <a:cs typeface="Calibri Light"/>
            </a:endParaRPr>
          </a:p>
          <a:p>
            <a:pPr algn="ctr">
              <a:lnSpc>
                <a:spcPct val="80000"/>
              </a:lnSpc>
            </a:pPr>
            <a:r>
              <a:rPr lang="en-US" sz="3200" dirty="0"/>
              <a:t>Chicago, IL, USA</a:t>
            </a:r>
          </a:p>
          <a:p>
            <a:pPr algn="ctr">
              <a:lnSpc>
                <a:spcPct val="80000"/>
              </a:lnSpc>
            </a:pPr>
            <a:r>
              <a:rPr lang="en-US" dirty="0"/>
              <a:t> </a:t>
            </a:r>
            <a:endParaRPr lang="en-US" dirty="0">
              <a:cs typeface="Calibri Light"/>
            </a:endParaRPr>
          </a:p>
          <a:p>
            <a:pPr algn="ctr"/>
            <a:endParaRPr lang="en-US" b="1" dirty="0"/>
          </a:p>
        </p:txBody>
      </p:sp>
      <p:sp>
        <p:nvSpPr>
          <p:cNvPr id="4" name="Slide Number Placeholder 3">
            <a:extLst>
              <a:ext uri="{FF2B5EF4-FFF2-40B4-BE49-F238E27FC236}">
                <a16:creationId xmlns:a16="http://schemas.microsoft.com/office/drawing/2014/main" id="{A07283CB-C69A-24BA-9847-54D81A354EAA}"/>
              </a:ext>
            </a:extLst>
          </p:cNvPr>
          <p:cNvSpPr>
            <a:spLocks noGrp="1"/>
          </p:cNvSpPr>
          <p:nvPr>
            <p:ph type="sldNum" sz="quarter" idx="12"/>
          </p:nvPr>
        </p:nvSpPr>
        <p:spPr>
          <a:noFill/>
        </p:spPr>
        <p:txBody>
          <a:bodyPr/>
          <a:lstStyle/>
          <a:p>
            <a:r>
              <a:rPr lang="en-US" dirty="0"/>
              <a:t>1</a:t>
            </a:r>
          </a:p>
          <a:p>
            <a:endParaRPr lang="en-US" dirty="0"/>
          </a:p>
        </p:txBody>
      </p:sp>
      <p:pic>
        <p:nvPicPr>
          <p:cNvPr id="7" name="Graphic 6">
            <a:extLst>
              <a:ext uri="{FF2B5EF4-FFF2-40B4-BE49-F238E27FC236}">
                <a16:creationId xmlns:a16="http://schemas.microsoft.com/office/drawing/2014/main" id="{88D3A28D-3EFD-443A-6EC5-CDD6A2ED7C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747" y="5711100"/>
            <a:ext cx="2102413" cy="577133"/>
          </a:xfrm>
          <a:prstGeom prst="rect">
            <a:avLst/>
          </a:prstGeom>
        </p:spPr>
      </p:pic>
    </p:spTree>
    <p:extLst>
      <p:ext uri="{BB962C8B-B14F-4D97-AF65-F5344CB8AC3E}">
        <p14:creationId xmlns:p14="http://schemas.microsoft.com/office/powerpoint/2010/main" val="379319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Freeform: Shape 1030">
            <a:extLst>
              <a:ext uri="{FF2B5EF4-FFF2-40B4-BE49-F238E27FC236}">
                <a16:creationId xmlns:a16="http://schemas.microsoft.com/office/drawing/2014/main" id="{F82BF3E2-EB0E-40D6-8835-2367A5316C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8480" y="1563970"/>
            <a:ext cx="6043520" cy="5294033"/>
          </a:xfrm>
          <a:custGeom>
            <a:avLst/>
            <a:gdLst>
              <a:gd name="connsiteX0" fmla="*/ 3600823 w 6043520"/>
              <a:gd name="connsiteY0" fmla="*/ 0 h 5294033"/>
              <a:gd name="connsiteX1" fmla="*/ 5891281 w 6043520"/>
              <a:gd name="connsiteY1" fmla="*/ 822253 h 5294033"/>
              <a:gd name="connsiteX2" fmla="*/ 6043520 w 6043520"/>
              <a:gd name="connsiteY2" fmla="*/ 960617 h 5294033"/>
              <a:gd name="connsiteX3" fmla="*/ 6043520 w 6043520"/>
              <a:gd name="connsiteY3" fmla="*/ 5294033 h 5294033"/>
              <a:gd name="connsiteX4" fmla="*/ 423445 w 6043520"/>
              <a:gd name="connsiteY4" fmla="*/ 5294033 h 5294033"/>
              <a:gd name="connsiteX5" fmla="*/ 282971 w 6043520"/>
              <a:gd name="connsiteY5" fmla="*/ 5002426 h 5294033"/>
              <a:gd name="connsiteX6" fmla="*/ 0 w 6043520"/>
              <a:gd name="connsiteY6" fmla="*/ 3600823 h 5294033"/>
              <a:gd name="connsiteX7" fmla="*/ 3600823 w 6043520"/>
              <a:gd name="connsiteY7" fmla="*/ 0 h 5294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43520" h="5294033">
                <a:moveTo>
                  <a:pt x="3600823" y="0"/>
                </a:moveTo>
                <a:cubicBezTo>
                  <a:pt x="4470871" y="0"/>
                  <a:pt x="5268847" y="308574"/>
                  <a:pt x="5891281" y="822253"/>
                </a:cubicBezTo>
                <a:lnTo>
                  <a:pt x="6043520" y="960617"/>
                </a:lnTo>
                <a:lnTo>
                  <a:pt x="6043520" y="5294033"/>
                </a:lnTo>
                <a:lnTo>
                  <a:pt x="423445" y="5294033"/>
                </a:lnTo>
                <a:lnTo>
                  <a:pt x="282971" y="5002426"/>
                </a:lnTo>
                <a:cubicBezTo>
                  <a:pt x="100759" y="4571630"/>
                  <a:pt x="0" y="4097993"/>
                  <a:pt x="0" y="3600823"/>
                </a:cubicBezTo>
                <a:cubicBezTo>
                  <a:pt x="0" y="1612143"/>
                  <a:pt x="1612143" y="0"/>
                  <a:pt x="3600823"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latin typeface="Calibri" panose="020F0502020204030204"/>
            </a:endParaRPr>
          </a:p>
        </p:txBody>
      </p:sp>
      <p:sp>
        <p:nvSpPr>
          <p:cNvPr id="1033" name="Freeform: Shape 1032">
            <a:extLst>
              <a:ext uri="{FF2B5EF4-FFF2-40B4-BE49-F238E27FC236}">
                <a16:creationId xmlns:a16="http://schemas.microsoft.com/office/drawing/2014/main" id="{CB6FFAAC-8A48-4FBF-BAFE-BAD367694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3730" y="1699214"/>
            <a:ext cx="5908273" cy="5158786"/>
          </a:xfrm>
          <a:custGeom>
            <a:avLst/>
            <a:gdLst>
              <a:gd name="connsiteX0" fmla="*/ 3465576 w 5908273"/>
              <a:gd name="connsiteY0" fmla="*/ 0 h 5158786"/>
              <a:gd name="connsiteX1" fmla="*/ 5670004 w 5908273"/>
              <a:gd name="connsiteY1" fmla="*/ 791369 h 5158786"/>
              <a:gd name="connsiteX2" fmla="*/ 5908273 w 5908273"/>
              <a:gd name="connsiteY2" fmla="*/ 1007923 h 5158786"/>
              <a:gd name="connsiteX3" fmla="*/ 5908273 w 5908273"/>
              <a:gd name="connsiteY3" fmla="*/ 5158786 h 5158786"/>
              <a:gd name="connsiteX4" fmla="*/ 443374 w 5908273"/>
              <a:gd name="connsiteY4" fmla="*/ 5158786 h 5158786"/>
              <a:gd name="connsiteX5" fmla="*/ 418277 w 5908273"/>
              <a:gd name="connsiteY5" fmla="*/ 5117476 h 5158786"/>
              <a:gd name="connsiteX6" fmla="*/ 0 w 5908273"/>
              <a:gd name="connsiteY6" fmla="*/ 3465576 h 5158786"/>
              <a:gd name="connsiteX7" fmla="*/ 3465576 w 5908273"/>
              <a:gd name="connsiteY7" fmla="*/ 0 h 515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8273" h="5158786">
                <a:moveTo>
                  <a:pt x="3465576" y="0"/>
                </a:moveTo>
                <a:cubicBezTo>
                  <a:pt x="4302945" y="0"/>
                  <a:pt x="5070948" y="296984"/>
                  <a:pt x="5670004" y="791369"/>
                </a:cubicBezTo>
                <a:lnTo>
                  <a:pt x="5908273" y="1007923"/>
                </a:lnTo>
                <a:lnTo>
                  <a:pt x="5908273" y="5158786"/>
                </a:lnTo>
                <a:lnTo>
                  <a:pt x="443374" y="5158786"/>
                </a:lnTo>
                <a:lnTo>
                  <a:pt x="418277" y="5117476"/>
                </a:lnTo>
                <a:cubicBezTo>
                  <a:pt x="151523" y="4626427"/>
                  <a:pt x="0" y="4063697"/>
                  <a:pt x="0" y="3465576"/>
                </a:cubicBezTo>
                <a:cubicBezTo>
                  <a:pt x="0" y="1551591"/>
                  <a:pt x="1551591" y="0"/>
                  <a:pt x="346557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5" name="Oval 1034">
            <a:extLst>
              <a:ext uri="{FF2B5EF4-FFF2-40B4-BE49-F238E27FC236}">
                <a16:creationId xmlns:a16="http://schemas.microsoft.com/office/drawing/2014/main" id="{481E86DD-89E6-42B2-8675-84B7C56BFF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50534" y="1716727"/>
            <a:ext cx="4572000" cy="45720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1037" name="Freeform: Shape 1036">
            <a:extLst>
              <a:ext uri="{FF2B5EF4-FFF2-40B4-BE49-F238E27FC236}">
                <a16:creationId xmlns:a16="http://schemas.microsoft.com/office/drawing/2014/main" id="{440EF577-B6F8-4C57-B956-AB860B388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87694" y="1853886"/>
            <a:ext cx="4297680" cy="4297680"/>
          </a:xfrm>
          <a:custGeom>
            <a:avLst/>
            <a:gdLst>
              <a:gd name="connsiteX0" fmla="*/ 2148840 w 4297680"/>
              <a:gd name="connsiteY0" fmla="*/ 0 h 4297680"/>
              <a:gd name="connsiteX1" fmla="*/ 4297680 w 4297680"/>
              <a:gd name="connsiteY1" fmla="*/ 2148840 h 4297680"/>
              <a:gd name="connsiteX2" fmla="*/ 2148840 w 4297680"/>
              <a:gd name="connsiteY2" fmla="*/ 4297680 h 4297680"/>
              <a:gd name="connsiteX3" fmla="*/ 0 w 4297680"/>
              <a:gd name="connsiteY3" fmla="*/ 2148840 h 4297680"/>
              <a:gd name="connsiteX4" fmla="*/ 2148840 w 4297680"/>
              <a:gd name="connsiteY4" fmla="*/ 0 h 429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7680" h="4297680">
                <a:moveTo>
                  <a:pt x="2148840" y="0"/>
                </a:moveTo>
                <a:cubicBezTo>
                  <a:pt x="3335612" y="0"/>
                  <a:pt x="4297680" y="962068"/>
                  <a:pt x="4297680" y="2148840"/>
                </a:cubicBezTo>
                <a:cubicBezTo>
                  <a:pt x="4297680" y="3335612"/>
                  <a:pt x="3335612" y="4297680"/>
                  <a:pt x="2148840" y="4297680"/>
                </a:cubicBezTo>
                <a:cubicBezTo>
                  <a:pt x="962068" y="4297680"/>
                  <a:pt x="0" y="3335612"/>
                  <a:pt x="0" y="2148840"/>
                </a:cubicBezTo>
                <a:cubicBezTo>
                  <a:pt x="0" y="962068"/>
                  <a:pt x="962068" y="0"/>
                  <a:pt x="214884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9" name="Freeform: Shape 1038">
            <a:extLst>
              <a:ext uri="{FF2B5EF4-FFF2-40B4-BE49-F238E27FC236}">
                <a16:creationId xmlns:a16="http://schemas.microsoft.com/office/drawing/2014/main" id="{EA518CE4-E4D4-4D8A-980F-6D692AC96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55454" cy="4845530"/>
          </a:xfrm>
          <a:custGeom>
            <a:avLst/>
            <a:gdLst>
              <a:gd name="connsiteX0" fmla="*/ 0 w 5155454"/>
              <a:gd name="connsiteY0" fmla="*/ 0 h 4845530"/>
              <a:gd name="connsiteX1" fmla="*/ 4766270 w 5155454"/>
              <a:gd name="connsiteY1" fmla="*/ 0 h 4845530"/>
              <a:gd name="connsiteX2" fmla="*/ 4896671 w 5155454"/>
              <a:gd name="connsiteY2" fmla="*/ 270697 h 4845530"/>
              <a:gd name="connsiteX3" fmla="*/ 5155454 w 5155454"/>
              <a:gd name="connsiteY3" fmla="*/ 1552495 h 4845530"/>
              <a:gd name="connsiteX4" fmla="*/ 1862419 w 5155454"/>
              <a:gd name="connsiteY4" fmla="*/ 4845530 h 4845530"/>
              <a:gd name="connsiteX5" fmla="*/ 21252 w 5155454"/>
              <a:gd name="connsiteY5" fmla="*/ 4283132 h 4845530"/>
              <a:gd name="connsiteX6" fmla="*/ 0 w 5155454"/>
              <a:gd name="connsiteY6" fmla="*/ 4267240 h 4845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55454" h="4845530">
                <a:moveTo>
                  <a:pt x="0" y="0"/>
                </a:moveTo>
                <a:lnTo>
                  <a:pt x="4766270" y="0"/>
                </a:lnTo>
                <a:lnTo>
                  <a:pt x="4896671" y="270697"/>
                </a:lnTo>
                <a:cubicBezTo>
                  <a:pt x="5063308" y="664671"/>
                  <a:pt x="5155454" y="1097822"/>
                  <a:pt x="5155454" y="1552495"/>
                </a:cubicBezTo>
                <a:cubicBezTo>
                  <a:pt x="5155454" y="3371188"/>
                  <a:pt x="3681112" y="4845530"/>
                  <a:pt x="1862419" y="4845530"/>
                </a:cubicBezTo>
                <a:cubicBezTo>
                  <a:pt x="1180409" y="4845530"/>
                  <a:pt x="546824" y="4638201"/>
                  <a:pt x="21252" y="4283132"/>
                </a:cubicBezTo>
                <a:lnTo>
                  <a:pt x="0" y="426724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latin typeface="Calibri" panose="020F0502020204030204"/>
            </a:endParaRPr>
          </a:p>
        </p:txBody>
      </p:sp>
      <p:sp>
        <p:nvSpPr>
          <p:cNvPr id="1041" name="Freeform: Shape 1040">
            <a:extLst>
              <a:ext uri="{FF2B5EF4-FFF2-40B4-BE49-F238E27FC236}">
                <a16:creationId xmlns:a16="http://schemas.microsoft.com/office/drawing/2014/main" id="{5E6FAE32-AB12-4E77-A677-F6BD5D71A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017099" cy="4718647"/>
          </a:xfrm>
          <a:custGeom>
            <a:avLst/>
            <a:gdLst>
              <a:gd name="connsiteX0" fmla="*/ 0 w 5017099"/>
              <a:gd name="connsiteY0" fmla="*/ 0 h 4718647"/>
              <a:gd name="connsiteX1" fmla="*/ 4599738 w 5017099"/>
              <a:gd name="connsiteY1" fmla="*/ 0 h 4718647"/>
              <a:gd name="connsiteX2" fmla="*/ 4636346 w 5017099"/>
              <a:gd name="connsiteY2" fmla="*/ 60259 h 4718647"/>
              <a:gd name="connsiteX3" fmla="*/ 5017099 w 5017099"/>
              <a:gd name="connsiteY3" fmla="*/ 1563967 h 4718647"/>
              <a:gd name="connsiteX4" fmla="*/ 1862419 w 5017099"/>
              <a:gd name="connsiteY4" fmla="*/ 4718647 h 4718647"/>
              <a:gd name="connsiteX5" fmla="*/ 98607 w 5017099"/>
              <a:gd name="connsiteY5" fmla="*/ 4179877 h 4718647"/>
              <a:gd name="connsiteX6" fmla="*/ 0 w 5017099"/>
              <a:gd name="connsiteY6" fmla="*/ 4106140 h 4718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17099" h="4718647">
                <a:moveTo>
                  <a:pt x="0" y="0"/>
                </a:moveTo>
                <a:lnTo>
                  <a:pt x="4599738" y="0"/>
                </a:lnTo>
                <a:lnTo>
                  <a:pt x="4636346" y="60259"/>
                </a:lnTo>
                <a:cubicBezTo>
                  <a:pt x="4879170" y="507256"/>
                  <a:pt x="5017099" y="1019504"/>
                  <a:pt x="5017099" y="1563967"/>
                </a:cubicBezTo>
                <a:cubicBezTo>
                  <a:pt x="5017099" y="3306249"/>
                  <a:pt x="3604701" y="4718647"/>
                  <a:pt x="1862419" y="4718647"/>
                </a:cubicBezTo>
                <a:cubicBezTo>
                  <a:pt x="1209063" y="4718647"/>
                  <a:pt x="602098" y="4520029"/>
                  <a:pt x="98607" y="4179877"/>
                </a:cubicBezTo>
                <a:lnTo>
                  <a:pt x="0" y="410614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9" name="Picture 28" descr="A screenshot of a medical error&#10;&#10;Description automatically generated">
            <a:extLst>
              <a:ext uri="{FF2B5EF4-FFF2-40B4-BE49-F238E27FC236}">
                <a16:creationId xmlns:a16="http://schemas.microsoft.com/office/drawing/2014/main" id="{F1DFCC4A-979A-650C-719B-2736545BFFC3}"/>
              </a:ext>
            </a:extLst>
          </p:cNvPr>
          <p:cNvPicPr>
            <a:picLocks noChangeAspect="1"/>
          </p:cNvPicPr>
          <p:nvPr/>
        </p:nvPicPr>
        <p:blipFill>
          <a:blip r:embed="rId3"/>
          <a:stretch>
            <a:fillRect/>
          </a:stretch>
        </p:blipFill>
        <p:spPr>
          <a:xfrm>
            <a:off x="4632566" y="3322453"/>
            <a:ext cx="2450156" cy="2083606"/>
          </a:xfrm>
          <a:prstGeom prst="rect">
            <a:avLst/>
          </a:prstGeom>
        </p:spPr>
      </p:pic>
      <p:pic>
        <p:nvPicPr>
          <p:cNvPr id="32" name="Picture 31" descr="A close-up of a document&#10;&#10;Description automatically generated">
            <a:extLst>
              <a:ext uri="{FF2B5EF4-FFF2-40B4-BE49-F238E27FC236}">
                <a16:creationId xmlns:a16="http://schemas.microsoft.com/office/drawing/2014/main" id="{D8E346F1-FA93-D23F-DFAC-15C934ED9214}"/>
              </a:ext>
            </a:extLst>
          </p:cNvPr>
          <p:cNvPicPr>
            <a:picLocks noChangeAspect="1"/>
          </p:cNvPicPr>
          <p:nvPr/>
        </p:nvPicPr>
        <p:blipFill>
          <a:blip r:embed="rId4"/>
          <a:stretch>
            <a:fillRect/>
          </a:stretch>
        </p:blipFill>
        <p:spPr>
          <a:xfrm>
            <a:off x="101633" y="5113880"/>
            <a:ext cx="3366375" cy="1242469"/>
          </a:xfrm>
          <a:prstGeom prst="rect">
            <a:avLst/>
          </a:prstGeom>
        </p:spPr>
      </p:pic>
      <p:sp>
        <p:nvSpPr>
          <p:cNvPr id="1043" name="Freeform: Shape 1042">
            <a:extLst>
              <a:ext uri="{FF2B5EF4-FFF2-40B4-BE49-F238E27FC236}">
                <a16:creationId xmlns:a16="http://schemas.microsoft.com/office/drawing/2014/main" id="{2F6B32C1-BA91-470A-8C1B-33264F8B2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62313" y="-1"/>
            <a:ext cx="4444096" cy="3211788"/>
          </a:xfrm>
          <a:custGeom>
            <a:avLst/>
            <a:gdLst>
              <a:gd name="connsiteX0" fmla="*/ 5102 w 4444096"/>
              <a:gd name="connsiteY0" fmla="*/ 0 h 3211788"/>
              <a:gd name="connsiteX1" fmla="*/ 4444096 w 4444096"/>
              <a:gd name="connsiteY1" fmla="*/ 0 h 3211788"/>
              <a:gd name="connsiteX2" fmla="*/ 4444096 w 4444096"/>
              <a:gd name="connsiteY2" fmla="*/ 2908319 h 3211788"/>
              <a:gd name="connsiteX3" fmla="*/ 4321598 w 4444096"/>
              <a:gd name="connsiteY3" fmla="*/ 2967330 h 3211788"/>
              <a:gd name="connsiteX4" fmla="*/ 3110753 w 4444096"/>
              <a:gd name="connsiteY4" fmla="*/ 3211788 h 3211788"/>
              <a:gd name="connsiteX5" fmla="*/ 0 w 4444096"/>
              <a:gd name="connsiteY5" fmla="*/ 101035 h 321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4096" h="3211788">
                <a:moveTo>
                  <a:pt x="5102" y="0"/>
                </a:moveTo>
                <a:lnTo>
                  <a:pt x="4444096" y="0"/>
                </a:lnTo>
                <a:lnTo>
                  <a:pt x="4444096" y="2908319"/>
                </a:lnTo>
                <a:lnTo>
                  <a:pt x="4321598" y="2967330"/>
                </a:lnTo>
                <a:cubicBezTo>
                  <a:pt x="3949433" y="3124742"/>
                  <a:pt x="3540258" y="3211788"/>
                  <a:pt x="3110753" y="3211788"/>
                </a:cubicBezTo>
                <a:cubicBezTo>
                  <a:pt x="1392732" y="3211788"/>
                  <a:pt x="0" y="1819056"/>
                  <a:pt x="0" y="101035"/>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Calibri" panose="020F0502020204030204"/>
            </a:endParaRPr>
          </a:p>
        </p:txBody>
      </p:sp>
      <p:sp>
        <p:nvSpPr>
          <p:cNvPr id="1045" name="Freeform: Shape 1044">
            <a:extLst>
              <a:ext uri="{FF2B5EF4-FFF2-40B4-BE49-F238E27FC236}">
                <a16:creationId xmlns:a16="http://schemas.microsoft.com/office/drawing/2014/main" id="{459570ED-BE4C-49E8-86BC-A81140CFE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28700" y="-1"/>
            <a:ext cx="4277711" cy="3045402"/>
          </a:xfrm>
          <a:custGeom>
            <a:avLst/>
            <a:gdLst>
              <a:gd name="connsiteX0" fmla="*/ 5102 w 4277711"/>
              <a:gd name="connsiteY0" fmla="*/ 0 h 3045402"/>
              <a:gd name="connsiteX1" fmla="*/ 4277711 w 4277711"/>
              <a:gd name="connsiteY1" fmla="*/ 0 h 3045402"/>
              <a:gd name="connsiteX2" fmla="*/ 4277711 w 4277711"/>
              <a:gd name="connsiteY2" fmla="*/ 2723810 h 3045402"/>
              <a:gd name="connsiteX3" fmla="*/ 4090449 w 4277711"/>
              <a:gd name="connsiteY3" fmla="*/ 2814019 h 3045402"/>
              <a:gd name="connsiteX4" fmla="*/ 2944368 w 4277711"/>
              <a:gd name="connsiteY4" fmla="*/ 3045402 h 3045402"/>
              <a:gd name="connsiteX5" fmla="*/ 0 w 4277711"/>
              <a:gd name="connsiteY5" fmla="*/ 101034 h 304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711" h="3045402">
                <a:moveTo>
                  <a:pt x="5102" y="0"/>
                </a:moveTo>
                <a:lnTo>
                  <a:pt x="4277711" y="0"/>
                </a:lnTo>
                <a:lnTo>
                  <a:pt x="4277711" y="2723810"/>
                </a:lnTo>
                <a:lnTo>
                  <a:pt x="4090449" y="2814019"/>
                </a:lnTo>
                <a:cubicBezTo>
                  <a:pt x="3738190" y="2963012"/>
                  <a:pt x="3350901" y="3045402"/>
                  <a:pt x="2944368" y="3045402"/>
                </a:cubicBezTo>
                <a:cubicBezTo>
                  <a:pt x="1318238" y="3045402"/>
                  <a:pt x="0" y="1727164"/>
                  <a:pt x="0" y="10103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4" name="Picture 23" descr="A black and white background with white text&#10;&#10;Description automatically generated">
            <a:extLst>
              <a:ext uri="{FF2B5EF4-FFF2-40B4-BE49-F238E27FC236}">
                <a16:creationId xmlns:a16="http://schemas.microsoft.com/office/drawing/2014/main" id="{FA8D3BC6-F46A-11CA-3A03-88ED6C93DE0F}"/>
              </a:ext>
            </a:extLst>
          </p:cNvPr>
          <p:cNvPicPr>
            <a:picLocks noChangeAspect="1"/>
          </p:cNvPicPr>
          <p:nvPr/>
        </p:nvPicPr>
        <p:blipFill>
          <a:blip r:embed="rId5"/>
          <a:stretch>
            <a:fillRect/>
          </a:stretch>
        </p:blipFill>
        <p:spPr>
          <a:xfrm>
            <a:off x="9037413" y="243744"/>
            <a:ext cx="3468047" cy="2115581"/>
          </a:xfrm>
          <a:prstGeom prst="rect">
            <a:avLst/>
          </a:prstGeom>
        </p:spPr>
      </p:pic>
      <p:pic>
        <p:nvPicPr>
          <p:cNvPr id="1026" name="Picture 2" descr="A person clapping her hands&#10;&#10;AI-generated content may be incorrect.">
            <a:extLst>
              <a:ext uri="{FF2B5EF4-FFF2-40B4-BE49-F238E27FC236}">
                <a16:creationId xmlns:a16="http://schemas.microsoft.com/office/drawing/2014/main" id="{73E4B765-0651-00C2-8ED4-BE6C377B2352}"/>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173444" y="617241"/>
            <a:ext cx="4358467" cy="259454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person in a white coat&#10;&#10;AI-generated content may be incorrect.">
            <a:extLst>
              <a:ext uri="{FF2B5EF4-FFF2-40B4-BE49-F238E27FC236}">
                <a16:creationId xmlns:a16="http://schemas.microsoft.com/office/drawing/2014/main" id="{3BD2C428-B997-DA27-61ED-23A5A379D253}"/>
              </a:ext>
            </a:extLst>
          </p:cNvPr>
          <p:cNvPicPr>
            <a:picLocks noChangeAspect="1"/>
          </p:cNvPicPr>
          <p:nvPr/>
        </p:nvPicPr>
        <p:blipFill>
          <a:blip r:embed="rId7"/>
          <a:stretch>
            <a:fillRect/>
          </a:stretch>
        </p:blipFill>
        <p:spPr>
          <a:xfrm>
            <a:off x="7724681" y="3322453"/>
            <a:ext cx="4390229" cy="3033896"/>
          </a:xfrm>
          <a:prstGeom prst="rect">
            <a:avLst/>
          </a:prstGeom>
        </p:spPr>
      </p:pic>
      <p:sp>
        <p:nvSpPr>
          <p:cNvPr id="7" name="Slide Number Placeholder 7">
            <a:extLst>
              <a:ext uri="{FF2B5EF4-FFF2-40B4-BE49-F238E27FC236}">
                <a16:creationId xmlns:a16="http://schemas.microsoft.com/office/drawing/2014/main" id="{94035907-5BC9-5748-A281-8FF9AC2D0CE0}"/>
              </a:ext>
            </a:extLst>
          </p:cNvPr>
          <p:cNvSpPr>
            <a:spLocks noGrp="1"/>
          </p:cNvSpPr>
          <p:nvPr>
            <p:ph type="sldNum" sz="quarter" idx="12"/>
          </p:nvPr>
        </p:nvSpPr>
        <p:spPr>
          <a:xfrm>
            <a:off x="8610600" y="6356352"/>
            <a:ext cx="2743200" cy="365125"/>
          </a:xfrm>
        </p:spPr>
        <p:txBody>
          <a:bodyPr vert="horz" lIns="91440" tIns="45720" rIns="91440" bIns="45720" rtlCol="0" anchor="ctr">
            <a:normAutofit/>
          </a:bodyPr>
          <a:lstStyle/>
          <a:p>
            <a:pPr>
              <a:spcAft>
                <a:spcPts val="600"/>
              </a:spcAft>
              <a:defRPr/>
            </a:pPr>
            <a:fld id="{B5D03F8D-5B5A-3244-BDAD-D56FA08ACDB5}" type="slidenum">
              <a:rPr lang="en-US" sz="1200">
                <a:solidFill>
                  <a:schemeClr val="tx1">
                    <a:lumMod val="75000"/>
                    <a:lumOff val="25000"/>
                  </a:schemeClr>
                </a:solidFill>
              </a:rPr>
              <a:pPr>
                <a:spcAft>
                  <a:spcPts val="600"/>
                </a:spcAft>
                <a:defRPr/>
              </a:pPr>
              <a:t>2</a:t>
            </a:fld>
            <a:endParaRPr lang="en-US" sz="1200">
              <a:solidFill>
                <a:schemeClr val="tx1">
                  <a:lumMod val="75000"/>
                  <a:lumOff val="25000"/>
                </a:schemeClr>
              </a:solidFill>
            </a:endParaRPr>
          </a:p>
        </p:txBody>
      </p:sp>
      <p:sp>
        <p:nvSpPr>
          <p:cNvPr id="41" name="TextBox 40">
            <a:extLst>
              <a:ext uri="{FF2B5EF4-FFF2-40B4-BE49-F238E27FC236}">
                <a16:creationId xmlns:a16="http://schemas.microsoft.com/office/drawing/2014/main" id="{40E25C58-798C-6247-BBAA-AF456262F594}"/>
              </a:ext>
            </a:extLst>
          </p:cNvPr>
          <p:cNvSpPr txBox="1"/>
          <p:nvPr/>
        </p:nvSpPr>
        <p:spPr>
          <a:xfrm>
            <a:off x="2344996" y="132735"/>
            <a:ext cx="184731" cy="369332"/>
          </a:xfrm>
          <a:prstGeom prst="rect">
            <a:avLst/>
          </a:prstGeom>
          <a:noFill/>
        </p:spPr>
        <p:txBody>
          <a:bodyPr wrap="none" rtlCol="0">
            <a:spAutoFit/>
          </a:bodyPr>
          <a:lstStyle/>
          <a:p>
            <a:endParaRPr lang="en-US" dirty="0"/>
          </a:p>
        </p:txBody>
      </p:sp>
      <p:pic>
        <p:nvPicPr>
          <p:cNvPr id="5" name="Picture 4" descr="A red circle with black text&#10;&#10;Description automatically generated">
            <a:extLst>
              <a:ext uri="{FF2B5EF4-FFF2-40B4-BE49-F238E27FC236}">
                <a16:creationId xmlns:a16="http://schemas.microsoft.com/office/drawing/2014/main" id="{915442D3-B37D-8493-F1B1-9E40BA6FA3A8}"/>
              </a:ext>
            </a:extLst>
          </p:cNvPr>
          <p:cNvPicPr>
            <a:picLocks noChangeAspect="1"/>
          </p:cNvPicPr>
          <p:nvPr/>
        </p:nvPicPr>
        <p:blipFill>
          <a:blip r:embed="rId8"/>
          <a:stretch>
            <a:fillRect/>
          </a:stretch>
        </p:blipFill>
        <p:spPr>
          <a:xfrm>
            <a:off x="6618749" y="5946371"/>
            <a:ext cx="927951" cy="1064388"/>
          </a:xfrm>
          <a:prstGeom prst="rect">
            <a:avLst/>
          </a:prstGeom>
        </p:spPr>
      </p:pic>
    </p:spTree>
    <p:extLst>
      <p:ext uri="{BB962C8B-B14F-4D97-AF65-F5344CB8AC3E}">
        <p14:creationId xmlns:p14="http://schemas.microsoft.com/office/powerpoint/2010/main" val="1917865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A0198-E96D-7A17-AD85-66F8DD73E5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84629-4A56-C270-573E-C10E6732A5D0}"/>
              </a:ext>
            </a:extLst>
          </p:cNvPr>
          <p:cNvSpPr>
            <a:spLocks noGrp="1"/>
          </p:cNvSpPr>
          <p:nvPr>
            <p:ph type="title"/>
          </p:nvPr>
        </p:nvSpPr>
        <p:spPr>
          <a:xfrm>
            <a:off x="1097280" y="573314"/>
            <a:ext cx="9805946" cy="1011201"/>
          </a:xfrm>
        </p:spPr>
        <p:txBody>
          <a:bodyPr>
            <a:noAutofit/>
          </a:bodyPr>
          <a:lstStyle/>
          <a:p>
            <a:pPr algn="ctr"/>
            <a:r>
              <a:rPr lang="en-US" b="1" dirty="0">
                <a:solidFill>
                  <a:srgbClr val="00B0F0"/>
                </a:solidFill>
                <a:latin typeface="+mn-lt"/>
              </a:rPr>
              <a:t>Conversational assistants for patients</a:t>
            </a:r>
            <a:br>
              <a:rPr lang="en-US" b="1" dirty="0">
                <a:solidFill>
                  <a:srgbClr val="00B0F0"/>
                </a:solidFill>
                <a:latin typeface="+mn-lt"/>
              </a:rPr>
            </a:br>
            <a:endParaRPr lang="en-IT" b="1" dirty="0">
              <a:solidFill>
                <a:srgbClr val="00B0F0"/>
              </a:solidFill>
              <a:latin typeface="+mn-lt"/>
            </a:endParaRPr>
          </a:p>
        </p:txBody>
      </p:sp>
      <p:sp>
        <p:nvSpPr>
          <p:cNvPr id="3" name="Content Placeholder 2">
            <a:extLst>
              <a:ext uri="{FF2B5EF4-FFF2-40B4-BE49-F238E27FC236}">
                <a16:creationId xmlns:a16="http://schemas.microsoft.com/office/drawing/2014/main" id="{DC011F93-C02C-E15F-46E1-BF0F50E5AD25}"/>
              </a:ext>
            </a:extLst>
          </p:cNvPr>
          <p:cNvSpPr>
            <a:spLocks noGrp="1"/>
          </p:cNvSpPr>
          <p:nvPr>
            <p:ph idx="1"/>
          </p:nvPr>
        </p:nvSpPr>
        <p:spPr>
          <a:xfrm>
            <a:off x="550985" y="1754532"/>
            <a:ext cx="4626805" cy="4530154"/>
          </a:xfrm>
        </p:spPr>
        <p:txBody>
          <a:bodyPr>
            <a:normAutofit fontScale="40000" lnSpcReduction="20000"/>
          </a:bodyPr>
          <a:lstStyle/>
          <a:p>
            <a:pPr marL="0" indent="0">
              <a:lnSpc>
                <a:spcPct val="120000"/>
              </a:lnSpc>
              <a:buClr>
                <a:srgbClr val="E48312"/>
              </a:buClr>
              <a:buNone/>
              <a:defRPr/>
            </a:pPr>
            <a:r>
              <a:rPr lang="en-US" sz="7000" dirty="0">
                <a:solidFill>
                  <a:srgbClr val="00B050"/>
                </a:solidFill>
                <a:latin typeface="Calibri"/>
              </a:rPr>
              <a:t>Hypothesis: Addressing   patients’ needs </a:t>
            </a:r>
            <a:r>
              <a:rPr lang="en-US" sz="7000" dirty="0">
                <a:solidFill>
                  <a:srgbClr val="000000">
                    <a:lumMod val="75000"/>
                    <a:lumOff val="25000"/>
                  </a:srgbClr>
                </a:solidFill>
                <a:latin typeface="Calibri"/>
              </a:rPr>
              <a:t>when </a:t>
            </a:r>
            <a:r>
              <a:rPr lang="en-US" sz="7000" dirty="0">
                <a:solidFill>
                  <a:schemeClr val="tx1"/>
                </a:solidFill>
                <a:latin typeface="Calibri"/>
              </a:rPr>
              <a:t>accessing data / communicating </a:t>
            </a:r>
            <a:r>
              <a:rPr lang="en-US" sz="7000" dirty="0">
                <a:solidFill>
                  <a:srgbClr val="000000">
                    <a:lumMod val="75000"/>
                    <a:lumOff val="25000"/>
                  </a:srgbClr>
                </a:solidFill>
                <a:latin typeface="Calibri"/>
              </a:rPr>
              <a:t>with healthcare providers  </a:t>
            </a:r>
            <a:r>
              <a:rPr lang="en-US" sz="7000" dirty="0">
                <a:solidFill>
                  <a:srgbClr val="00B050"/>
                </a:solidFill>
                <a:latin typeface="Calibri"/>
              </a:rPr>
              <a:t>→</a:t>
            </a:r>
            <a:r>
              <a:rPr lang="en-US" sz="7000" dirty="0">
                <a:solidFill>
                  <a:srgbClr val="000000">
                    <a:lumMod val="75000"/>
                    <a:lumOff val="25000"/>
                  </a:srgbClr>
                </a:solidFill>
                <a:latin typeface="Calibri"/>
              </a:rPr>
              <a:t> </a:t>
            </a:r>
            <a:r>
              <a:rPr lang="en-US" sz="7000" dirty="0">
                <a:solidFill>
                  <a:srgbClr val="00B050"/>
                </a:solidFill>
                <a:latin typeface="Calibri"/>
              </a:rPr>
              <a:t>better health outcomes </a:t>
            </a:r>
          </a:p>
          <a:p>
            <a:pPr marL="0" indent="0">
              <a:lnSpc>
                <a:spcPct val="120000"/>
              </a:lnSpc>
              <a:buClr>
                <a:srgbClr val="E48312"/>
              </a:buClr>
              <a:buNone/>
              <a:defRPr/>
            </a:pPr>
            <a:endParaRPr lang="en-US" sz="11200" dirty="0">
              <a:solidFill>
                <a:srgbClr val="00B050"/>
              </a:solidFill>
              <a:latin typeface="Calibri"/>
            </a:endParaRPr>
          </a:p>
          <a:p>
            <a:pPr marL="0" indent="0">
              <a:buClr>
                <a:srgbClr val="E48312"/>
              </a:buClr>
              <a:buNone/>
              <a:defRPr/>
            </a:pPr>
            <a:r>
              <a:rPr lang="en-US" sz="11200" dirty="0">
                <a:solidFill>
                  <a:srgbClr val="000000">
                    <a:lumMod val="75000"/>
                    <a:lumOff val="25000"/>
                  </a:srgbClr>
                </a:solidFill>
                <a:latin typeface="Calibri"/>
              </a:rPr>
              <a:t> </a:t>
            </a:r>
          </a:p>
          <a:p>
            <a:pPr marL="150876" lvl="1" indent="0">
              <a:spcBef>
                <a:spcPts val="900"/>
              </a:spcBef>
              <a:spcAft>
                <a:spcPts val="150"/>
              </a:spcAft>
              <a:buClr>
                <a:srgbClr val="E48312"/>
              </a:buClr>
              <a:buSzPct val="100000"/>
              <a:buNone/>
              <a:defRPr/>
            </a:pPr>
            <a:endParaRPr lang="en-US" sz="9600" dirty="0"/>
          </a:p>
          <a:p>
            <a:pPr lvl="1">
              <a:spcBef>
                <a:spcPts val="900"/>
              </a:spcBef>
              <a:spcAft>
                <a:spcPts val="150"/>
              </a:spcAft>
              <a:buClr>
                <a:srgbClr val="E48312"/>
              </a:buClr>
              <a:buSzPct val="100000"/>
              <a:buFont typeface="Wingdings" pitchFamily="2" charset="2"/>
              <a:buChar char="v"/>
              <a:defRPr/>
            </a:pPr>
            <a:endParaRPr lang="en-US" sz="11200" dirty="0">
              <a:solidFill>
                <a:srgbClr val="000000">
                  <a:lumMod val="75000"/>
                  <a:lumOff val="25000"/>
                </a:srgbClr>
              </a:solidFill>
              <a:latin typeface="Calibri"/>
            </a:endParaRPr>
          </a:p>
          <a:p>
            <a:pPr lvl="1">
              <a:buClr>
                <a:srgbClr val="E48312"/>
              </a:buClr>
              <a:buFont typeface="Wingdings" pitchFamily="2" charset="2"/>
              <a:buChar char="v"/>
              <a:defRPr/>
            </a:pPr>
            <a:endParaRPr lang="en-US" sz="8800" dirty="0">
              <a:solidFill>
                <a:srgbClr val="000000">
                  <a:lumMod val="75000"/>
                  <a:lumOff val="25000"/>
                </a:srgbClr>
              </a:solidFill>
              <a:latin typeface="Calibri"/>
            </a:endParaRPr>
          </a:p>
          <a:p>
            <a:pPr>
              <a:buFont typeface="Wingdings" pitchFamily="2" charset="2"/>
              <a:buChar char="v"/>
            </a:pPr>
            <a:endParaRPr lang="en-IT" dirty="0"/>
          </a:p>
        </p:txBody>
      </p:sp>
      <p:sp>
        <p:nvSpPr>
          <p:cNvPr id="10" name="Slide Number Placeholder 9">
            <a:extLst>
              <a:ext uri="{FF2B5EF4-FFF2-40B4-BE49-F238E27FC236}">
                <a16:creationId xmlns:a16="http://schemas.microsoft.com/office/drawing/2014/main" id="{F59D9572-3232-043F-9D1A-07A786D31B96}"/>
              </a:ext>
            </a:extLst>
          </p:cNvPr>
          <p:cNvSpPr>
            <a:spLocks noGrp="1"/>
          </p:cNvSpPr>
          <p:nvPr>
            <p:ph type="sldNum" sz="quarter" idx="12"/>
          </p:nvPr>
        </p:nvSpPr>
        <p:spPr>
          <a:xfrm>
            <a:off x="10654224" y="6445157"/>
            <a:ext cx="1312025" cy="365125"/>
          </a:xfrm>
        </p:spPr>
        <p:txBody>
          <a:bodyPr/>
          <a:lstStyle/>
          <a:p>
            <a:fld id="{6113E31D-E2AB-40D1-8B51-AFA5AFEF393A}" type="slidenum">
              <a:rPr lang="en-US" sz="1100">
                <a:latin typeface="Gill Sans MT" panose="020B0502020104020203" pitchFamily="34" charset="77"/>
              </a:rPr>
              <a:t>3</a:t>
            </a:fld>
            <a:endParaRPr lang="en-US" sz="1100" dirty="0">
              <a:latin typeface="Gill Sans MT" panose="020B0502020104020203" pitchFamily="34" charset="77"/>
            </a:endParaRPr>
          </a:p>
        </p:txBody>
      </p:sp>
      <p:pic>
        <p:nvPicPr>
          <p:cNvPr id="12" name="Picture 11" descr="A red circle with black text&#10;&#10;Description automatically generated">
            <a:extLst>
              <a:ext uri="{FF2B5EF4-FFF2-40B4-BE49-F238E27FC236}">
                <a16:creationId xmlns:a16="http://schemas.microsoft.com/office/drawing/2014/main" id="{CE22F3DD-035A-4F33-C86D-21823F6B2DD5}"/>
              </a:ext>
            </a:extLst>
          </p:cNvPr>
          <p:cNvPicPr>
            <a:picLocks noChangeAspect="1"/>
          </p:cNvPicPr>
          <p:nvPr/>
        </p:nvPicPr>
        <p:blipFill>
          <a:blip r:embed="rId3"/>
          <a:stretch>
            <a:fillRect/>
          </a:stretch>
        </p:blipFill>
        <p:spPr>
          <a:xfrm>
            <a:off x="-188415" y="5627589"/>
            <a:ext cx="1031090" cy="1182691"/>
          </a:xfrm>
          <a:prstGeom prst="rect">
            <a:avLst/>
          </a:prstGeom>
        </p:spPr>
      </p:pic>
      <p:pic>
        <p:nvPicPr>
          <p:cNvPr id="4" name="Picture 3" descr="A person in a white coat&#10;&#10;AI-generated content may be incorrect.">
            <a:extLst>
              <a:ext uri="{FF2B5EF4-FFF2-40B4-BE49-F238E27FC236}">
                <a16:creationId xmlns:a16="http://schemas.microsoft.com/office/drawing/2014/main" id="{4C8467A2-57FB-A60C-8DE0-063F09DEC5EF}"/>
              </a:ext>
            </a:extLst>
          </p:cNvPr>
          <p:cNvPicPr>
            <a:picLocks noChangeAspect="1"/>
          </p:cNvPicPr>
          <p:nvPr/>
        </p:nvPicPr>
        <p:blipFill>
          <a:blip r:embed="rId4"/>
          <a:stretch>
            <a:fillRect/>
          </a:stretch>
        </p:blipFill>
        <p:spPr>
          <a:xfrm>
            <a:off x="6096000" y="1754532"/>
            <a:ext cx="5870249" cy="3670299"/>
          </a:xfrm>
          <a:prstGeom prst="rect">
            <a:avLst/>
          </a:prstGeom>
        </p:spPr>
      </p:pic>
    </p:spTree>
    <p:extLst>
      <p:ext uri="{BB962C8B-B14F-4D97-AF65-F5344CB8AC3E}">
        <p14:creationId xmlns:p14="http://schemas.microsoft.com/office/powerpoint/2010/main" val="1353856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B896-B8B0-7E1E-F69A-78445084099B}"/>
              </a:ext>
            </a:extLst>
          </p:cNvPr>
          <p:cNvSpPr>
            <a:spLocks noGrp="1"/>
          </p:cNvSpPr>
          <p:nvPr>
            <p:ph type="title"/>
          </p:nvPr>
        </p:nvSpPr>
        <p:spPr>
          <a:xfrm>
            <a:off x="1097280" y="573314"/>
            <a:ext cx="9805946" cy="1011201"/>
          </a:xfrm>
        </p:spPr>
        <p:txBody>
          <a:bodyPr>
            <a:noAutofit/>
          </a:bodyPr>
          <a:lstStyle/>
          <a:p>
            <a:pPr algn="ctr"/>
            <a:r>
              <a:rPr lang="en-US" b="1" dirty="0">
                <a:solidFill>
                  <a:srgbClr val="00B0F0"/>
                </a:solidFill>
                <a:latin typeface="+mn-lt"/>
              </a:rPr>
              <a:t>Conversational assistants for patients:</a:t>
            </a:r>
            <a:br>
              <a:rPr lang="en-US" b="1" dirty="0">
                <a:solidFill>
                  <a:srgbClr val="00B0F0"/>
                </a:solidFill>
                <a:latin typeface="+mn-lt"/>
              </a:rPr>
            </a:br>
            <a:r>
              <a:rPr lang="en-US" b="1" dirty="0">
                <a:solidFill>
                  <a:srgbClr val="00B0F0"/>
                </a:solidFill>
                <a:latin typeface="+mn-lt"/>
              </a:rPr>
              <a:t>A non-exhaustive list of challenges </a:t>
            </a:r>
            <a:endParaRPr lang="en-IT" b="1" dirty="0">
              <a:solidFill>
                <a:srgbClr val="00B0F0"/>
              </a:solidFill>
              <a:latin typeface="+mn-lt"/>
            </a:endParaRPr>
          </a:p>
        </p:txBody>
      </p:sp>
      <p:sp>
        <p:nvSpPr>
          <p:cNvPr id="3" name="Content Placeholder 2">
            <a:extLst>
              <a:ext uri="{FF2B5EF4-FFF2-40B4-BE49-F238E27FC236}">
                <a16:creationId xmlns:a16="http://schemas.microsoft.com/office/drawing/2014/main" id="{812F3F57-2A95-31F5-4911-178617A010D5}"/>
              </a:ext>
            </a:extLst>
          </p:cNvPr>
          <p:cNvSpPr>
            <a:spLocks noGrp="1"/>
          </p:cNvSpPr>
          <p:nvPr>
            <p:ph idx="1"/>
          </p:nvPr>
        </p:nvSpPr>
        <p:spPr>
          <a:xfrm>
            <a:off x="550984" y="1754532"/>
            <a:ext cx="11415263" cy="4530154"/>
          </a:xfrm>
        </p:spPr>
        <p:txBody>
          <a:bodyPr>
            <a:normAutofit fontScale="25000" lnSpcReduction="20000"/>
          </a:bodyPr>
          <a:lstStyle/>
          <a:p>
            <a:pPr marL="0" indent="0">
              <a:lnSpc>
                <a:spcPct val="120000"/>
              </a:lnSpc>
              <a:buClr>
                <a:srgbClr val="E48312"/>
              </a:buClr>
              <a:buNone/>
              <a:defRPr/>
            </a:pPr>
            <a:endParaRPr lang="en-US" sz="11200" dirty="0">
              <a:solidFill>
                <a:srgbClr val="000000">
                  <a:lumMod val="75000"/>
                  <a:lumOff val="25000"/>
                </a:srgbClr>
              </a:solidFill>
              <a:latin typeface="Calibri"/>
            </a:endParaRPr>
          </a:p>
          <a:p>
            <a:pPr marL="0" indent="0">
              <a:buClr>
                <a:srgbClr val="E48312"/>
              </a:buClr>
              <a:buNone/>
              <a:defRPr/>
            </a:pPr>
            <a:r>
              <a:rPr lang="en-US" sz="11200" dirty="0">
                <a:solidFill>
                  <a:srgbClr val="00B0F0"/>
                </a:solidFill>
                <a:latin typeface="Calibri"/>
              </a:rPr>
              <a:t>Challenges:</a:t>
            </a:r>
          </a:p>
          <a:p>
            <a:pPr lvl="1">
              <a:spcBef>
                <a:spcPts val="900"/>
              </a:spcBef>
              <a:spcAft>
                <a:spcPts val="150"/>
              </a:spcAft>
              <a:buClr>
                <a:srgbClr val="E48312"/>
              </a:buClr>
              <a:buSzPct val="100000"/>
              <a:buFont typeface="Wingdings" pitchFamily="2" charset="2"/>
              <a:buChar char="v"/>
              <a:defRPr/>
            </a:pPr>
            <a:r>
              <a:rPr lang="en-US" sz="11200" dirty="0">
                <a:solidFill>
                  <a:schemeClr val="accent1"/>
                </a:solidFill>
                <a:latin typeface="Calibri"/>
              </a:rPr>
              <a:t> Datasets:</a:t>
            </a:r>
            <a:r>
              <a:rPr lang="en-US" sz="11200" dirty="0">
                <a:solidFill>
                  <a:srgbClr val="000000">
                    <a:lumMod val="75000"/>
                    <a:lumOff val="25000"/>
                  </a:srgbClr>
                </a:solidFill>
                <a:latin typeface="Calibri"/>
              </a:rPr>
              <a:t> ecologically valid </a:t>
            </a:r>
            <a:r>
              <a:rPr lang="en-US" sz="11200" dirty="0" err="1">
                <a:solidFill>
                  <a:srgbClr val="000000">
                    <a:lumMod val="75000"/>
                    <a:lumOff val="25000"/>
                  </a:srgbClr>
                </a:solidFill>
                <a:latin typeface="Calibri"/>
              </a:rPr>
              <a:t>dat</a:t>
            </a:r>
            <a:r>
              <a:rPr lang="en-US" sz="11200" dirty="0">
                <a:solidFill>
                  <a:srgbClr val="000000">
                    <a:lumMod val="75000"/>
                    <a:lumOff val="25000"/>
                  </a:srgbClr>
                </a:solidFill>
                <a:latin typeface="Calibri"/>
              </a:rPr>
              <a:t>a. Often no data / small data / data  not sharable  </a:t>
            </a:r>
          </a:p>
          <a:p>
            <a:pPr lvl="1">
              <a:spcBef>
                <a:spcPts val="900"/>
              </a:spcBef>
              <a:spcAft>
                <a:spcPts val="150"/>
              </a:spcAft>
              <a:buClr>
                <a:srgbClr val="E48312"/>
              </a:buClr>
              <a:buSzPct val="100000"/>
              <a:buFont typeface="Wingdings" pitchFamily="2" charset="2"/>
              <a:buChar char="v"/>
              <a:defRPr/>
            </a:pPr>
            <a:r>
              <a:rPr lang="en-US" sz="11200" dirty="0">
                <a:solidFill>
                  <a:schemeClr val="accent1"/>
                </a:solidFill>
                <a:latin typeface="Calibri"/>
              </a:rPr>
              <a:t> Computational models </a:t>
            </a:r>
            <a:r>
              <a:rPr lang="en-US" sz="11200" dirty="0">
                <a:solidFill>
                  <a:srgbClr val="000000">
                    <a:lumMod val="75000"/>
                    <a:lumOff val="25000"/>
                  </a:srgbClr>
                </a:solidFill>
                <a:latin typeface="Calibri"/>
              </a:rPr>
              <a:t>(AI/ML/NLP) must be: </a:t>
            </a:r>
          </a:p>
          <a:p>
            <a:pPr lvl="3">
              <a:spcBef>
                <a:spcPts val="900"/>
              </a:spcBef>
              <a:spcAft>
                <a:spcPts val="150"/>
              </a:spcAft>
              <a:buClr>
                <a:srgbClr val="E48312"/>
              </a:buClr>
              <a:buSzPct val="100000"/>
              <a:buFont typeface="Wingdings" pitchFamily="2" charset="2"/>
              <a:buChar char="v"/>
              <a:defRPr/>
            </a:pPr>
            <a:r>
              <a:rPr lang="en-US" sz="10900" dirty="0">
                <a:solidFill>
                  <a:schemeClr val="tx1"/>
                </a:solidFill>
              </a:rPr>
              <a:t> informed by </a:t>
            </a:r>
            <a:r>
              <a:rPr lang="en-US" sz="10900" dirty="0">
                <a:solidFill>
                  <a:schemeClr val="tx1"/>
                </a:solidFill>
                <a:cs typeface="Copperplate Gothic Bold"/>
              </a:rPr>
              <a:t>interdisciplinary  </a:t>
            </a:r>
            <a:r>
              <a:rPr lang="en-US" sz="10900" dirty="0">
                <a:solidFill>
                  <a:schemeClr val="tx1"/>
                </a:solidFill>
              </a:rPr>
              <a:t>insight: </a:t>
            </a:r>
            <a:r>
              <a:rPr lang="en-US" sz="10900" dirty="0"/>
              <a:t>linguistics, psychology, health sciences</a:t>
            </a:r>
          </a:p>
          <a:p>
            <a:pPr lvl="3">
              <a:spcBef>
                <a:spcPts val="900"/>
              </a:spcBef>
              <a:spcAft>
                <a:spcPts val="150"/>
              </a:spcAft>
              <a:buClr>
                <a:srgbClr val="E48312"/>
              </a:buClr>
              <a:buSzPct val="100000"/>
              <a:buFont typeface="Wingdings" pitchFamily="2" charset="2"/>
              <a:buChar char="v"/>
              <a:defRPr/>
            </a:pPr>
            <a:r>
              <a:rPr lang="en-US" sz="10900" dirty="0"/>
              <a:t> explanatory (no black-box models)</a:t>
            </a:r>
          </a:p>
          <a:p>
            <a:pPr lvl="3">
              <a:spcBef>
                <a:spcPts val="900"/>
              </a:spcBef>
              <a:spcAft>
                <a:spcPts val="150"/>
              </a:spcAft>
              <a:buClr>
                <a:srgbClr val="E48312"/>
              </a:buClr>
              <a:buSzPct val="100000"/>
              <a:buFont typeface="Wingdings" pitchFamily="2" charset="2"/>
              <a:buChar char="v"/>
              <a:defRPr/>
            </a:pPr>
            <a:r>
              <a:rPr lang="en-US" sz="10900" dirty="0"/>
              <a:t> fair and not biased</a:t>
            </a:r>
          </a:p>
          <a:p>
            <a:pPr marL="150876" lvl="1" indent="0">
              <a:spcBef>
                <a:spcPts val="900"/>
              </a:spcBef>
              <a:spcAft>
                <a:spcPts val="150"/>
              </a:spcAft>
              <a:buClr>
                <a:srgbClr val="E48312"/>
              </a:buClr>
              <a:buSzPct val="100000"/>
              <a:buNone/>
              <a:defRPr/>
            </a:pPr>
            <a:endParaRPr lang="en-US" sz="9600" dirty="0"/>
          </a:p>
          <a:p>
            <a:pPr lvl="1">
              <a:spcBef>
                <a:spcPts val="900"/>
              </a:spcBef>
              <a:spcAft>
                <a:spcPts val="150"/>
              </a:spcAft>
              <a:buClr>
                <a:srgbClr val="E48312"/>
              </a:buClr>
              <a:buSzPct val="100000"/>
              <a:buFont typeface="Wingdings" pitchFamily="2" charset="2"/>
              <a:buChar char="v"/>
              <a:defRPr/>
            </a:pPr>
            <a:endParaRPr lang="en-US" sz="11200" dirty="0">
              <a:solidFill>
                <a:srgbClr val="000000">
                  <a:lumMod val="75000"/>
                  <a:lumOff val="25000"/>
                </a:srgbClr>
              </a:solidFill>
              <a:latin typeface="Calibri"/>
            </a:endParaRPr>
          </a:p>
          <a:p>
            <a:pPr lvl="1">
              <a:buClr>
                <a:srgbClr val="E48312"/>
              </a:buClr>
              <a:buFont typeface="Wingdings" pitchFamily="2" charset="2"/>
              <a:buChar char="v"/>
              <a:defRPr/>
            </a:pPr>
            <a:endParaRPr lang="en-US" sz="8800" dirty="0">
              <a:solidFill>
                <a:srgbClr val="000000">
                  <a:lumMod val="75000"/>
                  <a:lumOff val="25000"/>
                </a:srgbClr>
              </a:solidFill>
              <a:latin typeface="Calibri"/>
            </a:endParaRPr>
          </a:p>
          <a:p>
            <a:pPr>
              <a:buFont typeface="Wingdings" pitchFamily="2" charset="2"/>
              <a:buChar char="v"/>
            </a:pPr>
            <a:endParaRPr lang="en-IT" dirty="0"/>
          </a:p>
        </p:txBody>
      </p:sp>
      <p:sp>
        <p:nvSpPr>
          <p:cNvPr id="10" name="Slide Number Placeholder 9">
            <a:extLst>
              <a:ext uri="{FF2B5EF4-FFF2-40B4-BE49-F238E27FC236}">
                <a16:creationId xmlns:a16="http://schemas.microsoft.com/office/drawing/2014/main" id="{74F686C7-CC72-54E7-B6D2-6526E3584956}"/>
              </a:ext>
            </a:extLst>
          </p:cNvPr>
          <p:cNvSpPr>
            <a:spLocks noGrp="1"/>
          </p:cNvSpPr>
          <p:nvPr>
            <p:ph type="sldNum" sz="quarter" idx="12"/>
          </p:nvPr>
        </p:nvSpPr>
        <p:spPr>
          <a:xfrm>
            <a:off x="10654224" y="6445157"/>
            <a:ext cx="1312025" cy="365125"/>
          </a:xfrm>
        </p:spPr>
        <p:txBody>
          <a:bodyPr/>
          <a:lstStyle/>
          <a:p>
            <a:fld id="{6113E31D-E2AB-40D1-8B51-AFA5AFEF393A}" type="slidenum">
              <a:rPr lang="en-US" sz="1100">
                <a:latin typeface="Gill Sans MT" panose="020B0502020104020203" pitchFamily="34" charset="77"/>
              </a:rPr>
              <a:t>4</a:t>
            </a:fld>
            <a:endParaRPr lang="en-US" sz="1100" dirty="0">
              <a:latin typeface="Gill Sans MT" panose="020B0502020104020203" pitchFamily="34" charset="77"/>
            </a:endParaRPr>
          </a:p>
        </p:txBody>
      </p:sp>
      <p:pic>
        <p:nvPicPr>
          <p:cNvPr id="12" name="Picture 11" descr="A red circle with black text&#10;&#10;Description automatically generated">
            <a:extLst>
              <a:ext uri="{FF2B5EF4-FFF2-40B4-BE49-F238E27FC236}">
                <a16:creationId xmlns:a16="http://schemas.microsoft.com/office/drawing/2014/main" id="{DAA6B9A8-E4BE-0764-4C4C-5891C6C547A4}"/>
              </a:ext>
            </a:extLst>
          </p:cNvPr>
          <p:cNvPicPr>
            <a:picLocks noChangeAspect="1"/>
          </p:cNvPicPr>
          <p:nvPr/>
        </p:nvPicPr>
        <p:blipFill>
          <a:blip r:embed="rId3"/>
          <a:stretch>
            <a:fillRect/>
          </a:stretch>
        </p:blipFill>
        <p:spPr>
          <a:xfrm>
            <a:off x="-188415" y="5627589"/>
            <a:ext cx="1031090" cy="1182691"/>
          </a:xfrm>
          <a:prstGeom prst="rect">
            <a:avLst/>
          </a:prstGeom>
        </p:spPr>
      </p:pic>
    </p:spTree>
    <p:extLst>
      <p:ext uri="{BB962C8B-B14F-4D97-AF65-F5344CB8AC3E}">
        <p14:creationId xmlns:p14="http://schemas.microsoft.com/office/powerpoint/2010/main" val="3122582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4E8F1-39A7-9E24-B5E5-B5AB38EE4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FF0D8-3793-F7B3-4A19-3452947DBE99}"/>
              </a:ext>
            </a:extLst>
          </p:cNvPr>
          <p:cNvSpPr>
            <a:spLocks noGrp="1"/>
          </p:cNvSpPr>
          <p:nvPr>
            <p:ph type="title"/>
          </p:nvPr>
        </p:nvSpPr>
        <p:spPr>
          <a:xfrm>
            <a:off x="1097280" y="573314"/>
            <a:ext cx="9805946" cy="1011201"/>
          </a:xfrm>
        </p:spPr>
        <p:txBody>
          <a:bodyPr>
            <a:noAutofit/>
          </a:bodyPr>
          <a:lstStyle/>
          <a:p>
            <a:pPr algn="ctr"/>
            <a:r>
              <a:rPr lang="en-US" b="1" dirty="0">
                <a:solidFill>
                  <a:srgbClr val="00B0F0"/>
                </a:solidFill>
                <a:latin typeface="+mn-lt"/>
              </a:rPr>
              <a:t>Conversational assistants for patients:</a:t>
            </a:r>
            <a:br>
              <a:rPr lang="en-US" b="1" dirty="0">
                <a:solidFill>
                  <a:srgbClr val="00B0F0"/>
                </a:solidFill>
                <a:latin typeface="+mn-lt"/>
              </a:rPr>
            </a:br>
            <a:r>
              <a:rPr lang="en-US" b="1" dirty="0">
                <a:solidFill>
                  <a:srgbClr val="00B0F0"/>
                </a:solidFill>
                <a:latin typeface="+mn-lt"/>
              </a:rPr>
              <a:t>A non-exhaustive list of challenges (</a:t>
            </a:r>
            <a:r>
              <a:rPr lang="en-US" b="1" dirty="0" err="1">
                <a:solidFill>
                  <a:srgbClr val="00B0F0"/>
                </a:solidFill>
                <a:latin typeface="+mn-lt"/>
              </a:rPr>
              <a:t>ctd</a:t>
            </a:r>
            <a:r>
              <a:rPr lang="en-US" b="1" dirty="0">
                <a:solidFill>
                  <a:srgbClr val="00B0F0"/>
                </a:solidFill>
                <a:latin typeface="+mn-lt"/>
              </a:rPr>
              <a:t>)</a:t>
            </a:r>
            <a:endParaRPr lang="en-IT" b="1" dirty="0">
              <a:solidFill>
                <a:srgbClr val="00B0F0"/>
              </a:solidFill>
              <a:latin typeface="+mn-lt"/>
            </a:endParaRPr>
          </a:p>
        </p:txBody>
      </p:sp>
      <p:sp>
        <p:nvSpPr>
          <p:cNvPr id="3" name="Content Placeholder 2">
            <a:extLst>
              <a:ext uri="{FF2B5EF4-FFF2-40B4-BE49-F238E27FC236}">
                <a16:creationId xmlns:a16="http://schemas.microsoft.com/office/drawing/2014/main" id="{332E82DC-9635-7845-362A-77AB2ADFD9FF}"/>
              </a:ext>
            </a:extLst>
          </p:cNvPr>
          <p:cNvSpPr>
            <a:spLocks noGrp="1"/>
          </p:cNvSpPr>
          <p:nvPr>
            <p:ph idx="1"/>
          </p:nvPr>
        </p:nvSpPr>
        <p:spPr>
          <a:xfrm>
            <a:off x="550984" y="1754532"/>
            <a:ext cx="11313886" cy="4438952"/>
          </a:xfrm>
        </p:spPr>
        <p:txBody>
          <a:bodyPr>
            <a:normAutofit fontScale="25000" lnSpcReduction="20000"/>
          </a:bodyPr>
          <a:lstStyle/>
          <a:p>
            <a:pPr marL="0" indent="0">
              <a:buClr>
                <a:srgbClr val="E48312"/>
              </a:buClr>
              <a:buNone/>
              <a:defRPr/>
            </a:pPr>
            <a:endParaRPr lang="en-US" sz="11200" dirty="0">
              <a:solidFill>
                <a:srgbClr val="00B0F0"/>
              </a:solidFill>
              <a:latin typeface="Calibri"/>
            </a:endParaRPr>
          </a:p>
          <a:p>
            <a:pPr>
              <a:buClr>
                <a:srgbClr val="E48312"/>
              </a:buClr>
              <a:buFont typeface="Wingdings" pitchFamily="2" charset="2"/>
              <a:buChar char="v"/>
              <a:defRPr/>
            </a:pPr>
            <a:r>
              <a:rPr lang="en-US" sz="11350" dirty="0">
                <a:solidFill>
                  <a:schemeClr val="accent1"/>
                </a:solidFill>
                <a:latin typeface="Calibri"/>
              </a:rPr>
              <a:t>Computational models:</a:t>
            </a:r>
          </a:p>
          <a:p>
            <a:pPr marL="0" indent="0">
              <a:buClr>
                <a:srgbClr val="E48312"/>
              </a:buClr>
              <a:buNone/>
              <a:defRPr/>
            </a:pPr>
            <a:endParaRPr lang="en-US" sz="11350" dirty="0">
              <a:solidFill>
                <a:schemeClr val="accent1"/>
              </a:solidFill>
              <a:latin typeface="Calibri"/>
            </a:endParaRPr>
          </a:p>
          <a:p>
            <a:pPr lvl="1">
              <a:spcBef>
                <a:spcPts val="900"/>
              </a:spcBef>
              <a:spcAft>
                <a:spcPts val="150"/>
              </a:spcAft>
              <a:buClr>
                <a:srgbClr val="E48312"/>
              </a:buClr>
              <a:buSzPct val="100000"/>
              <a:buFont typeface="Wingdings" pitchFamily="2" charset="2"/>
              <a:buChar char="v"/>
              <a:defRPr/>
            </a:pPr>
            <a:r>
              <a:rPr lang="en-US" sz="11200" dirty="0">
                <a:solidFill>
                  <a:schemeClr val="accent1"/>
                </a:solidFill>
                <a:latin typeface="Calibri"/>
              </a:rPr>
              <a:t> LLMs</a:t>
            </a:r>
            <a:r>
              <a:rPr lang="en-US" sz="11200" dirty="0">
                <a:solidFill>
                  <a:srgbClr val="000000">
                    <a:lumMod val="75000"/>
                    <a:lumOff val="25000"/>
                  </a:srgbClr>
                </a:solidFill>
                <a:latin typeface="Calibri"/>
              </a:rPr>
              <a:t> (Large Language Models) are not there yet … if they will ever be: </a:t>
            </a:r>
          </a:p>
          <a:p>
            <a:pPr lvl="2">
              <a:spcBef>
                <a:spcPts val="900"/>
              </a:spcBef>
              <a:spcAft>
                <a:spcPts val="150"/>
              </a:spcAft>
              <a:buClr>
                <a:srgbClr val="E48312"/>
              </a:buClr>
              <a:buSzPct val="100000"/>
              <a:buFont typeface="Wingdings" pitchFamily="2" charset="2"/>
              <a:buChar char="Ø"/>
              <a:defRPr/>
            </a:pPr>
            <a:r>
              <a:rPr lang="en-US" sz="10900" dirty="0">
                <a:solidFill>
                  <a:srgbClr val="000000">
                    <a:lumMod val="75000"/>
                    <a:lumOff val="25000"/>
                  </a:srgbClr>
                </a:solidFill>
              </a:rPr>
              <a:t>Hallucinations, biases, opaqueness. How </a:t>
            </a:r>
            <a:r>
              <a:rPr lang="en-US" sz="10900" dirty="0">
                <a:solidFill>
                  <a:srgbClr val="000000">
                    <a:lumMod val="75000"/>
                    <a:lumOff val="25000"/>
                  </a:srgbClr>
                </a:solidFill>
                <a:latin typeface="Calibri"/>
              </a:rPr>
              <a:t>can we use them appropriately? </a:t>
            </a:r>
          </a:p>
          <a:p>
            <a:pPr lvl="2">
              <a:spcBef>
                <a:spcPts val="900"/>
              </a:spcBef>
              <a:spcAft>
                <a:spcPts val="150"/>
              </a:spcAft>
              <a:buClr>
                <a:srgbClr val="E48312"/>
              </a:buClr>
              <a:buSzPct val="100000"/>
              <a:buFont typeface="Wingdings" pitchFamily="2" charset="2"/>
              <a:buChar char="Ø"/>
              <a:defRPr/>
            </a:pPr>
            <a:endParaRPr lang="en-US" sz="10900" dirty="0">
              <a:solidFill>
                <a:srgbClr val="000000">
                  <a:lumMod val="75000"/>
                  <a:lumOff val="25000"/>
                </a:srgbClr>
              </a:solidFill>
              <a:latin typeface="Calibri"/>
            </a:endParaRPr>
          </a:p>
          <a:p>
            <a:pPr lvl="2">
              <a:buClr>
                <a:srgbClr val="E48312"/>
              </a:buClr>
              <a:buFont typeface="Wingdings" pitchFamily="2" charset="2"/>
              <a:buChar char="Ø"/>
              <a:defRPr/>
            </a:pPr>
            <a:r>
              <a:rPr lang="en-US" sz="11200" dirty="0">
                <a:solidFill>
                  <a:srgbClr val="000000">
                    <a:lumMod val="75000"/>
                    <a:lumOff val="25000"/>
                  </a:srgbClr>
                </a:solidFill>
                <a:latin typeface="Calibri"/>
              </a:rPr>
              <a:t> Are </a:t>
            </a:r>
            <a:r>
              <a:rPr lang="en-US" sz="11200" dirty="0">
                <a:solidFill>
                  <a:schemeClr val="accent1"/>
                </a:solidFill>
                <a:latin typeface="Calibri"/>
              </a:rPr>
              <a:t>neuro-symbolic</a:t>
            </a:r>
            <a:r>
              <a:rPr lang="en-US" sz="11200" dirty="0">
                <a:solidFill>
                  <a:srgbClr val="000000">
                    <a:lumMod val="75000"/>
                    <a:lumOff val="25000"/>
                  </a:srgbClr>
                </a:solidFill>
                <a:latin typeface="Calibri"/>
              </a:rPr>
              <a:t> approaches the / one answer? </a:t>
            </a:r>
          </a:p>
          <a:p>
            <a:pPr marL="150876" lvl="1" indent="0">
              <a:buClr>
                <a:srgbClr val="E48312"/>
              </a:buClr>
              <a:buNone/>
              <a:defRPr/>
            </a:pPr>
            <a:endParaRPr lang="en-US" sz="11500" dirty="0">
              <a:solidFill>
                <a:srgbClr val="000000">
                  <a:lumMod val="75000"/>
                  <a:lumOff val="25000"/>
                </a:srgbClr>
              </a:solidFill>
              <a:latin typeface="Calibri"/>
            </a:endParaRPr>
          </a:p>
          <a:p>
            <a:pPr>
              <a:lnSpc>
                <a:spcPct val="120000"/>
              </a:lnSpc>
              <a:buClr>
                <a:srgbClr val="E48312"/>
              </a:buClr>
              <a:buFont typeface="Wingdings" pitchFamily="2" charset="2"/>
              <a:buChar char="v"/>
              <a:defRPr/>
            </a:pPr>
            <a:r>
              <a:rPr lang="en-US" sz="11350" dirty="0">
                <a:solidFill>
                  <a:schemeClr val="accent1"/>
                </a:solidFill>
                <a:latin typeface="Calibri"/>
              </a:rPr>
              <a:t> Evaluation</a:t>
            </a:r>
            <a:r>
              <a:rPr lang="en-US" sz="11350" dirty="0">
                <a:solidFill>
                  <a:srgbClr val="000000">
                    <a:lumMod val="75000"/>
                    <a:lumOff val="25000"/>
                  </a:srgbClr>
                </a:solidFill>
                <a:latin typeface="Calibri"/>
              </a:rPr>
              <a:t>: no SOTA (state-of-the-art) to beat; measure  impact on real       users / patients</a:t>
            </a:r>
            <a:endParaRPr lang="en-US" sz="8950" dirty="0">
              <a:solidFill>
                <a:srgbClr val="000000">
                  <a:lumMod val="75000"/>
                  <a:lumOff val="25000"/>
                </a:srgbClr>
              </a:solidFill>
              <a:latin typeface="Calibri"/>
            </a:endParaRPr>
          </a:p>
          <a:p>
            <a:pPr>
              <a:buFont typeface="Wingdings" pitchFamily="2" charset="2"/>
              <a:buChar char="v"/>
            </a:pPr>
            <a:endParaRPr lang="en-IT" dirty="0"/>
          </a:p>
        </p:txBody>
      </p:sp>
      <p:sp>
        <p:nvSpPr>
          <p:cNvPr id="10" name="Slide Number Placeholder 9">
            <a:extLst>
              <a:ext uri="{FF2B5EF4-FFF2-40B4-BE49-F238E27FC236}">
                <a16:creationId xmlns:a16="http://schemas.microsoft.com/office/drawing/2014/main" id="{1F4E5440-EA44-EC92-25E1-5B526FF180A8}"/>
              </a:ext>
            </a:extLst>
          </p:cNvPr>
          <p:cNvSpPr>
            <a:spLocks noGrp="1"/>
          </p:cNvSpPr>
          <p:nvPr>
            <p:ph type="sldNum" sz="quarter" idx="12"/>
          </p:nvPr>
        </p:nvSpPr>
        <p:spPr>
          <a:xfrm>
            <a:off x="10654224" y="6445157"/>
            <a:ext cx="1312025" cy="365125"/>
          </a:xfrm>
        </p:spPr>
        <p:txBody>
          <a:bodyPr/>
          <a:lstStyle/>
          <a:p>
            <a:fld id="{6113E31D-E2AB-40D1-8B51-AFA5AFEF393A}" type="slidenum">
              <a:rPr lang="en-US" sz="1100">
                <a:latin typeface="Gill Sans MT" panose="020B0502020104020203" pitchFamily="34" charset="77"/>
              </a:rPr>
              <a:t>5</a:t>
            </a:fld>
            <a:endParaRPr lang="en-US" sz="1100" dirty="0">
              <a:latin typeface="Gill Sans MT" panose="020B0502020104020203" pitchFamily="34" charset="77"/>
            </a:endParaRPr>
          </a:p>
        </p:txBody>
      </p:sp>
      <p:pic>
        <p:nvPicPr>
          <p:cNvPr id="12" name="Picture 11" descr="A red circle with black text&#10;&#10;Description automatically generated">
            <a:extLst>
              <a:ext uri="{FF2B5EF4-FFF2-40B4-BE49-F238E27FC236}">
                <a16:creationId xmlns:a16="http://schemas.microsoft.com/office/drawing/2014/main" id="{799472FF-BC6E-A453-8A8A-D7A59CE25464}"/>
              </a:ext>
            </a:extLst>
          </p:cNvPr>
          <p:cNvPicPr>
            <a:picLocks noChangeAspect="1"/>
          </p:cNvPicPr>
          <p:nvPr/>
        </p:nvPicPr>
        <p:blipFill>
          <a:blip r:embed="rId3"/>
          <a:stretch>
            <a:fillRect/>
          </a:stretch>
        </p:blipFill>
        <p:spPr>
          <a:xfrm>
            <a:off x="-188415" y="5627589"/>
            <a:ext cx="1031090" cy="1182691"/>
          </a:xfrm>
          <a:prstGeom prst="rect">
            <a:avLst/>
          </a:prstGeom>
        </p:spPr>
      </p:pic>
    </p:spTree>
    <p:extLst>
      <p:ext uri="{BB962C8B-B14F-4D97-AF65-F5344CB8AC3E}">
        <p14:creationId xmlns:p14="http://schemas.microsoft.com/office/powerpoint/2010/main" val="4167807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A2D3F-B2C1-9F4E-934B-E2D225A6313A}"/>
              </a:ext>
            </a:extLst>
          </p:cNvPr>
          <p:cNvSpPr>
            <a:spLocks noGrp="1"/>
          </p:cNvSpPr>
          <p:nvPr>
            <p:ph type="title"/>
          </p:nvPr>
        </p:nvSpPr>
        <p:spPr/>
        <p:txBody>
          <a:bodyPr>
            <a:normAutofit/>
          </a:bodyPr>
          <a:lstStyle/>
          <a:p>
            <a:pPr algn="ctr"/>
            <a:r>
              <a:rPr lang="en-US" sz="4000" b="1" dirty="0">
                <a:solidFill>
                  <a:srgbClr val="00B0F0"/>
                </a:solidFill>
              </a:rPr>
              <a:t>Challenges Incarnated</a:t>
            </a:r>
            <a:br>
              <a:rPr lang="en-US" dirty="0">
                <a:solidFill>
                  <a:srgbClr val="0070C0"/>
                </a:solidFill>
              </a:rPr>
            </a:br>
            <a:endParaRPr lang="en-US" dirty="0">
              <a:solidFill>
                <a:schemeClr val="tx1"/>
              </a:solidFill>
            </a:endParaRPr>
          </a:p>
        </p:txBody>
      </p:sp>
      <p:sp>
        <p:nvSpPr>
          <p:cNvPr id="3" name="Content Placeholder 2">
            <a:extLst>
              <a:ext uri="{FF2B5EF4-FFF2-40B4-BE49-F238E27FC236}">
                <a16:creationId xmlns:a16="http://schemas.microsoft.com/office/drawing/2014/main" id="{A93769DD-9F58-B54C-B3DB-7C978474AE3B}"/>
              </a:ext>
            </a:extLst>
          </p:cNvPr>
          <p:cNvSpPr>
            <a:spLocks noGrp="1"/>
          </p:cNvSpPr>
          <p:nvPr>
            <p:ph idx="1"/>
          </p:nvPr>
        </p:nvSpPr>
        <p:spPr>
          <a:xfrm>
            <a:off x="1097280" y="1845734"/>
            <a:ext cx="10558809" cy="4396040"/>
          </a:xfrm>
        </p:spPr>
        <p:txBody>
          <a:bodyPr>
            <a:normAutofit/>
          </a:bodyPr>
          <a:lstStyle/>
          <a:p>
            <a:pPr>
              <a:buFont typeface="Wingdings" pitchFamily="2" charset="2"/>
              <a:buChar char="v"/>
            </a:pPr>
            <a:r>
              <a:rPr lang="en-US" sz="3600" u="sng" dirty="0">
                <a:solidFill>
                  <a:srgbClr val="00B0F0"/>
                </a:solidFill>
              </a:rPr>
              <a:t>Virtual Health Coach:</a:t>
            </a:r>
            <a:r>
              <a:rPr lang="en-US" sz="3600" dirty="0">
                <a:solidFill>
                  <a:srgbClr val="00B0F0"/>
                </a:solidFill>
              </a:rPr>
              <a:t> </a:t>
            </a:r>
            <a:r>
              <a:rPr lang="en-US" sz="3600" dirty="0"/>
              <a:t>support patients (and human   </a:t>
            </a:r>
          </a:p>
          <a:p>
            <a:pPr marL="0" indent="0">
              <a:buNone/>
            </a:pPr>
            <a:r>
              <a:rPr lang="en-US" sz="3600" dirty="0"/>
              <a:t>      coaches) in adopting SMART goals via </a:t>
            </a:r>
            <a:r>
              <a:rPr lang="en-US" sz="3600" dirty="0">
                <a:solidFill>
                  <a:schemeClr val="accent1"/>
                </a:solidFill>
              </a:rPr>
              <a:t>SMS exchanges</a:t>
            </a:r>
          </a:p>
          <a:p>
            <a:pPr>
              <a:buFont typeface="Wingdings" pitchFamily="2" charset="2"/>
              <a:buChar char="v"/>
            </a:pPr>
            <a:r>
              <a:rPr lang="en-US" sz="3600" u="sng" dirty="0" err="1">
                <a:solidFill>
                  <a:srgbClr val="00B0F0"/>
                </a:solidFill>
              </a:rPr>
              <a:t>HFChat</a:t>
            </a:r>
            <a:r>
              <a:rPr lang="en-US" sz="3600" u="sng" dirty="0">
                <a:solidFill>
                  <a:srgbClr val="00B0F0"/>
                </a:solidFill>
              </a:rPr>
              <a:t>:</a:t>
            </a:r>
            <a:r>
              <a:rPr lang="en-US" sz="3600" dirty="0">
                <a:solidFill>
                  <a:srgbClr val="00B0F0"/>
                </a:solidFill>
              </a:rPr>
              <a:t> </a:t>
            </a:r>
            <a:r>
              <a:rPr lang="en-US" sz="3600" dirty="0">
                <a:solidFill>
                  <a:schemeClr val="accent1"/>
                </a:solidFill>
              </a:rPr>
              <a:t>conversational agent </a:t>
            </a:r>
            <a:r>
              <a:rPr lang="en-US" sz="3600" dirty="0"/>
              <a:t>for Heart Failure patient </a:t>
            </a:r>
          </a:p>
          <a:p>
            <a:pPr marL="0" indent="0">
              <a:buNone/>
            </a:pPr>
            <a:r>
              <a:rPr lang="en-US" sz="3600" dirty="0"/>
              <a:t>       education</a:t>
            </a:r>
          </a:p>
          <a:p>
            <a:pPr marL="0" indent="0">
              <a:buNone/>
            </a:pPr>
            <a:endParaRPr lang="en-US" sz="3600" dirty="0"/>
          </a:p>
          <a:p>
            <a:endParaRPr lang="en-US" dirty="0"/>
          </a:p>
        </p:txBody>
      </p:sp>
      <p:sp>
        <p:nvSpPr>
          <p:cNvPr id="4" name="Slide Number Placeholder 3">
            <a:extLst>
              <a:ext uri="{FF2B5EF4-FFF2-40B4-BE49-F238E27FC236}">
                <a16:creationId xmlns:a16="http://schemas.microsoft.com/office/drawing/2014/main" id="{E20BA73D-9023-6B4D-871F-F636453F54D3}"/>
              </a:ext>
            </a:extLst>
          </p:cNvPr>
          <p:cNvSpPr>
            <a:spLocks noGrp="1"/>
          </p:cNvSpPr>
          <p:nvPr>
            <p:ph type="sldNum" sz="quarter" idx="12"/>
          </p:nvPr>
        </p:nvSpPr>
        <p:spPr/>
        <p:txBody>
          <a:bodyPr/>
          <a:lstStyle/>
          <a:p>
            <a:pPr>
              <a:defRPr/>
            </a:pPr>
            <a:fld id="{6113E31D-E2AB-40D1-8B51-AFA5AFEF393A}" type="slidenum">
              <a:rPr lang="en-US">
                <a:latin typeface="Calibri"/>
              </a:rPr>
              <a:pPr>
                <a:defRPr/>
              </a:pPr>
              <a:t>6</a:t>
            </a:fld>
            <a:endParaRPr lang="en-US" dirty="0">
              <a:latin typeface="Calibri"/>
            </a:endParaRPr>
          </a:p>
        </p:txBody>
      </p:sp>
      <p:pic>
        <p:nvPicPr>
          <p:cNvPr id="9" name="Picture 8" descr="A red circle with black text&#10;&#10;Description automatically generated">
            <a:extLst>
              <a:ext uri="{FF2B5EF4-FFF2-40B4-BE49-F238E27FC236}">
                <a16:creationId xmlns:a16="http://schemas.microsoft.com/office/drawing/2014/main" id="{113E8B2C-2DB5-5915-E56C-819BC25CE2E7}"/>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2119679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934E1-AA59-CFDF-3F96-4726BBE22DB6}"/>
              </a:ext>
            </a:extLst>
          </p:cNvPr>
          <p:cNvSpPr>
            <a:spLocks noGrp="1"/>
          </p:cNvSpPr>
          <p:nvPr>
            <p:ph type="title"/>
          </p:nvPr>
        </p:nvSpPr>
        <p:spPr>
          <a:xfrm>
            <a:off x="1066800" y="33086"/>
            <a:ext cx="10058400" cy="1450757"/>
          </a:xfrm>
        </p:spPr>
        <p:txBody>
          <a:bodyPr/>
          <a:lstStyle/>
          <a:p>
            <a:pPr algn="ctr"/>
            <a:r>
              <a:rPr lang="en-IT" dirty="0">
                <a:solidFill>
                  <a:srgbClr val="00B0F0"/>
                </a:solidFill>
              </a:rPr>
              <a:t>Riassunto- </a:t>
            </a:r>
            <a:br>
              <a:rPr lang="en-IT" dirty="0">
                <a:solidFill>
                  <a:srgbClr val="00B0F0"/>
                </a:solidFill>
              </a:rPr>
            </a:br>
            <a:r>
              <a:rPr lang="en-IT" dirty="0">
                <a:solidFill>
                  <a:srgbClr val="00B0F0"/>
                </a:solidFill>
              </a:rPr>
              <a:t>lezione 7 su dialogue systems &amp; chatbots (Prof Mazzei)</a:t>
            </a:r>
          </a:p>
        </p:txBody>
      </p:sp>
      <p:pic>
        <p:nvPicPr>
          <p:cNvPr id="5" name="Content Placeholder 4">
            <a:extLst>
              <a:ext uri="{FF2B5EF4-FFF2-40B4-BE49-F238E27FC236}">
                <a16:creationId xmlns:a16="http://schemas.microsoft.com/office/drawing/2014/main" id="{B2829E49-1E1C-BACD-CC32-BF13C35C02CF}"/>
              </a:ext>
            </a:extLst>
          </p:cNvPr>
          <p:cNvPicPr>
            <a:picLocks noGrp="1" noChangeAspect="1"/>
          </p:cNvPicPr>
          <p:nvPr>
            <p:ph idx="1"/>
          </p:nvPr>
        </p:nvPicPr>
        <p:blipFill>
          <a:blip r:embed="rId2"/>
          <a:stretch>
            <a:fillRect/>
          </a:stretch>
        </p:blipFill>
        <p:spPr>
          <a:xfrm>
            <a:off x="2710830" y="1846263"/>
            <a:ext cx="6830666" cy="4022725"/>
          </a:xfrm>
          <a:prstGeom prst="rect">
            <a:avLst/>
          </a:prstGeom>
        </p:spPr>
      </p:pic>
      <p:sp>
        <p:nvSpPr>
          <p:cNvPr id="4" name="Slide Number Placeholder 3">
            <a:extLst>
              <a:ext uri="{FF2B5EF4-FFF2-40B4-BE49-F238E27FC236}">
                <a16:creationId xmlns:a16="http://schemas.microsoft.com/office/drawing/2014/main" id="{7D63F9C0-4EC9-6E86-1E54-A92338606A03}"/>
              </a:ext>
            </a:extLst>
          </p:cNvPr>
          <p:cNvSpPr>
            <a:spLocks noGrp="1"/>
          </p:cNvSpPr>
          <p:nvPr>
            <p:ph type="sldNum" sz="quarter" idx="12"/>
          </p:nvPr>
        </p:nvSpPr>
        <p:spPr/>
        <p:txBody>
          <a:bodyPr/>
          <a:lstStyle/>
          <a:p>
            <a:fld id="{6113E31D-E2AB-40D1-8B51-AFA5AFEF393A}" type="slidenum">
              <a:rPr lang="en-US" smtClean="0"/>
              <a:t>7</a:t>
            </a:fld>
            <a:endParaRPr lang="en-US" dirty="0"/>
          </a:p>
        </p:txBody>
      </p:sp>
    </p:spTree>
    <p:extLst>
      <p:ext uri="{BB962C8B-B14F-4D97-AF65-F5344CB8AC3E}">
        <p14:creationId xmlns:p14="http://schemas.microsoft.com/office/powerpoint/2010/main" val="2067743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56FC7F-6922-8706-F548-51F1CCB890EC}"/>
              </a:ext>
            </a:extLst>
          </p:cNvPr>
          <p:cNvSpPr>
            <a:spLocks noGrp="1"/>
          </p:cNvSpPr>
          <p:nvPr>
            <p:ph type="sldNum" sz="quarter" idx="12"/>
          </p:nvPr>
        </p:nvSpPr>
        <p:spPr/>
        <p:txBody>
          <a:bodyPr/>
          <a:lstStyle/>
          <a:p>
            <a:fld id="{4FAB73BC-B049-4115-A692-8D63A059BFB8}" type="slidenum">
              <a:rPr lang="en-US" smtClean="0"/>
              <a:pPr/>
              <a:t>8</a:t>
            </a:fld>
            <a:endParaRPr lang="en-US" dirty="0"/>
          </a:p>
        </p:txBody>
      </p:sp>
      <p:pic>
        <p:nvPicPr>
          <p:cNvPr id="3" name="Picture 2">
            <a:extLst>
              <a:ext uri="{FF2B5EF4-FFF2-40B4-BE49-F238E27FC236}">
                <a16:creationId xmlns:a16="http://schemas.microsoft.com/office/drawing/2014/main" id="{64A50DF6-3911-5285-2A00-709F19E95852}"/>
              </a:ext>
            </a:extLst>
          </p:cNvPr>
          <p:cNvPicPr>
            <a:picLocks noChangeAspect="1"/>
          </p:cNvPicPr>
          <p:nvPr/>
        </p:nvPicPr>
        <p:blipFill>
          <a:blip r:embed="rId2"/>
          <a:stretch>
            <a:fillRect/>
          </a:stretch>
        </p:blipFill>
        <p:spPr>
          <a:xfrm>
            <a:off x="2209800" y="515271"/>
            <a:ext cx="7772400" cy="5827458"/>
          </a:xfrm>
          <a:prstGeom prst="rect">
            <a:avLst/>
          </a:prstGeom>
        </p:spPr>
      </p:pic>
    </p:spTree>
    <p:extLst>
      <p:ext uri="{BB962C8B-B14F-4D97-AF65-F5344CB8AC3E}">
        <p14:creationId xmlns:p14="http://schemas.microsoft.com/office/powerpoint/2010/main" val="2195481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59935B-51E3-3741-2AFF-4CE5D73512D1}"/>
              </a:ext>
            </a:extLst>
          </p:cNvPr>
          <p:cNvSpPr>
            <a:spLocks noGrp="1"/>
          </p:cNvSpPr>
          <p:nvPr>
            <p:ph type="sldNum" sz="quarter" idx="12"/>
          </p:nvPr>
        </p:nvSpPr>
        <p:spPr/>
        <p:txBody>
          <a:bodyPr/>
          <a:lstStyle/>
          <a:p>
            <a:fld id="{4FAB73BC-B049-4115-A692-8D63A059BFB8}" type="slidenum">
              <a:rPr lang="en-US" smtClean="0"/>
              <a:pPr/>
              <a:t>9</a:t>
            </a:fld>
            <a:endParaRPr lang="en-US" dirty="0"/>
          </a:p>
        </p:txBody>
      </p:sp>
      <p:pic>
        <p:nvPicPr>
          <p:cNvPr id="3" name="Picture 2">
            <a:extLst>
              <a:ext uri="{FF2B5EF4-FFF2-40B4-BE49-F238E27FC236}">
                <a16:creationId xmlns:a16="http://schemas.microsoft.com/office/drawing/2014/main" id="{913289FA-1654-CDF1-9774-FF0E375CE77C}"/>
              </a:ext>
            </a:extLst>
          </p:cNvPr>
          <p:cNvPicPr>
            <a:picLocks noChangeAspect="1"/>
          </p:cNvPicPr>
          <p:nvPr/>
        </p:nvPicPr>
        <p:blipFill>
          <a:blip r:embed="rId2"/>
          <a:stretch>
            <a:fillRect/>
          </a:stretch>
        </p:blipFill>
        <p:spPr>
          <a:xfrm>
            <a:off x="3821430" y="412401"/>
            <a:ext cx="7772400" cy="5827458"/>
          </a:xfrm>
          <a:prstGeom prst="rect">
            <a:avLst/>
          </a:prstGeom>
        </p:spPr>
      </p:pic>
      <p:sp>
        <p:nvSpPr>
          <p:cNvPr id="4" name="TextBox 3">
            <a:extLst>
              <a:ext uri="{FF2B5EF4-FFF2-40B4-BE49-F238E27FC236}">
                <a16:creationId xmlns:a16="http://schemas.microsoft.com/office/drawing/2014/main" id="{E126FF9C-D4B9-8B69-91C5-6E7B044CA598}"/>
              </a:ext>
            </a:extLst>
          </p:cNvPr>
          <p:cNvSpPr txBox="1"/>
          <p:nvPr/>
        </p:nvSpPr>
        <p:spPr>
          <a:xfrm>
            <a:off x="148591" y="1360170"/>
            <a:ext cx="3897629" cy="1077218"/>
          </a:xfrm>
          <a:prstGeom prst="rect">
            <a:avLst/>
          </a:prstGeom>
          <a:noFill/>
        </p:spPr>
        <p:txBody>
          <a:bodyPr wrap="square" rtlCol="0">
            <a:spAutoFit/>
          </a:bodyPr>
          <a:lstStyle/>
          <a:p>
            <a:r>
              <a:rPr lang="en-IT" sz="3200" dirty="0">
                <a:solidFill>
                  <a:srgbClr val="00B0F0"/>
                </a:solidFill>
              </a:rPr>
              <a:t>Chatbots: how do they answer?</a:t>
            </a:r>
          </a:p>
        </p:txBody>
      </p:sp>
    </p:spTree>
    <p:extLst>
      <p:ext uri="{BB962C8B-B14F-4D97-AF65-F5344CB8AC3E}">
        <p14:creationId xmlns:p14="http://schemas.microsoft.com/office/powerpoint/2010/main" val="1662132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7A8D88-E67D-DFB7-384D-8D4B8287A8A8}"/>
              </a:ext>
            </a:extLst>
          </p:cNvPr>
          <p:cNvSpPr>
            <a:spLocks noGrp="1"/>
          </p:cNvSpPr>
          <p:nvPr>
            <p:ph type="sldNum" sz="quarter" idx="12"/>
          </p:nvPr>
        </p:nvSpPr>
        <p:spPr/>
        <p:txBody>
          <a:bodyPr/>
          <a:lstStyle/>
          <a:p>
            <a:fld id="{4FAB73BC-B049-4115-A692-8D63A059BFB8}" type="slidenum">
              <a:rPr lang="en-US" smtClean="0"/>
              <a:pPr/>
              <a:t>10</a:t>
            </a:fld>
            <a:endParaRPr lang="en-US" dirty="0"/>
          </a:p>
        </p:txBody>
      </p:sp>
      <p:pic>
        <p:nvPicPr>
          <p:cNvPr id="3" name="Picture 2">
            <a:extLst>
              <a:ext uri="{FF2B5EF4-FFF2-40B4-BE49-F238E27FC236}">
                <a16:creationId xmlns:a16="http://schemas.microsoft.com/office/drawing/2014/main" id="{74449895-4806-251F-72C5-09ADE9E18651}"/>
              </a:ext>
            </a:extLst>
          </p:cNvPr>
          <p:cNvPicPr>
            <a:picLocks noChangeAspect="1"/>
          </p:cNvPicPr>
          <p:nvPr/>
        </p:nvPicPr>
        <p:blipFill>
          <a:blip r:embed="rId2"/>
          <a:stretch>
            <a:fillRect/>
          </a:stretch>
        </p:blipFill>
        <p:spPr>
          <a:xfrm>
            <a:off x="2209800" y="515271"/>
            <a:ext cx="7772400" cy="5827458"/>
          </a:xfrm>
          <a:prstGeom prst="rect">
            <a:avLst/>
          </a:prstGeom>
        </p:spPr>
      </p:pic>
    </p:spTree>
    <p:extLst>
      <p:ext uri="{BB962C8B-B14F-4D97-AF65-F5344CB8AC3E}">
        <p14:creationId xmlns:p14="http://schemas.microsoft.com/office/powerpoint/2010/main" val="3431456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49368-CA66-A14D-4264-CF0F2D57BF77}"/>
              </a:ext>
            </a:extLst>
          </p:cNvPr>
          <p:cNvSpPr>
            <a:spLocks noGrp="1"/>
          </p:cNvSpPr>
          <p:nvPr>
            <p:ph type="title"/>
          </p:nvPr>
        </p:nvSpPr>
        <p:spPr>
          <a:xfrm>
            <a:off x="1099185" y="154821"/>
            <a:ext cx="10058400" cy="1450757"/>
          </a:xfrm>
        </p:spPr>
        <p:txBody>
          <a:bodyPr>
            <a:normAutofit/>
          </a:bodyPr>
          <a:lstStyle/>
          <a:p>
            <a:pPr algn="ctr"/>
            <a:r>
              <a:rPr lang="en-IT" b="1" dirty="0">
                <a:solidFill>
                  <a:srgbClr val="00B0F0"/>
                </a:solidFill>
                <a:latin typeface="+mn-lt"/>
              </a:rPr>
              <a:t>Virtual Health Coach</a:t>
            </a:r>
            <a:br>
              <a:rPr lang="en-IT" b="1" dirty="0">
                <a:solidFill>
                  <a:srgbClr val="00B0F0"/>
                </a:solidFill>
                <a:latin typeface="+mn-lt"/>
              </a:rPr>
            </a:br>
            <a:r>
              <a:rPr lang="en-IT" b="1" dirty="0">
                <a:solidFill>
                  <a:srgbClr val="00B0F0"/>
                </a:solidFill>
                <a:latin typeface="+mn-lt"/>
              </a:rPr>
              <a:t> (National Science Foundation 1838770, 2018-2025)</a:t>
            </a:r>
          </a:p>
        </p:txBody>
      </p:sp>
      <p:sp>
        <p:nvSpPr>
          <p:cNvPr id="3" name="Content Placeholder 2">
            <a:extLst>
              <a:ext uri="{FF2B5EF4-FFF2-40B4-BE49-F238E27FC236}">
                <a16:creationId xmlns:a16="http://schemas.microsoft.com/office/drawing/2014/main" id="{297F26CF-13EB-7D91-279F-D06D9AB870EA}"/>
              </a:ext>
            </a:extLst>
          </p:cNvPr>
          <p:cNvSpPr>
            <a:spLocks noGrp="1"/>
          </p:cNvSpPr>
          <p:nvPr>
            <p:ph idx="1"/>
          </p:nvPr>
        </p:nvSpPr>
        <p:spPr>
          <a:xfrm>
            <a:off x="6822440" y="1760224"/>
            <a:ext cx="10058400" cy="4023360"/>
          </a:xfrm>
        </p:spPr>
        <p:txBody>
          <a:bodyPr>
            <a:normAutofit/>
          </a:bodyPr>
          <a:lstStyle/>
          <a:p>
            <a:r>
              <a:rPr lang="en-IT" sz="2400" dirty="0"/>
              <a:t>3 PhD students</a:t>
            </a:r>
          </a:p>
        </p:txBody>
      </p:sp>
      <p:sp>
        <p:nvSpPr>
          <p:cNvPr id="4" name="Slide Number Placeholder 3">
            <a:extLst>
              <a:ext uri="{FF2B5EF4-FFF2-40B4-BE49-F238E27FC236}">
                <a16:creationId xmlns:a16="http://schemas.microsoft.com/office/drawing/2014/main" id="{E5F1131E-3C64-F2AE-41A8-DE8AEC42BBF7}"/>
              </a:ext>
            </a:extLst>
          </p:cNvPr>
          <p:cNvSpPr>
            <a:spLocks noGrp="1"/>
          </p:cNvSpPr>
          <p:nvPr>
            <p:ph type="sldNum" sz="quarter" idx="12"/>
          </p:nvPr>
        </p:nvSpPr>
        <p:spPr/>
        <p:txBody>
          <a:bodyPr/>
          <a:lstStyle/>
          <a:p>
            <a:fld id="{6113E31D-E2AB-40D1-8B51-AFA5AFEF393A}" type="slidenum">
              <a:rPr lang="en-US" smtClean="0"/>
              <a:t>11</a:t>
            </a:fld>
            <a:endParaRPr lang="en-US" dirty="0"/>
          </a:p>
        </p:txBody>
      </p:sp>
      <p:pic>
        <p:nvPicPr>
          <p:cNvPr id="10242" name="Picture 2" descr="Photo of Liu, Bing">
            <a:extLst>
              <a:ext uri="{FF2B5EF4-FFF2-40B4-BE49-F238E27FC236}">
                <a16:creationId xmlns:a16="http://schemas.microsoft.com/office/drawing/2014/main" id="{5F2D7359-B300-4C8D-4E19-A920C0C12F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633" y="2298074"/>
            <a:ext cx="1452750" cy="1665573"/>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Photo of Ziebart, Brian">
            <a:extLst>
              <a:ext uri="{FF2B5EF4-FFF2-40B4-BE49-F238E27FC236}">
                <a16:creationId xmlns:a16="http://schemas.microsoft.com/office/drawing/2014/main" id="{5932F352-5C80-4DCE-2B3C-4AC253B901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3766" y="2391221"/>
            <a:ext cx="1452750" cy="1665574"/>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Photo of Sharp, Lisa K.">
            <a:extLst>
              <a:ext uri="{FF2B5EF4-FFF2-40B4-BE49-F238E27FC236}">
                <a16:creationId xmlns:a16="http://schemas.microsoft.com/office/drawing/2014/main" id="{65EB11EA-B724-89B3-E03F-A0A06B8A6F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9227" y="4182033"/>
            <a:ext cx="1815102" cy="2088138"/>
          </a:xfrm>
          <a:prstGeom prst="rect">
            <a:avLst/>
          </a:prstGeom>
          <a:noFill/>
          <a:extLst>
            <a:ext uri="{909E8E84-426E-40DD-AFC4-6F175D3DCCD1}">
              <a14:hiddenFill xmlns:a14="http://schemas.microsoft.com/office/drawing/2010/main">
                <a:solidFill>
                  <a:srgbClr val="FFFFFF"/>
                </a:solidFill>
              </a14:hiddenFill>
            </a:ext>
          </a:extLst>
        </p:spPr>
      </p:pic>
      <p:pic>
        <p:nvPicPr>
          <p:cNvPr id="10250" name="Picture 10">
            <a:extLst>
              <a:ext uri="{FF2B5EF4-FFF2-40B4-BE49-F238E27FC236}">
                <a16:creationId xmlns:a16="http://schemas.microsoft.com/office/drawing/2014/main" id="{D4DFD390-272F-B434-6567-7F0CD72A09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6653" y="4182033"/>
            <a:ext cx="1631950" cy="217849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EF758E3-09DF-A0D9-7D7B-D7DCA72589A1}"/>
              </a:ext>
            </a:extLst>
          </p:cNvPr>
          <p:cNvPicPr>
            <a:picLocks noChangeAspect="1"/>
          </p:cNvPicPr>
          <p:nvPr/>
        </p:nvPicPr>
        <p:blipFill>
          <a:blip r:embed="rId7"/>
          <a:stretch>
            <a:fillRect/>
          </a:stretch>
        </p:blipFill>
        <p:spPr>
          <a:xfrm>
            <a:off x="9136960" y="1804416"/>
            <a:ext cx="2075527" cy="1774102"/>
          </a:xfrm>
          <a:prstGeom prst="rect">
            <a:avLst/>
          </a:prstGeom>
        </p:spPr>
      </p:pic>
      <p:pic>
        <p:nvPicPr>
          <p:cNvPr id="10252" name="Picture 12" descr="Yue Zhou">
            <a:extLst>
              <a:ext uri="{FF2B5EF4-FFF2-40B4-BE49-F238E27FC236}">
                <a16:creationId xmlns:a16="http://schemas.microsoft.com/office/drawing/2014/main" id="{FA1DBD8B-42C1-6FE7-248E-34092F55CB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22442" y="2751183"/>
            <a:ext cx="2044259" cy="2044259"/>
          </a:xfrm>
          <a:prstGeom prst="rect">
            <a:avLst/>
          </a:prstGeom>
          <a:noFill/>
          <a:extLst>
            <a:ext uri="{909E8E84-426E-40DD-AFC4-6F175D3DCCD1}">
              <a14:hiddenFill xmlns:a14="http://schemas.microsoft.com/office/drawing/2010/main">
                <a:solidFill>
                  <a:srgbClr val="FFFFFF"/>
                </a:solidFill>
              </a14:hiddenFill>
            </a:ext>
          </a:extLst>
        </p:spPr>
      </p:pic>
      <p:pic>
        <p:nvPicPr>
          <p:cNvPr id="10254" name="Picture 14" descr="Profile photo of Nikolaos Agadakos">
            <a:extLst>
              <a:ext uri="{FF2B5EF4-FFF2-40B4-BE49-F238E27FC236}">
                <a16:creationId xmlns:a16="http://schemas.microsoft.com/office/drawing/2014/main" id="{1F3CE1F3-0D08-81B2-71FD-2284D63EE62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36960" y="3745122"/>
            <a:ext cx="1960923" cy="196092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990C400-669E-1BFC-FA2E-DB245F2C8A35}"/>
              </a:ext>
            </a:extLst>
          </p:cNvPr>
          <p:cNvSpPr txBox="1"/>
          <p:nvPr/>
        </p:nvSpPr>
        <p:spPr>
          <a:xfrm>
            <a:off x="874767" y="1836409"/>
            <a:ext cx="5253618" cy="461665"/>
          </a:xfrm>
          <a:prstGeom prst="rect">
            <a:avLst/>
          </a:prstGeom>
          <a:noFill/>
        </p:spPr>
        <p:txBody>
          <a:bodyPr wrap="none" rtlCol="0">
            <a:spAutoFit/>
          </a:bodyPr>
          <a:lstStyle/>
          <a:p>
            <a:r>
              <a:rPr lang="en-IT" sz="2400" dirty="0"/>
              <a:t>4 collaborators, 2 institutions, 2 colleges </a:t>
            </a:r>
          </a:p>
        </p:txBody>
      </p:sp>
      <p:pic>
        <p:nvPicPr>
          <p:cNvPr id="6" name="Picture 5" descr="A red circle with black text&#10;&#10;Description automatically generated">
            <a:extLst>
              <a:ext uri="{FF2B5EF4-FFF2-40B4-BE49-F238E27FC236}">
                <a16:creationId xmlns:a16="http://schemas.microsoft.com/office/drawing/2014/main" id="{A07D4A21-5A81-333E-C001-3A5CFAC67D56}"/>
              </a:ext>
            </a:extLst>
          </p:cNvPr>
          <p:cNvPicPr>
            <a:picLocks noChangeAspect="1"/>
          </p:cNvPicPr>
          <p:nvPr/>
        </p:nvPicPr>
        <p:blipFill>
          <a:blip r:embed="rId10"/>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2028358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213" y="646840"/>
            <a:ext cx="10231255" cy="920004"/>
          </a:xfrm>
          <a:solidFill>
            <a:schemeClr val="bg1"/>
          </a:solidFill>
          <a:ln>
            <a:noFill/>
          </a:ln>
        </p:spPr>
        <p:txBody>
          <a:bodyPr>
            <a:normAutofit fontScale="90000"/>
          </a:bodyPr>
          <a:lstStyle/>
          <a:p>
            <a:pPr algn="ctr"/>
            <a:r>
              <a:rPr lang="en-US" b="1" cap="none" dirty="0">
                <a:solidFill>
                  <a:srgbClr val="00B0F0"/>
                </a:solidFill>
                <a:latin typeface="+mn-lt"/>
                <a:ea typeface="Microsoft Himalaya" pitchFamily="2" charset="0"/>
                <a:cs typeface="Times New Roman" panose="02020603050405020304" pitchFamily="18" charset="0"/>
              </a:rPr>
              <a:t>Health Coaching </a:t>
            </a:r>
            <a:br>
              <a:rPr lang="en-US" sz="3150" b="1" dirty="0">
                <a:solidFill>
                  <a:srgbClr val="002060"/>
                </a:solidFill>
                <a:latin typeface="Apple Braille Pinpoint 8 Dot" pitchFamily="2" charset="0"/>
                <a:ea typeface="Microsoft Himalaya" pitchFamily="2" charset="0"/>
                <a:cs typeface="Times New Roman" panose="02020603050405020304" pitchFamily="18" charset="0"/>
              </a:rPr>
            </a:br>
            <a:endParaRPr lang="en-US" sz="3150" b="1" dirty="0">
              <a:solidFill>
                <a:srgbClr val="002060"/>
              </a:solidFill>
              <a:latin typeface="Apple Braille Pinpoint 8 Dot" pitchFamily="2" charset="0"/>
              <a:ea typeface="Microsoft Himalaya" pitchFamily="2" charset="0"/>
              <a:cs typeface="Times New Roman" panose="02020603050405020304" pitchFamily="18" charset="0"/>
            </a:endParaRPr>
          </a:p>
        </p:txBody>
      </p:sp>
      <p:sp>
        <p:nvSpPr>
          <p:cNvPr id="34" name="Content Placeholder 2">
            <a:extLst>
              <a:ext uri="{FF2B5EF4-FFF2-40B4-BE49-F238E27FC236}">
                <a16:creationId xmlns:a16="http://schemas.microsoft.com/office/drawing/2014/main" id="{DD03D1D8-0F10-8646-9C06-478D20C9B3DB}"/>
              </a:ext>
            </a:extLst>
          </p:cNvPr>
          <p:cNvSpPr>
            <a:spLocks noGrp="1"/>
          </p:cNvSpPr>
          <p:nvPr>
            <p:ph idx="1"/>
          </p:nvPr>
        </p:nvSpPr>
        <p:spPr>
          <a:xfrm>
            <a:off x="926757" y="1649566"/>
            <a:ext cx="10848169" cy="4392646"/>
          </a:xfrm>
        </p:spPr>
        <p:txBody>
          <a:bodyPr>
            <a:noAutofit/>
          </a:bodyPr>
          <a:lstStyle/>
          <a:p>
            <a:pPr marL="0" indent="0">
              <a:buNone/>
            </a:pPr>
            <a:r>
              <a:rPr lang="en-US" sz="2800" dirty="0">
                <a:cs typeface="Times New Roman" panose="02020603050405020304" pitchFamily="18" charset="0"/>
              </a:rPr>
              <a:t>Health coach serves as advisor that provides ongoing support to clients as they set goals and make sustainable changes to improve their health [Kivelä et al., 2014]</a:t>
            </a:r>
          </a:p>
          <a:p>
            <a:pPr marL="0" indent="0">
              <a:buNone/>
            </a:pPr>
            <a:r>
              <a:rPr lang="en-US" sz="2800" dirty="0">
                <a:cs typeface="Times New Roman" panose="02020603050405020304" pitchFamily="18" charset="0"/>
              </a:rPr>
              <a:t>Limitations of health coaching:</a:t>
            </a:r>
          </a:p>
          <a:p>
            <a:pPr>
              <a:buFont typeface="Arial" panose="020B0604020202020204" pitchFamily="34" charset="0"/>
              <a:buChar char="•"/>
            </a:pPr>
            <a:r>
              <a:rPr lang="en-US" sz="2800" dirty="0">
                <a:cs typeface="Times New Roman" panose="02020603050405020304" pitchFamily="18" charset="0"/>
              </a:rPr>
              <a:t> Expensive</a:t>
            </a:r>
          </a:p>
          <a:p>
            <a:pPr>
              <a:buFont typeface="Arial" panose="020B0604020202020204" pitchFamily="34" charset="0"/>
              <a:buChar char="•"/>
            </a:pPr>
            <a:r>
              <a:rPr lang="en-US" sz="2800" dirty="0">
                <a:cs typeface="Times New Roman" panose="02020603050405020304" pitchFamily="18" charset="0"/>
              </a:rPr>
              <a:t> Time-intensive</a:t>
            </a:r>
          </a:p>
          <a:p>
            <a:pPr>
              <a:buFont typeface="Arial" panose="020B0604020202020204" pitchFamily="34" charset="0"/>
              <a:buChar char="•"/>
            </a:pPr>
            <a:r>
              <a:rPr lang="en-US" sz="2800" dirty="0">
                <a:cs typeface="Times New Roman" panose="02020603050405020304" pitchFamily="18" charset="0"/>
              </a:rPr>
              <a:t> Inflexible</a:t>
            </a:r>
          </a:p>
          <a:p>
            <a:pPr>
              <a:buFont typeface="Arial" panose="020B0604020202020204" pitchFamily="34" charset="0"/>
              <a:buChar char="•"/>
            </a:pPr>
            <a:r>
              <a:rPr lang="en-US" sz="2800" dirty="0">
                <a:cs typeface="Times New Roman" panose="02020603050405020304" pitchFamily="18" charset="0"/>
              </a:rPr>
              <a:t> Limited reach based on travel</a:t>
            </a:r>
          </a:p>
          <a:p>
            <a:pPr>
              <a:buFont typeface="Arial" panose="020B0604020202020204" pitchFamily="34" charset="0"/>
              <a:buChar char="•"/>
            </a:pPr>
            <a:r>
              <a:rPr lang="en-US" sz="2800" dirty="0">
                <a:cs typeface="Times New Roman" panose="02020603050405020304" pitchFamily="18" charset="0"/>
              </a:rPr>
              <a:t> Waning interest with time</a:t>
            </a:r>
          </a:p>
          <a:p>
            <a:endParaRPr lang="en-US" sz="2000" dirty="0">
              <a:latin typeface="Times New Roman" panose="02020603050405020304" pitchFamily="18" charset="0"/>
              <a:cs typeface="Times New Roman" panose="02020603050405020304" pitchFamily="18" charset="0"/>
            </a:endParaRPr>
          </a:p>
        </p:txBody>
      </p:sp>
      <p:sp>
        <p:nvSpPr>
          <p:cNvPr id="7" name="Slide Number Placeholder 7">
            <a:extLst>
              <a:ext uri="{FF2B5EF4-FFF2-40B4-BE49-F238E27FC236}">
                <a16:creationId xmlns:a16="http://schemas.microsoft.com/office/drawing/2014/main" id="{94035907-5BC9-5748-A281-8FF9AC2D0CE0}"/>
              </a:ext>
            </a:extLst>
          </p:cNvPr>
          <p:cNvSpPr>
            <a:spLocks noGrp="1"/>
          </p:cNvSpPr>
          <p:nvPr>
            <p:ph type="sldNum" sz="quarter" idx="12"/>
          </p:nvPr>
        </p:nvSpPr>
        <p:spPr>
          <a:xfrm>
            <a:off x="11374579" y="6481803"/>
            <a:ext cx="400347" cy="264686"/>
          </a:xfrm>
          <a:noFill/>
          <a:ln>
            <a:noFill/>
          </a:ln>
        </p:spPr>
        <p:txBody>
          <a:bodyPr/>
          <a:lstStyle/>
          <a:p>
            <a:pPr defTabSz="685800">
              <a:defRPr/>
            </a:pPr>
            <a:fld id="{B5D03F8D-5B5A-3244-BDAD-D56FA08ACDB5}" type="slidenum">
              <a:rPr lang="en-US">
                <a:solidFill>
                  <a:prstClr val="white"/>
                </a:solidFill>
                <a:latin typeface="Gill Sans MT" panose="020B0502020104020203"/>
              </a:rPr>
              <a:pPr defTabSz="685800">
                <a:defRPr/>
              </a:pPr>
              <a:t>12</a:t>
            </a:fld>
            <a:endParaRPr lang="en-US" dirty="0">
              <a:solidFill>
                <a:prstClr val="white"/>
              </a:solidFill>
              <a:latin typeface="Gill Sans MT" panose="020B0502020104020203"/>
            </a:endParaRPr>
          </a:p>
        </p:txBody>
      </p:sp>
      <p:sp>
        <p:nvSpPr>
          <p:cNvPr id="41" name="TextBox 40">
            <a:extLst>
              <a:ext uri="{FF2B5EF4-FFF2-40B4-BE49-F238E27FC236}">
                <a16:creationId xmlns:a16="http://schemas.microsoft.com/office/drawing/2014/main" id="{40E25C58-798C-6247-BBAA-AF456262F594}"/>
              </a:ext>
            </a:extLst>
          </p:cNvPr>
          <p:cNvSpPr txBox="1"/>
          <p:nvPr/>
        </p:nvSpPr>
        <p:spPr>
          <a:xfrm>
            <a:off x="3282749" y="956801"/>
            <a:ext cx="184731" cy="300082"/>
          </a:xfrm>
          <a:prstGeom prst="rect">
            <a:avLst/>
          </a:prstGeom>
          <a:noFill/>
        </p:spPr>
        <p:txBody>
          <a:bodyPr wrap="none" rtlCol="0">
            <a:spAutoFit/>
          </a:bodyPr>
          <a:lstStyle/>
          <a:p>
            <a:pPr defTabSz="685800"/>
            <a:endParaRPr lang="en-US" sz="1350" dirty="0">
              <a:solidFill>
                <a:prstClr val="black"/>
              </a:solidFill>
              <a:latin typeface="Gill Sans MT" panose="020B0502020104020203"/>
            </a:endParaRPr>
          </a:p>
        </p:txBody>
      </p:sp>
      <p:pic>
        <p:nvPicPr>
          <p:cNvPr id="5" name="Picture 4" descr="A red circle with black text&#10;&#10;Description automatically generated">
            <a:extLst>
              <a:ext uri="{FF2B5EF4-FFF2-40B4-BE49-F238E27FC236}">
                <a16:creationId xmlns:a16="http://schemas.microsoft.com/office/drawing/2014/main" id="{265528E4-640A-C180-4619-50D5FF42D780}"/>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2818832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504" y="748242"/>
            <a:ext cx="10394730" cy="761803"/>
          </a:xfrm>
          <a:solidFill>
            <a:schemeClr val="bg1"/>
          </a:solidFill>
          <a:ln>
            <a:noFill/>
          </a:ln>
        </p:spPr>
        <p:txBody>
          <a:bodyPr>
            <a:normAutofit/>
          </a:bodyPr>
          <a:lstStyle/>
          <a:p>
            <a:pPr algn="ctr"/>
            <a:r>
              <a:rPr lang="en-US" sz="4000" b="1" dirty="0">
                <a:solidFill>
                  <a:srgbClr val="00B0F0"/>
                </a:solidFill>
                <a:latin typeface="+mn-lt"/>
                <a:ea typeface="Microsoft Himalaya" pitchFamily="2" charset="0"/>
                <a:cs typeface="Times New Roman" panose="02020603050405020304" pitchFamily="18" charset="0"/>
              </a:rPr>
              <a:t>Virtual Coach: Overall Research Question</a:t>
            </a:r>
          </a:p>
        </p:txBody>
      </p:sp>
      <p:sp>
        <p:nvSpPr>
          <p:cNvPr id="34" name="Content Placeholder 2">
            <a:extLst>
              <a:ext uri="{FF2B5EF4-FFF2-40B4-BE49-F238E27FC236}">
                <a16:creationId xmlns:a16="http://schemas.microsoft.com/office/drawing/2014/main" id="{DD03D1D8-0F10-8646-9C06-478D20C9B3DB}"/>
              </a:ext>
            </a:extLst>
          </p:cNvPr>
          <p:cNvSpPr>
            <a:spLocks noGrp="1"/>
          </p:cNvSpPr>
          <p:nvPr>
            <p:ph idx="1"/>
          </p:nvPr>
        </p:nvSpPr>
        <p:spPr>
          <a:xfrm>
            <a:off x="1172361" y="1801530"/>
            <a:ext cx="10069381" cy="4099671"/>
          </a:xfrm>
        </p:spPr>
        <p:txBody>
          <a:bodyPr>
            <a:noAutofit/>
          </a:bodyPr>
          <a:lstStyle/>
          <a:p>
            <a:pPr marL="0" indent="0">
              <a:buNone/>
            </a:pPr>
            <a:r>
              <a:rPr lang="en-US" sz="2800" b="1" dirty="0">
                <a:cs typeface="Times New Roman" panose="02020603050405020304" pitchFamily="18" charset="0"/>
              </a:rPr>
              <a:t>How do we </a:t>
            </a:r>
            <a:r>
              <a:rPr lang="en-US" sz="2800" b="1" dirty="0">
                <a:solidFill>
                  <a:schemeClr val="tx1"/>
                </a:solidFill>
                <a:cs typeface="Times New Roman" panose="02020603050405020304" pitchFamily="18" charset="0"/>
              </a:rPr>
              <a:t>motivate</a:t>
            </a:r>
            <a:r>
              <a:rPr lang="en-US" sz="2800" b="1" dirty="0">
                <a:cs typeface="Times New Roman" panose="02020603050405020304" pitchFamily="18" charset="0"/>
              </a:rPr>
              <a:t> people to adopt  physically active lifestyle and help them  </a:t>
            </a:r>
            <a:r>
              <a:rPr lang="en-US" sz="2800" b="1" dirty="0">
                <a:solidFill>
                  <a:schemeClr val="tx1"/>
                </a:solidFill>
                <a:cs typeface="Times New Roman" panose="02020603050405020304" pitchFamily="18" charset="0"/>
              </a:rPr>
              <a:t>maintain it long term in cost-effective way</a:t>
            </a:r>
            <a:r>
              <a:rPr lang="en-US" sz="2800" b="1" dirty="0">
                <a:cs typeface="Times New Roman" panose="02020603050405020304" pitchFamily="18" charset="0"/>
              </a:rPr>
              <a:t>?</a:t>
            </a:r>
          </a:p>
          <a:p>
            <a:pPr>
              <a:buFont typeface="Wingdings" pitchFamily="2" charset="2"/>
              <a:buChar char="v"/>
            </a:pPr>
            <a:r>
              <a:rPr lang="en-US" sz="2800" dirty="0">
                <a:cs typeface="Times New Roman" panose="02020603050405020304" pitchFamily="18" charset="0"/>
              </a:rPr>
              <a:t>Dialogue-based </a:t>
            </a:r>
            <a:r>
              <a:rPr lang="en-US" sz="2800" dirty="0">
                <a:solidFill>
                  <a:srgbClr val="00B050"/>
                </a:solidFill>
                <a:cs typeface="Times New Roman" panose="02020603050405020304" pitchFamily="18" charset="0"/>
              </a:rPr>
              <a:t>virtual assistant health coach </a:t>
            </a:r>
            <a:r>
              <a:rPr lang="en-US" sz="2800" dirty="0">
                <a:solidFill>
                  <a:schemeClr val="tx1">
                    <a:lumMod val="50000"/>
                    <a:lumOff val="50000"/>
                  </a:schemeClr>
                </a:solidFill>
                <a:cs typeface="Times New Roman" panose="02020603050405020304" pitchFamily="18" charset="0"/>
              </a:rPr>
              <a:t>to</a:t>
            </a:r>
            <a:r>
              <a:rPr lang="en-US" sz="2800" dirty="0">
                <a:solidFill>
                  <a:srgbClr val="00B050"/>
                </a:solidFill>
                <a:cs typeface="Times New Roman" panose="02020603050405020304" pitchFamily="18" charset="0"/>
              </a:rPr>
              <a:t> </a:t>
            </a:r>
            <a:r>
              <a:rPr lang="en-US" sz="2800" dirty="0">
                <a:cs typeface="Times New Roman" panose="02020603050405020304" pitchFamily="18" charset="0"/>
              </a:rPr>
              <a:t>interact </a:t>
            </a:r>
            <a:r>
              <a:rPr lang="en-US" sz="2800" dirty="0">
                <a:solidFill>
                  <a:schemeClr val="tx1"/>
                </a:solidFill>
                <a:cs typeface="Times New Roman" panose="02020603050405020304" pitchFamily="18" charset="0"/>
              </a:rPr>
              <a:t>via text messages </a:t>
            </a:r>
            <a:r>
              <a:rPr lang="en-US" sz="2800" dirty="0">
                <a:cs typeface="Times New Roman" panose="02020603050405020304" pitchFamily="18" charset="0"/>
              </a:rPr>
              <a:t>and help increase physical activity by setting </a:t>
            </a:r>
            <a:r>
              <a:rPr lang="en-US" sz="2800" dirty="0">
                <a:solidFill>
                  <a:srgbClr val="00B050"/>
                </a:solidFill>
                <a:cs typeface="Times New Roman" panose="02020603050405020304" pitchFamily="18" charset="0"/>
              </a:rPr>
              <a:t>S.M.A.R.T. goals </a:t>
            </a:r>
            <a:r>
              <a:rPr lang="en-US" sz="2800" dirty="0">
                <a:cs typeface="Times New Roman" panose="02020603050405020304" pitchFamily="18" charset="0"/>
              </a:rPr>
              <a:t>(Doran, 1981).</a:t>
            </a:r>
          </a:p>
          <a:p>
            <a:pPr marL="0" indent="0">
              <a:buNone/>
            </a:pPr>
            <a:r>
              <a:rPr lang="en-US" sz="2800" u="sng" dirty="0">
                <a:solidFill>
                  <a:schemeClr val="tx1"/>
                </a:solidFill>
                <a:cs typeface="Times New Roman" panose="02020603050405020304" pitchFamily="18" charset="0"/>
              </a:rPr>
              <a:t>I will </a:t>
            </a:r>
            <a:r>
              <a:rPr lang="en-US" sz="2800" b="1" i="1" u="sng" dirty="0">
                <a:solidFill>
                  <a:schemeClr val="tx1"/>
                </a:solidFill>
                <a:cs typeface="Times New Roman" panose="02020603050405020304" pitchFamily="18" charset="0"/>
              </a:rPr>
              <a:t>walk</a:t>
            </a:r>
            <a:r>
              <a:rPr lang="en-US" sz="2800" i="1" u="sng" dirty="0">
                <a:solidFill>
                  <a:schemeClr val="tx1"/>
                </a:solidFill>
                <a:cs typeface="Times New Roman" panose="02020603050405020304" pitchFamily="18" charset="0"/>
              </a:rPr>
              <a:t> on </a:t>
            </a:r>
            <a:r>
              <a:rPr lang="en-US" sz="2800" b="1" i="1" u="sng" dirty="0">
                <a:solidFill>
                  <a:schemeClr val="tx1"/>
                </a:solidFill>
                <a:cs typeface="Times New Roman" panose="02020603050405020304" pitchFamily="18" charset="0"/>
              </a:rPr>
              <a:t>my lunch break</a:t>
            </a:r>
            <a:r>
              <a:rPr lang="en-US" sz="2800" b="1" u="sng" dirty="0">
                <a:solidFill>
                  <a:schemeClr val="tx1"/>
                </a:solidFill>
                <a:cs typeface="Times New Roman" panose="02020603050405020304" pitchFamily="18" charset="0"/>
              </a:rPr>
              <a:t> </a:t>
            </a:r>
            <a:r>
              <a:rPr lang="en-US" sz="2800" u="sng" dirty="0">
                <a:solidFill>
                  <a:schemeClr val="tx1"/>
                </a:solidFill>
                <a:cs typeface="Times New Roman" panose="02020603050405020304" pitchFamily="18" charset="0"/>
              </a:rPr>
              <a:t>for </a:t>
            </a:r>
            <a:r>
              <a:rPr lang="en-US" sz="2800" b="1" i="1" u="sng" dirty="0">
                <a:solidFill>
                  <a:schemeClr val="tx1"/>
                </a:solidFill>
                <a:cs typeface="Times New Roman" panose="02020603050405020304" pitchFamily="18" charset="0"/>
              </a:rPr>
              <a:t>20 mins Wed and Thurs this week</a:t>
            </a:r>
          </a:p>
          <a:p>
            <a:pPr marL="0" indent="0">
              <a:buNone/>
            </a:pPr>
            <a:r>
              <a:rPr lang="en-US" sz="2800" dirty="0">
                <a:solidFill>
                  <a:schemeClr val="tx1"/>
                </a:solidFill>
                <a:ea typeface="Arial Hebrew" charset="-79"/>
                <a:cs typeface="Times New Roman" panose="02020603050405020304" pitchFamily="18" charset="0"/>
              </a:rPr>
              <a:t>Specific /  Measurable / Attainable / Realistic / Time-bound</a:t>
            </a:r>
          </a:p>
          <a:p>
            <a:pPr>
              <a:buFont typeface="Wingdings" pitchFamily="2" charset="2"/>
              <a:buChar char="v"/>
            </a:pPr>
            <a:r>
              <a:rPr lang="en-US" sz="2800" dirty="0">
                <a:solidFill>
                  <a:schemeClr val="tx1"/>
                </a:solidFill>
                <a:cs typeface="Times New Roman" panose="02020603050405020304" pitchFamily="18" charset="0"/>
              </a:rPr>
              <a:t>Intermediate step: </a:t>
            </a:r>
            <a:r>
              <a:rPr lang="en-US" sz="2800" dirty="0">
                <a:solidFill>
                  <a:srgbClr val="00B050"/>
                </a:solidFill>
                <a:cs typeface="Times New Roman" panose="02020603050405020304" pitchFamily="18" charset="0"/>
              </a:rPr>
              <a:t>support health coaches</a:t>
            </a:r>
            <a:endParaRPr lang="en-US" sz="2800" dirty="0">
              <a:cs typeface="Times New Roman" panose="02020603050405020304" pitchFamily="18" charset="0"/>
            </a:endParaRPr>
          </a:p>
          <a:p>
            <a:pPr marL="0" indent="0">
              <a:buNone/>
            </a:pPr>
            <a:endParaRPr lang="en-US" sz="2400" i="1" u="sng" dirty="0">
              <a:solidFill>
                <a:schemeClr val="tx1"/>
              </a:solidFill>
              <a:cs typeface="Times New Roman" panose="02020603050405020304" pitchFamily="18" charset="0"/>
            </a:endParaRPr>
          </a:p>
          <a:p>
            <a:pPr marL="0" indent="0">
              <a:buNone/>
            </a:pPr>
            <a:r>
              <a:rPr lang="en-US" sz="2400" dirty="0">
                <a:cs typeface="Times New Roman" panose="02020603050405020304" pitchFamily="18" charset="0"/>
              </a:rPr>
              <a:t> </a:t>
            </a:r>
            <a:endParaRPr lang="en-US" sz="2400" dirty="0">
              <a:solidFill>
                <a:srgbClr val="00B050"/>
              </a:solidFill>
              <a:cs typeface="Times New Roman" panose="02020603050405020304" pitchFamily="18" charset="0"/>
            </a:endParaRPr>
          </a:p>
        </p:txBody>
      </p:sp>
      <p:sp>
        <p:nvSpPr>
          <p:cNvPr id="7" name="Slide Number Placeholder 7">
            <a:extLst>
              <a:ext uri="{FF2B5EF4-FFF2-40B4-BE49-F238E27FC236}">
                <a16:creationId xmlns:a16="http://schemas.microsoft.com/office/drawing/2014/main" id="{94035907-5BC9-5748-A281-8FF9AC2D0CE0}"/>
              </a:ext>
            </a:extLst>
          </p:cNvPr>
          <p:cNvSpPr>
            <a:spLocks noGrp="1"/>
          </p:cNvSpPr>
          <p:nvPr>
            <p:ph type="sldNum" sz="quarter" idx="12"/>
          </p:nvPr>
        </p:nvSpPr>
        <p:spPr>
          <a:xfrm>
            <a:off x="11414234" y="6468810"/>
            <a:ext cx="375047" cy="274322"/>
          </a:xfrm>
          <a:noFill/>
          <a:ln>
            <a:noFill/>
          </a:ln>
        </p:spPr>
        <p:txBody>
          <a:bodyPr/>
          <a:lstStyle/>
          <a:p>
            <a:pPr defTabSz="685800">
              <a:defRPr/>
            </a:pPr>
            <a:fld id="{B5D03F8D-5B5A-3244-BDAD-D56FA08ACDB5}" type="slidenum">
              <a:rPr lang="en-US">
                <a:solidFill>
                  <a:prstClr val="white"/>
                </a:solidFill>
                <a:latin typeface="Gill Sans MT" panose="020B0502020104020203"/>
              </a:rPr>
              <a:pPr defTabSz="685800">
                <a:defRPr/>
              </a:pPr>
              <a:t>13</a:t>
            </a:fld>
            <a:endParaRPr lang="en-US" dirty="0">
              <a:solidFill>
                <a:prstClr val="white"/>
              </a:solidFill>
              <a:latin typeface="Gill Sans MT" panose="020B0502020104020203"/>
            </a:endParaRPr>
          </a:p>
        </p:txBody>
      </p:sp>
      <p:sp>
        <p:nvSpPr>
          <p:cNvPr id="41" name="TextBox 40">
            <a:extLst>
              <a:ext uri="{FF2B5EF4-FFF2-40B4-BE49-F238E27FC236}">
                <a16:creationId xmlns:a16="http://schemas.microsoft.com/office/drawing/2014/main" id="{40E25C58-798C-6247-BBAA-AF456262F594}"/>
              </a:ext>
            </a:extLst>
          </p:cNvPr>
          <p:cNvSpPr txBox="1"/>
          <p:nvPr/>
        </p:nvSpPr>
        <p:spPr>
          <a:xfrm>
            <a:off x="3282749" y="956801"/>
            <a:ext cx="184731" cy="300082"/>
          </a:xfrm>
          <a:prstGeom prst="rect">
            <a:avLst/>
          </a:prstGeom>
          <a:noFill/>
        </p:spPr>
        <p:txBody>
          <a:bodyPr wrap="none" rtlCol="0">
            <a:spAutoFit/>
          </a:bodyPr>
          <a:lstStyle/>
          <a:p>
            <a:pPr defTabSz="457200"/>
            <a:endParaRPr lang="en-US" sz="1350" dirty="0">
              <a:solidFill>
                <a:prstClr val="black"/>
              </a:solidFill>
              <a:latin typeface="Gill Sans MT" panose="020B0502020104020203"/>
            </a:endParaRPr>
          </a:p>
        </p:txBody>
      </p:sp>
      <p:pic>
        <p:nvPicPr>
          <p:cNvPr id="4" name="Picture 3" descr="A red circle with black text&#10;&#10;Description automatically generated">
            <a:extLst>
              <a:ext uri="{FF2B5EF4-FFF2-40B4-BE49-F238E27FC236}">
                <a16:creationId xmlns:a16="http://schemas.microsoft.com/office/drawing/2014/main" id="{C77C75A3-4FA0-F5D4-F705-735B199974B8}"/>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388715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0240" y="528184"/>
            <a:ext cx="7831087" cy="728701"/>
          </a:xfrm>
          <a:solidFill>
            <a:schemeClr val="bg1"/>
          </a:solidFill>
          <a:ln>
            <a:noFill/>
          </a:ln>
        </p:spPr>
        <p:txBody>
          <a:bodyPr>
            <a:normAutofit/>
          </a:bodyPr>
          <a:lstStyle/>
          <a:p>
            <a:pPr algn="ctr"/>
            <a:r>
              <a:rPr lang="en-US" sz="4000" b="1" dirty="0">
                <a:solidFill>
                  <a:srgbClr val="00B0F0"/>
                </a:solidFill>
                <a:latin typeface="+mn-lt"/>
                <a:ea typeface="Microsoft Himalaya" pitchFamily="2" charset="0"/>
                <a:cs typeface="Times New Roman" panose="02020603050405020304" pitchFamily="18" charset="0"/>
              </a:rPr>
              <a:t>Data Collection</a:t>
            </a:r>
          </a:p>
        </p:txBody>
      </p:sp>
      <p:graphicFrame>
        <p:nvGraphicFramePr>
          <p:cNvPr id="3" name="Table 3">
            <a:extLst>
              <a:ext uri="{FF2B5EF4-FFF2-40B4-BE49-F238E27FC236}">
                <a16:creationId xmlns:a16="http://schemas.microsoft.com/office/drawing/2014/main" id="{55616199-089C-2847-8A4D-FCCBF470142A}"/>
              </a:ext>
            </a:extLst>
          </p:cNvPr>
          <p:cNvGraphicFramePr>
            <a:graphicFrameLocks noGrp="1"/>
          </p:cNvGraphicFramePr>
          <p:nvPr>
            <p:ph idx="1"/>
            <p:extLst>
              <p:ext uri="{D42A27DB-BD31-4B8C-83A1-F6EECF244321}">
                <p14:modId xmlns:p14="http://schemas.microsoft.com/office/powerpoint/2010/main" val="1009497450"/>
              </p:ext>
            </p:extLst>
          </p:nvPr>
        </p:nvGraphicFramePr>
        <p:xfrm>
          <a:off x="3282749" y="1452282"/>
          <a:ext cx="8192077" cy="4448916"/>
        </p:xfrm>
        <a:graphic>
          <a:graphicData uri="http://schemas.openxmlformats.org/drawingml/2006/table">
            <a:tbl>
              <a:tblPr firstRow="1" bandRow="1">
                <a:tableStyleId>{5C22544A-7EE6-4342-B048-85BDC9FD1C3A}</a:tableStyleId>
              </a:tblPr>
              <a:tblGrid>
                <a:gridCol w="2937567">
                  <a:extLst>
                    <a:ext uri="{9D8B030D-6E8A-4147-A177-3AD203B41FA5}">
                      <a16:colId xmlns:a16="http://schemas.microsoft.com/office/drawing/2014/main" val="1796814670"/>
                    </a:ext>
                  </a:extLst>
                </a:gridCol>
                <a:gridCol w="2694393">
                  <a:extLst>
                    <a:ext uri="{9D8B030D-6E8A-4147-A177-3AD203B41FA5}">
                      <a16:colId xmlns:a16="http://schemas.microsoft.com/office/drawing/2014/main" val="1417088770"/>
                    </a:ext>
                  </a:extLst>
                </a:gridCol>
                <a:gridCol w="2560117">
                  <a:extLst>
                    <a:ext uri="{9D8B030D-6E8A-4147-A177-3AD203B41FA5}">
                      <a16:colId xmlns:a16="http://schemas.microsoft.com/office/drawing/2014/main" val="1614455926"/>
                    </a:ext>
                  </a:extLst>
                </a:gridCol>
              </a:tblGrid>
              <a:tr h="452029">
                <a:tc>
                  <a:txBody>
                    <a:bodyPr/>
                    <a:lstStyle/>
                    <a:p>
                      <a:pPr algn="ctr"/>
                      <a:endParaRPr lang="en-US" sz="1000" b="0" dirty="0">
                        <a:latin typeface="Times New Roman" panose="02020603050405020304" pitchFamily="18" charset="0"/>
                        <a:cs typeface="Times New Roman" panose="02020603050405020304" pitchFamily="18" charset="0"/>
                      </a:endParaRPr>
                    </a:p>
                  </a:txBody>
                  <a:tcPr marL="68580" marR="68580" marT="34290" marB="34290">
                    <a:solidFill>
                      <a:schemeClr val="accent1"/>
                    </a:solidFill>
                  </a:tcPr>
                </a:tc>
                <a:tc>
                  <a:txBody>
                    <a:bodyPr/>
                    <a:lstStyle/>
                    <a:p>
                      <a:pPr algn="ctr"/>
                      <a:r>
                        <a:rPr lang="en-US" sz="2400" b="0" dirty="0">
                          <a:latin typeface="Times New Roman" panose="02020603050405020304" pitchFamily="18" charset="0"/>
                          <a:cs typeface="Times New Roman" panose="02020603050405020304" pitchFamily="18" charset="0"/>
                        </a:rPr>
                        <a:t>Dataset 1</a:t>
                      </a:r>
                    </a:p>
                  </a:txBody>
                  <a:tcPr marL="68580" marR="68580" marT="34290" marB="34290">
                    <a:solidFill>
                      <a:schemeClr val="accent1"/>
                    </a:solidFill>
                  </a:tcPr>
                </a:tc>
                <a:tc>
                  <a:txBody>
                    <a:bodyPr/>
                    <a:lstStyle/>
                    <a:p>
                      <a:pPr algn="ctr"/>
                      <a:r>
                        <a:rPr lang="en-US" sz="2400" b="0" dirty="0">
                          <a:latin typeface="Times New Roman" panose="02020603050405020304" pitchFamily="18" charset="0"/>
                          <a:cs typeface="Times New Roman" panose="02020603050405020304" pitchFamily="18" charset="0"/>
                        </a:rPr>
                        <a:t>Dataset 2</a:t>
                      </a:r>
                    </a:p>
                  </a:txBody>
                  <a:tcPr marL="68580" marR="68580" marT="34290" marB="34290">
                    <a:solidFill>
                      <a:schemeClr val="accent1"/>
                    </a:solidFill>
                  </a:tcPr>
                </a:tc>
                <a:extLst>
                  <a:ext uri="{0D108BD9-81ED-4DB2-BD59-A6C34878D82A}">
                    <a16:rowId xmlns:a16="http://schemas.microsoft.com/office/drawing/2014/main" val="1239084312"/>
                  </a:ext>
                </a:extLst>
              </a:tr>
              <a:tr h="452029">
                <a:tc>
                  <a:txBody>
                    <a:bodyPr/>
                    <a:lstStyle/>
                    <a:p>
                      <a:pPr algn="ctr"/>
                      <a:r>
                        <a:rPr lang="en-US" sz="2400" dirty="0">
                          <a:latin typeface="Times New Roman" panose="02020603050405020304" pitchFamily="18" charset="0"/>
                          <a:cs typeface="Times New Roman" panose="02020603050405020304" pitchFamily="18" charset="0"/>
                        </a:rPr>
                        <a:t># health coaches</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1</a:t>
                      </a:r>
                    </a:p>
                  </a:txBody>
                  <a:tcPr marL="68580" marR="68580" marT="34290" marB="34290"/>
                </a:tc>
                <a:tc>
                  <a:txBody>
                    <a:bodyPr/>
                    <a:lstStyle/>
                    <a:p>
                      <a:pPr algn="ctr"/>
                      <a:r>
                        <a:rPr lang="en-US" sz="2400" dirty="0">
                          <a:solidFill>
                            <a:schemeClr val="tx2"/>
                          </a:solidFill>
                          <a:latin typeface="Times New Roman" panose="02020603050405020304" pitchFamily="18" charset="0"/>
                          <a:cs typeface="Times New Roman" panose="02020603050405020304" pitchFamily="18" charset="0"/>
                        </a:rPr>
                        <a:t>3</a:t>
                      </a:r>
                    </a:p>
                  </a:txBody>
                  <a:tcPr marL="68580" marR="68580" marT="34290" marB="34290"/>
                </a:tc>
                <a:extLst>
                  <a:ext uri="{0D108BD9-81ED-4DB2-BD59-A6C34878D82A}">
                    <a16:rowId xmlns:a16="http://schemas.microsoft.com/office/drawing/2014/main" val="4061341745"/>
                  </a:ext>
                </a:extLst>
              </a:tr>
              <a:tr h="452029">
                <a:tc>
                  <a:txBody>
                    <a:bodyPr/>
                    <a:lstStyle/>
                    <a:p>
                      <a:pPr algn="ctr"/>
                      <a:r>
                        <a:rPr lang="en-US" sz="2400" dirty="0">
                          <a:latin typeface="Times New Roman" panose="02020603050405020304" pitchFamily="18" charset="0"/>
                          <a:cs typeface="Times New Roman" panose="02020603050405020304" pitchFamily="18" charset="0"/>
                        </a:rPr>
                        <a:t># patients</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30 (28)</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28 (27)</a:t>
                      </a:r>
                    </a:p>
                  </a:txBody>
                  <a:tcPr marL="68580" marR="68580" marT="34290" marB="34290"/>
                </a:tc>
                <a:extLst>
                  <a:ext uri="{0D108BD9-81ED-4DB2-BD59-A6C34878D82A}">
                    <a16:rowId xmlns:a16="http://schemas.microsoft.com/office/drawing/2014/main" val="756720383"/>
                  </a:ext>
                </a:extLst>
              </a:tr>
              <a:tr h="452029">
                <a:tc>
                  <a:txBody>
                    <a:bodyPr/>
                    <a:lstStyle/>
                    <a:p>
                      <a:pPr algn="ctr"/>
                      <a:r>
                        <a:rPr lang="en-US" sz="2400" dirty="0">
                          <a:latin typeface="Times New Roman" panose="02020603050405020304" pitchFamily="18" charset="0"/>
                          <a:cs typeface="Times New Roman" panose="02020603050405020304" pitchFamily="18" charset="0"/>
                        </a:rPr>
                        <a:t>Duration</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4 weeks</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8 weeks</a:t>
                      </a:r>
                    </a:p>
                  </a:txBody>
                  <a:tcPr marL="68580" marR="68580" marT="34290" marB="34290"/>
                </a:tc>
                <a:extLst>
                  <a:ext uri="{0D108BD9-81ED-4DB2-BD59-A6C34878D82A}">
                    <a16:rowId xmlns:a16="http://schemas.microsoft.com/office/drawing/2014/main" val="3787704008"/>
                  </a:ext>
                </a:extLst>
              </a:tr>
              <a:tr h="452029">
                <a:tc>
                  <a:txBody>
                    <a:bodyPr/>
                    <a:lstStyle/>
                    <a:p>
                      <a:pPr algn="ctr"/>
                      <a:r>
                        <a:rPr lang="en-US" sz="2400" dirty="0">
                          <a:latin typeface="Times New Roman" panose="02020603050405020304" pitchFamily="18" charset="0"/>
                          <a:cs typeface="Times New Roman" panose="02020603050405020304" pitchFamily="18" charset="0"/>
                        </a:rPr>
                        <a:t>Total # messages</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2853</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4134</a:t>
                      </a:r>
                    </a:p>
                  </a:txBody>
                  <a:tcPr marL="68580" marR="68580" marT="34290" marB="34290"/>
                </a:tc>
                <a:extLst>
                  <a:ext uri="{0D108BD9-81ED-4DB2-BD59-A6C34878D82A}">
                    <a16:rowId xmlns:a16="http://schemas.microsoft.com/office/drawing/2014/main" val="736882774"/>
                  </a:ext>
                </a:extLst>
              </a:tr>
              <a:tr h="832684">
                <a:tc>
                  <a:txBody>
                    <a:bodyPr/>
                    <a:lstStyle/>
                    <a:p>
                      <a:pPr algn="ctr"/>
                      <a:r>
                        <a:rPr lang="en-US" sz="2400" dirty="0">
                          <a:latin typeface="Times New Roman" panose="02020603050405020304" pitchFamily="18" charset="0"/>
                          <a:cs typeface="Times New Roman" panose="02020603050405020304" pitchFamily="18" charset="0"/>
                        </a:rPr>
                        <a:t>Coach/Patient messages </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54/46%</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58/42%</a:t>
                      </a:r>
                    </a:p>
                  </a:txBody>
                  <a:tcPr marL="68580" marR="68580" marT="34290" marB="34290"/>
                </a:tc>
                <a:extLst>
                  <a:ext uri="{0D108BD9-81ED-4DB2-BD59-A6C34878D82A}">
                    <a16:rowId xmlns:a16="http://schemas.microsoft.com/office/drawing/2014/main" val="3442167272"/>
                  </a:ext>
                </a:extLst>
              </a:tr>
              <a:tr h="452029">
                <a:tc>
                  <a:txBody>
                    <a:bodyPr/>
                    <a:lstStyle/>
                    <a:p>
                      <a:pPr algn="ctr"/>
                      <a:r>
                        <a:rPr lang="en-US" sz="2400" dirty="0">
                          <a:latin typeface="Times New Roman" panose="02020603050405020304" pitchFamily="18" charset="0"/>
                          <a:cs typeface="Times New Roman" panose="02020603050405020304" pitchFamily="18" charset="0"/>
                        </a:rPr>
                        <a:t>Activity tracker</a:t>
                      </a:r>
                    </a:p>
                  </a:txBody>
                  <a:tcPr marL="68580" marR="68580" marT="34290" marB="34290"/>
                </a:tc>
                <a:tc gridSpan="2">
                  <a:txBody>
                    <a:bodyPr/>
                    <a:lstStyle/>
                    <a:p>
                      <a:pPr algn="ctr"/>
                      <a:r>
                        <a:rPr lang="en-US" sz="2400" dirty="0">
                          <a:latin typeface="Times New Roman" panose="02020603050405020304" pitchFamily="18" charset="0"/>
                          <a:cs typeface="Times New Roman" panose="02020603050405020304" pitchFamily="18" charset="0"/>
                        </a:rPr>
                        <a:t>Fitbit</a:t>
                      </a:r>
                    </a:p>
                  </a:txBody>
                  <a:tcPr marL="68580" marR="68580" marT="34290" marB="34290"/>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3877987"/>
                  </a:ext>
                </a:extLst>
              </a:tr>
              <a:tr h="452029">
                <a:tc>
                  <a:txBody>
                    <a:bodyPr/>
                    <a:lstStyle/>
                    <a:p>
                      <a:pPr algn="ctr"/>
                      <a:r>
                        <a:rPr lang="en-US" sz="2400" dirty="0">
                          <a:latin typeface="Times New Roman" panose="02020603050405020304" pitchFamily="18" charset="0"/>
                          <a:cs typeface="Times New Roman" panose="02020603050405020304" pitchFamily="18" charset="0"/>
                        </a:rPr>
                        <a:t>Communication</a:t>
                      </a:r>
                    </a:p>
                  </a:txBody>
                  <a:tcPr marL="68580" marR="68580" marT="34290" marB="34290"/>
                </a:tc>
                <a:tc gridSpan="2">
                  <a:txBody>
                    <a:bodyPr/>
                    <a:lstStyle/>
                    <a:p>
                      <a:pPr algn="ctr"/>
                      <a:r>
                        <a:rPr lang="en-US" sz="2400" dirty="0" err="1">
                          <a:latin typeface="Times New Roman" panose="02020603050405020304" pitchFamily="18" charset="0"/>
                          <a:cs typeface="Times New Roman" panose="02020603050405020304" pitchFamily="18" charset="0"/>
                        </a:rPr>
                        <a:t>MyTapp</a:t>
                      </a:r>
                      <a:r>
                        <a:rPr lang="en-US" sz="2400" dirty="0">
                          <a:latin typeface="Times New Roman" panose="02020603050405020304" pitchFamily="18" charset="0"/>
                          <a:cs typeface="Times New Roman" panose="02020603050405020304" pitchFamily="18" charset="0"/>
                        </a:rPr>
                        <a:t> and SMS</a:t>
                      </a:r>
                    </a:p>
                  </a:txBody>
                  <a:tcPr marL="68580" marR="68580" marT="34290" marB="34290"/>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04980580"/>
                  </a:ext>
                </a:extLst>
              </a:tr>
              <a:tr h="452029">
                <a:tc>
                  <a:txBody>
                    <a:bodyPr/>
                    <a:lstStyle/>
                    <a:p>
                      <a:pPr algn="ctr"/>
                      <a:r>
                        <a:rPr lang="en-US" sz="2400" dirty="0">
                          <a:latin typeface="Times New Roman" panose="02020603050405020304" pitchFamily="18" charset="0"/>
                          <a:cs typeface="Times New Roman" panose="02020603050405020304" pitchFamily="18" charset="0"/>
                        </a:rPr>
                        <a:t>Goal setting</a:t>
                      </a:r>
                    </a:p>
                  </a:txBody>
                  <a:tcPr marL="68580" marR="68580" marT="34290" marB="34290"/>
                </a:tc>
                <a:tc gridSpan="2">
                  <a:txBody>
                    <a:bodyPr/>
                    <a:lstStyle/>
                    <a:p>
                      <a:pPr algn="ctr"/>
                      <a:r>
                        <a:rPr lang="en-US" sz="2400" dirty="0">
                          <a:latin typeface="Times New Roman" panose="02020603050405020304" pitchFamily="18" charset="0"/>
                          <a:cs typeface="Times New Roman" panose="02020603050405020304" pitchFamily="18" charset="0"/>
                        </a:rPr>
                        <a:t>Weekly SMART goals</a:t>
                      </a:r>
                    </a:p>
                  </a:txBody>
                  <a:tcPr marL="68580" marR="68580" marT="34290" marB="34290"/>
                </a:tc>
                <a:tc hMerge="1">
                  <a:txBody>
                    <a:bodyPr/>
                    <a:lstStyle/>
                    <a:p>
                      <a:endParaRPr lang="en-US"/>
                    </a:p>
                  </a:txBody>
                  <a:tcPr/>
                </a:tc>
                <a:extLst>
                  <a:ext uri="{0D108BD9-81ED-4DB2-BD59-A6C34878D82A}">
                    <a16:rowId xmlns:a16="http://schemas.microsoft.com/office/drawing/2014/main" val="598757346"/>
                  </a:ext>
                </a:extLst>
              </a:tr>
            </a:tbl>
          </a:graphicData>
        </a:graphic>
      </p:graphicFrame>
      <p:sp>
        <p:nvSpPr>
          <p:cNvPr id="7" name="Slide Number Placeholder 7">
            <a:extLst>
              <a:ext uri="{FF2B5EF4-FFF2-40B4-BE49-F238E27FC236}">
                <a16:creationId xmlns:a16="http://schemas.microsoft.com/office/drawing/2014/main" id="{94035907-5BC9-5748-A281-8FF9AC2D0CE0}"/>
              </a:ext>
            </a:extLst>
          </p:cNvPr>
          <p:cNvSpPr>
            <a:spLocks noGrp="1"/>
          </p:cNvSpPr>
          <p:nvPr>
            <p:ph type="sldNum" sz="quarter" idx="12"/>
          </p:nvPr>
        </p:nvSpPr>
        <p:spPr>
          <a:xfrm>
            <a:off x="11255674" y="6473039"/>
            <a:ext cx="401523" cy="274322"/>
          </a:xfrm>
          <a:noFill/>
          <a:ln>
            <a:noFill/>
          </a:ln>
        </p:spPr>
        <p:txBody>
          <a:bodyPr/>
          <a:lstStyle/>
          <a:p>
            <a:pPr defTabSz="685800">
              <a:defRPr/>
            </a:pPr>
            <a:fld id="{B5D03F8D-5B5A-3244-BDAD-D56FA08ACDB5}" type="slidenum">
              <a:rPr lang="en-US">
                <a:solidFill>
                  <a:prstClr val="white"/>
                </a:solidFill>
                <a:latin typeface="Gill Sans MT" panose="020B0502020104020203"/>
              </a:rPr>
              <a:pPr defTabSz="685800">
                <a:defRPr/>
              </a:pPr>
              <a:t>14</a:t>
            </a:fld>
            <a:endParaRPr lang="en-US" dirty="0">
              <a:solidFill>
                <a:prstClr val="white"/>
              </a:solidFill>
              <a:latin typeface="Gill Sans MT" panose="020B0502020104020203"/>
            </a:endParaRPr>
          </a:p>
        </p:txBody>
      </p:sp>
      <p:sp>
        <p:nvSpPr>
          <p:cNvPr id="41" name="TextBox 40">
            <a:extLst>
              <a:ext uri="{FF2B5EF4-FFF2-40B4-BE49-F238E27FC236}">
                <a16:creationId xmlns:a16="http://schemas.microsoft.com/office/drawing/2014/main" id="{40E25C58-798C-6247-BBAA-AF456262F594}"/>
              </a:ext>
            </a:extLst>
          </p:cNvPr>
          <p:cNvSpPr txBox="1"/>
          <p:nvPr/>
        </p:nvSpPr>
        <p:spPr>
          <a:xfrm>
            <a:off x="3282749" y="956801"/>
            <a:ext cx="184731" cy="300082"/>
          </a:xfrm>
          <a:prstGeom prst="rect">
            <a:avLst/>
          </a:prstGeom>
          <a:noFill/>
        </p:spPr>
        <p:txBody>
          <a:bodyPr wrap="none" rtlCol="0">
            <a:spAutoFit/>
          </a:bodyPr>
          <a:lstStyle/>
          <a:p>
            <a:pPr defTabSz="457200"/>
            <a:endParaRPr lang="en-US" sz="1350" dirty="0">
              <a:solidFill>
                <a:prstClr val="black"/>
              </a:solidFill>
              <a:latin typeface="Gill Sans MT" panose="020B0502020104020203"/>
            </a:endParaRPr>
          </a:p>
        </p:txBody>
      </p:sp>
      <p:sp>
        <p:nvSpPr>
          <p:cNvPr id="4" name="TextBox 3">
            <a:extLst>
              <a:ext uri="{FF2B5EF4-FFF2-40B4-BE49-F238E27FC236}">
                <a16:creationId xmlns:a16="http://schemas.microsoft.com/office/drawing/2014/main" id="{6463D060-641A-904B-81CF-16D99DECBB53}"/>
              </a:ext>
            </a:extLst>
          </p:cNvPr>
          <p:cNvSpPr txBox="1"/>
          <p:nvPr/>
        </p:nvSpPr>
        <p:spPr>
          <a:xfrm>
            <a:off x="926757" y="1873658"/>
            <a:ext cx="2166963" cy="3816429"/>
          </a:xfrm>
          <a:prstGeom prst="rect">
            <a:avLst/>
          </a:prstGeom>
          <a:noFill/>
        </p:spPr>
        <p:txBody>
          <a:bodyPr wrap="square" rtlCol="0">
            <a:spAutoFit/>
          </a:bodyPr>
          <a:lstStyle/>
          <a:p>
            <a:r>
              <a:rPr lang="en-US" sz="2800" dirty="0"/>
              <a:t>De-identified dataset 2 available</a:t>
            </a:r>
          </a:p>
          <a:p>
            <a:r>
              <a:rPr lang="en-US" sz="2800" dirty="0">
                <a:hlinkClick r:id="rId3"/>
              </a:rPr>
              <a:t>https://github.com/uic-nlp-lab/virtualcoachdata</a:t>
            </a:r>
            <a:r>
              <a:rPr lang="en-US" sz="2800" dirty="0"/>
              <a:t> </a:t>
            </a:r>
            <a:br>
              <a:rPr lang="en-US" dirty="0"/>
            </a:br>
            <a:endParaRPr lang="en-US" dirty="0"/>
          </a:p>
        </p:txBody>
      </p:sp>
      <p:pic>
        <p:nvPicPr>
          <p:cNvPr id="6" name="Picture 5" descr="A red circle with black text&#10;&#10;Description automatically generated">
            <a:extLst>
              <a:ext uri="{FF2B5EF4-FFF2-40B4-BE49-F238E27FC236}">
                <a16:creationId xmlns:a16="http://schemas.microsoft.com/office/drawing/2014/main" id="{20EA806C-EA07-CFCF-268E-BFCAB9038050}"/>
              </a:ext>
            </a:extLst>
          </p:cNvPr>
          <p:cNvPicPr>
            <a:picLocks noChangeAspect="1"/>
          </p:cNvPicPr>
          <p:nvPr/>
        </p:nvPicPr>
        <p:blipFill>
          <a:blip r:embed="rId4"/>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698353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694FB-058B-93BD-D91A-5F0323EC3622}"/>
              </a:ext>
            </a:extLst>
          </p:cNvPr>
          <p:cNvSpPr>
            <a:spLocks noGrp="1"/>
          </p:cNvSpPr>
          <p:nvPr>
            <p:ph type="title"/>
          </p:nvPr>
        </p:nvSpPr>
        <p:spPr/>
        <p:txBody>
          <a:bodyPr/>
          <a:lstStyle/>
          <a:p>
            <a:r>
              <a:rPr lang="en-IT" dirty="0">
                <a:solidFill>
                  <a:srgbClr val="00B0F0"/>
                </a:solidFill>
                <a:latin typeface="+mn-lt"/>
              </a:rPr>
              <a:t>What should dialogue agent do [to support coaches]? </a:t>
            </a:r>
          </a:p>
        </p:txBody>
      </p:sp>
      <p:sp>
        <p:nvSpPr>
          <p:cNvPr id="4" name="Slide Number Placeholder 3">
            <a:extLst>
              <a:ext uri="{FF2B5EF4-FFF2-40B4-BE49-F238E27FC236}">
                <a16:creationId xmlns:a16="http://schemas.microsoft.com/office/drawing/2014/main" id="{BD87CFAF-6008-6F18-93B3-E1C44A17E5E8}"/>
              </a:ext>
            </a:extLst>
          </p:cNvPr>
          <p:cNvSpPr>
            <a:spLocks noGrp="1"/>
          </p:cNvSpPr>
          <p:nvPr>
            <p:ph type="sldNum" sz="quarter" idx="12"/>
          </p:nvPr>
        </p:nvSpPr>
        <p:spPr/>
        <p:txBody>
          <a:bodyPr/>
          <a:lstStyle/>
          <a:p>
            <a:fld id="{6113E31D-E2AB-40D1-8B51-AFA5AFEF393A}" type="slidenum">
              <a:rPr lang="en-US" smtClean="0"/>
              <a:t>15</a:t>
            </a:fld>
            <a:endParaRPr lang="en-US" dirty="0"/>
          </a:p>
        </p:txBody>
      </p:sp>
      <p:sp>
        <p:nvSpPr>
          <p:cNvPr id="5" name="Content Placeholder 2">
            <a:extLst>
              <a:ext uri="{FF2B5EF4-FFF2-40B4-BE49-F238E27FC236}">
                <a16:creationId xmlns:a16="http://schemas.microsoft.com/office/drawing/2014/main" id="{D6E02431-3B60-2809-5F9A-51ECE81C5EFF}"/>
              </a:ext>
            </a:extLst>
          </p:cNvPr>
          <p:cNvSpPr>
            <a:spLocks noGrp="1"/>
          </p:cNvSpPr>
          <p:nvPr>
            <p:ph idx="1"/>
          </p:nvPr>
        </p:nvSpPr>
        <p:spPr>
          <a:xfrm>
            <a:off x="1097280" y="1845735"/>
            <a:ext cx="10058400" cy="2511113"/>
          </a:xfrm>
          <a:solidFill>
            <a:schemeClr val="bg1">
              <a:lumMod val="85000"/>
            </a:schemeClr>
          </a:solidFill>
          <a:ln>
            <a:solidFill>
              <a:schemeClr val="tx1"/>
            </a:solidFill>
          </a:ln>
        </p:spPr>
        <p:txBody>
          <a:bodyPr>
            <a:noAutofit/>
          </a:bodyPr>
          <a:lstStyle/>
          <a:p>
            <a:r>
              <a:rPr lang="en-GB" sz="2600" b="1" dirty="0"/>
              <a:t>Coach</a:t>
            </a:r>
            <a:r>
              <a:rPr lang="en-GB" sz="2600" dirty="0"/>
              <a:t>: Hi, hope you’re well. I forgot to message you yesterday to set your goal for Week 6, my apologies!</a:t>
            </a:r>
          </a:p>
          <a:p>
            <a:r>
              <a:rPr lang="en-GB" sz="2600" b="1" dirty="0"/>
              <a:t>Coach</a:t>
            </a:r>
            <a:r>
              <a:rPr lang="en-GB" sz="2600" dirty="0"/>
              <a:t>: You met your goal 5 out of 7 days last week, great job What would you like to do for this week?</a:t>
            </a:r>
          </a:p>
          <a:p>
            <a:r>
              <a:rPr lang="en-GB" sz="2600" b="1" dirty="0"/>
              <a:t>Patient:</a:t>
            </a:r>
            <a:r>
              <a:rPr lang="en-GB" sz="2600" dirty="0"/>
              <a:t> Gd morning, I am going to set the same goals. With a 7 confidence.</a:t>
            </a:r>
          </a:p>
          <a:p>
            <a:pPr marL="0" indent="0">
              <a:buNone/>
            </a:pPr>
            <a:r>
              <a:rPr lang="en-GB" sz="2000" dirty="0"/>
              <a:t> </a:t>
            </a:r>
          </a:p>
          <a:p>
            <a:pPr marL="0" indent="0">
              <a:buNone/>
            </a:pPr>
            <a:endParaRPr lang="en-GB" sz="2000" dirty="0"/>
          </a:p>
        </p:txBody>
      </p:sp>
      <p:sp>
        <p:nvSpPr>
          <p:cNvPr id="6" name="TextBox 5">
            <a:extLst>
              <a:ext uri="{FF2B5EF4-FFF2-40B4-BE49-F238E27FC236}">
                <a16:creationId xmlns:a16="http://schemas.microsoft.com/office/drawing/2014/main" id="{39D9E033-7FF6-C923-F0F5-012A6D178CB0}"/>
              </a:ext>
            </a:extLst>
          </p:cNvPr>
          <p:cNvSpPr txBox="1"/>
          <p:nvPr/>
        </p:nvSpPr>
        <p:spPr>
          <a:xfrm>
            <a:off x="1097280" y="4577320"/>
            <a:ext cx="8803180" cy="1661993"/>
          </a:xfrm>
          <a:prstGeom prst="rect">
            <a:avLst/>
          </a:prstGeom>
          <a:noFill/>
        </p:spPr>
        <p:txBody>
          <a:bodyPr wrap="square" rtlCol="0">
            <a:spAutoFit/>
          </a:bodyPr>
          <a:lstStyle/>
          <a:p>
            <a:r>
              <a:rPr lang="en-GB" sz="2800" dirty="0"/>
              <a:t>Dialogue agent should: </a:t>
            </a:r>
          </a:p>
          <a:p>
            <a:pPr lvl="1">
              <a:buFont typeface="Arial" panose="020B0604020202020204" pitchFamily="34" charset="0"/>
              <a:buChar char="•"/>
            </a:pPr>
            <a:r>
              <a:rPr lang="en-GB" sz="2800" dirty="0">
                <a:solidFill>
                  <a:srgbClr val="00B050"/>
                </a:solidFill>
              </a:rPr>
              <a:t>Summarize Goal</a:t>
            </a:r>
            <a:r>
              <a:rPr lang="en-GB" sz="2800" dirty="0"/>
              <a:t>: [activity] [location] [days] [time] … </a:t>
            </a:r>
          </a:p>
          <a:p>
            <a:pPr lvl="1">
              <a:buFont typeface="Arial" panose="020B0604020202020204" pitchFamily="34" charset="0"/>
              <a:buChar char="•"/>
            </a:pPr>
            <a:r>
              <a:rPr lang="en-GB" sz="2800" dirty="0">
                <a:solidFill>
                  <a:srgbClr val="00B050"/>
                </a:solidFill>
              </a:rPr>
              <a:t>Suggest</a:t>
            </a:r>
            <a:r>
              <a:rPr lang="en-GB" sz="2800" dirty="0"/>
              <a:t> next message to human coach</a:t>
            </a:r>
          </a:p>
          <a:p>
            <a:endParaRPr lang="en-IT" dirty="0"/>
          </a:p>
        </p:txBody>
      </p:sp>
    </p:spTree>
    <p:extLst>
      <p:ext uri="{BB962C8B-B14F-4D97-AF65-F5344CB8AC3E}">
        <p14:creationId xmlns:p14="http://schemas.microsoft.com/office/powerpoint/2010/main" val="4127317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773150"/>
            <a:ext cx="8012576" cy="858393"/>
          </a:xfrm>
          <a:solidFill>
            <a:schemeClr val="bg1"/>
          </a:solidFill>
          <a:ln>
            <a:noFill/>
          </a:ln>
        </p:spPr>
        <p:txBody>
          <a:bodyPr>
            <a:normAutofit/>
          </a:bodyPr>
          <a:lstStyle/>
          <a:p>
            <a:pPr algn="ctr"/>
            <a:r>
              <a:rPr lang="en-US" b="1" dirty="0">
                <a:solidFill>
                  <a:srgbClr val="00B0F0"/>
                </a:solidFill>
                <a:latin typeface="Apple Braille Pinpoint 8 Dot" pitchFamily="2" charset="0"/>
                <a:ea typeface="Microsoft Himalaya" pitchFamily="2" charset="0"/>
                <a:cs typeface="Times New Roman" panose="02020603050405020304" pitchFamily="18" charset="0"/>
              </a:rPr>
              <a:t>Text Messages Exchange </a:t>
            </a:r>
            <a:r>
              <a:rPr lang="en-US" b="1" cap="none" dirty="0">
                <a:solidFill>
                  <a:srgbClr val="00B0F0"/>
                </a:solidFill>
                <a:latin typeface="Apple Braille Pinpoint 8 Dot" pitchFamily="2" charset="0"/>
                <a:ea typeface="Microsoft Himalaya" pitchFamily="2" charset="0"/>
                <a:cs typeface="Times New Roman" panose="02020603050405020304" pitchFamily="18" charset="0"/>
              </a:rPr>
              <a:t>Excerpt</a:t>
            </a:r>
          </a:p>
        </p:txBody>
      </p:sp>
      <p:sp>
        <p:nvSpPr>
          <p:cNvPr id="35" name="Content Placeholder 2">
            <a:extLst>
              <a:ext uri="{FF2B5EF4-FFF2-40B4-BE49-F238E27FC236}">
                <a16:creationId xmlns:a16="http://schemas.microsoft.com/office/drawing/2014/main" id="{983F046B-7BC7-C847-A5CA-A1E82D518993}"/>
              </a:ext>
            </a:extLst>
          </p:cNvPr>
          <p:cNvSpPr>
            <a:spLocks noGrp="1"/>
          </p:cNvSpPr>
          <p:nvPr>
            <p:ph idx="1"/>
          </p:nvPr>
        </p:nvSpPr>
        <p:spPr>
          <a:xfrm>
            <a:off x="1239982" y="2417684"/>
            <a:ext cx="10525428" cy="3683580"/>
          </a:xfrm>
          <a:solidFill>
            <a:schemeClr val="bg1">
              <a:lumMod val="95000"/>
            </a:schemeClr>
          </a:solidFill>
          <a:ln>
            <a:solidFill>
              <a:schemeClr val="tx1"/>
            </a:solidFill>
          </a:ln>
        </p:spPr>
        <p:txBody>
          <a:bodyPr>
            <a:noAutofit/>
          </a:bodyPr>
          <a:lstStyle/>
          <a:p>
            <a:pPr marL="0" indent="0">
              <a:spcBef>
                <a:spcPts val="150"/>
              </a:spcBef>
              <a:buNone/>
            </a:pPr>
            <a:r>
              <a:rPr lang="en-US" sz="2000" b="1" dirty="0">
                <a:solidFill>
                  <a:schemeClr val="bg2">
                    <a:lumMod val="25000"/>
                  </a:schemeClr>
                </a:solidFill>
                <a:latin typeface="Times New Roman" panose="02020603050405020304" pitchFamily="18" charset="0"/>
                <a:cs typeface="Times New Roman" panose="02020603050405020304" pitchFamily="18" charset="0"/>
              </a:rPr>
              <a:t>---------------------------------Phase: Goal Identification-----------------------------------------</a:t>
            </a:r>
          </a:p>
          <a:p>
            <a:pPr marL="0" indent="0">
              <a:spcBef>
                <a:spcPts val="150"/>
              </a:spcBef>
              <a:buNone/>
            </a:pPr>
            <a:r>
              <a:rPr lang="en-US" sz="2000" b="1" dirty="0">
                <a:solidFill>
                  <a:schemeClr val="tx1"/>
                </a:solidFill>
                <a:latin typeface="Times New Roman" panose="02020603050405020304" pitchFamily="18" charset="0"/>
                <a:cs typeface="Times New Roman" panose="02020603050405020304" pitchFamily="18" charset="0"/>
              </a:rPr>
              <a:t>Coach: </a:t>
            </a:r>
            <a:r>
              <a:rPr lang="en-US" sz="2000" dirty="0">
                <a:latin typeface="Times New Roman" panose="02020603050405020304" pitchFamily="18" charset="0"/>
                <a:cs typeface="Times New Roman" panose="02020603050405020304" pitchFamily="18" charset="0"/>
              </a:rPr>
              <a:t>Think about this week, let’s call it week 1 of 4.</a:t>
            </a:r>
            <a:r>
              <a:rPr lang="en-US" sz="2000" b="1" dirty="0">
                <a:solidFill>
                  <a:srgbClr val="0432FF"/>
                </a:solidFill>
                <a:latin typeface="Times New Roman" panose="02020603050405020304" pitchFamily="18" charset="0"/>
                <a:cs typeface="Times New Roman" panose="02020603050405020304" pitchFamily="18" charset="0"/>
              </a:rPr>
              <a:t> </a:t>
            </a:r>
            <a:r>
              <a:rPr lang="en-US" sz="2000" dirty="0">
                <a:solidFill>
                  <a:srgbClr val="00B05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Now what goal could you make that would allow you to do more </a:t>
            </a:r>
            <a:r>
              <a:rPr lang="en-US" sz="2000" i="1" u="sng" dirty="0">
                <a:solidFill>
                  <a:schemeClr val="tx1"/>
                </a:solidFill>
                <a:latin typeface="Times New Roman" panose="02020603050405020304" pitchFamily="18" charset="0"/>
                <a:cs typeface="Times New Roman" panose="02020603050405020304" pitchFamily="18" charset="0"/>
              </a:rPr>
              <a:t>walking</a:t>
            </a:r>
            <a:r>
              <a:rPr lang="en-US" sz="2000" dirty="0">
                <a:latin typeface="Times New Roman" panose="02020603050405020304" pitchFamily="18" charset="0"/>
                <a:cs typeface="Times New Roman" panose="02020603050405020304" pitchFamily="18" charset="0"/>
              </a:rPr>
              <a:t> </a:t>
            </a:r>
            <a:r>
              <a:rPr lang="en-US" sz="2000" dirty="0">
                <a:solidFill>
                  <a:srgbClr val="0432FF"/>
                </a:solidFill>
                <a:latin typeface="Times New Roman" panose="02020603050405020304" pitchFamily="18" charset="0"/>
                <a:cs typeface="Times New Roman" panose="02020603050405020304" pitchFamily="18" charset="0"/>
              </a:rPr>
              <a:t>(activity)? </a:t>
            </a:r>
            <a:endParaRPr lang="en-US" sz="2000" dirty="0">
              <a:solidFill>
                <a:srgbClr val="00B050"/>
              </a:solidFill>
              <a:latin typeface="Times New Roman" panose="02020603050405020304" pitchFamily="18" charset="0"/>
              <a:cs typeface="Times New Roman" panose="02020603050405020304" pitchFamily="18" charset="0"/>
            </a:endParaRPr>
          </a:p>
          <a:p>
            <a:pPr marL="0" indent="0">
              <a:spcBef>
                <a:spcPts val="150"/>
              </a:spcBef>
              <a:buNone/>
            </a:pPr>
            <a:r>
              <a:rPr lang="en-US" sz="2000" b="1" dirty="0">
                <a:solidFill>
                  <a:schemeClr val="tx1"/>
                </a:solidFill>
                <a:latin typeface="Times New Roman" panose="02020603050405020304" pitchFamily="18" charset="0"/>
                <a:cs typeface="Times New Roman" panose="02020603050405020304" pitchFamily="18" charset="0"/>
              </a:rPr>
              <a:t>Patient: </a:t>
            </a:r>
            <a:r>
              <a:rPr lang="en-US" sz="2000" dirty="0">
                <a:latin typeface="Times New Roman" panose="02020603050405020304" pitchFamily="18" charset="0"/>
                <a:cs typeface="Times New Roman" panose="02020603050405020304" pitchFamily="18" charset="0"/>
              </a:rPr>
              <a:t>I can take the </a:t>
            </a:r>
            <a:r>
              <a:rPr lang="en-US" sz="2000" i="1" u="sng" dirty="0">
                <a:solidFill>
                  <a:schemeClr val="tx1"/>
                </a:solidFill>
                <a:latin typeface="Times New Roman" panose="02020603050405020304" pitchFamily="18" charset="0"/>
                <a:cs typeface="Times New Roman" panose="02020603050405020304" pitchFamily="18" charset="0"/>
              </a:rPr>
              <a:t>stairs</a:t>
            </a:r>
            <a:r>
              <a:rPr lang="en-US" sz="2000" dirty="0">
                <a:latin typeface="Times New Roman" panose="02020603050405020304" pitchFamily="18" charset="0"/>
                <a:cs typeface="Times New Roman" panose="02020603050405020304" pitchFamily="18" charset="0"/>
              </a:rPr>
              <a:t> </a:t>
            </a:r>
            <a:r>
              <a:rPr lang="en-US" sz="2000" dirty="0">
                <a:solidFill>
                  <a:srgbClr val="0432FF"/>
                </a:solidFill>
                <a:latin typeface="Times New Roman" panose="02020603050405020304" pitchFamily="18" charset="0"/>
                <a:cs typeface="Times New Roman" panose="02020603050405020304" pitchFamily="18" charset="0"/>
              </a:rPr>
              <a:t>(activity) </a:t>
            </a:r>
            <a:r>
              <a:rPr lang="en-US" sz="2000" i="1" u="sng" dirty="0">
                <a:solidFill>
                  <a:schemeClr val="tx1"/>
                </a:solidFill>
                <a:latin typeface="Times New Roman" panose="02020603050405020304" pitchFamily="18" charset="0"/>
                <a:cs typeface="Times New Roman" panose="02020603050405020304" pitchFamily="18" charset="0"/>
              </a:rPr>
              <a:t>at work </a:t>
            </a:r>
            <a:r>
              <a:rPr lang="en-US" sz="2000" dirty="0">
                <a:solidFill>
                  <a:srgbClr val="0432FF"/>
                </a:solidFill>
                <a:latin typeface="Times New Roman" panose="02020603050405020304" pitchFamily="18" charset="0"/>
                <a:cs typeface="Times New Roman" panose="02020603050405020304" pitchFamily="18" charset="0"/>
              </a:rPr>
              <a:t>(location) </a:t>
            </a:r>
            <a:r>
              <a:rPr lang="en-US" sz="2000" dirty="0">
                <a:latin typeface="Times New Roman" panose="02020603050405020304" pitchFamily="18" charset="0"/>
                <a:cs typeface="Times New Roman" panose="02020603050405020304" pitchFamily="18" charset="0"/>
              </a:rPr>
              <a:t>for the work week.</a:t>
            </a:r>
            <a:endParaRPr lang="en-US" sz="2000" dirty="0">
              <a:solidFill>
                <a:srgbClr val="00B050"/>
              </a:solidFill>
              <a:latin typeface="Times New Roman" panose="02020603050405020304" pitchFamily="18" charset="0"/>
              <a:cs typeface="Times New Roman" panose="02020603050405020304" pitchFamily="18" charset="0"/>
            </a:endParaRPr>
          </a:p>
          <a:p>
            <a:pPr marL="0" indent="0">
              <a:spcBef>
                <a:spcPts val="150"/>
              </a:spcBef>
              <a:buNone/>
            </a:pPr>
            <a:r>
              <a:rPr lang="en-US" sz="2000" b="1" dirty="0">
                <a:solidFill>
                  <a:schemeClr val="bg2">
                    <a:lumMod val="25000"/>
                  </a:schemeClr>
                </a:solidFill>
                <a:latin typeface="Times New Roman" panose="02020603050405020304" pitchFamily="18" charset="0"/>
                <a:cs typeface="Times New Roman" panose="02020603050405020304" pitchFamily="18" charset="0"/>
              </a:rPr>
              <a:t>------------------------------------Phase: Goal Refining--------------------------------------------</a:t>
            </a:r>
          </a:p>
          <a:p>
            <a:pPr marL="0" indent="0">
              <a:spcBef>
                <a:spcPts val="150"/>
              </a:spcBef>
              <a:buNone/>
            </a:pPr>
            <a:r>
              <a:rPr lang="en-US" sz="2000" b="1" dirty="0">
                <a:latin typeface="Times New Roman" panose="02020603050405020304" pitchFamily="18" charset="0"/>
                <a:cs typeface="Times New Roman" panose="02020603050405020304" pitchFamily="18" charset="0"/>
              </a:rPr>
              <a:t>Coach: </a:t>
            </a:r>
            <a:r>
              <a:rPr lang="en-US" sz="2000" dirty="0">
                <a:latin typeface="Times New Roman" panose="02020603050405020304" pitchFamily="18" charset="0"/>
                <a:cs typeface="Times New Roman" panose="02020603050405020304" pitchFamily="18" charset="0"/>
              </a:rPr>
              <a:t>Sounds good.</a:t>
            </a:r>
            <a:r>
              <a:rPr lang="en-US" sz="2000" dirty="0">
                <a:solidFill>
                  <a:srgbClr val="00B05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So will this be for </a:t>
            </a:r>
            <a:r>
              <a:rPr lang="en-US" sz="2000" i="1" u="sng" dirty="0">
                <a:solidFill>
                  <a:schemeClr val="tx1"/>
                </a:solidFill>
                <a:latin typeface="Times New Roman" panose="02020603050405020304" pitchFamily="18" charset="0"/>
                <a:cs typeface="Times New Roman" panose="02020603050405020304" pitchFamily="18" charset="0"/>
              </a:rPr>
              <a:t>coming, going and at lunch time</a:t>
            </a:r>
            <a:r>
              <a:rPr lang="en-US" sz="2000" i="1" dirty="0">
                <a:solidFill>
                  <a:srgbClr val="FF0000"/>
                </a:solidFill>
                <a:latin typeface="Times New Roman" panose="02020603050405020304" pitchFamily="18" charset="0"/>
                <a:cs typeface="Times New Roman" panose="02020603050405020304" pitchFamily="18" charset="0"/>
              </a:rPr>
              <a:t> </a:t>
            </a:r>
            <a:r>
              <a:rPr lang="en-US" sz="2000" dirty="0">
                <a:solidFill>
                  <a:srgbClr val="0432FF"/>
                </a:solidFill>
                <a:latin typeface="Times New Roman" panose="02020603050405020304" pitchFamily="18" charset="0"/>
                <a:cs typeface="Times New Roman" panose="02020603050405020304" pitchFamily="18" charset="0"/>
              </a:rPr>
              <a:t>(time)?</a:t>
            </a:r>
            <a:r>
              <a:rPr lang="en-US" sz="2000" b="1" dirty="0">
                <a:solidFill>
                  <a:srgbClr val="0432FF"/>
                </a:solidFill>
                <a:latin typeface="Times New Roman" panose="02020603050405020304" pitchFamily="18" charset="0"/>
                <a:cs typeface="Times New Roman" panose="02020603050405020304" pitchFamily="18" charset="0"/>
              </a:rPr>
              <a:t> </a:t>
            </a:r>
            <a:endParaRPr lang="en-US" sz="2000" b="1" dirty="0">
              <a:solidFill>
                <a:srgbClr val="00B050"/>
              </a:solidFill>
              <a:latin typeface="Times New Roman" panose="02020603050405020304" pitchFamily="18" charset="0"/>
              <a:cs typeface="Times New Roman" panose="02020603050405020304" pitchFamily="18" charset="0"/>
            </a:endParaRPr>
          </a:p>
          <a:p>
            <a:pPr marL="0" indent="0">
              <a:spcBef>
                <a:spcPts val="150"/>
              </a:spcBef>
              <a:buNone/>
            </a:pPr>
            <a:r>
              <a:rPr lang="en-US" sz="2000" b="1" dirty="0">
                <a:latin typeface="Times New Roman" panose="02020603050405020304" pitchFamily="18" charset="0"/>
                <a:cs typeface="Times New Roman" panose="02020603050405020304" pitchFamily="18" charset="0"/>
              </a:rPr>
              <a:t>Patient: </a:t>
            </a:r>
            <a:r>
              <a:rPr lang="en-US" sz="2000" dirty="0">
                <a:latin typeface="Times New Roman" panose="02020603050405020304" pitchFamily="18" charset="0"/>
                <a:cs typeface="Times New Roman" panose="02020603050405020304" pitchFamily="18" charset="0"/>
              </a:rPr>
              <a:t>I will do at least </a:t>
            </a:r>
            <a:r>
              <a:rPr lang="en-US" sz="2000" i="1" u="sng" dirty="0">
                <a:solidFill>
                  <a:schemeClr val="tx1"/>
                </a:solidFill>
                <a:latin typeface="Times New Roman" panose="02020603050405020304" pitchFamily="18" charset="0"/>
                <a:cs typeface="Times New Roman" panose="02020603050405020304" pitchFamily="18" charset="0"/>
              </a:rPr>
              <a:t>twice</a:t>
            </a:r>
            <a:r>
              <a:rPr lang="en-US" sz="2000" dirty="0">
                <a:latin typeface="Times New Roman" panose="02020603050405020304" pitchFamily="18" charset="0"/>
                <a:cs typeface="Times New Roman" panose="02020603050405020304" pitchFamily="18" charset="0"/>
              </a:rPr>
              <a:t> </a:t>
            </a:r>
            <a:r>
              <a:rPr lang="en-US" sz="2000" dirty="0">
                <a:solidFill>
                  <a:srgbClr val="0432FF"/>
                </a:solidFill>
                <a:latin typeface="Times New Roman" panose="02020603050405020304" pitchFamily="18" charset="0"/>
                <a:cs typeface="Times New Roman" panose="02020603050405020304" pitchFamily="18" charset="0"/>
              </a:rPr>
              <a:t>(repetition)</a:t>
            </a:r>
            <a:r>
              <a:rPr lang="en-US" sz="2000" dirty="0">
                <a:latin typeface="Times New Roman" panose="02020603050405020304" pitchFamily="18" charset="0"/>
                <a:cs typeface="Times New Roman" panose="02020603050405020304" pitchFamily="18" charset="0"/>
              </a:rPr>
              <a:t> during </a:t>
            </a:r>
            <a:r>
              <a:rPr lang="en-US" sz="2000" i="1" u="sng" dirty="0">
                <a:solidFill>
                  <a:schemeClr val="tx1"/>
                </a:solidFill>
                <a:latin typeface="Times New Roman" panose="02020603050405020304" pitchFamily="18" charset="0"/>
                <a:cs typeface="Times New Roman" panose="02020603050405020304" pitchFamily="18" charset="0"/>
              </a:rPr>
              <a:t>workdays</a:t>
            </a:r>
            <a:r>
              <a:rPr lang="en-US" sz="2000" i="1" dirty="0">
                <a:solidFill>
                  <a:srgbClr val="0432FF"/>
                </a:solidFill>
                <a:latin typeface="Times New Roman" panose="02020603050405020304" pitchFamily="18" charset="0"/>
                <a:cs typeface="Times New Roman" panose="02020603050405020304" pitchFamily="18" charset="0"/>
              </a:rPr>
              <a:t> </a:t>
            </a:r>
            <a:r>
              <a:rPr lang="en-US" sz="2000" dirty="0">
                <a:solidFill>
                  <a:srgbClr val="0432FF"/>
                </a:solidFill>
                <a:latin typeface="Times New Roman" panose="02020603050405020304" pitchFamily="18" charset="0"/>
                <a:cs typeface="Times New Roman" panose="02020603050405020304" pitchFamily="18" charset="0"/>
              </a:rPr>
              <a:t>(days)</a:t>
            </a:r>
            <a:r>
              <a:rPr lang="en-US" sz="2000" dirty="0">
                <a:latin typeface="Times New Roman" panose="02020603050405020304" pitchFamily="18" charset="0"/>
                <a:cs typeface="Times New Roman" panose="02020603050405020304" pitchFamily="18" charset="0"/>
              </a:rPr>
              <a:t>. </a:t>
            </a:r>
            <a:endParaRPr lang="en-US" sz="2000" dirty="0">
              <a:solidFill>
                <a:srgbClr val="00B050"/>
              </a:solidFill>
              <a:latin typeface="Times New Roman" panose="02020603050405020304" pitchFamily="18" charset="0"/>
              <a:cs typeface="Times New Roman" panose="02020603050405020304" pitchFamily="18" charset="0"/>
            </a:endParaRPr>
          </a:p>
          <a:p>
            <a:pPr marL="0" indent="0">
              <a:spcBef>
                <a:spcPts val="150"/>
              </a:spcBef>
              <a:buNone/>
            </a:pPr>
            <a:r>
              <a:rPr lang="en-US" sz="2000" b="1" dirty="0">
                <a:solidFill>
                  <a:schemeClr val="bg2">
                    <a:lumMod val="25000"/>
                  </a:schemeClr>
                </a:solidFill>
                <a:latin typeface="Times New Roman" panose="02020603050405020304" pitchFamily="18" charset="0"/>
                <a:cs typeface="Times New Roman" panose="02020603050405020304" pitchFamily="18" charset="0"/>
              </a:rPr>
              <a:t>------------------------------------Phase: Anticipate Barrier---------------------------------------</a:t>
            </a:r>
            <a:endParaRPr lang="en-US" sz="2000" dirty="0">
              <a:solidFill>
                <a:schemeClr val="bg2">
                  <a:lumMod val="25000"/>
                </a:schemeClr>
              </a:solidFill>
              <a:latin typeface="Times New Roman" panose="02020603050405020304" pitchFamily="18" charset="0"/>
              <a:cs typeface="Times New Roman" panose="02020603050405020304" pitchFamily="18" charset="0"/>
            </a:endParaRPr>
          </a:p>
          <a:p>
            <a:pPr marL="0" indent="0">
              <a:spcBef>
                <a:spcPts val="150"/>
              </a:spcBef>
              <a:buNone/>
            </a:pPr>
            <a:r>
              <a:rPr lang="en-US" sz="2000" b="1" dirty="0">
                <a:latin typeface="Times New Roman" panose="02020603050405020304" pitchFamily="18" charset="0"/>
                <a:cs typeface="Times New Roman" panose="02020603050405020304" pitchFamily="18" charset="0"/>
              </a:rPr>
              <a:t>Coach: </a:t>
            </a:r>
            <a:r>
              <a:rPr lang="en-US" sz="2000" dirty="0">
                <a:latin typeface="Times New Roman" panose="02020603050405020304" pitchFamily="18" charset="0"/>
                <a:cs typeface="Times New Roman" panose="02020603050405020304" pitchFamily="18" charset="0"/>
              </a:rPr>
              <a:t>On a scale of 1-10 with 10 being very sure and 1 not at all sure. </a:t>
            </a:r>
            <a:r>
              <a:rPr lang="en-US" sz="2000" dirty="0">
                <a:solidFill>
                  <a:srgbClr val="00B05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How sure are you that you will accomplish your goal? </a:t>
            </a:r>
            <a:endParaRPr lang="en-US" sz="2000" dirty="0">
              <a:solidFill>
                <a:srgbClr val="00B050"/>
              </a:solidFill>
              <a:latin typeface="Times New Roman" panose="02020603050405020304" pitchFamily="18" charset="0"/>
              <a:cs typeface="Times New Roman" panose="02020603050405020304" pitchFamily="18" charset="0"/>
            </a:endParaRPr>
          </a:p>
          <a:p>
            <a:pPr marL="0" indent="0">
              <a:spcBef>
                <a:spcPts val="150"/>
              </a:spcBef>
              <a:buNone/>
            </a:pPr>
            <a:r>
              <a:rPr lang="en-US" sz="2000" b="1" dirty="0">
                <a:latin typeface="Times New Roman" panose="02020603050405020304" pitchFamily="18" charset="0"/>
                <a:cs typeface="Times New Roman" panose="02020603050405020304" pitchFamily="18" charset="0"/>
              </a:rPr>
              <a:t>Patient: </a:t>
            </a:r>
            <a:r>
              <a:rPr lang="en-US" sz="2000" u="sng" dirty="0">
                <a:solidFill>
                  <a:schemeClr val="tx1"/>
                </a:solidFill>
                <a:latin typeface="Times New Roman" panose="02020603050405020304" pitchFamily="18" charset="0"/>
                <a:cs typeface="Times New Roman" panose="02020603050405020304" pitchFamily="18" charset="0"/>
              </a:rPr>
              <a:t>9</a:t>
            </a:r>
            <a:r>
              <a:rPr lang="en-US" sz="2000" dirty="0">
                <a:solidFill>
                  <a:srgbClr val="A81667"/>
                </a:solidFill>
                <a:latin typeface="Times New Roman" panose="02020603050405020304" pitchFamily="18" charset="0"/>
                <a:cs typeface="Times New Roman" panose="02020603050405020304" pitchFamily="18" charset="0"/>
              </a:rPr>
              <a:t> </a:t>
            </a:r>
            <a:r>
              <a:rPr lang="en-US" sz="2000" dirty="0">
                <a:solidFill>
                  <a:srgbClr val="0432FF"/>
                </a:solidFill>
                <a:latin typeface="Times New Roman" panose="02020603050405020304" pitchFamily="18" charset="0"/>
                <a:cs typeface="Times New Roman" panose="02020603050405020304" pitchFamily="18" charset="0"/>
              </a:rPr>
              <a:t>(score) </a:t>
            </a:r>
            <a:endParaRPr lang="en-US" sz="2000" dirty="0">
              <a:latin typeface="Times New Roman" panose="02020603050405020304" pitchFamily="18" charset="0"/>
              <a:cs typeface="Times New Roman" panose="02020603050405020304" pitchFamily="18" charset="0"/>
            </a:endParaRPr>
          </a:p>
          <a:p>
            <a:pPr marL="0" indent="0">
              <a:spcBef>
                <a:spcPts val="150"/>
              </a:spcBef>
              <a:buNone/>
            </a:pPr>
            <a:r>
              <a:rPr lang="en-US" sz="2000" dirty="0">
                <a:latin typeface="Times New Roman" panose="02020603050405020304" pitchFamily="18" charset="0"/>
                <a:cs typeface="Times New Roman" panose="02020603050405020304" pitchFamily="18" charset="0"/>
              </a:rPr>
              <a:t> </a:t>
            </a:r>
          </a:p>
        </p:txBody>
      </p:sp>
      <p:sp>
        <p:nvSpPr>
          <p:cNvPr id="7" name="Slide Number Placeholder 7">
            <a:extLst>
              <a:ext uri="{FF2B5EF4-FFF2-40B4-BE49-F238E27FC236}">
                <a16:creationId xmlns:a16="http://schemas.microsoft.com/office/drawing/2014/main" id="{94035907-5BC9-5748-A281-8FF9AC2D0CE0}"/>
              </a:ext>
            </a:extLst>
          </p:cNvPr>
          <p:cNvSpPr>
            <a:spLocks noGrp="1"/>
          </p:cNvSpPr>
          <p:nvPr>
            <p:ph type="sldNum" sz="quarter" idx="12"/>
          </p:nvPr>
        </p:nvSpPr>
        <p:spPr>
          <a:xfrm>
            <a:off x="11350171" y="6487573"/>
            <a:ext cx="415239" cy="274322"/>
          </a:xfrm>
          <a:noFill/>
          <a:ln>
            <a:noFill/>
          </a:ln>
        </p:spPr>
        <p:txBody>
          <a:bodyPr/>
          <a:lstStyle/>
          <a:p>
            <a:pPr defTabSz="685800">
              <a:defRPr/>
            </a:pPr>
            <a:fld id="{B5D03F8D-5B5A-3244-BDAD-D56FA08ACDB5}" type="slidenum">
              <a:rPr lang="en-US">
                <a:solidFill>
                  <a:prstClr val="white"/>
                </a:solidFill>
                <a:latin typeface="Gill Sans MT" panose="020B0502020104020203"/>
              </a:rPr>
              <a:pPr defTabSz="685800">
                <a:defRPr/>
              </a:pPr>
              <a:t>16</a:t>
            </a:fld>
            <a:endParaRPr lang="en-US" dirty="0">
              <a:solidFill>
                <a:prstClr val="white"/>
              </a:solidFill>
              <a:latin typeface="Gill Sans MT" panose="020B0502020104020203"/>
            </a:endParaRPr>
          </a:p>
        </p:txBody>
      </p:sp>
      <p:sp>
        <p:nvSpPr>
          <p:cNvPr id="41" name="TextBox 40">
            <a:extLst>
              <a:ext uri="{FF2B5EF4-FFF2-40B4-BE49-F238E27FC236}">
                <a16:creationId xmlns:a16="http://schemas.microsoft.com/office/drawing/2014/main" id="{40E25C58-798C-6247-BBAA-AF456262F594}"/>
              </a:ext>
            </a:extLst>
          </p:cNvPr>
          <p:cNvSpPr txBox="1"/>
          <p:nvPr/>
        </p:nvSpPr>
        <p:spPr>
          <a:xfrm>
            <a:off x="3282749" y="956801"/>
            <a:ext cx="184731" cy="300082"/>
          </a:xfrm>
          <a:prstGeom prst="rect">
            <a:avLst/>
          </a:prstGeom>
          <a:noFill/>
        </p:spPr>
        <p:txBody>
          <a:bodyPr wrap="none" rtlCol="0">
            <a:spAutoFit/>
          </a:bodyPr>
          <a:lstStyle/>
          <a:p>
            <a:pPr defTabSz="457200"/>
            <a:endParaRPr lang="en-US" sz="1350" dirty="0">
              <a:solidFill>
                <a:prstClr val="black"/>
              </a:solidFill>
              <a:latin typeface="Gill Sans MT" panose="020B0502020104020203"/>
            </a:endParaRPr>
          </a:p>
        </p:txBody>
      </p:sp>
      <p:sp>
        <p:nvSpPr>
          <p:cNvPr id="5" name="Rectangle 4">
            <a:extLst>
              <a:ext uri="{FF2B5EF4-FFF2-40B4-BE49-F238E27FC236}">
                <a16:creationId xmlns:a16="http://schemas.microsoft.com/office/drawing/2014/main" id="{1EFF5C5B-F6D0-9146-9FE6-3D61CA12C19A}"/>
              </a:ext>
            </a:extLst>
          </p:cNvPr>
          <p:cNvSpPr/>
          <p:nvPr/>
        </p:nvSpPr>
        <p:spPr>
          <a:xfrm>
            <a:off x="1239982" y="1721402"/>
            <a:ext cx="6013003" cy="733534"/>
          </a:xfrm>
          <a:prstGeom prst="rect">
            <a:avLst/>
          </a:prstGeom>
        </p:spPr>
        <p:txBody>
          <a:bodyPr wrap="square">
            <a:spAutoFit/>
          </a:bodyPr>
          <a:lstStyle/>
          <a:p>
            <a:pPr defTabSz="457200">
              <a:spcBef>
                <a:spcPts val="150"/>
              </a:spcBef>
            </a:pPr>
            <a:r>
              <a:rPr lang="en-US" sz="2000" b="1" dirty="0">
                <a:solidFill>
                  <a:srgbClr val="C00000"/>
                </a:solidFill>
                <a:latin typeface="Times New Roman" panose="02020603050405020304" pitchFamily="18" charset="0"/>
                <a:cs typeface="Times New Roman" panose="02020603050405020304" pitchFamily="18" charset="0"/>
              </a:rPr>
              <a:t>Stage: Goal Setting </a:t>
            </a:r>
          </a:p>
          <a:p>
            <a:pPr defTabSz="457200">
              <a:spcBef>
                <a:spcPts val="150"/>
              </a:spcBef>
            </a:pPr>
            <a:r>
              <a:rPr lang="en-US" sz="2000" b="1" dirty="0">
                <a:solidFill>
                  <a:srgbClr val="C00000"/>
                </a:solidFill>
                <a:latin typeface="Times New Roman" panose="02020603050405020304" pitchFamily="18" charset="0"/>
                <a:cs typeface="Times New Roman" panose="02020603050405020304" pitchFamily="18" charset="0"/>
              </a:rPr>
              <a:t>SMART Attributes:  </a:t>
            </a:r>
            <a:r>
              <a:rPr lang="en-US" sz="2000" b="1" dirty="0">
                <a:solidFill>
                  <a:srgbClr val="0432FF"/>
                </a:solidFill>
                <a:latin typeface="Times New Roman" panose="02020603050405020304" pitchFamily="18" charset="0"/>
                <a:cs typeface="Times New Roman" panose="02020603050405020304" pitchFamily="18" charset="0"/>
              </a:rPr>
              <a:t>blue</a:t>
            </a:r>
          </a:p>
        </p:txBody>
      </p:sp>
      <p:pic>
        <p:nvPicPr>
          <p:cNvPr id="4" name="Picture 3" descr="A red circle with black text&#10;&#10;Description automatically generated">
            <a:extLst>
              <a:ext uri="{FF2B5EF4-FFF2-40B4-BE49-F238E27FC236}">
                <a16:creationId xmlns:a16="http://schemas.microsoft.com/office/drawing/2014/main" id="{B23FE356-3FB0-9B4E-9548-251E3D06C36B}"/>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2297854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280" y="372099"/>
            <a:ext cx="10683435" cy="1144524"/>
          </a:xfrm>
          <a:solidFill>
            <a:schemeClr val="bg1"/>
          </a:solidFill>
          <a:ln>
            <a:noFill/>
          </a:ln>
        </p:spPr>
        <p:txBody>
          <a:bodyPr>
            <a:normAutofit/>
          </a:bodyPr>
          <a:lstStyle/>
          <a:p>
            <a:pPr algn="ctr"/>
            <a:r>
              <a:rPr lang="en-US" sz="4200" b="1" dirty="0">
                <a:solidFill>
                  <a:srgbClr val="00B0F0"/>
                </a:solidFill>
                <a:latin typeface="Apple Braille Pinpoint 8 Dot" pitchFamily="2" charset="0"/>
                <a:ea typeface="Microsoft Himalaya" pitchFamily="2" charset="0"/>
                <a:cs typeface="Times New Roman" panose="02020603050405020304" pitchFamily="18" charset="0"/>
              </a:rPr>
              <a:t>Three-Tier Dialogue Annotations</a:t>
            </a:r>
            <a:endParaRPr lang="en-US" sz="2700" b="1" dirty="0">
              <a:solidFill>
                <a:srgbClr val="00B0F0"/>
              </a:solidFill>
              <a:latin typeface="Apple Braille Pinpoint 8 Dot" pitchFamily="2" charset="0"/>
              <a:ea typeface="Microsoft Himalaya" pitchFamily="2"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4" name="Content Placeholder 2">
                <a:extLst>
                  <a:ext uri="{FF2B5EF4-FFF2-40B4-BE49-F238E27FC236}">
                    <a16:creationId xmlns:a16="http://schemas.microsoft.com/office/drawing/2014/main" id="{DD03D1D8-0F10-8646-9C06-478D20C9B3DB}"/>
                  </a:ext>
                </a:extLst>
              </p:cNvPr>
              <p:cNvSpPr>
                <a:spLocks noGrp="1"/>
              </p:cNvSpPr>
              <p:nvPr>
                <p:ph idx="1"/>
              </p:nvPr>
            </p:nvSpPr>
            <p:spPr>
              <a:xfrm>
                <a:off x="754280" y="1799505"/>
                <a:ext cx="9946751" cy="4123861"/>
              </a:xfrm>
            </p:spPr>
            <p:txBody>
              <a:bodyPr>
                <a:noAutofit/>
              </a:bodyPr>
              <a:lstStyle/>
              <a:p>
                <a:pPr>
                  <a:buFont typeface="Wingdings" pitchFamily="2" charset="2"/>
                  <a:buChar char="v"/>
                </a:pPr>
                <a:r>
                  <a:rPr lang="en-US" sz="2400" dirty="0">
                    <a:cs typeface="Times New Roman" panose="02020603050405020304" pitchFamily="18" charset="0"/>
                  </a:rPr>
                  <a:t>Stages and Phases (</a:t>
                </a:r>
                <a14:m>
                  <m:oMath xmlns:m="http://schemas.openxmlformats.org/officeDocument/2006/math">
                    <m:r>
                      <a:rPr lang="en-US" sz="2400" i="1">
                        <a:latin typeface="Cambria Math" panose="02040503050406030204" pitchFamily="18" charset="0"/>
                        <a:ea typeface="Cambria Math" panose="02040503050406030204" pitchFamily="18" charset="0"/>
                        <a:cs typeface="Times New Roman" panose="02020603050405020304" pitchFamily="18" charset="0"/>
                      </a:rPr>
                      <m:t>𝜅</m:t>
                    </m:r>
                    <m:r>
                      <a:rPr lang="en-US" sz="2400" i="1">
                        <a:latin typeface="Cambria Math" panose="02040503050406030204" pitchFamily="18" charset="0"/>
                        <a:ea typeface="Cambria Math" panose="02040503050406030204" pitchFamily="18" charset="0"/>
                        <a:cs typeface="Times New Roman" panose="02020603050405020304" pitchFamily="18" charset="0"/>
                      </a:rPr>
                      <m:t>=0.93)</m:t>
                    </m:r>
                  </m:oMath>
                </a14:m>
                <a:endParaRPr lang="en-US" sz="2400" dirty="0">
                  <a:cs typeface="Times New Roman" panose="02020603050405020304" pitchFamily="18" charset="0"/>
                </a:endParaRPr>
              </a:p>
              <a:p>
                <a:pPr lvl="1">
                  <a:buFont typeface="System Font Regular"/>
                  <a:buChar char="-"/>
                </a:pPr>
                <a:r>
                  <a:rPr lang="en-US" sz="2400" dirty="0">
                    <a:cs typeface="Times New Roman" panose="02020603050405020304" pitchFamily="18" charset="0"/>
                  </a:rPr>
                  <a:t>higher-level portions that capture different tasks and sub-tasks</a:t>
                </a:r>
                <a:br>
                  <a:rPr lang="en-US" sz="2400" dirty="0">
                    <a:cs typeface="Times New Roman" panose="02020603050405020304" pitchFamily="18" charset="0"/>
                  </a:rPr>
                </a:br>
                <a:endParaRPr lang="en-US" sz="2400" dirty="0">
                  <a:cs typeface="Times New Roman" panose="02020603050405020304" pitchFamily="18" charset="0"/>
                </a:endParaRPr>
              </a:p>
              <a:p>
                <a:pPr>
                  <a:buFont typeface="Wingdings" pitchFamily="2" charset="2"/>
                  <a:buChar char="v"/>
                </a:pPr>
                <a:r>
                  <a:rPr lang="en-US" sz="2400" dirty="0">
                    <a:cs typeface="Times New Roman" panose="02020603050405020304" pitchFamily="18" charset="0"/>
                  </a:rPr>
                  <a:t>Dialogue Acts </a:t>
                </a:r>
              </a:p>
              <a:p>
                <a:pPr lvl="1">
                  <a:buFont typeface="System Font Regular"/>
                  <a:buChar char="-"/>
                </a:pPr>
                <a:r>
                  <a:rPr lang="en-US" sz="2400" dirty="0">
                    <a:cs typeface="Times New Roman" panose="02020603050405020304" pitchFamily="18" charset="0"/>
                  </a:rPr>
                  <a:t>utterance level information to understand intent behind sender's message in context</a:t>
                </a:r>
              </a:p>
              <a:p>
                <a:pPr lvl="1">
                  <a:buFont typeface="System Font Regular"/>
                  <a:buChar char="-"/>
                </a:pPr>
                <a:r>
                  <a:rPr lang="en-US" sz="2400" dirty="0">
                    <a:cs typeface="Times New Roman" panose="02020603050405020304" pitchFamily="18" charset="0"/>
                  </a:rPr>
                  <a:t>subset of iso 24617-2 standard  DAs </a:t>
                </a:r>
                <a:r>
                  <a:rPr lang="en-US" sz="2000" dirty="0">
                    <a:cs typeface="Times New Roman" panose="02020603050405020304" pitchFamily="18" charset="0"/>
                  </a:rPr>
                  <a:t>[Bunt et al 2017] (validated, hence no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𝜅</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sz="2000" dirty="0">
                  <a:cs typeface="Times New Roman" panose="02020603050405020304" pitchFamily="18" charset="0"/>
                </a:endParaRPr>
              </a:p>
              <a:p>
                <a:pPr marL="150876" lvl="1" indent="0">
                  <a:buNone/>
                </a:pPr>
                <a:endParaRPr lang="en-US" sz="2400" dirty="0">
                  <a:cs typeface="Times New Roman" panose="02020603050405020304" pitchFamily="18" charset="0"/>
                </a:endParaRPr>
              </a:p>
              <a:p>
                <a:pPr>
                  <a:buFont typeface="Wingdings" pitchFamily="2" charset="2"/>
                  <a:buChar char="v"/>
                </a:pPr>
                <a:r>
                  <a:rPr lang="en-US" sz="2400" dirty="0">
                    <a:cs typeface="Times New Roman" panose="02020603050405020304" pitchFamily="18" charset="0"/>
                  </a:rPr>
                  <a:t>SMART Attributes (</a:t>
                </a:r>
                <a14:m>
                  <m:oMath xmlns:m="http://schemas.openxmlformats.org/officeDocument/2006/math">
                    <m:r>
                      <a:rPr lang="en-US" sz="2400" i="1">
                        <a:latin typeface="Cambria Math" panose="02040503050406030204" pitchFamily="18" charset="0"/>
                        <a:cs typeface="Times New Roman" panose="02020603050405020304" pitchFamily="18" charset="0"/>
                      </a:rPr>
                      <m:t>0.51&lt; </m:t>
                    </m:r>
                    <m:r>
                      <a:rPr lang="en-US" sz="2400" i="1">
                        <a:latin typeface="Cambria Math" panose="02040503050406030204" pitchFamily="18" charset="0"/>
                        <a:ea typeface="Cambria Math" panose="02040503050406030204" pitchFamily="18" charset="0"/>
                        <a:cs typeface="Times New Roman" panose="02020603050405020304" pitchFamily="18" charset="0"/>
                      </a:rPr>
                      <m:t>𝜅</m:t>
                    </m:r>
                    <m:r>
                      <a:rPr lang="en-US" sz="2400" i="1">
                        <a:latin typeface="Cambria Math" panose="02040503050406030204" pitchFamily="18" charset="0"/>
                        <a:ea typeface="Cambria Math" panose="02040503050406030204" pitchFamily="18" charset="0"/>
                        <a:cs typeface="Times New Roman" panose="02020603050405020304" pitchFamily="18" charset="0"/>
                      </a:rPr>
                      <m:t>&lt;0.89</m:t>
                    </m:r>
                  </m:oMath>
                </a14:m>
                <a:r>
                  <a:rPr lang="en-US" sz="2400" dirty="0">
                    <a:cs typeface="Times New Roman" panose="02020603050405020304" pitchFamily="18" charset="0"/>
                  </a:rPr>
                  <a:t> at word level)</a:t>
                </a:r>
              </a:p>
              <a:p>
                <a:pPr lvl="1">
                  <a:buFont typeface="System Font Regular"/>
                  <a:buChar char="-"/>
                </a:pPr>
                <a:r>
                  <a:rPr lang="en-US" sz="2400" dirty="0">
                    <a:cs typeface="Times New Roman" panose="02020603050405020304" pitchFamily="18" charset="0"/>
                  </a:rPr>
                  <a:t>domain-specific slot values to track  state of  patient's goal</a:t>
                </a: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mc:Choice>
        <mc:Fallback>
          <p:sp>
            <p:nvSpPr>
              <p:cNvPr id="34" name="Content Placeholder 2">
                <a:extLst>
                  <a:ext uri="{FF2B5EF4-FFF2-40B4-BE49-F238E27FC236}">
                    <a16:creationId xmlns:a16="http://schemas.microsoft.com/office/drawing/2014/main" id="{DD03D1D8-0F10-8646-9C06-478D20C9B3DB}"/>
                  </a:ext>
                </a:extLst>
              </p:cNvPr>
              <p:cNvSpPr>
                <a:spLocks noGrp="1" noRot="1" noChangeAspect="1" noMove="1" noResize="1" noEditPoints="1" noAdjustHandles="1" noChangeArrowheads="1" noChangeShapeType="1" noTextEdit="1"/>
              </p:cNvSpPr>
              <p:nvPr>
                <p:ph idx="1"/>
              </p:nvPr>
            </p:nvSpPr>
            <p:spPr>
              <a:xfrm>
                <a:off x="754280" y="1799505"/>
                <a:ext cx="9946751" cy="4123861"/>
              </a:xfrm>
              <a:blipFill>
                <a:blip r:embed="rId3"/>
                <a:stretch>
                  <a:fillRect l="-1786" t="-1840" r="-638"/>
                </a:stretch>
              </a:blipFill>
            </p:spPr>
            <p:txBody>
              <a:bodyPr/>
              <a:lstStyle/>
              <a:p>
                <a:r>
                  <a:rPr lang="en-IT">
                    <a:noFill/>
                  </a:rPr>
                  <a:t> </a:t>
                </a:r>
              </a:p>
            </p:txBody>
          </p:sp>
        </mc:Fallback>
      </mc:AlternateContent>
      <p:sp>
        <p:nvSpPr>
          <p:cNvPr id="7" name="Slide Number Placeholder 7">
            <a:extLst>
              <a:ext uri="{FF2B5EF4-FFF2-40B4-BE49-F238E27FC236}">
                <a16:creationId xmlns:a16="http://schemas.microsoft.com/office/drawing/2014/main" id="{94035907-5BC9-5748-A281-8FF9AC2D0CE0}"/>
              </a:ext>
            </a:extLst>
          </p:cNvPr>
          <p:cNvSpPr>
            <a:spLocks noGrp="1"/>
          </p:cNvSpPr>
          <p:nvPr>
            <p:ph type="sldNum" sz="quarter" idx="12"/>
          </p:nvPr>
        </p:nvSpPr>
        <p:spPr>
          <a:xfrm>
            <a:off x="11726631" y="6402332"/>
            <a:ext cx="365760" cy="365762"/>
          </a:xfrm>
          <a:noFill/>
          <a:ln>
            <a:noFill/>
          </a:ln>
        </p:spPr>
        <p:txBody>
          <a:bodyPr/>
          <a:lstStyle/>
          <a:p>
            <a:pPr algn="ctr">
              <a:defRPr/>
            </a:pPr>
            <a:fld id="{40390774-681E-C94B-A0B2-709BEC0080C4}" type="slidenum">
              <a:rPr lang="en-US" sz="1100">
                <a:solidFill>
                  <a:schemeClr val="bg1"/>
                </a:solidFill>
                <a:latin typeface="Gill Sans MT" panose="020B0502020104020203"/>
              </a:rPr>
              <a:pPr algn="ctr">
                <a:defRPr/>
              </a:pPr>
              <a:t>17</a:t>
            </a:fld>
            <a:endParaRPr lang="en-US" sz="1100" dirty="0">
              <a:solidFill>
                <a:schemeClr val="bg1"/>
              </a:solidFill>
              <a:latin typeface="Gill Sans MT" panose="020B0502020104020203"/>
            </a:endParaRPr>
          </a:p>
        </p:txBody>
      </p:sp>
      <p:sp>
        <p:nvSpPr>
          <p:cNvPr id="41" name="TextBox 40">
            <a:extLst>
              <a:ext uri="{FF2B5EF4-FFF2-40B4-BE49-F238E27FC236}">
                <a16:creationId xmlns:a16="http://schemas.microsoft.com/office/drawing/2014/main" id="{40E25C58-798C-6247-BBAA-AF456262F594}"/>
              </a:ext>
            </a:extLst>
          </p:cNvPr>
          <p:cNvSpPr txBox="1"/>
          <p:nvPr/>
        </p:nvSpPr>
        <p:spPr>
          <a:xfrm>
            <a:off x="2344996" y="132735"/>
            <a:ext cx="184731" cy="369332"/>
          </a:xfrm>
          <a:prstGeom prst="rect">
            <a:avLst/>
          </a:prstGeom>
          <a:noFill/>
        </p:spPr>
        <p:txBody>
          <a:bodyPr wrap="none" rtlCol="0">
            <a:spAutoFit/>
          </a:bodyPr>
          <a:lstStyle/>
          <a:p>
            <a:endParaRPr lang="en-US" dirty="0"/>
          </a:p>
        </p:txBody>
      </p:sp>
      <p:pic>
        <p:nvPicPr>
          <p:cNvPr id="4" name="Picture 3" descr="A red circle with black text&#10;&#10;Description automatically generated">
            <a:extLst>
              <a:ext uri="{FF2B5EF4-FFF2-40B4-BE49-F238E27FC236}">
                <a16:creationId xmlns:a16="http://schemas.microsoft.com/office/drawing/2014/main" id="{C53D7610-2B2B-83A6-1C59-5F4864AE3E0D}"/>
              </a:ext>
            </a:extLst>
          </p:cNvPr>
          <p:cNvPicPr>
            <a:picLocks noChangeAspect="1"/>
          </p:cNvPicPr>
          <p:nvPr/>
        </p:nvPicPr>
        <p:blipFill>
          <a:blip r:embed="rId4"/>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1662762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1130" y="621555"/>
            <a:ext cx="9804333" cy="670492"/>
          </a:xfrm>
          <a:solidFill>
            <a:schemeClr val="bg1"/>
          </a:solidFill>
          <a:ln>
            <a:noFill/>
          </a:ln>
        </p:spPr>
        <p:txBody>
          <a:bodyPr>
            <a:noAutofit/>
          </a:bodyPr>
          <a:lstStyle/>
          <a:p>
            <a:pPr algn="ctr"/>
            <a:r>
              <a:rPr lang="en-US" sz="4000" b="1" dirty="0">
                <a:solidFill>
                  <a:srgbClr val="00B0F0"/>
                </a:solidFill>
                <a:latin typeface="Apple Braille Pinpoint 8 Dot" pitchFamily="2" charset="0"/>
                <a:ea typeface="Microsoft Himalaya" pitchFamily="2" charset="0"/>
                <a:cs typeface="Times New Roman" panose="02020603050405020304" pitchFamily="18" charset="0"/>
              </a:rPr>
              <a:t> </a:t>
            </a:r>
            <a:r>
              <a:rPr lang="en-US" sz="4000" b="1" dirty="0">
                <a:solidFill>
                  <a:srgbClr val="00B0F0"/>
                </a:solidFill>
                <a:latin typeface="+mn-lt"/>
                <a:ea typeface="Microsoft Himalaya" pitchFamily="2" charset="0"/>
                <a:cs typeface="Times New Roman" panose="02020603050405020304" pitchFamily="18" charset="0"/>
              </a:rPr>
              <a:t>Interface with Summary</a:t>
            </a:r>
          </a:p>
        </p:txBody>
      </p:sp>
      <p:sp>
        <p:nvSpPr>
          <p:cNvPr id="7" name="Slide Number Placeholder 7">
            <a:extLst>
              <a:ext uri="{FF2B5EF4-FFF2-40B4-BE49-F238E27FC236}">
                <a16:creationId xmlns:a16="http://schemas.microsoft.com/office/drawing/2014/main" id="{94035907-5BC9-5748-A281-8FF9AC2D0CE0}"/>
              </a:ext>
            </a:extLst>
          </p:cNvPr>
          <p:cNvSpPr>
            <a:spLocks noGrp="1"/>
          </p:cNvSpPr>
          <p:nvPr>
            <p:ph type="sldNum" sz="quarter" idx="12"/>
          </p:nvPr>
        </p:nvSpPr>
        <p:spPr>
          <a:xfrm>
            <a:off x="11321143" y="6415907"/>
            <a:ext cx="478971" cy="345988"/>
          </a:xfrm>
          <a:noFill/>
          <a:ln>
            <a:noFill/>
          </a:ln>
        </p:spPr>
        <p:txBody>
          <a:bodyPr/>
          <a:lstStyle/>
          <a:p>
            <a:pPr defTabSz="685800">
              <a:defRPr/>
            </a:pPr>
            <a:fld id="{B5D03F8D-5B5A-3244-BDAD-D56FA08ACDB5}" type="slidenum">
              <a:rPr lang="en-US">
                <a:solidFill>
                  <a:prstClr val="white"/>
                </a:solidFill>
                <a:latin typeface="Gill Sans MT" panose="020B0502020104020203"/>
              </a:rPr>
              <a:pPr defTabSz="685800">
                <a:defRPr/>
              </a:pPr>
              <a:t>18</a:t>
            </a:fld>
            <a:endParaRPr lang="en-US" dirty="0">
              <a:solidFill>
                <a:prstClr val="white"/>
              </a:solidFill>
              <a:latin typeface="Gill Sans MT" panose="020B0502020104020203"/>
            </a:endParaRPr>
          </a:p>
        </p:txBody>
      </p:sp>
      <p:sp>
        <p:nvSpPr>
          <p:cNvPr id="41" name="TextBox 40">
            <a:extLst>
              <a:ext uri="{FF2B5EF4-FFF2-40B4-BE49-F238E27FC236}">
                <a16:creationId xmlns:a16="http://schemas.microsoft.com/office/drawing/2014/main" id="{40E25C58-798C-6247-BBAA-AF456262F594}"/>
              </a:ext>
            </a:extLst>
          </p:cNvPr>
          <p:cNvSpPr txBox="1"/>
          <p:nvPr/>
        </p:nvSpPr>
        <p:spPr>
          <a:xfrm>
            <a:off x="3282749" y="956801"/>
            <a:ext cx="184731" cy="300082"/>
          </a:xfrm>
          <a:prstGeom prst="rect">
            <a:avLst/>
          </a:prstGeom>
          <a:noFill/>
        </p:spPr>
        <p:txBody>
          <a:bodyPr wrap="none" rtlCol="0">
            <a:spAutoFit/>
          </a:bodyPr>
          <a:lstStyle/>
          <a:p>
            <a:pPr defTabSz="457200"/>
            <a:endParaRPr lang="en-US" sz="1350" dirty="0">
              <a:solidFill>
                <a:prstClr val="black"/>
              </a:solidFill>
              <a:latin typeface="Gill Sans MT" panose="020B0502020104020203"/>
            </a:endParaRPr>
          </a:p>
        </p:txBody>
      </p:sp>
      <p:sp>
        <p:nvSpPr>
          <p:cNvPr id="3" name="TextBox 2">
            <a:extLst>
              <a:ext uri="{FF2B5EF4-FFF2-40B4-BE49-F238E27FC236}">
                <a16:creationId xmlns:a16="http://schemas.microsoft.com/office/drawing/2014/main" id="{D338CA56-0195-5748-A395-9365AE7BA1A5}"/>
              </a:ext>
            </a:extLst>
          </p:cNvPr>
          <p:cNvSpPr txBox="1"/>
          <p:nvPr/>
        </p:nvSpPr>
        <p:spPr>
          <a:xfrm>
            <a:off x="2266426" y="4903771"/>
            <a:ext cx="251670" cy="300082"/>
          </a:xfrm>
          <a:prstGeom prst="rect">
            <a:avLst/>
          </a:prstGeom>
          <a:noFill/>
        </p:spPr>
        <p:txBody>
          <a:bodyPr wrap="square" rtlCol="0">
            <a:spAutoFit/>
          </a:bodyPr>
          <a:lstStyle/>
          <a:p>
            <a:pPr defTabSz="457200"/>
            <a:endParaRPr lang="en-US" sz="1350" dirty="0">
              <a:solidFill>
                <a:prstClr val="black"/>
              </a:solidFill>
              <a:latin typeface="Times New Roman" panose="02020603050405020304" pitchFamily="18" charset="0"/>
              <a:cs typeface="Times New Roman" panose="02020603050405020304" pitchFamily="18" charset="0"/>
            </a:endParaRPr>
          </a:p>
        </p:txBody>
      </p:sp>
      <p:pic>
        <p:nvPicPr>
          <p:cNvPr id="6" name="Picture 5" descr="Graphical user interface, text, application, email&#10;&#10;Description automatically generated">
            <a:extLst>
              <a:ext uri="{FF2B5EF4-FFF2-40B4-BE49-F238E27FC236}">
                <a16:creationId xmlns:a16="http://schemas.microsoft.com/office/drawing/2014/main" id="{C4F7DE9A-152F-9D42-925A-24769E09497F}"/>
              </a:ext>
            </a:extLst>
          </p:cNvPr>
          <p:cNvPicPr>
            <a:picLocks noChangeAspect="1"/>
          </p:cNvPicPr>
          <p:nvPr/>
        </p:nvPicPr>
        <p:blipFill>
          <a:blip r:embed="rId3"/>
          <a:stretch>
            <a:fillRect/>
          </a:stretch>
        </p:blipFill>
        <p:spPr>
          <a:xfrm>
            <a:off x="2555169" y="1680556"/>
            <a:ext cx="8250365" cy="4735353"/>
          </a:xfrm>
          <a:prstGeom prst="rect">
            <a:avLst/>
          </a:prstGeom>
        </p:spPr>
      </p:pic>
      <p:sp>
        <p:nvSpPr>
          <p:cNvPr id="5" name="Doughnut 4">
            <a:extLst>
              <a:ext uri="{FF2B5EF4-FFF2-40B4-BE49-F238E27FC236}">
                <a16:creationId xmlns:a16="http://schemas.microsoft.com/office/drawing/2014/main" id="{1EF197DC-884C-C602-23C4-647ADA6555B4}"/>
              </a:ext>
            </a:extLst>
          </p:cNvPr>
          <p:cNvSpPr/>
          <p:nvPr/>
        </p:nvSpPr>
        <p:spPr>
          <a:xfrm>
            <a:off x="5229922" y="1682337"/>
            <a:ext cx="5575610" cy="1793794"/>
          </a:xfrm>
          <a:prstGeom prst="donu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solidFill>
                <a:schemeClr val="tx1"/>
              </a:solidFill>
            </a:endParaRPr>
          </a:p>
        </p:txBody>
      </p:sp>
      <p:pic>
        <p:nvPicPr>
          <p:cNvPr id="8" name="Picture 7" descr="A red circle with black text&#10;&#10;Description automatically generated">
            <a:extLst>
              <a:ext uri="{FF2B5EF4-FFF2-40B4-BE49-F238E27FC236}">
                <a16:creationId xmlns:a16="http://schemas.microsoft.com/office/drawing/2014/main" id="{6A48C21C-1ED5-465E-3BB3-73ED2F1DD7B5}"/>
              </a:ext>
            </a:extLst>
          </p:cNvPr>
          <p:cNvPicPr>
            <a:picLocks noChangeAspect="1"/>
          </p:cNvPicPr>
          <p:nvPr/>
        </p:nvPicPr>
        <p:blipFill>
          <a:blip r:embed="rId4"/>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3477565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1572" y="623364"/>
            <a:ext cx="8502107" cy="858393"/>
          </a:xfrm>
          <a:solidFill>
            <a:schemeClr val="bg1"/>
          </a:solidFill>
          <a:ln>
            <a:noFill/>
          </a:ln>
        </p:spPr>
        <p:txBody>
          <a:bodyPr>
            <a:normAutofit/>
          </a:bodyPr>
          <a:lstStyle/>
          <a:p>
            <a:r>
              <a:rPr lang="en-US" sz="2800" b="1" dirty="0">
                <a:solidFill>
                  <a:srgbClr val="00B0F0"/>
                </a:solidFill>
                <a:ea typeface="Microsoft Himalaya" pitchFamily="2" charset="0"/>
                <a:cs typeface="Times New Roman" panose="02020603050405020304" pitchFamily="18" charset="0"/>
              </a:rPr>
              <a:t>”Classic”: Goal Extraction Approaches </a:t>
            </a:r>
            <a:r>
              <a:rPr lang="en-US" sz="2000" b="1" dirty="0">
                <a:solidFill>
                  <a:srgbClr val="00B0F0"/>
                </a:solidFill>
                <a:ea typeface="Microsoft Himalaya" pitchFamily="2" charset="0"/>
                <a:cs typeface="Times New Roman" panose="02020603050405020304" pitchFamily="18" charset="0"/>
              </a:rPr>
              <a:t>[Gupta et al </a:t>
            </a:r>
            <a:r>
              <a:rPr lang="en-US" sz="2000" b="1" dirty="0" err="1">
                <a:solidFill>
                  <a:srgbClr val="00B0F0"/>
                </a:solidFill>
                <a:ea typeface="Microsoft Himalaya" pitchFamily="2" charset="0"/>
                <a:cs typeface="Times New Roman" panose="02020603050405020304" pitchFamily="18" charset="0"/>
              </a:rPr>
              <a:t>SigDIAL</a:t>
            </a:r>
            <a:r>
              <a:rPr lang="en-US" sz="2000" b="1" dirty="0">
                <a:solidFill>
                  <a:srgbClr val="00B0F0"/>
                </a:solidFill>
                <a:ea typeface="Microsoft Himalaya" pitchFamily="2" charset="0"/>
                <a:cs typeface="Times New Roman" panose="02020603050405020304" pitchFamily="18" charset="0"/>
              </a:rPr>
              <a:t> 20, 21]</a:t>
            </a:r>
            <a:endParaRPr lang="en-US" sz="3150" b="1" cap="none" dirty="0">
              <a:solidFill>
                <a:srgbClr val="002060"/>
              </a:solidFill>
              <a:latin typeface="Apple Braille Pinpoint 8 Dot" pitchFamily="2" charset="0"/>
              <a:ea typeface="Microsoft Himalaya" pitchFamily="2" charset="0"/>
              <a:cs typeface="Times New Roman" panose="02020603050405020304" pitchFamily="18" charset="0"/>
            </a:endParaRPr>
          </a:p>
        </p:txBody>
      </p:sp>
      <p:sp>
        <p:nvSpPr>
          <p:cNvPr id="7" name="Slide Number Placeholder 7">
            <a:extLst>
              <a:ext uri="{FF2B5EF4-FFF2-40B4-BE49-F238E27FC236}">
                <a16:creationId xmlns:a16="http://schemas.microsoft.com/office/drawing/2014/main" id="{94035907-5BC9-5748-A281-8FF9AC2D0CE0}"/>
              </a:ext>
            </a:extLst>
          </p:cNvPr>
          <p:cNvSpPr>
            <a:spLocks noGrp="1"/>
          </p:cNvSpPr>
          <p:nvPr>
            <p:ph type="sldNum" sz="quarter" idx="12"/>
          </p:nvPr>
        </p:nvSpPr>
        <p:spPr>
          <a:xfrm>
            <a:off x="10393680" y="5839446"/>
            <a:ext cx="274320" cy="274322"/>
          </a:xfrm>
          <a:solidFill>
            <a:schemeClr val="tx2"/>
          </a:solidFill>
          <a:ln>
            <a:noFill/>
          </a:ln>
        </p:spPr>
        <p:txBody>
          <a:bodyPr/>
          <a:lstStyle/>
          <a:p>
            <a:pPr defTabSz="685800">
              <a:defRPr/>
            </a:pPr>
            <a:fld id="{B5D03F8D-5B5A-3244-BDAD-D56FA08ACDB5}" type="slidenum">
              <a:rPr lang="en-US">
                <a:solidFill>
                  <a:prstClr val="white"/>
                </a:solidFill>
                <a:latin typeface="Gill Sans MT" panose="020B0502020104020203"/>
              </a:rPr>
              <a:pPr defTabSz="685800">
                <a:defRPr/>
              </a:pPr>
              <a:t>19</a:t>
            </a:fld>
            <a:endParaRPr lang="en-US" dirty="0">
              <a:solidFill>
                <a:prstClr val="white"/>
              </a:solidFill>
              <a:latin typeface="Gill Sans MT" panose="020B0502020104020203"/>
            </a:endParaRPr>
          </a:p>
        </p:txBody>
      </p:sp>
      <p:sp>
        <p:nvSpPr>
          <p:cNvPr id="41" name="TextBox 40">
            <a:extLst>
              <a:ext uri="{FF2B5EF4-FFF2-40B4-BE49-F238E27FC236}">
                <a16:creationId xmlns:a16="http://schemas.microsoft.com/office/drawing/2014/main" id="{40E25C58-798C-6247-BBAA-AF456262F594}"/>
              </a:ext>
            </a:extLst>
          </p:cNvPr>
          <p:cNvSpPr txBox="1"/>
          <p:nvPr/>
        </p:nvSpPr>
        <p:spPr>
          <a:xfrm>
            <a:off x="3282747" y="956801"/>
            <a:ext cx="184731" cy="300082"/>
          </a:xfrm>
          <a:prstGeom prst="rect">
            <a:avLst/>
          </a:prstGeom>
          <a:noFill/>
        </p:spPr>
        <p:txBody>
          <a:bodyPr wrap="none" rtlCol="0">
            <a:spAutoFit/>
          </a:bodyPr>
          <a:lstStyle/>
          <a:p>
            <a:pPr defTabSz="457200"/>
            <a:endParaRPr lang="en-US" sz="1350" dirty="0">
              <a:solidFill>
                <a:prstClr val="black"/>
              </a:solidFill>
              <a:latin typeface="Gill Sans MT" panose="020B0502020104020203"/>
            </a:endParaRPr>
          </a:p>
        </p:txBody>
      </p:sp>
      <p:pic>
        <p:nvPicPr>
          <p:cNvPr id="16" name="Graphic 15">
            <a:extLst>
              <a:ext uri="{FF2B5EF4-FFF2-40B4-BE49-F238E27FC236}">
                <a16:creationId xmlns:a16="http://schemas.microsoft.com/office/drawing/2014/main" id="{8969C725-498E-014F-9318-6892B63281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01307" y="5832241"/>
            <a:ext cx="1576810" cy="432850"/>
          </a:xfrm>
          <a:prstGeom prst="rect">
            <a:avLst/>
          </a:prstGeom>
        </p:spPr>
      </p:pic>
      <p:pic>
        <p:nvPicPr>
          <p:cNvPr id="15" name="Picture 14" descr="Diagram&#10;&#10;Description automatically generated">
            <a:extLst>
              <a:ext uri="{FF2B5EF4-FFF2-40B4-BE49-F238E27FC236}">
                <a16:creationId xmlns:a16="http://schemas.microsoft.com/office/drawing/2014/main" id="{509DB849-66B7-1440-BC24-FD504730F7E6}"/>
              </a:ext>
            </a:extLst>
          </p:cNvPr>
          <p:cNvPicPr>
            <a:picLocks noChangeAspect="1"/>
          </p:cNvPicPr>
          <p:nvPr/>
        </p:nvPicPr>
        <p:blipFill>
          <a:blip r:embed="rId4"/>
          <a:stretch>
            <a:fillRect/>
          </a:stretch>
        </p:blipFill>
        <p:spPr>
          <a:xfrm>
            <a:off x="1759846" y="1876664"/>
            <a:ext cx="8954468" cy="3955577"/>
          </a:xfrm>
          <a:prstGeom prst="rect">
            <a:avLst/>
          </a:prstGeom>
        </p:spPr>
      </p:pic>
      <p:sp>
        <p:nvSpPr>
          <p:cNvPr id="14" name="Rectangle 13">
            <a:extLst>
              <a:ext uri="{FF2B5EF4-FFF2-40B4-BE49-F238E27FC236}">
                <a16:creationId xmlns:a16="http://schemas.microsoft.com/office/drawing/2014/main" id="{B78E923B-6946-2D47-99BB-097B64AE103B}"/>
              </a:ext>
            </a:extLst>
          </p:cNvPr>
          <p:cNvSpPr/>
          <p:nvPr/>
        </p:nvSpPr>
        <p:spPr>
          <a:xfrm>
            <a:off x="1759846" y="1945243"/>
            <a:ext cx="3218323" cy="3278477"/>
          </a:xfrm>
          <a:prstGeom prst="rect">
            <a:avLst/>
          </a:prstGeom>
          <a:noFill/>
          <a:ln w="12700">
            <a:solidFill>
              <a:srgbClr val="FF000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defTabSz="457200"/>
            <a:endParaRPr lang="en-US" sz="1350" dirty="0">
              <a:solidFill>
                <a:prstClr val="black"/>
              </a:solidFill>
              <a:latin typeface="Gill Sans MT" panose="020B0502020104020203"/>
            </a:endParaRPr>
          </a:p>
        </p:txBody>
      </p:sp>
      <p:sp>
        <p:nvSpPr>
          <p:cNvPr id="3" name="TextBox 2">
            <a:extLst>
              <a:ext uri="{FF2B5EF4-FFF2-40B4-BE49-F238E27FC236}">
                <a16:creationId xmlns:a16="http://schemas.microsoft.com/office/drawing/2014/main" id="{D338CA56-0195-5748-A395-9365AE7BA1A5}"/>
              </a:ext>
            </a:extLst>
          </p:cNvPr>
          <p:cNvSpPr txBox="1"/>
          <p:nvPr/>
        </p:nvSpPr>
        <p:spPr>
          <a:xfrm>
            <a:off x="2266426" y="4903771"/>
            <a:ext cx="251670" cy="300082"/>
          </a:xfrm>
          <a:prstGeom prst="rect">
            <a:avLst/>
          </a:prstGeom>
          <a:noFill/>
        </p:spPr>
        <p:txBody>
          <a:bodyPr wrap="square" rtlCol="0">
            <a:spAutoFit/>
          </a:bodyPr>
          <a:lstStyle/>
          <a:p>
            <a:pPr defTabSz="457200"/>
            <a:endParaRPr lang="en-US" sz="1350" dirty="0">
              <a:solidFill>
                <a:prstClr val="black"/>
              </a:solidFill>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BAB6EFA8-AA6E-C84A-B488-7AF5FBD76F5B}"/>
              </a:ext>
            </a:extLst>
          </p:cNvPr>
          <p:cNvSpPr/>
          <p:nvPr/>
        </p:nvSpPr>
        <p:spPr>
          <a:xfrm>
            <a:off x="5104254" y="5170758"/>
            <a:ext cx="247184" cy="2579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1350" dirty="0">
                <a:solidFill>
                  <a:prstClr val="white"/>
                </a:solidFill>
                <a:latin typeface="Times New Roman" panose="02020603050405020304" pitchFamily="18" charset="0"/>
                <a:cs typeface="Times New Roman" panose="02020603050405020304" pitchFamily="18" charset="0"/>
              </a:rPr>
              <a:t>2</a:t>
            </a:r>
          </a:p>
        </p:txBody>
      </p:sp>
      <p:sp>
        <p:nvSpPr>
          <p:cNvPr id="23" name="Oval 22">
            <a:extLst>
              <a:ext uri="{FF2B5EF4-FFF2-40B4-BE49-F238E27FC236}">
                <a16:creationId xmlns:a16="http://schemas.microsoft.com/office/drawing/2014/main" id="{FE21B10C-509B-B74F-9A9E-C6F65ECCBD0E}"/>
              </a:ext>
            </a:extLst>
          </p:cNvPr>
          <p:cNvSpPr/>
          <p:nvPr/>
        </p:nvSpPr>
        <p:spPr>
          <a:xfrm>
            <a:off x="2246774" y="4912796"/>
            <a:ext cx="251670" cy="2579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1350" dirty="0">
                <a:solidFill>
                  <a:prstClr val="white"/>
                </a:solidFill>
                <a:latin typeface="Times New Roman" panose="02020603050405020304" pitchFamily="18" charset="0"/>
                <a:cs typeface="Times New Roman" panose="02020603050405020304" pitchFamily="18" charset="0"/>
              </a:rPr>
              <a:t>1</a:t>
            </a:r>
          </a:p>
        </p:txBody>
      </p:sp>
      <p:sp>
        <p:nvSpPr>
          <p:cNvPr id="24" name="Oval 23">
            <a:extLst>
              <a:ext uri="{FF2B5EF4-FFF2-40B4-BE49-F238E27FC236}">
                <a16:creationId xmlns:a16="http://schemas.microsoft.com/office/drawing/2014/main" id="{117B50DA-4800-B842-90D9-3D65845E64AF}"/>
              </a:ext>
            </a:extLst>
          </p:cNvPr>
          <p:cNvSpPr/>
          <p:nvPr/>
        </p:nvSpPr>
        <p:spPr>
          <a:xfrm>
            <a:off x="6398009" y="5170758"/>
            <a:ext cx="247184" cy="2579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1350" dirty="0">
                <a:solidFill>
                  <a:prstClr val="white"/>
                </a:solidFill>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3214864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4336" y="765273"/>
            <a:ext cx="9833264" cy="834933"/>
          </a:xfrm>
          <a:solidFill>
            <a:schemeClr val="bg1"/>
          </a:solidFill>
          <a:ln>
            <a:noFill/>
          </a:ln>
        </p:spPr>
        <p:txBody>
          <a:bodyPr>
            <a:noAutofit/>
          </a:bodyPr>
          <a:lstStyle/>
          <a:p>
            <a:r>
              <a:rPr lang="en-US" sz="3200" b="1" dirty="0">
                <a:solidFill>
                  <a:srgbClr val="00B0F0"/>
                </a:solidFill>
                <a:latin typeface="+mn-lt"/>
                <a:ea typeface="Microsoft Himalaya" pitchFamily="2" charset="0"/>
                <a:cs typeface="Times New Roman" panose="02020603050405020304" pitchFamily="18" charset="0"/>
              </a:rPr>
              <a:t>”Classic”: Goal Extraction Approaches </a:t>
            </a:r>
            <a:r>
              <a:rPr lang="en-US" sz="2400" b="1" dirty="0">
                <a:solidFill>
                  <a:srgbClr val="00B0F0"/>
                </a:solidFill>
                <a:latin typeface="+mn-lt"/>
                <a:ea typeface="Microsoft Himalaya" pitchFamily="2" charset="0"/>
                <a:cs typeface="Times New Roman" panose="02020603050405020304" pitchFamily="18" charset="0"/>
              </a:rPr>
              <a:t>[Gupta et al </a:t>
            </a:r>
            <a:r>
              <a:rPr lang="en-US" sz="2400" b="1" dirty="0" err="1">
                <a:solidFill>
                  <a:srgbClr val="00B0F0"/>
                </a:solidFill>
                <a:latin typeface="+mn-lt"/>
                <a:ea typeface="Microsoft Himalaya" pitchFamily="2" charset="0"/>
                <a:cs typeface="Times New Roman" panose="02020603050405020304" pitchFamily="18" charset="0"/>
              </a:rPr>
              <a:t>SigDIAL</a:t>
            </a:r>
            <a:r>
              <a:rPr lang="en-US" sz="2400" b="1" dirty="0">
                <a:solidFill>
                  <a:srgbClr val="00B0F0"/>
                </a:solidFill>
                <a:latin typeface="+mn-lt"/>
                <a:ea typeface="Microsoft Himalaya" pitchFamily="2" charset="0"/>
                <a:cs typeface="Times New Roman" panose="02020603050405020304" pitchFamily="18" charset="0"/>
              </a:rPr>
              <a:t> 20, 21]</a:t>
            </a:r>
          </a:p>
        </p:txBody>
      </p:sp>
      <p:sp>
        <p:nvSpPr>
          <p:cNvPr id="7" name="Slide Number Placeholder 7">
            <a:extLst>
              <a:ext uri="{FF2B5EF4-FFF2-40B4-BE49-F238E27FC236}">
                <a16:creationId xmlns:a16="http://schemas.microsoft.com/office/drawing/2014/main" id="{94035907-5BC9-5748-A281-8FF9AC2D0CE0}"/>
              </a:ext>
            </a:extLst>
          </p:cNvPr>
          <p:cNvSpPr>
            <a:spLocks noGrp="1"/>
          </p:cNvSpPr>
          <p:nvPr>
            <p:ph type="sldNum" sz="quarter" idx="12"/>
          </p:nvPr>
        </p:nvSpPr>
        <p:spPr>
          <a:xfrm>
            <a:off x="11099558" y="6473039"/>
            <a:ext cx="731886" cy="274322"/>
          </a:xfrm>
          <a:noFill/>
          <a:ln>
            <a:noFill/>
          </a:ln>
        </p:spPr>
        <p:txBody>
          <a:bodyPr/>
          <a:lstStyle/>
          <a:p>
            <a:pPr defTabSz="685800">
              <a:defRPr/>
            </a:pPr>
            <a:fld id="{B5D03F8D-5B5A-3244-BDAD-D56FA08ACDB5}" type="slidenum">
              <a:rPr lang="en-US">
                <a:solidFill>
                  <a:prstClr val="white"/>
                </a:solidFill>
                <a:latin typeface="Gill Sans MT" panose="020B0502020104020203"/>
              </a:rPr>
              <a:pPr defTabSz="685800">
                <a:defRPr/>
              </a:pPr>
              <a:t>20</a:t>
            </a:fld>
            <a:endParaRPr lang="en-US" dirty="0">
              <a:solidFill>
                <a:prstClr val="white"/>
              </a:solidFill>
              <a:latin typeface="Gill Sans MT" panose="020B0502020104020203"/>
            </a:endParaRPr>
          </a:p>
        </p:txBody>
      </p:sp>
      <p:sp>
        <p:nvSpPr>
          <p:cNvPr id="41" name="TextBox 40">
            <a:extLst>
              <a:ext uri="{FF2B5EF4-FFF2-40B4-BE49-F238E27FC236}">
                <a16:creationId xmlns:a16="http://schemas.microsoft.com/office/drawing/2014/main" id="{40E25C58-798C-6247-BBAA-AF456262F594}"/>
              </a:ext>
            </a:extLst>
          </p:cNvPr>
          <p:cNvSpPr txBox="1"/>
          <p:nvPr/>
        </p:nvSpPr>
        <p:spPr>
          <a:xfrm>
            <a:off x="3282749" y="956801"/>
            <a:ext cx="184731" cy="300082"/>
          </a:xfrm>
          <a:prstGeom prst="rect">
            <a:avLst/>
          </a:prstGeom>
          <a:noFill/>
        </p:spPr>
        <p:txBody>
          <a:bodyPr wrap="none" rtlCol="0">
            <a:spAutoFit/>
          </a:bodyPr>
          <a:lstStyle/>
          <a:p>
            <a:pPr defTabSz="457200"/>
            <a:endParaRPr lang="en-US" sz="1350" dirty="0">
              <a:solidFill>
                <a:prstClr val="black"/>
              </a:solidFill>
              <a:latin typeface="Gill Sans MT" panose="020B0502020104020203"/>
            </a:endParaRPr>
          </a:p>
        </p:txBody>
      </p:sp>
      <p:pic>
        <p:nvPicPr>
          <p:cNvPr id="4" name="Picture 3" descr="A red circle with black text&#10;&#10;Description automatically generated">
            <a:extLst>
              <a:ext uri="{FF2B5EF4-FFF2-40B4-BE49-F238E27FC236}">
                <a16:creationId xmlns:a16="http://schemas.microsoft.com/office/drawing/2014/main" id="{453C7633-9EDA-9E29-93D4-34F0D696C4E5}"/>
              </a:ext>
            </a:extLst>
          </p:cNvPr>
          <p:cNvPicPr>
            <a:picLocks noChangeAspect="1"/>
          </p:cNvPicPr>
          <p:nvPr/>
        </p:nvPicPr>
        <p:blipFill>
          <a:blip r:embed="rId3"/>
          <a:stretch>
            <a:fillRect/>
          </a:stretch>
        </p:blipFill>
        <p:spPr>
          <a:xfrm>
            <a:off x="-199423" y="5625073"/>
            <a:ext cx="1126180" cy="1136822"/>
          </a:xfrm>
          <a:prstGeom prst="rect">
            <a:avLst/>
          </a:prstGeom>
        </p:spPr>
      </p:pic>
      <p:pic>
        <p:nvPicPr>
          <p:cNvPr id="5" name="Picture 4" descr="A screen shot of a white grid&#10;&#10;AI-generated content may be incorrect.">
            <a:extLst>
              <a:ext uri="{FF2B5EF4-FFF2-40B4-BE49-F238E27FC236}">
                <a16:creationId xmlns:a16="http://schemas.microsoft.com/office/drawing/2014/main" id="{6AA05A0B-B48E-4DA2-F70D-A0281B738A5C}"/>
              </a:ext>
            </a:extLst>
          </p:cNvPr>
          <p:cNvPicPr>
            <a:picLocks noChangeAspect="1"/>
          </p:cNvPicPr>
          <p:nvPr/>
        </p:nvPicPr>
        <p:blipFill>
          <a:blip r:embed="rId4"/>
          <a:stretch>
            <a:fillRect/>
          </a:stretch>
        </p:blipFill>
        <p:spPr>
          <a:xfrm>
            <a:off x="-6468" y="2454797"/>
            <a:ext cx="12198468" cy="2225400"/>
          </a:xfrm>
          <a:prstGeom prst="rect">
            <a:avLst/>
          </a:prstGeom>
        </p:spPr>
      </p:pic>
      <p:sp>
        <p:nvSpPr>
          <p:cNvPr id="8" name="Content Placeholder 7">
            <a:extLst>
              <a:ext uri="{FF2B5EF4-FFF2-40B4-BE49-F238E27FC236}">
                <a16:creationId xmlns:a16="http://schemas.microsoft.com/office/drawing/2014/main" id="{247457AE-87CB-B3F1-81C3-E81620796D22}"/>
              </a:ext>
            </a:extLst>
          </p:cNvPr>
          <p:cNvSpPr>
            <a:spLocks noGrp="1"/>
          </p:cNvSpPr>
          <p:nvPr>
            <p:ph idx="1"/>
          </p:nvPr>
        </p:nvSpPr>
        <p:spPr>
          <a:xfrm>
            <a:off x="1097280" y="1845734"/>
            <a:ext cx="9570720" cy="452623"/>
          </a:xfrm>
        </p:spPr>
        <p:txBody>
          <a:bodyPr>
            <a:normAutofit lnSpcReduction="10000"/>
          </a:bodyPr>
          <a:lstStyle/>
          <a:p>
            <a:r>
              <a:rPr lang="en-IT" sz="2800" u="sng" dirty="0"/>
              <a:t>Summarized</a:t>
            </a:r>
            <a:r>
              <a:rPr lang="en-IT" sz="2800" dirty="0"/>
              <a:t> goal with its 10 attributes: </a:t>
            </a:r>
          </a:p>
        </p:txBody>
      </p:sp>
      <p:sp>
        <p:nvSpPr>
          <p:cNvPr id="9" name="TextBox 8">
            <a:extLst>
              <a:ext uri="{FF2B5EF4-FFF2-40B4-BE49-F238E27FC236}">
                <a16:creationId xmlns:a16="http://schemas.microsoft.com/office/drawing/2014/main" id="{ED9B0B46-223D-1175-CF8B-1ED997AD2AAB}"/>
              </a:ext>
            </a:extLst>
          </p:cNvPr>
          <p:cNvSpPr txBox="1"/>
          <p:nvPr/>
        </p:nvSpPr>
        <p:spPr>
          <a:xfrm>
            <a:off x="1059492" y="5101853"/>
            <a:ext cx="9829800" cy="954107"/>
          </a:xfrm>
          <a:prstGeom prst="rect">
            <a:avLst/>
          </a:prstGeom>
          <a:noFill/>
        </p:spPr>
        <p:txBody>
          <a:bodyPr wrap="square" rtlCol="0">
            <a:spAutoFit/>
          </a:bodyPr>
          <a:lstStyle/>
          <a:p>
            <a:pPr marL="457200" indent="-457200">
              <a:buFont typeface="Arial" panose="020B0604020202020204" pitchFamily="34" charset="0"/>
              <a:buChar char="•"/>
            </a:pPr>
            <a:r>
              <a:rPr lang="en-IT" sz="2800" dirty="0"/>
              <a:t>Joint goal accuracy (all 10 attributes correct): 20%</a:t>
            </a:r>
          </a:p>
          <a:p>
            <a:pPr marL="457200" indent="-457200">
              <a:buFont typeface="Arial" panose="020B0604020202020204" pitchFamily="34" charset="0"/>
              <a:buChar char="•"/>
            </a:pPr>
            <a:r>
              <a:rPr lang="en-IT" sz="2800" dirty="0"/>
              <a:t>No response generation</a:t>
            </a:r>
          </a:p>
        </p:txBody>
      </p:sp>
    </p:spTree>
    <p:extLst>
      <p:ext uri="{BB962C8B-B14F-4D97-AF65-F5344CB8AC3E}">
        <p14:creationId xmlns:p14="http://schemas.microsoft.com/office/powerpoint/2010/main" val="2422264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80544B81-E899-6A4D-A108-BCBC4F7BD5A0}"/>
              </a:ext>
            </a:extLst>
          </p:cNvPr>
          <p:cNvSpPr txBox="1">
            <a:spLocks/>
          </p:cNvSpPr>
          <p:nvPr/>
        </p:nvSpPr>
        <p:spPr>
          <a:xfrm>
            <a:off x="525518" y="1442252"/>
            <a:ext cx="11326677" cy="4728917"/>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800" dirty="0">
              <a:ea typeface="+mn-lt"/>
              <a:cs typeface="+mn-lt"/>
            </a:endParaRPr>
          </a:p>
          <a:p>
            <a:pPr algn="l"/>
            <a:br>
              <a:rPr lang="en-US" sz="2800" dirty="0">
                <a:ea typeface="+mn-lt"/>
                <a:cs typeface="+mn-lt"/>
              </a:rPr>
            </a:br>
            <a:endParaRPr lang="en-US" sz="2800" dirty="0">
              <a:ea typeface="+mn-lt"/>
              <a:cs typeface="+mn-lt"/>
            </a:endParaRPr>
          </a:p>
        </p:txBody>
      </p:sp>
      <p:sp>
        <p:nvSpPr>
          <p:cNvPr id="31" name="Slide Number Placeholder 30">
            <a:extLst>
              <a:ext uri="{FF2B5EF4-FFF2-40B4-BE49-F238E27FC236}">
                <a16:creationId xmlns:a16="http://schemas.microsoft.com/office/drawing/2014/main" id="{B6CB6AC4-7FB8-2D44-82FB-0D7E684672A2}"/>
              </a:ext>
            </a:extLst>
          </p:cNvPr>
          <p:cNvSpPr>
            <a:spLocks noGrp="1"/>
          </p:cNvSpPr>
          <p:nvPr>
            <p:ph type="sldNum" sz="quarter" idx="12"/>
          </p:nvPr>
        </p:nvSpPr>
        <p:spPr/>
        <p:txBody>
          <a:bodyPr/>
          <a:lstStyle/>
          <a:p>
            <a:fld id="{C98AF8CE-0322-E540-B64D-7175E9218127}" type="slidenum">
              <a:rPr lang="en-CN" smtClean="0"/>
              <a:t>21</a:t>
            </a:fld>
            <a:endParaRPr lang="en-CN"/>
          </a:p>
        </p:txBody>
      </p:sp>
      <p:sp>
        <p:nvSpPr>
          <p:cNvPr id="9" name="Rectangle 8">
            <a:extLst>
              <a:ext uri="{FF2B5EF4-FFF2-40B4-BE49-F238E27FC236}">
                <a16:creationId xmlns:a16="http://schemas.microsoft.com/office/drawing/2014/main" id="{8A600B46-9E16-2B04-E7F6-98B250F2245F}"/>
              </a:ext>
            </a:extLst>
          </p:cNvPr>
          <p:cNvSpPr/>
          <p:nvPr/>
        </p:nvSpPr>
        <p:spPr>
          <a:xfrm>
            <a:off x="1977083" y="5500055"/>
            <a:ext cx="902043" cy="3017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red circle with black text&#10;&#10;Description automatically generated">
            <a:extLst>
              <a:ext uri="{FF2B5EF4-FFF2-40B4-BE49-F238E27FC236}">
                <a16:creationId xmlns:a16="http://schemas.microsoft.com/office/drawing/2014/main" id="{AC78BF8B-CCFB-92C2-655D-5E31F0B1887A}"/>
              </a:ext>
            </a:extLst>
          </p:cNvPr>
          <p:cNvPicPr>
            <a:picLocks noChangeAspect="1"/>
          </p:cNvPicPr>
          <p:nvPr/>
        </p:nvPicPr>
        <p:blipFill>
          <a:blip r:embed="rId3"/>
          <a:stretch>
            <a:fillRect/>
          </a:stretch>
        </p:blipFill>
        <p:spPr>
          <a:xfrm>
            <a:off x="-111407" y="5832004"/>
            <a:ext cx="812977" cy="820659"/>
          </a:xfrm>
          <a:prstGeom prst="rect">
            <a:avLst/>
          </a:prstGeom>
        </p:spPr>
      </p:pic>
      <p:sp>
        <p:nvSpPr>
          <p:cNvPr id="7" name="TextBox 6">
            <a:extLst>
              <a:ext uri="{FF2B5EF4-FFF2-40B4-BE49-F238E27FC236}">
                <a16:creationId xmlns:a16="http://schemas.microsoft.com/office/drawing/2014/main" id="{E1A099C8-1807-D767-4E3D-87E1193D62A1}"/>
              </a:ext>
            </a:extLst>
          </p:cNvPr>
          <p:cNvSpPr txBox="1"/>
          <p:nvPr/>
        </p:nvSpPr>
        <p:spPr>
          <a:xfrm>
            <a:off x="505208" y="138825"/>
            <a:ext cx="10046039" cy="1200329"/>
          </a:xfrm>
          <a:prstGeom prst="rect">
            <a:avLst/>
          </a:prstGeom>
          <a:noFill/>
        </p:spPr>
        <p:txBody>
          <a:bodyPr wrap="square">
            <a:spAutoFit/>
          </a:bodyPr>
          <a:lstStyle/>
          <a:p>
            <a:pPr>
              <a:defRPr/>
            </a:pPr>
            <a:r>
              <a:rPr lang="en-US" sz="3600" b="1" dirty="0">
                <a:solidFill>
                  <a:srgbClr val="00B0F0"/>
                </a:solidFill>
                <a:latin typeface="Calibri"/>
                <a:ea typeface="+mn-lt"/>
                <a:cs typeface="Calibri"/>
              </a:rPr>
              <a:t>Neural architecture: summarize goal and generate response   </a:t>
            </a:r>
            <a:r>
              <a:rPr lang="en-US" sz="2800" b="1" dirty="0">
                <a:solidFill>
                  <a:srgbClr val="00B0F0"/>
                </a:solidFill>
                <a:latin typeface="Calibri"/>
                <a:ea typeface="+mn-lt"/>
                <a:cs typeface="Calibri"/>
              </a:rPr>
              <a:t>[Zhou et al COLING 22, COLING-LREC 24] </a:t>
            </a:r>
            <a:endParaRPr lang="en-US" sz="2800" b="1" dirty="0">
              <a:solidFill>
                <a:srgbClr val="00B0F0"/>
              </a:solidFill>
              <a:latin typeface="Calibri"/>
            </a:endParaRPr>
          </a:p>
        </p:txBody>
      </p:sp>
      <p:pic>
        <p:nvPicPr>
          <p:cNvPr id="18" name="Picture 17" descr="A diagram of a diagram&#10;&#10;AI-generated content may be incorrect.">
            <a:extLst>
              <a:ext uri="{FF2B5EF4-FFF2-40B4-BE49-F238E27FC236}">
                <a16:creationId xmlns:a16="http://schemas.microsoft.com/office/drawing/2014/main" id="{A1022DA4-A927-BBF7-23C4-155F3BE15CF2}"/>
              </a:ext>
            </a:extLst>
          </p:cNvPr>
          <p:cNvPicPr>
            <a:picLocks noChangeAspect="1"/>
          </p:cNvPicPr>
          <p:nvPr/>
        </p:nvPicPr>
        <p:blipFill>
          <a:blip r:embed="rId4"/>
          <a:stretch>
            <a:fillRect/>
          </a:stretch>
        </p:blipFill>
        <p:spPr>
          <a:xfrm>
            <a:off x="701570" y="1461714"/>
            <a:ext cx="10334730" cy="2381414"/>
          </a:xfrm>
          <a:prstGeom prst="rect">
            <a:avLst/>
          </a:prstGeom>
        </p:spPr>
      </p:pic>
      <p:sp>
        <p:nvSpPr>
          <p:cNvPr id="10" name="Frame 9">
            <a:extLst>
              <a:ext uri="{FF2B5EF4-FFF2-40B4-BE49-F238E27FC236}">
                <a16:creationId xmlns:a16="http://schemas.microsoft.com/office/drawing/2014/main" id="{EFFA7F15-DDD7-F4BB-8ACB-1977DFB25B14}"/>
              </a:ext>
            </a:extLst>
          </p:cNvPr>
          <p:cNvSpPr/>
          <p:nvPr/>
        </p:nvSpPr>
        <p:spPr>
          <a:xfrm>
            <a:off x="525518" y="1609078"/>
            <a:ext cx="4137909" cy="2086685"/>
          </a:xfrm>
          <a:prstGeom prst="frame">
            <a:avLst>
              <a:gd name="adj1" fmla="val 4167"/>
            </a:avLst>
          </a:prstGeom>
          <a:solidFill>
            <a:srgbClr val="043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solidFill>
                <a:schemeClr val="tx1"/>
              </a:solidFill>
            </a:endParaRPr>
          </a:p>
        </p:txBody>
      </p:sp>
      <p:sp>
        <p:nvSpPr>
          <p:cNvPr id="3" name="Frame 2">
            <a:extLst>
              <a:ext uri="{FF2B5EF4-FFF2-40B4-BE49-F238E27FC236}">
                <a16:creationId xmlns:a16="http://schemas.microsoft.com/office/drawing/2014/main" id="{CE6D32B6-867C-C93F-3A0F-E3086F4E250B}"/>
              </a:ext>
            </a:extLst>
          </p:cNvPr>
          <p:cNvSpPr/>
          <p:nvPr/>
        </p:nvSpPr>
        <p:spPr>
          <a:xfrm>
            <a:off x="4663427" y="1397224"/>
            <a:ext cx="5237034" cy="2670033"/>
          </a:xfrm>
          <a:prstGeom prst="frame">
            <a:avLst>
              <a:gd name="adj1" fmla="val 4167"/>
            </a:avLst>
          </a:prstGeom>
          <a:solidFill>
            <a:srgbClr val="043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dirty="0">
              <a:solidFill>
                <a:schemeClr val="tx1"/>
              </a:solidFill>
            </a:endParaRPr>
          </a:p>
        </p:txBody>
      </p:sp>
    </p:spTree>
    <p:extLst>
      <p:ext uri="{BB962C8B-B14F-4D97-AF65-F5344CB8AC3E}">
        <p14:creationId xmlns:p14="http://schemas.microsoft.com/office/powerpoint/2010/main" val="539318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80544B81-E899-6A4D-A108-BCBC4F7BD5A0}"/>
              </a:ext>
            </a:extLst>
          </p:cNvPr>
          <p:cNvSpPr txBox="1">
            <a:spLocks/>
          </p:cNvSpPr>
          <p:nvPr/>
        </p:nvSpPr>
        <p:spPr>
          <a:xfrm>
            <a:off x="525518" y="1442252"/>
            <a:ext cx="11326677" cy="4728917"/>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800" dirty="0">
              <a:ea typeface="+mn-lt"/>
              <a:cs typeface="+mn-lt"/>
            </a:endParaRPr>
          </a:p>
          <a:p>
            <a:pPr algn="l"/>
            <a:br>
              <a:rPr lang="en-US" sz="2800" dirty="0">
                <a:ea typeface="+mn-lt"/>
                <a:cs typeface="+mn-lt"/>
              </a:rPr>
            </a:br>
            <a:endParaRPr lang="en-US" sz="2800" dirty="0">
              <a:ea typeface="+mn-lt"/>
              <a:cs typeface="+mn-lt"/>
            </a:endParaRPr>
          </a:p>
        </p:txBody>
      </p:sp>
      <p:sp>
        <p:nvSpPr>
          <p:cNvPr id="31" name="Slide Number Placeholder 30">
            <a:extLst>
              <a:ext uri="{FF2B5EF4-FFF2-40B4-BE49-F238E27FC236}">
                <a16:creationId xmlns:a16="http://schemas.microsoft.com/office/drawing/2014/main" id="{B6CB6AC4-7FB8-2D44-82FB-0D7E684672A2}"/>
              </a:ext>
            </a:extLst>
          </p:cNvPr>
          <p:cNvSpPr>
            <a:spLocks noGrp="1"/>
          </p:cNvSpPr>
          <p:nvPr>
            <p:ph type="sldNum" sz="quarter" idx="12"/>
          </p:nvPr>
        </p:nvSpPr>
        <p:spPr/>
        <p:txBody>
          <a:bodyPr/>
          <a:lstStyle/>
          <a:p>
            <a:fld id="{C98AF8CE-0322-E540-B64D-7175E9218127}" type="slidenum">
              <a:rPr lang="en-CN" smtClean="0"/>
              <a:t>22</a:t>
            </a:fld>
            <a:endParaRPr lang="en-CN"/>
          </a:p>
        </p:txBody>
      </p:sp>
      <p:sp>
        <p:nvSpPr>
          <p:cNvPr id="8" name="TextBox 7">
            <a:extLst>
              <a:ext uri="{FF2B5EF4-FFF2-40B4-BE49-F238E27FC236}">
                <a16:creationId xmlns:a16="http://schemas.microsoft.com/office/drawing/2014/main" id="{157D589B-0DED-59D5-1EF7-3B466D7FD541}"/>
              </a:ext>
            </a:extLst>
          </p:cNvPr>
          <p:cNvSpPr txBox="1"/>
          <p:nvPr/>
        </p:nvSpPr>
        <p:spPr>
          <a:xfrm>
            <a:off x="685799" y="394202"/>
            <a:ext cx="8598336" cy="923330"/>
          </a:xfrm>
          <a:prstGeom prst="rect">
            <a:avLst/>
          </a:prstGeom>
          <a:noFill/>
        </p:spPr>
        <p:txBody>
          <a:bodyPr wrap="square" lIns="91440" tIns="45720" rIns="91440" bIns="45720" rtlCol="0" anchor="t">
            <a:spAutoFit/>
          </a:bodyPr>
          <a:lstStyle/>
          <a:p>
            <a:pPr>
              <a:defRPr/>
            </a:pPr>
            <a:r>
              <a:rPr lang="en-US" sz="3600" b="1" dirty="0">
                <a:solidFill>
                  <a:srgbClr val="00B0F0"/>
                </a:solidFill>
                <a:latin typeface="Calibri"/>
                <a:ea typeface="+mn-lt"/>
                <a:cs typeface="Calibri"/>
              </a:rPr>
              <a:t>Neural NLU v1  </a:t>
            </a:r>
            <a:r>
              <a:rPr lang="en-US" sz="2800" b="1" dirty="0">
                <a:solidFill>
                  <a:srgbClr val="00B0F0"/>
                </a:solidFill>
                <a:latin typeface="Calibri"/>
                <a:ea typeface="+mn-lt"/>
                <a:cs typeface="Calibri"/>
              </a:rPr>
              <a:t>[Zhou et al COLING 22] </a:t>
            </a:r>
            <a:endParaRPr lang="en-US" sz="2800" b="1" dirty="0">
              <a:solidFill>
                <a:srgbClr val="00B0F0"/>
              </a:solidFill>
              <a:latin typeface="Calibri"/>
            </a:endParaRPr>
          </a:p>
          <a:p>
            <a:endParaRPr lang="en-US" dirty="0"/>
          </a:p>
        </p:txBody>
      </p:sp>
      <p:pic>
        <p:nvPicPr>
          <p:cNvPr id="3" name="Picture 2">
            <a:extLst>
              <a:ext uri="{FF2B5EF4-FFF2-40B4-BE49-F238E27FC236}">
                <a16:creationId xmlns:a16="http://schemas.microsoft.com/office/drawing/2014/main" id="{E2D54829-FA4D-ED9F-37D2-A6E0FF3C6EC9}"/>
              </a:ext>
            </a:extLst>
          </p:cNvPr>
          <p:cNvPicPr>
            <a:picLocks noChangeAspect="1"/>
          </p:cNvPicPr>
          <p:nvPr/>
        </p:nvPicPr>
        <p:blipFill>
          <a:blip r:embed="rId3"/>
          <a:stretch>
            <a:fillRect/>
          </a:stretch>
        </p:blipFill>
        <p:spPr>
          <a:xfrm>
            <a:off x="685798" y="1518275"/>
            <a:ext cx="10364533" cy="2474605"/>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BEDE88DA-30AF-65E3-0E61-DCEFDA8365CA}"/>
                  </a:ext>
                </a:extLst>
              </p:cNvPr>
              <p:cNvSpPr txBox="1"/>
              <p:nvPr/>
            </p:nvSpPr>
            <p:spPr>
              <a:xfrm>
                <a:off x="685799" y="4326699"/>
                <a:ext cx="11077833" cy="1938992"/>
              </a:xfrm>
              <a:prstGeom prst="rect">
                <a:avLst/>
              </a:prstGeom>
              <a:noFill/>
            </p:spPr>
            <p:txBody>
              <a:bodyPr wrap="square">
                <a:spAutoFit/>
              </a:bodyPr>
              <a:lstStyle/>
              <a:p>
                <a:r>
                  <a:rPr lang="en-US" sz="2400" b="1" dirty="0"/>
                  <a:t>Slot-filling model:</a:t>
                </a:r>
                <a:r>
                  <a:rPr lang="en-US" sz="2400" dirty="0"/>
                  <a:t> jointly extracts slot fillers &amp; intent (dialogue act) from each utterance (inspired by Joint BERT, Chen et al 2019). </a:t>
                </a:r>
              </a:p>
              <a:p>
                <a:endParaRPr lang="en-US" sz="2400" dirty="0"/>
              </a:p>
              <a:p>
                <a:r>
                  <a:rPr lang="en-US" sz="2400" b="1" dirty="0"/>
                  <a:t>Binary Carryover classifier:</a:t>
                </a:r>
                <a:r>
                  <a:rPr lang="en-US" sz="2400" dirty="0"/>
                  <a:t> determines if  value of  slot should be copied from  previous state or updated with  new instance seen in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𝑡</m:t>
                        </m:r>
                      </m:sub>
                    </m:sSub>
                  </m:oMath>
                </a14:m>
                <a:endParaRPr lang="en-US" sz="2400" dirty="0"/>
              </a:p>
            </p:txBody>
          </p:sp>
        </mc:Choice>
        <mc:Fallback>
          <p:sp>
            <p:nvSpPr>
              <p:cNvPr id="4" name="TextBox 3">
                <a:extLst>
                  <a:ext uri="{FF2B5EF4-FFF2-40B4-BE49-F238E27FC236}">
                    <a16:creationId xmlns:a16="http://schemas.microsoft.com/office/drawing/2014/main" id="{BEDE88DA-30AF-65E3-0E61-DCEFDA8365CA}"/>
                  </a:ext>
                </a:extLst>
              </p:cNvPr>
              <p:cNvSpPr txBox="1">
                <a:spLocks noRot="1" noChangeAspect="1" noMove="1" noResize="1" noEditPoints="1" noAdjustHandles="1" noChangeArrowheads="1" noChangeShapeType="1" noTextEdit="1"/>
              </p:cNvSpPr>
              <p:nvPr/>
            </p:nvSpPr>
            <p:spPr>
              <a:xfrm>
                <a:off x="685799" y="4326699"/>
                <a:ext cx="11077833" cy="1938992"/>
              </a:xfrm>
              <a:prstGeom prst="rect">
                <a:avLst/>
              </a:prstGeom>
              <a:blipFill>
                <a:blip r:embed="rId4"/>
                <a:stretch>
                  <a:fillRect l="-801" t="-2597" r="-1030" b="-6494"/>
                </a:stretch>
              </a:blipFill>
            </p:spPr>
            <p:txBody>
              <a:bodyPr/>
              <a:lstStyle/>
              <a:p>
                <a:r>
                  <a:rPr lang="en-IT">
                    <a:noFill/>
                  </a:rPr>
                  <a:t> </a:t>
                </a:r>
              </a:p>
            </p:txBody>
          </p:sp>
        </mc:Fallback>
      </mc:AlternateContent>
      <p:sp>
        <p:nvSpPr>
          <p:cNvPr id="6" name="Rectangle 5">
            <a:extLst>
              <a:ext uri="{FF2B5EF4-FFF2-40B4-BE49-F238E27FC236}">
                <a16:creationId xmlns:a16="http://schemas.microsoft.com/office/drawing/2014/main" id="{6B745E79-1BDA-8D57-77B6-54908F0CA2BF}"/>
              </a:ext>
            </a:extLst>
          </p:cNvPr>
          <p:cNvSpPr/>
          <p:nvPr/>
        </p:nvSpPr>
        <p:spPr>
          <a:xfrm>
            <a:off x="2860591" y="2205351"/>
            <a:ext cx="1604731" cy="1345571"/>
          </a:xfrm>
          <a:prstGeom prst="rect">
            <a:avLst/>
          </a:prstGeom>
          <a:noFill/>
          <a:ln w="698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red circle with black text&#10;&#10;Description automatically generated">
            <a:extLst>
              <a:ext uri="{FF2B5EF4-FFF2-40B4-BE49-F238E27FC236}">
                <a16:creationId xmlns:a16="http://schemas.microsoft.com/office/drawing/2014/main" id="{4731D5C7-9DF8-618B-477C-30F77373BCA8}"/>
              </a:ext>
            </a:extLst>
          </p:cNvPr>
          <p:cNvPicPr>
            <a:picLocks noChangeAspect="1"/>
          </p:cNvPicPr>
          <p:nvPr/>
        </p:nvPicPr>
        <p:blipFill>
          <a:blip r:embed="rId5"/>
          <a:stretch>
            <a:fillRect/>
          </a:stretch>
        </p:blipFill>
        <p:spPr>
          <a:xfrm>
            <a:off x="-169575" y="5732998"/>
            <a:ext cx="1018761" cy="1028388"/>
          </a:xfrm>
          <a:prstGeom prst="rect">
            <a:avLst/>
          </a:prstGeom>
        </p:spPr>
      </p:pic>
      <p:sp>
        <p:nvSpPr>
          <p:cNvPr id="7" name="Frame 6">
            <a:extLst>
              <a:ext uri="{FF2B5EF4-FFF2-40B4-BE49-F238E27FC236}">
                <a16:creationId xmlns:a16="http://schemas.microsoft.com/office/drawing/2014/main" id="{26161E2A-3090-7A94-DB96-819745082668}"/>
              </a:ext>
            </a:extLst>
          </p:cNvPr>
          <p:cNvSpPr/>
          <p:nvPr/>
        </p:nvSpPr>
        <p:spPr>
          <a:xfrm>
            <a:off x="525518" y="1680488"/>
            <a:ext cx="4137909" cy="2086685"/>
          </a:xfrm>
          <a:prstGeom prst="frame">
            <a:avLst>
              <a:gd name="adj1" fmla="val 4167"/>
            </a:avLst>
          </a:prstGeom>
          <a:solidFill>
            <a:srgbClr val="043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solidFill>
                <a:schemeClr val="tx1"/>
              </a:solidFill>
            </a:endParaRPr>
          </a:p>
        </p:txBody>
      </p:sp>
    </p:spTree>
    <p:extLst>
      <p:ext uri="{BB962C8B-B14F-4D97-AF65-F5344CB8AC3E}">
        <p14:creationId xmlns:p14="http://schemas.microsoft.com/office/powerpoint/2010/main" val="1769089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069C3-9B67-3C56-F1A0-07A7A7D15866}"/>
              </a:ext>
            </a:extLst>
          </p:cNvPr>
          <p:cNvSpPr>
            <a:spLocks noGrp="1"/>
          </p:cNvSpPr>
          <p:nvPr>
            <p:ph type="title"/>
          </p:nvPr>
        </p:nvSpPr>
        <p:spPr>
          <a:xfrm>
            <a:off x="1154085" y="263529"/>
            <a:ext cx="10058400" cy="1450757"/>
          </a:xfrm>
        </p:spPr>
        <p:txBody>
          <a:bodyPr/>
          <a:lstStyle/>
          <a:p>
            <a:r>
              <a:rPr lang="en-GB" b="1" dirty="0">
                <a:solidFill>
                  <a:srgbClr val="00B0F0"/>
                </a:solidFill>
                <a:latin typeface="+mn-lt"/>
              </a:rPr>
              <a:t>Neural NLU v2: </a:t>
            </a:r>
            <a:r>
              <a:rPr lang="en-GB" b="1" dirty="0" err="1">
                <a:solidFill>
                  <a:srgbClr val="00B0F0"/>
                </a:solidFill>
                <a:latin typeface="+mn-lt"/>
              </a:rPr>
              <a:t>Neurosymbolic</a:t>
            </a:r>
            <a:r>
              <a:rPr lang="en-GB" b="1" dirty="0">
                <a:solidFill>
                  <a:srgbClr val="00B0F0"/>
                </a:solidFill>
                <a:latin typeface="+mn-lt"/>
              </a:rPr>
              <a:t> AI</a:t>
            </a:r>
            <a:endParaRPr lang="en-IT" b="1" dirty="0">
              <a:solidFill>
                <a:srgbClr val="00B0F0"/>
              </a:solidFill>
              <a:latin typeface="+mn-lt"/>
            </a:endParaRPr>
          </a:p>
        </p:txBody>
      </p:sp>
      <p:sp>
        <p:nvSpPr>
          <p:cNvPr id="3" name="Content Placeholder 2">
            <a:extLst>
              <a:ext uri="{FF2B5EF4-FFF2-40B4-BE49-F238E27FC236}">
                <a16:creationId xmlns:a16="http://schemas.microsoft.com/office/drawing/2014/main" id="{967B7AE3-CD30-9AB5-6B7A-6FE78001DE6E}"/>
              </a:ext>
            </a:extLst>
          </p:cNvPr>
          <p:cNvSpPr>
            <a:spLocks noGrp="1"/>
          </p:cNvSpPr>
          <p:nvPr>
            <p:ph idx="1"/>
          </p:nvPr>
        </p:nvSpPr>
        <p:spPr>
          <a:xfrm>
            <a:off x="1097279" y="1845734"/>
            <a:ext cx="8358955" cy="4023360"/>
          </a:xfrm>
        </p:spPr>
        <p:txBody>
          <a:bodyPr>
            <a:normAutofit fontScale="92500" lnSpcReduction="10000"/>
          </a:bodyPr>
          <a:lstStyle/>
          <a:p>
            <a:pPr marL="0" indent="0">
              <a:buNone/>
            </a:pPr>
            <a:r>
              <a:rPr lang="en-GB" sz="2800" i="1" dirty="0"/>
              <a:t>…  aims to build rich computational AI models, systems and applications by combining neural and symbolic learning and reasoning. It seeks to complement the strengths of deep neural networks and symbolic AI while overcoming their respective weaknesses. </a:t>
            </a:r>
            <a:r>
              <a:rPr lang="en-GB" sz="2800" dirty="0"/>
              <a:t>https://</a:t>
            </a:r>
            <a:r>
              <a:rPr lang="en-GB" sz="2800" dirty="0" err="1"/>
              <a:t>nesy-ai.org</a:t>
            </a:r>
            <a:r>
              <a:rPr lang="en-GB" sz="2800" dirty="0"/>
              <a:t>/</a:t>
            </a:r>
            <a:endParaRPr lang="en-IT" sz="2800" dirty="0"/>
          </a:p>
          <a:p>
            <a:endParaRPr lang="en-IT" sz="2400" dirty="0">
              <a:solidFill>
                <a:srgbClr val="00B0F0"/>
              </a:solidFill>
            </a:endParaRPr>
          </a:p>
          <a:p>
            <a:pPr>
              <a:buFont typeface="Wingdings" pitchFamily="2" charset="2"/>
              <a:buChar char="v"/>
            </a:pPr>
            <a:r>
              <a:rPr lang="en-GB" i="1" dirty="0"/>
              <a:t> </a:t>
            </a:r>
            <a:r>
              <a:rPr lang="en-GB" sz="2400" dirty="0"/>
              <a:t>Symbolic dialogue managers for Neural Networks [</a:t>
            </a:r>
            <a:r>
              <a:rPr lang="en-GB" sz="2400" dirty="0" err="1"/>
              <a:t>Xompero</a:t>
            </a:r>
            <a:r>
              <a:rPr lang="en-GB" sz="2400" dirty="0"/>
              <a:t> et al 2020, Zhang et al 2020]</a:t>
            </a:r>
          </a:p>
          <a:p>
            <a:pPr>
              <a:buFont typeface="Wingdings" pitchFamily="2" charset="2"/>
              <a:buChar char="v"/>
            </a:pPr>
            <a:r>
              <a:rPr lang="en-GB" sz="2400" dirty="0"/>
              <a:t>Schema-driven control of NN end-to-end [Agrawal et al </a:t>
            </a:r>
            <a:r>
              <a:rPr lang="en-GB" sz="2400" dirty="0" err="1"/>
              <a:t>SigDIAL</a:t>
            </a:r>
            <a:r>
              <a:rPr lang="en-GB" sz="2400" dirty="0"/>
              <a:t> 24]</a:t>
            </a:r>
          </a:p>
          <a:p>
            <a:pPr>
              <a:buFont typeface="Wingdings" pitchFamily="2" charset="2"/>
              <a:buChar char="v"/>
            </a:pPr>
            <a:r>
              <a:rPr lang="en-GB" sz="2400" dirty="0"/>
              <a:t> Deep logic programming approaches to dialogue architectures [</a:t>
            </a:r>
            <a:r>
              <a:rPr lang="en-GB" sz="2400" dirty="0" err="1"/>
              <a:t>Altszyler</a:t>
            </a:r>
            <a:r>
              <a:rPr lang="en-GB" sz="2400" dirty="0"/>
              <a:t> et al 2021,  Zhou et al 2020]</a:t>
            </a:r>
          </a:p>
          <a:p>
            <a:endParaRPr lang="en-IT" sz="2400" dirty="0">
              <a:solidFill>
                <a:srgbClr val="00B0F0"/>
              </a:solidFill>
            </a:endParaRPr>
          </a:p>
          <a:p>
            <a:endParaRPr lang="en-IT" sz="2400" dirty="0"/>
          </a:p>
        </p:txBody>
      </p:sp>
      <p:sp>
        <p:nvSpPr>
          <p:cNvPr id="4" name="Slide Number Placeholder 3">
            <a:extLst>
              <a:ext uri="{FF2B5EF4-FFF2-40B4-BE49-F238E27FC236}">
                <a16:creationId xmlns:a16="http://schemas.microsoft.com/office/drawing/2014/main" id="{65B6135B-D7E7-3E80-7D48-8C84290E99BE}"/>
              </a:ext>
            </a:extLst>
          </p:cNvPr>
          <p:cNvSpPr>
            <a:spLocks noGrp="1"/>
          </p:cNvSpPr>
          <p:nvPr>
            <p:ph type="sldNum" sz="quarter" idx="12"/>
          </p:nvPr>
        </p:nvSpPr>
        <p:spPr/>
        <p:txBody>
          <a:bodyPr/>
          <a:lstStyle/>
          <a:p>
            <a:fld id="{6113E31D-E2AB-40D1-8B51-AFA5AFEF393A}" type="slidenum">
              <a:rPr lang="en-US" smtClean="0"/>
              <a:t>23</a:t>
            </a:fld>
            <a:endParaRPr lang="en-US" dirty="0"/>
          </a:p>
        </p:txBody>
      </p:sp>
      <p:pic>
        <p:nvPicPr>
          <p:cNvPr id="4100" name="Picture 4" descr="Neurosymbolic AI">
            <a:extLst>
              <a:ext uri="{FF2B5EF4-FFF2-40B4-BE49-F238E27FC236}">
                <a16:creationId xmlns:a16="http://schemas.microsoft.com/office/drawing/2014/main" id="{D4B39889-1983-7AA9-330F-E69089F172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7272" y="380390"/>
            <a:ext cx="2438400" cy="17272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225A4A3-89E7-6307-5615-96A70C4BE4A7}"/>
              </a:ext>
            </a:extLst>
          </p:cNvPr>
          <p:cNvSpPr txBox="1"/>
          <p:nvPr/>
        </p:nvSpPr>
        <p:spPr>
          <a:xfrm>
            <a:off x="9552442" y="2320993"/>
            <a:ext cx="2639558" cy="923330"/>
          </a:xfrm>
          <a:prstGeom prst="rect">
            <a:avLst/>
          </a:prstGeom>
          <a:noFill/>
        </p:spPr>
        <p:txBody>
          <a:bodyPr wrap="square" rtlCol="0">
            <a:spAutoFit/>
          </a:bodyPr>
          <a:lstStyle/>
          <a:p>
            <a:r>
              <a:rPr lang="en-IT" dirty="0"/>
              <a:t>Neurosymbolic AI</a:t>
            </a:r>
          </a:p>
          <a:p>
            <a:r>
              <a:rPr lang="en-GB" dirty="0">
                <a:hlinkClick r:id="rId4"/>
              </a:rPr>
              <a:t>Workshop series (17 so far)</a:t>
            </a:r>
            <a:endParaRPr lang="en-IT" dirty="0"/>
          </a:p>
        </p:txBody>
      </p:sp>
      <p:pic>
        <p:nvPicPr>
          <p:cNvPr id="5" name="Picture 4" descr="A red circle with black text&#10;&#10;Description automatically generated">
            <a:extLst>
              <a:ext uri="{FF2B5EF4-FFF2-40B4-BE49-F238E27FC236}">
                <a16:creationId xmlns:a16="http://schemas.microsoft.com/office/drawing/2014/main" id="{2E2DBA7C-E87C-EC9C-78C0-5ECF84D68372}"/>
              </a:ext>
            </a:extLst>
          </p:cNvPr>
          <p:cNvPicPr>
            <a:picLocks noChangeAspect="1"/>
          </p:cNvPicPr>
          <p:nvPr/>
        </p:nvPicPr>
        <p:blipFill>
          <a:blip r:embed="rId5"/>
          <a:stretch>
            <a:fillRect/>
          </a:stretch>
        </p:blipFill>
        <p:spPr>
          <a:xfrm>
            <a:off x="0" y="5821692"/>
            <a:ext cx="812977" cy="820659"/>
          </a:xfrm>
          <a:prstGeom prst="rect">
            <a:avLst/>
          </a:prstGeom>
        </p:spPr>
      </p:pic>
    </p:spTree>
    <p:extLst>
      <p:ext uri="{BB962C8B-B14F-4D97-AF65-F5344CB8AC3E}">
        <p14:creationId xmlns:p14="http://schemas.microsoft.com/office/powerpoint/2010/main" val="1478922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00B84-E605-0CFA-2A74-8B97D6561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EA1FE-4494-0BAA-BE0A-5842D6F81C72}"/>
              </a:ext>
            </a:extLst>
          </p:cNvPr>
          <p:cNvSpPr>
            <a:spLocks noGrp="1"/>
          </p:cNvSpPr>
          <p:nvPr>
            <p:ph type="title"/>
          </p:nvPr>
        </p:nvSpPr>
        <p:spPr>
          <a:xfrm>
            <a:off x="926757" y="2"/>
            <a:ext cx="10448822" cy="1503457"/>
          </a:xfrm>
        </p:spPr>
        <p:txBody>
          <a:bodyPr>
            <a:normAutofit fontScale="90000"/>
          </a:bodyPr>
          <a:lstStyle/>
          <a:p>
            <a:r>
              <a:rPr lang="en-IT" b="1" dirty="0">
                <a:solidFill>
                  <a:srgbClr val="00B0F0"/>
                </a:solidFill>
                <a:latin typeface="+mn-lt"/>
              </a:rPr>
              <a:t>Neural NLU v2: Neurosymbolic approach  </a:t>
            </a:r>
            <a:br>
              <a:rPr lang="en-IT" b="1" dirty="0">
                <a:solidFill>
                  <a:srgbClr val="00B0F0"/>
                </a:solidFill>
                <a:latin typeface="+mn-lt"/>
              </a:rPr>
            </a:br>
            <a:r>
              <a:rPr lang="en-IT" sz="2800" b="1" dirty="0">
                <a:solidFill>
                  <a:srgbClr val="00B0F0"/>
                </a:solidFill>
                <a:latin typeface="+mn-lt"/>
              </a:rPr>
              <a:t>[Zhou et al LREC-COLING 2024]</a:t>
            </a:r>
            <a:br>
              <a:rPr lang="en-IT" sz="2800" b="1" dirty="0">
                <a:solidFill>
                  <a:srgbClr val="00B0F0"/>
                </a:solidFill>
                <a:latin typeface="+mn-lt"/>
              </a:rPr>
            </a:br>
            <a:br>
              <a:rPr lang="en-IT" sz="2800" b="1" dirty="0">
                <a:solidFill>
                  <a:srgbClr val="00B0F0"/>
                </a:solidFill>
                <a:latin typeface="+mn-lt"/>
              </a:rPr>
            </a:br>
            <a:endParaRPr lang="en-IT" sz="2800" b="1" dirty="0">
              <a:solidFill>
                <a:srgbClr val="00B0F0"/>
              </a:solidFill>
              <a:latin typeface="+mn-lt"/>
            </a:endParaRPr>
          </a:p>
        </p:txBody>
      </p:sp>
      <p:graphicFrame>
        <p:nvGraphicFramePr>
          <p:cNvPr id="14" name="Google Shape;62;p14">
            <a:extLst>
              <a:ext uri="{FF2B5EF4-FFF2-40B4-BE49-F238E27FC236}">
                <a16:creationId xmlns:a16="http://schemas.microsoft.com/office/drawing/2014/main" id="{DA174F41-2021-C4BF-C20B-645D3776BDE0}"/>
              </a:ext>
            </a:extLst>
          </p:cNvPr>
          <p:cNvGraphicFramePr>
            <a:graphicFrameLocks noGrp="1"/>
          </p:cNvGraphicFramePr>
          <p:nvPr>
            <p:ph idx="1"/>
            <p:extLst>
              <p:ext uri="{D42A27DB-BD31-4B8C-83A1-F6EECF244321}">
                <p14:modId xmlns:p14="http://schemas.microsoft.com/office/powerpoint/2010/main" val="4274199653"/>
              </p:ext>
            </p:extLst>
          </p:nvPr>
        </p:nvGraphicFramePr>
        <p:xfrm>
          <a:off x="938380" y="4215409"/>
          <a:ext cx="11015322" cy="31330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39C9FE5C-CB6C-4BC5-49D6-601B1A8FBCD9}"/>
              </a:ext>
            </a:extLst>
          </p:cNvPr>
          <p:cNvSpPr>
            <a:spLocks noGrp="1"/>
          </p:cNvSpPr>
          <p:nvPr>
            <p:ph type="sldNum" sz="quarter" idx="12"/>
          </p:nvPr>
        </p:nvSpPr>
        <p:spPr/>
        <p:txBody>
          <a:bodyPr/>
          <a:lstStyle/>
          <a:p>
            <a:fld id="{6113E31D-E2AB-40D1-8B51-AFA5AFEF393A}" type="slidenum">
              <a:rPr lang="en-US" smtClean="0"/>
              <a:t>24</a:t>
            </a:fld>
            <a:endParaRPr lang="en-US" dirty="0"/>
          </a:p>
        </p:txBody>
      </p:sp>
      <p:pic>
        <p:nvPicPr>
          <p:cNvPr id="45" name="Picture 44" descr="A red circle with black text&#10;&#10;Description automatically generated">
            <a:extLst>
              <a:ext uri="{FF2B5EF4-FFF2-40B4-BE49-F238E27FC236}">
                <a16:creationId xmlns:a16="http://schemas.microsoft.com/office/drawing/2014/main" id="{35772645-942F-A1DE-60F3-658E79DF3CA2}"/>
              </a:ext>
            </a:extLst>
          </p:cNvPr>
          <p:cNvPicPr>
            <a:picLocks noChangeAspect="1"/>
          </p:cNvPicPr>
          <p:nvPr/>
        </p:nvPicPr>
        <p:blipFill>
          <a:blip r:embed="rId8"/>
          <a:stretch>
            <a:fillRect/>
          </a:stretch>
        </p:blipFill>
        <p:spPr>
          <a:xfrm>
            <a:off x="-199423" y="5625073"/>
            <a:ext cx="1126180" cy="1136822"/>
          </a:xfrm>
          <a:prstGeom prst="rect">
            <a:avLst/>
          </a:prstGeom>
        </p:spPr>
      </p:pic>
      <p:pic>
        <p:nvPicPr>
          <p:cNvPr id="6" name="Picture 5">
            <a:extLst>
              <a:ext uri="{FF2B5EF4-FFF2-40B4-BE49-F238E27FC236}">
                <a16:creationId xmlns:a16="http://schemas.microsoft.com/office/drawing/2014/main" id="{D6BDD59A-B4B2-CA0E-C11D-A87D386D3439}"/>
              </a:ext>
            </a:extLst>
          </p:cNvPr>
          <p:cNvPicPr>
            <a:picLocks noChangeAspect="1"/>
          </p:cNvPicPr>
          <p:nvPr/>
        </p:nvPicPr>
        <p:blipFill>
          <a:blip r:embed="rId9"/>
          <a:stretch>
            <a:fillRect/>
          </a:stretch>
        </p:blipFill>
        <p:spPr>
          <a:xfrm>
            <a:off x="938381" y="1108610"/>
            <a:ext cx="10448823" cy="2819327"/>
          </a:xfrm>
          <a:prstGeom prst="rect">
            <a:avLst/>
          </a:prstGeom>
        </p:spPr>
      </p:pic>
    </p:spTree>
    <p:extLst>
      <p:ext uri="{BB962C8B-B14F-4D97-AF65-F5344CB8AC3E}">
        <p14:creationId xmlns:p14="http://schemas.microsoft.com/office/powerpoint/2010/main" val="1138057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28833-19BC-7676-E399-AD0B45216889}"/>
              </a:ext>
            </a:extLst>
          </p:cNvPr>
          <p:cNvSpPr>
            <a:spLocks noGrp="1"/>
          </p:cNvSpPr>
          <p:nvPr>
            <p:ph type="title"/>
          </p:nvPr>
        </p:nvSpPr>
        <p:spPr/>
        <p:txBody>
          <a:bodyPr/>
          <a:lstStyle/>
          <a:p>
            <a:r>
              <a:rPr lang="en-IT" b="1" dirty="0">
                <a:solidFill>
                  <a:srgbClr val="00B0F0"/>
                </a:solidFill>
                <a:latin typeface="+mn-lt"/>
              </a:rPr>
              <a:t>Virtual Coach: NLU Results</a:t>
            </a:r>
          </a:p>
        </p:txBody>
      </p:sp>
      <p:sp>
        <p:nvSpPr>
          <p:cNvPr id="3" name="Content Placeholder 2">
            <a:extLst>
              <a:ext uri="{FF2B5EF4-FFF2-40B4-BE49-F238E27FC236}">
                <a16:creationId xmlns:a16="http://schemas.microsoft.com/office/drawing/2014/main" id="{C0819D12-AD31-B40B-1F03-168800CC2DFB}"/>
              </a:ext>
            </a:extLst>
          </p:cNvPr>
          <p:cNvSpPr>
            <a:spLocks noGrp="1"/>
          </p:cNvSpPr>
          <p:nvPr>
            <p:ph idx="1"/>
          </p:nvPr>
        </p:nvSpPr>
        <p:spPr>
          <a:xfrm>
            <a:off x="1097280" y="2096105"/>
            <a:ext cx="8128000" cy="2218266"/>
          </a:xfrm>
        </p:spPr>
        <p:txBody>
          <a:bodyPr/>
          <a:lstStyle/>
          <a:p>
            <a:r>
              <a:rPr lang="en-IT" sz="3200" dirty="0">
                <a:solidFill>
                  <a:schemeClr val="tx1"/>
                </a:solidFill>
              </a:rPr>
              <a:t>Joint Goal Accuracy (10 attributes all correct):</a:t>
            </a:r>
          </a:p>
          <a:p>
            <a:endParaRPr lang="en-IT" dirty="0"/>
          </a:p>
        </p:txBody>
      </p:sp>
      <p:sp>
        <p:nvSpPr>
          <p:cNvPr id="4" name="Slide Number Placeholder 3">
            <a:extLst>
              <a:ext uri="{FF2B5EF4-FFF2-40B4-BE49-F238E27FC236}">
                <a16:creationId xmlns:a16="http://schemas.microsoft.com/office/drawing/2014/main" id="{C2F1A1BF-3B15-351A-B645-AF473B5416EA}"/>
              </a:ext>
            </a:extLst>
          </p:cNvPr>
          <p:cNvSpPr>
            <a:spLocks noGrp="1"/>
          </p:cNvSpPr>
          <p:nvPr>
            <p:ph type="sldNum" sz="quarter" idx="12"/>
          </p:nvPr>
        </p:nvSpPr>
        <p:spPr/>
        <p:txBody>
          <a:bodyPr/>
          <a:lstStyle/>
          <a:p>
            <a:fld id="{6113E31D-E2AB-40D1-8B51-AFA5AFEF393A}" type="slidenum">
              <a:rPr lang="en-US" smtClean="0"/>
              <a:t>25</a:t>
            </a:fld>
            <a:endParaRPr lang="en-US" dirty="0"/>
          </a:p>
        </p:txBody>
      </p:sp>
      <p:graphicFrame>
        <p:nvGraphicFramePr>
          <p:cNvPr id="6" name="Table 6">
            <a:extLst>
              <a:ext uri="{FF2B5EF4-FFF2-40B4-BE49-F238E27FC236}">
                <a16:creationId xmlns:a16="http://schemas.microsoft.com/office/drawing/2014/main" id="{AF756F29-9A50-63AE-FB86-46AB83489730}"/>
              </a:ext>
            </a:extLst>
          </p:cNvPr>
          <p:cNvGraphicFramePr>
            <a:graphicFrameLocks noGrp="1"/>
          </p:cNvGraphicFramePr>
          <p:nvPr>
            <p:extLst>
              <p:ext uri="{D42A27DB-BD31-4B8C-83A1-F6EECF244321}">
                <p14:modId xmlns:p14="http://schemas.microsoft.com/office/powerpoint/2010/main" val="4058227292"/>
              </p:ext>
            </p:extLst>
          </p:nvPr>
        </p:nvGraphicFramePr>
        <p:xfrm>
          <a:off x="1097279" y="2942771"/>
          <a:ext cx="8495899" cy="1371600"/>
        </p:xfrm>
        <a:graphic>
          <a:graphicData uri="http://schemas.openxmlformats.org/drawingml/2006/table">
            <a:tbl>
              <a:tblPr firstRow="1" bandRow="1">
                <a:tableStyleId>{69CF1AB2-1976-4502-BF36-3FF5EA218861}</a:tableStyleId>
              </a:tblPr>
              <a:tblGrid>
                <a:gridCol w="5720616">
                  <a:extLst>
                    <a:ext uri="{9D8B030D-6E8A-4147-A177-3AD203B41FA5}">
                      <a16:colId xmlns:a16="http://schemas.microsoft.com/office/drawing/2014/main" val="206760909"/>
                    </a:ext>
                  </a:extLst>
                </a:gridCol>
                <a:gridCol w="2775283">
                  <a:extLst>
                    <a:ext uri="{9D8B030D-6E8A-4147-A177-3AD203B41FA5}">
                      <a16:colId xmlns:a16="http://schemas.microsoft.com/office/drawing/2014/main" val="2173687886"/>
                    </a:ext>
                  </a:extLst>
                </a:gridCol>
              </a:tblGrid>
              <a:tr h="370840">
                <a:tc>
                  <a:txBody>
                    <a:bodyPr/>
                    <a:lstStyle/>
                    <a:p>
                      <a:r>
                        <a:rPr lang="en-IT" sz="2400" b="1" dirty="0"/>
                        <a:t>Classic</a:t>
                      </a:r>
                      <a:r>
                        <a:rPr lang="en-IT" sz="2400" b="0" dirty="0"/>
                        <a:t> [Gupta et al SigDIAL  21]</a:t>
                      </a:r>
                    </a:p>
                  </a:txBody>
                  <a:tcPr/>
                </a:tc>
                <a:tc>
                  <a:txBody>
                    <a:bodyPr/>
                    <a:lstStyle/>
                    <a:p>
                      <a:r>
                        <a:rPr lang="en-IT" sz="2400" b="0" dirty="0"/>
                        <a:t>20%</a:t>
                      </a:r>
                    </a:p>
                  </a:txBody>
                  <a:tcPr/>
                </a:tc>
                <a:extLst>
                  <a:ext uri="{0D108BD9-81ED-4DB2-BD59-A6C34878D82A}">
                    <a16:rowId xmlns:a16="http://schemas.microsoft.com/office/drawing/2014/main" val="1782247349"/>
                  </a:ext>
                </a:extLst>
              </a:tr>
              <a:tr h="370840">
                <a:tc>
                  <a:txBody>
                    <a:bodyPr/>
                    <a:lstStyle/>
                    <a:p>
                      <a:r>
                        <a:rPr lang="en-IT" sz="2400" b="1" dirty="0"/>
                        <a:t>Neural</a:t>
                      </a:r>
                      <a:r>
                        <a:rPr lang="en-IT" sz="2400" dirty="0"/>
                        <a:t> </a:t>
                      </a:r>
                      <a:r>
                        <a:rPr lang="en-IT" sz="2400" b="1" dirty="0"/>
                        <a:t>NLU v1  </a:t>
                      </a:r>
                      <a:r>
                        <a:rPr lang="en-IT" sz="2400" dirty="0"/>
                        <a:t>[Zhou et al COLING 22] </a:t>
                      </a:r>
                    </a:p>
                  </a:txBody>
                  <a:tcPr/>
                </a:tc>
                <a:tc>
                  <a:txBody>
                    <a:bodyPr/>
                    <a:lstStyle/>
                    <a:p>
                      <a:r>
                        <a:rPr lang="en-IT" sz="2400" dirty="0"/>
                        <a:t>21.7%</a:t>
                      </a:r>
                    </a:p>
                  </a:txBody>
                  <a:tcPr/>
                </a:tc>
                <a:extLst>
                  <a:ext uri="{0D108BD9-81ED-4DB2-BD59-A6C34878D82A}">
                    <a16:rowId xmlns:a16="http://schemas.microsoft.com/office/drawing/2014/main" val="4110787286"/>
                  </a:ext>
                </a:extLst>
              </a:tr>
              <a:tr h="370840">
                <a:tc>
                  <a:txBody>
                    <a:bodyPr/>
                    <a:lstStyle/>
                    <a:p>
                      <a:r>
                        <a:rPr lang="en-IT" sz="2400" b="1" dirty="0"/>
                        <a:t>Neural</a:t>
                      </a:r>
                      <a:r>
                        <a:rPr lang="en-IT" sz="2400" dirty="0"/>
                        <a:t> </a:t>
                      </a:r>
                      <a:r>
                        <a:rPr lang="en-IT" sz="2400" b="1" dirty="0"/>
                        <a:t>NLU v2  </a:t>
                      </a:r>
                      <a:r>
                        <a:rPr lang="en-IT" sz="2400" dirty="0"/>
                        <a:t>[Zhou et al LREC-COLING 24]</a:t>
                      </a:r>
                    </a:p>
                  </a:txBody>
                  <a:tcPr/>
                </a:tc>
                <a:tc>
                  <a:txBody>
                    <a:bodyPr/>
                    <a:lstStyle/>
                    <a:p>
                      <a:r>
                        <a:rPr lang="en-IT" sz="2400" dirty="0"/>
                        <a:t>52.8%</a:t>
                      </a:r>
                    </a:p>
                  </a:txBody>
                  <a:tcPr/>
                </a:tc>
                <a:extLst>
                  <a:ext uri="{0D108BD9-81ED-4DB2-BD59-A6C34878D82A}">
                    <a16:rowId xmlns:a16="http://schemas.microsoft.com/office/drawing/2014/main" val="3790207851"/>
                  </a:ext>
                </a:extLst>
              </a:tr>
            </a:tbl>
          </a:graphicData>
        </a:graphic>
      </p:graphicFrame>
      <p:pic>
        <p:nvPicPr>
          <p:cNvPr id="9" name="Picture 8" descr="A red circle with black text&#10;&#10;Description automatically generated">
            <a:extLst>
              <a:ext uri="{FF2B5EF4-FFF2-40B4-BE49-F238E27FC236}">
                <a16:creationId xmlns:a16="http://schemas.microsoft.com/office/drawing/2014/main" id="{1BC73EF4-60AC-F9B2-10FB-2727249D1471}"/>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4131039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9A52C-9145-8A00-784D-2AC3B94134C3}"/>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B92AAC90-C571-FFF6-069F-3636008B504A}"/>
              </a:ext>
            </a:extLst>
          </p:cNvPr>
          <p:cNvSpPr txBox="1">
            <a:spLocks/>
          </p:cNvSpPr>
          <p:nvPr/>
        </p:nvSpPr>
        <p:spPr>
          <a:xfrm>
            <a:off x="525518" y="1442252"/>
            <a:ext cx="11326677" cy="4728917"/>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800" dirty="0">
              <a:ea typeface="+mn-lt"/>
              <a:cs typeface="+mn-lt"/>
            </a:endParaRPr>
          </a:p>
          <a:p>
            <a:pPr algn="l"/>
            <a:br>
              <a:rPr lang="en-US" sz="2800" dirty="0">
                <a:ea typeface="+mn-lt"/>
                <a:cs typeface="+mn-lt"/>
              </a:rPr>
            </a:br>
            <a:endParaRPr lang="en-US" sz="2800" dirty="0">
              <a:ea typeface="+mn-lt"/>
              <a:cs typeface="+mn-lt"/>
            </a:endParaRPr>
          </a:p>
        </p:txBody>
      </p:sp>
      <p:sp>
        <p:nvSpPr>
          <p:cNvPr id="31" name="Slide Number Placeholder 30">
            <a:extLst>
              <a:ext uri="{FF2B5EF4-FFF2-40B4-BE49-F238E27FC236}">
                <a16:creationId xmlns:a16="http://schemas.microsoft.com/office/drawing/2014/main" id="{38F3E359-8E38-F37C-B22F-F42E2ED58036}"/>
              </a:ext>
            </a:extLst>
          </p:cNvPr>
          <p:cNvSpPr>
            <a:spLocks noGrp="1"/>
          </p:cNvSpPr>
          <p:nvPr>
            <p:ph type="sldNum" sz="quarter" idx="12"/>
          </p:nvPr>
        </p:nvSpPr>
        <p:spPr/>
        <p:txBody>
          <a:bodyPr/>
          <a:lstStyle/>
          <a:p>
            <a:fld id="{C98AF8CE-0322-E540-B64D-7175E9218127}" type="slidenum">
              <a:rPr lang="en-CN" smtClean="0"/>
              <a:t>26</a:t>
            </a:fld>
            <a:endParaRPr lang="en-CN"/>
          </a:p>
        </p:txBody>
      </p:sp>
      <p:sp>
        <p:nvSpPr>
          <p:cNvPr id="9" name="Rectangle 8">
            <a:extLst>
              <a:ext uri="{FF2B5EF4-FFF2-40B4-BE49-F238E27FC236}">
                <a16:creationId xmlns:a16="http://schemas.microsoft.com/office/drawing/2014/main" id="{BA18CD72-03E2-411B-78AA-DB6F44D6748D}"/>
              </a:ext>
            </a:extLst>
          </p:cNvPr>
          <p:cNvSpPr/>
          <p:nvPr/>
        </p:nvSpPr>
        <p:spPr>
          <a:xfrm>
            <a:off x="1977083" y="5500055"/>
            <a:ext cx="902043" cy="3017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5B291D3-1CD0-A8CF-A69A-75CD7822EBB4}"/>
              </a:ext>
            </a:extLst>
          </p:cNvPr>
          <p:cNvPicPr>
            <a:picLocks noChangeAspect="1"/>
          </p:cNvPicPr>
          <p:nvPr/>
        </p:nvPicPr>
        <p:blipFill>
          <a:blip r:embed="rId3"/>
          <a:stretch>
            <a:fillRect/>
          </a:stretch>
        </p:blipFill>
        <p:spPr>
          <a:xfrm>
            <a:off x="3708432" y="3532098"/>
            <a:ext cx="8275484" cy="2456188"/>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1678D75-7D4F-A4DE-B69F-D558B2A92D3C}"/>
                  </a:ext>
                </a:extLst>
              </p:cNvPr>
              <p:cNvSpPr txBox="1"/>
              <p:nvPr/>
            </p:nvSpPr>
            <p:spPr>
              <a:xfrm>
                <a:off x="393797" y="3962730"/>
                <a:ext cx="3456716" cy="1477328"/>
              </a:xfrm>
              <a:prstGeom prst="rect">
                <a:avLst/>
              </a:prstGeom>
              <a:noFill/>
            </p:spPr>
            <p:txBody>
              <a:bodyPr wrap="square">
                <a:spAutoFit/>
              </a:bodyPr>
              <a:lstStyle/>
              <a:p>
                <a14:m>
                  <m:oMath xmlns:m="http://schemas.openxmlformats.org/officeDocument/2006/math">
                    <m:r>
                      <a:rPr lang="en-US" b="1" i="1">
                        <a:latin typeface="Cambria Math" panose="02040503050406030204" pitchFamily="18" charset="0"/>
                      </a:rPr>
                      <m:t> </m:t>
                    </m:r>
                    <m:sSub>
                      <m:sSubPr>
                        <m:ctrlPr>
                          <a:rPr lang="en-US" b="1" i="1" dirty="0">
                            <a:latin typeface="Cambria Math" panose="02040503050406030204" pitchFamily="18" charset="0"/>
                          </a:rPr>
                        </m:ctrlPr>
                      </m:sSubPr>
                      <m:e>
                        <m:r>
                          <a:rPr lang="en-US" b="1" i="1" dirty="0">
                            <a:latin typeface="Cambria Math" panose="02040503050406030204" pitchFamily="18" charset="0"/>
                          </a:rPr>
                          <m:t>𝑵𝑳𝑮</m:t>
                        </m:r>
                      </m:e>
                      <m:sub>
                        <m:r>
                          <a:rPr lang="en-US" b="1" i="1" dirty="0">
                            <a:latin typeface="Cambria Math" panose="02040503050406030204" pitchFamily="18" charset="0"/>
                          </a:rPr>
                          <m:t>𝒉𝒄</m:t>
                        </m:r>
                      </m:sub>
                    </m:sSub>
                    <m:r>
                      <a:rPr lang="en-US" b="1" i="1" dirty="0">
                        <a:latin typeface="Cambria Math" panose="02040503050406030204" pitchFamily="18" charset="0"/>
                      </a:rPr>
                      <m:t> : </m:t>
                    </m:r>
                  </m:oMath>
                </a14:m>
                <a:r>
                  <a:rPr lang="en-US" dirty="0"/>
                  <a:t>context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𝐶</m:t>
                        </m:r>
                      </m:e>
                      <m:sub>
                        <m:r>
                          <a:rPr lang="en-US" i="1" dirty="0">
                            <a:latin typeface="Cambria Math" panose="02040503050406030204" pitchFamily="18" charset="0"/>
                          </a:rPr>
                          <m:t>𝑡</m:t>
                        </m:r>
                      </m:sub>
                    </m:sSub>
                  </m:oMath>
                </a14:m>
                <a:r>
                  <a:rPr lang="en-US" dirty="0"/>
                  <a:t>, belief tokens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𝐵</m:t>
                        </m:r>
                      </m:e>
                      <m:sub>
                        <m:r>
                          <a:rPr lang="en-US" i="1" dirty="0">
                            <a:latin typeface="Cambria Math" panose="02040503050406030204" pitchFamily="18" charset="0"/>
                          </a:rPr>
                          <m:t>𝑡</m:t>
                        </m:r>
                      </m:sub>
                    </m:sSub>
                  </m:oMath>
                </a14:m>
                <a:r>
                  <a:rPr lang="en-US" dirty="0"/>
                  <a:t>, and  predicted stage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i="1" dirty="0">
                            <a:latin typeface="Cambria Math" panose="02040503050406030204" pitchFamily="18" charset="0"/>
                          </a:rPr>
                          <m:t>𝑡</m:t>
                        </m:r>
                      </m:sub>
                    </m:sSub>
                  </m:oMath>
                </a14:m>
                <a:r>
                  <a:rPr lang="en-US" dirty="0"/>
                  <a:t>  embedded with </a:t>
                </a:r>
                <a14:m>
                  <m:oMath xmlns:m="http://schemas.openxmlformats.org/officeDocument/2006/math">
                    <m:r>
                      <a:rPr lang="en-US" i="1" dirty="0">
                        <a:latin typeface="Cambria Math" panose="02040503050406030204" pitchFamily="18" charset="0"/>
                      </a:rPr>
                      <m:t>𝑇</m:t>
                    </m:r>
                    <m:r>
                      <a:rPr lang="en-US" i="1" dirty="0">
                        <a:latin typeface="Cambria Math" panose="02040503050406030204" pitchFamily="18" charset="0"/>
                      </a:rPr>
                      <m:t>5</m:t>
                    </m:r>
                  </m:oMath>
                </a14:m>
                <a:r>
                  <a:rPr lang="en-US" dirty="0"/>
                  <a:t> encoder-decoder model  [Reffel et al JLMR 2020]</a:t>
                </a:r>
              </a:p>
            </p:txBody>
          </p:sp>
        </mc:Choice>
        <mc:Fallback xmlns="">
          <p:sp>
            <p:nvSpPr>
              <p:cNvPr id="13" name="TextBox 12">
                <a:extLst>
                  <a:ext uri="{FF2B5EF4-FFF2-40B4-BE49-F238E27FC236}">
                    <a16:creationId xmlns:a16="http://schemas.microsoft.com/office/drawing/2014/main" id="{95539197-485E-F0FC-912C-CB699C517A24}"/>
                  </a:ext>
                </a:extLst>
              </p:cNvPr>
              <p:cNvSpPr txBox="1">
                <a:spLocks noRot="1" noChangeAspect="1" noMove="1" noResize="1" noEditPoints="1" noAdjustHandles="1" noChangeArrowheads="1" noChangeShapeType="1" noTextEdit="1"/>
              </p:cNvSpPr>
              <p:nvPr/>
            </p:nvSpPr>
            <p:spPr>
              <a:xfrm>
                <a:off x="393797" y="3962730"/>
                <a:ext cx="3456716" cy="1477328"/>
              </a:xfrm>
              <a:prstGeom prst="rect">
                <a:avLst/>
              </a:prstGeom>
              <a:blipFill>
                <a:blip r:embed="rId5"/>
                <a:stretch>
                  <a:fillRect l="-1832" t="-1709" b="-5128"/>
                </a:stretch>
              </a:blipFill>
            </p:spPr>
            <p:txBody>
              <a:bodyPr/>
              <a:lstStyle/>
              <a:p>
                <a:r>
                  <a:rPr lang="en-IT">
                    <a:noFill/>
                  </a:rPr>
                  <a:t> </a:t>
                </a:r>
              </a:p>
            </p:txBody>
          </p:sp>
        </mc:Fallback>
      </mc:AlternateContent>
      <p:pic>
        <p:nvPicPr>
          <p:cNvPr id="2" name="Picture 1" descr="A red circle with black text&#10;&#10;Description automatically generated">
            <a:extLst>
              <a:ext uri="{FF2B5EF4-FFF2-40B4-BE49-F238E27FC236}">
                <a16:creationId xmlns:a16="http://schemas.microsoft.com/office/drawing/2014/main" id="{70E8DE05-557C-5D4B-6DB3-E46705FE2941}"/>
              </a:ext>
            </a:extLst>
          </p:cNvPr>
          <p:cNvPicPr>
            <a:picLocks noChangeAspect="1"/>
          </p:cNvPicPr>
          <p:nvPr/>
        </p:nvPicPr>
        <p:blipFill>
          <a:blip r:embed="rId6"/>
          <a:stretch>
            <a:fillRect/>
          </a:stretch>
        </p:blipFill>
        <p:spPr>
          <a:xfrm>
            <a:off x="-111407" y="5832004"/>
            <a:ext cx="812977" cy="820659"/>
          </a:xfrm>
          <a:prstGeom prst="rect">
            <a:avLst/>
          </a:prstGeom>
        </p:spPr>
      </p:pic>
      <p:sp>
        <p:nvSpPr>
          <p:cNvPr id="7" name="TextBox 6">
            <a:extLst>
              <a:ext uri="{FF2B5EF4-FFF2-40B4-BE49-F238E27FC236}">
                <a16:creationId xmlns:a16="http://schemas.microsoft.com/office/drawing/2014/main" id="{CCD97DFA-E8E7-567C-437D-08FF1A54DFFD}"/>
              </a:ext>
            </a:extLst>
          </p:cNvPr>
          <p:cNvSpPr txBox="1"/>
          <p:nvPr/>
        </p:nvSpPr>
        <p:spPr>
          <a:xfrm>
            <a:off x="505208" y="138825"/>
            <a:ext cx="10046039" cy="646331"/>
          </a:xfrm>
          <a:prstGeom prst="rect">
            <a:avLst/>
          </a:prstGeom>
          <a:noFill/>
        </p:spPr>
        <p:txBody>
          <a:bodyPr wrap="square">
            <a:spAutoFit/>
          </a:bodyPr>
          <a:lstStyle/>
          <a:p>
            <a:pPr>
              <a:defRPr/>
            </a:pPr>
            <a:r>
              <a:rPr lang="en-US" sz="3600" b="1" dirty="0">
                <a:solidFill>
                  <a:srgbClr val="00B0F0"/>
                </a:solidFill>
                <a:latin typeface="Calibri"/>
                <a:ea typeface="+mn-lt"/>
                <a:cs typeface="Calibri"/>
              </a:rPr>
              <a:t>NLG: generate response   </a:t>
            </a:r>
            <a:r>
              <a:rPr lang="en-US" sz="2800" b="1" dirty="0">
                <a:solidFill>
                  <a:srgbClr val="00B0F0"/>
                </a:solidFill>
                <a:latin typeface="Calibri"/>
                <a:ea typeface="+mn-lt"/>
                <a:cs typeface="Calibri"/>
              </a:rPr>
              <a:t>[Zhou et al COLING 22] </a:t>
            </a:r>
            <a:endParaRPr lang="en-US" sz="2800" b="1" dirty="0">
              <a:solidFill>
                <a:srgbClr val="00B0F0"/>
              </a:solidFill>
              <a:latin typeface="Calibri"/>
            </a:endParaRPr>
          </a:p>
        </p:txBody>
      </p:sp>
      <p:pic>
        <p:nvPicPr>
          <p:cNvPr id="6" name="Picture 5" descr="A diagram of a diagram&#10;&#10;AI-generated content may be incorrect.">
            <a:extLst>
              <a:ext uri="{FF2B5EF4-FFF2-40B4-BE49-F238E27FC236}">
                <a16:creationId xmlns:a16="http://schemas.microsoft.com/office/drawing/2014/main" id="{E8A19EF0-467E-20B3-4EC3-2B8810131AC6}"/>
              </a:ext>
            </a:extLst>
          </p:cNvPr>
          <p:cNvPicPr>
            <a:picLocks noChangeAspect="1"/>
          </p:cNvPicPr>
          <p:nvPr/>
        </p:nvPicPr>
        <p:blipFill>
          <a:blip r:embed="rId7"/>
          <a:stretch>
            <a:fillRect/>
          </a:stretch>
        </p:blipFill>
        <p:spPr>
          <a:xfrm>
            <a:off x="424931" y="1375016"/>
            <a:ext cx="9272799" cy="2136715"/>
          </a:xfrm>
          <a:prstGeom prst="rect">
            <a:avLst/>
          </a:prstGeom>
        </p:spPr>
      </p:pic>
      <p:sp>
        <p:nvSpPr>
          <p:cNvPr id="10" name="Frame 9">
            <a:extLst>
              <a:ext uri="{FF2B5EF4-FFF2-40B4-BE49-F238E27FC236}">
                <a16:creationId xmlns:a16="http://schemas.microsoft.com/office/drawing/2014/main" id="{F772D0E8-16EB-E126-AC58-E57936BD2953}"/>
              </a:ext>
            </a:extLst>
          </p:cNvPr>
          <p:cNvSpPr/>
          <p:nvPr/>
        </p:nvSpPr>
        <p:spPr>
          <a:xfrm>
            <a:off x="3708432" y="1336721"/>
            <a:ext cx="6089885" cy="2300908"/>
          </a:xfrm>
          <a:prstGeom prst="frame">
            <a:avLst>
              <a:gd name="adj1" fmla="val 4167"/>
            </a:avLst>
          </a:prstGeom>
          <a:solidFill>
            <a:srgbClr val="043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solidFill>
                <a:schemeClr val="tx1"/>
              </a:solidFill>
            </a:endParaRPr>
          </a:p>
        </p:txBody>
      </p:sp>
    </p:spTree>
    <p:extLst>
      <p:ext uri="{BB962C8B-B14F-4D97-AF65-F5344CB8AC3E}">
        <p14:creationId xmlns:p14="http://schemas.microsoft.com/office/powerpoint/2010/main" val="377324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0" grpId="0" animBg="1"/>
      <p:bldP spid="10"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80544B81-E899-6A4D-A108-BCBC4F7BD5A0}"/>
              </a:ext>
            </a:extLst>
          </p:cNvPr>
          <p:cNvSpPr txBox="1">
            <a:spLocks/>
          </p:cNvSpPr>
          <p:nvPr/>
        </p:nvSpPr>
        <p:spPr>
          <a:xfrm>
            <a:off x="525518" y="1442252"/>
            <a:ext cx="11326677" cy="4728917"/>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800" dirty="0">
              <a:ea typeface="+mn-lt"/>
              <a:cs typeface="+mn-lt"/>
            </a:endParaRPr>
          </a:p>
          <a:p>
            <a:pPr algn="l"/>
            <a:br>
              <a:rPr lang="en-US" sz="2800" dirty="0">
                <a:ea typeface="+mn-lt"/>
                <a:cs typeface="+mn-lt"/>
              </a:rPr>
            </a:br>
            <a:endParaRPr lang="en-US" sz="2800" dirty="0">
              <a:ea typeface="+mn-lt"/>
              <a:cs typeface="+mn-lt"/>
            </a:endParaRPr>
          </a:p>
        </p:txBody>
      </p:sp>
      <p:sp>
        <p:nvSpPr>
          <p:cNvPr id="31" name="Slide Number Placeholder 30">
            <a:extLst>
              <a:ext uri="{FF2B5EF4-FFF2-40B4-BE49-F238E27FC236}">
                <a16:creationId xmlns:a16="http://schemas.microsoft.com/office/drawing/2014/main" id="{B6CB6AC4-7FB8-2D44-82FB-0D7E684672A2}"/>
              </a:ext>
            </a:extLst>
          </p:cNvPr>
          <p:cNvSpPr>
            <a:spLocks noGrp="1"/>
          </p:cNvSpPr>
          <p:nvPr>
            <p:ph type="sldNum" sz="quarter" idx="12"/>
          </p:nvPr>
        </p:nvSpPr>
        <p:spPr/>
        <p:txBody>
          <a:bodyPr/>
          <a:lstStyle/>
          <a:p>
            <a:fld id="{C98AF8CE-0322-E540-B64D-7175E9218127}" type="slidenum">
              <a:rPr lang="en-CN" smtClean="0"/>
              <a:t>27</a:t>
            </a:fld>
            <a:endParaRPr lang="en-CN"/>
          </a:p>
        </p:txBody>
      </p:sp>
      <p:pic>
        <p:nvPicPr>
          <p:cNvPr id="10" name="Picture 6" descr="Logo&#10;&#10;Description automatically generated">
            <a:extLst>
              <a:ext uri="{FF2B5EF4-FFF2-40B4-BE49-F238E27FC236}">
                <a16:creationId xmlns:a16="http://schemas.microsoft.com/office/drawing/2014/main" id="{CB9BB55C-56CF-6CD8-344C-B113FC2E881F}"/>
              </a:ext>
            </a:extLst>
          </p:cNvPr>
          <p:cNvPicPr>
            <a:picLocks noChangeAspect="1"/>
          </p:cNvPicPr>
          <p:nvPr/>
        </p:nvPicPr>
        <p:blipFill>
          <a:blip r:embed="rId3"/>
          <a:stretch>
            <a:fillRect/>
          </a:stretch>
        </p:blipFill>
        <p:spPr>
          <a:xfrm>
            <a:off x="-27046" y="5865380"/>
            <a:ext cx="671210" cy="671210"/>
          </a:xfrm>
          <a:prstGeom prst="rect">
            <a:avLst/>
          </a:prstGeom>
        </p:spPr>
      </p:pic>
      <p:pic>
        <p:nvPicPr>
          <p:cNvPr id="3" name="Picture 2">
            <a:extLst>
              <a:ext uri="{FF2B5EF4-FFF2-40B4-BE49-F238E27FC236}">
                <a16:creationId xmlns:a16="http://schemas.microsoft.com/office/drawing/2014/main" id="{E2D54829-FA4D-ED9F-37D2-A6E0FF3C6EC9}"/>
              </a:ext>
            </a:extLst>
          </p:cNvPr>
          <p:cNvPicPr>
            <a:picLocks noChangeAspect="1"/>
          </p:cNvPicPr>
          <p:nvPr/>
        </p:nvPicPr>
        <p:blipFill>
          <a:blip r:embed="rId4"/>
          <a:stretch>
            <a:fillRect/>
          </a:stretch>
        </p:blipFill>
        <p:spPr>
          <a:xfrm>
            <a:off x="644164" y="1284535"/>
            <a:ext cx="7772400" cy="1855715"/>
          </a:xfrm>
          <a:prstGeom prst="rect">
            <a:avLst/>
          </a:prstGeom>
        </p:spPr>
      </p:pic>
      <p:sp>
        <p:nvSpPr>
          <p:cNvPr id="6" name="Rectangle 5">
            <a:extLst>
              <a:ext uri="{FF2B5EF4-FFF2-40B4-BE49-F238E27FC236}">
                <a16:creationId xmlns:a16="http://schemas.microsoft.com/office/drawing/2014/main" id="{6B745E79-1BDA-8D57-77B6-54908F0CA2BF}"/>
              </a:ext>
            </a:extLst>
          </p:cNvPr>
          <p:cNvSpPr/>
          <p:nvPr/>
        </p:nvSpPr>
        <p:spPr>
          <a:xfrm>
            <a:off x="4967949" y="2310076"/>
            <a:ext cx="1433384" cy="550522"/>
          </a:xfrm>
          <a:prstGeom prst="rect">
            <a:avLst/>
          </a:prstGeom>
          <a:noFill/>
          <a:ln w="698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A600B46-9E16-2B04-E7F6-98B250F2245F}"/>
              </a:ext>
            </a:extLst>
          </p:cNvPr>
          <p:cNvSpPr/>
          <p:nvPr/>
        </p:nvSpPr>
        <p:spPr>
          <a:xfrm>
            <a:off x="1977083" y="5500055"/>
            <a:ext cx="902043" cy="3017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A95D63F-C5D5-9F1B-51AB-DD98391AC36C}"/>
              </a:ext>
            </a:extLst>
          </p:cNvPr>
          <p:cNvSpPr txBox="1"/>
          <p:nvPr/>
        </p:nvSpPr>
        <p:spPr>
          <a:xfrm>
            <a:off x="685799" y="3497513"/>
            <a:ext cx="9735856" cy="1938992"/>
          </a:xfrm>
          <a:prstGeom prst="rect">
            <a:avLst/>
          </a:prstGeom>
          <a:noFill/>
        </p:spPr>
        <p:txBody>
          <a:bodyPr wrap="square">
            <a:spAutoFit/>
          </a:bodyPr>
          <a:lstStyle/>
          <a:p>
            <a:r>
              <a:rPr lang="en-US" sz="2400" dirty="0"/>
              <a:t>Following Sharma et al. (2020),  empathetic response based on three communication mechanisms: </a:t>
            </a:r>
          </a:p>
          <a:p>
            <a:pPr marL="342900" indent="-342900">
              <a:buFont typeface="Arial" panose="020B0604020202020204" pitchFamily="34" charset="0"/>
              <a:buChar char="•"/>
            </a:pPr>
            <a:r>
              <a:rPr lang="en-US" sz="2400" b="1" i="1" dirty="0"/>
              <a:t>Emotional Reactions [EMOR]: </a:t>
            </a:r>
            <a:r>
              <a:rPr lang="en-US" sz="2400" dirty="0"/>
              <a:t>“I would be very worried”</a:t>
            </a:r>
          </a:p>
          <a:p>
            <a:pPr marL="342900" indent="-342900">
              <a:buFont typeface="Arial" panose="020B0604020202020204" pitchFamily="34" charset="0"/>
              <a:buChar char="•"/>
            </a:pPr>
            <a:r>
              <a:rPr lang="en-US" sz="2400" b="1" i="1" dirty="0"/>
              <a:t>Interpretations [INTER]:            </a:t>
            </a:r>
            <a:r>
              <a:rPr lang="en-US" sz="2400" dirty="0"/>
              <a:t>“I know anxiety is scary”</a:t>
            </a:r>
          </a:p>
          <a:p>
            <a:pPr marL="342900" indent="-342900">
              <a:buFont typeface="Arial" panose="020B0604020202020204" pitchFamily="34" charset="0"/>
              <a:buChar char="•"/>
            </a:pPr>
            <a:r>
              <a:rPr lang="en-US" sz="2400" b="1" i="1" dirty="0"/>
              <a:t>Explorations [EXPL]:                   </a:t>
            </a:r>
            <a:r>
              <a:rPr lang="en-US" sz="2400" dirty="0"/>
              <a:t>“What happened? How come?”</a:t>
            </a:r>
          </a:p>
        </p:txBody>
      </p:sp>
      <p:sp>
        <p:nvSpPr>
          <p:cNvPr id="2" name="Title 1">
            <a:extLst>
              <a:ext uri="{FF2B5EF4-FFF2-40B4-BE49-F238E27FC236}">
                <a16:creationId xmlns:a16="http://schemas.microsoft.com/office/drawing/2014/main" id="{FD9F7EBF-DCCA-C83B-2037-1BC436DAB79E}"/>
              </a:ext>
            </a:extLst>
          </p:cNvPr>
          <p:cNvSpPr txBox="1">
            <a:spLocks/>
          </p:cNvSpPr>
          <p:nvPr/>
        </p:nvSpPr>
        <p:spPr>
          <a:xfrm>
            <a:off x="348387" y="321410"/>
            <a:ext cx="10010078" cy="865618"/>
          </a:xfrm>
          <a:prstGeom prst="rect">
            <a:avLst/>
          </a:prstGeom>
        </p:spPr>
        <p:txBody>
          <a:bodyPr vert="horz" lIns="91440" tIns="45720" rIns="91440" bIns="45720" rtlCol="0" anchor="b">
            <a:normAutofit fontScale="92500" lnSpcReduction="10000"/>
          </a:bodyPr>
          <a:lst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r>
              <a:rPr lang="en-US" b="1" spc="0" dirty="0">
                <a:solidFill>
                  <a:srgbClr val="00B0F0"/>
                </a:solidFill>
                <a:latin typeface="Calibri"/>
                <a:ea typeface="+mn-lt"/>
                <a:cs typeface="Calibri"/>
              </a:rPr>
              <a:t>Generate empathetic responses </a:t>
            </a:r>
            <a:r>
              <a:rPr lang="en-US" dirty="0">
                <a:solidFill>
                  <a:srgbClr val="00B0F0"/>
                </a:solidFill>
                <a:latin typeface="Calibri"/>
                <a:ea typeface="+mn-lt"/>
                <a:cs typeface="Calibri"/>
              </a:rPr>
              <a:t>[Zhou et al COLING 22] </a:t>
            </a:r>
            <a:br>
              <a:rPr lang="en-US" spc="0" dirty="0">
                <a:solidFill>
                  <a:srgbClr val="00B0F0"/>
                </a:solidFill>
                <a:latin typeface="Calibri"/>
                <a:ea typeface="+mn-lt"/>
                <a:cs typeface="Calibri"/>
              </a:rPr>
            </a:br>
            <a:endParaRPr lang="en-IT" dirty="0"/>
          </a:p>
        </p:txBody>
      </p:sp>
    </p:spTree>
    <p:extLst>
      <p:ext uri="{BB962C8B-B14F-4D97-AF65-F5344CB8AC3E}">
        <p14:creationId xmlns:p14="http://schemas.microsoft.com/office/powerpoint/2010/main" val="2516019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41361-4B27-A3F8-2BAB-DB2497D66AB9}"/>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B3587031-A4B0-7613-C6DE-AB508C5982E6}"/>
              </a:ext>
            </a:extLst>
          </p:cNvPr>
          <p:cNvSpPr txBox="1">
            <a:spLocks/>
          </p:cNvSpPr>
          <p:nvPr/>
        </p:nvSpPr>
        <p:spPr>
          <a:xfrm>
            <a:off x="525518" y="1442252"/>
            <a:ext cx="11326677" cy="4728917"/>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800" dirty="0">
              <a:ea typeface="+mn-lt"/>
              <a:cs typeface="+mn-lt"/>
            </a:endParaRPr>
          </a:p>
          <a:p>
            <a:pPr algn="l"/>
            <a:br>
              <a:rPr lang="en-US" sz="2800" dirty="0">
                <a:ea typeface="+mn-lt"/>
                <a:cs typeface="+mn-lt"/>
              </a:rPr>
            </a:br>
            <a:endParaRPr lang="en-US" sz="2800" dirty="0">
              <a:ea typeface="+mn-lt"/>
              <a:cs typeface="+mn-lt"/>
            </a:endParaRPr>
          </a:p>
        </p:txBody>
      </p:sp>
      <p:sp>
        <p:nvSpPr>
          <p:cNvPr id="31" name="Slide Number Placeholder 30">
            <a:extLst>
              <a:ext uri="{FF2B5EF4-FFF2-40B4-BE49-F238E27FC236}">
                <a16:creationId xmlns:a16="http://schemas.microsoft.com/office/drawing/2014/main" id="{928AF1D9-FDFB-BF5A-7AD9-A241714A3A35}"/>
              </a:ext>
            </a:extLst>
          </p:cNvPr>
          <p:cNvSpPr>
            <a:spLocks noGrp="1"/>
          </p:cNvSpPr>
          <p:nvPr>
            <p:ph type="sldNum" sz="quarter" idx="12"/>
          </p:nvPr>
        </p:nvSpPr>
        <p:spPr/>
        <p:txBody>
          <a:bodyPr/>
          <a:lstStyle/>
          <a:p>
            <a:fld id="{C98AF8CE-0322-E540-B64D-7175E9218127}" type="slidenum">
              <a:rPr lang="en-CN" smtClean="0"/>
              <a:t>28</a:t>
            </a:fld>
            <a:endParaRPr lang="en-CN"/>
          </a:p>
        </p:txBody>
      </p:sp>
      <p:pic>
        <p:nvPicPr>
          <p:cNvPr id="10" name="Picture 6" descr="Logo&#10;&#10;Description automatically generated">
            <a:extLst>
              <a:ext uri="{FF2B5EF4-FFF2-40B4-BE49-F238E27FC236}">
                <a16:creationId xmlns:a16="http://schemas.microsoft.com/office/drawing/2014/main" id="{D1385962-620C-85F3-6B1C-7148727C02E7}"/>
              </a:ext>
            </a:extLst>
          </p:cNvPr>
          <p:cNvPicPr>
            <a:picLocks noChangeAspect="1"/>
          </p:cNvPicPr>
          <p:nvPr/>
        </p:nvPicPr>
        <p:blipFill>
          <a:blip r:embed="rId3"/>
          <a:stretch>
            <a:fillRect/>
          </a:stretch>
        </p:blipFill>
        <p:spPr>
          <a:xfrm>
            <a:off x="-27046" y="5865380"/>
            <a:ext cx="671210" cy="671210"/>
          </a:xfrm>
          <a:prstGeom prst="rect">
            <a:avLst/>
          </a:prstGeom>
        </p:spPr>
      </p:pic>
      <p:pic>
        <p:nvPicPr>
          <p:cNvPr id="3" name="Picture 2">
            <a:extLst>
              <a:ext uri="{FF2B5EF4-FFF2-40B4-BE49-F238E27FC236}">
                <a16:creationId xmlns:a16="http://schemas.microsoft.com/office/drawing/2014/main" id="{8878DAF8-B66E-0698-B6B8-693D3B9483B0}"/>
              </a:ext>
            </a:extLst>
          </p:cNvPr>
          <p:cNvPicPr>
            <a:picLocks noChangeAspect="1"/>
          </p:cNvPicPr>
          <p:nvPr/>
        </p:nvPicPr>
        <p:blipFill>
          <a:blip r:embed="rId4"/>
          <a:stretch>
            <a:fillRect/>
          </a:stretch>
        </p:blipFill>
        <p:spPr>
          <a:xfrm>
            <a:off x="644164" y="1284535"/>
            <a:ext cx="7772400" cy="1855715"/>
          </a:xfrm>
          <a:prstGeom prst="rect">
            <a:avLst/>
          </a:prstGeom>
        </p:spPr>
      </p:pic>
      <p:sp>
        <p:nvSpPr>
          <p:cNvPr id="6" name="Rectangle 5">
            <a:extLst>
              <a:ext uri="{FF2B5EF4-FFF2-40B4-BE49-F238E27FC236}">
                <a16:creationId xmlns:a16="http://schemas.microsoft.com/office/drawing/2014/main" id="{0C4B422B-8E42-2647-7D10-91D0A50F7ADC}"/>
              </a:ext>
            </a:extLst>
          </p:cNvPr>
          <p:cNvSpPr/>
          <p:nvPr/>
        </p:nvSpPr>
        <p:spPr>
          <a:xfrm>
            <a:off x="4967949" y="2310076"/>
            <a:ext cx="1433384" cy="550522"/>
          </a:xfrm>
          <a:prstGeom prst="rect">
            <a:avLst/>
          </a:prstGeom>
          <a:noFill/>
          <a:ln w="698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82FF8C6-37BB-0D2C-D954-1C4C623EFAF0}"/>
              </a:ext>
            </a:extLst>
          </p:cNvPr>
          <p:cNvSpPr/>
          <p:nvPr/>
        </p:nvSpPr>
        <p:spPr>
          <a:xfrm>
            <a:off x="1977083" y="5500055"/>
            <a:ext cx="902043" cy="3017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534ACEA-AF2B-3519-3F60-21E1D2DF8204}"/>
              </a:ext>
            </a:extLst>
          </p:cNvPr>
          <p:cNvSpPr txBox="1"/>
          <p:nvPr/>
        </p:nvSpPr>
        <p:spPr>
          <a:xfrm>
            <a:off x="622609" y="3598689"/>
            <a:ext cx="9735856" cy="461665"/>
          </a:xfrm>
          <a:prstGeom prst="rect">
            <a:avLst/>
          </a:prstGeom>
          <a:noFill/>
        </p:spPr>
        <p:txBody>
          <a:bodyPr wrap="square">
            <a:spAutoFit/>
          </a:bodyPr>
          <a:lstStyle/>
          <a:p>
            <a:pPr marL="285750" indent="-285750">
              <a:buFont typeface="Arial" panose="020B0604020202020204" pitchFamily="34" charset="0"/>
              <a:buChar char="•"/>
            </a:pPr>
            <a:r>
              <a:rPr lang="en-US" sz="2400" dirty="0"/>
              <a:t>BERT-based classifier  for emotion detection in patient’s utterance</a:t>
            </a:r>
          </a:p>
        </p:txBody>
      </p:sp>
      <p:grpSp>
        <p:nvGrpSpPr>
          <p:cNvPr id="8" name="Group 7">
            <a:extLst>
              <a:ext uri="{FF2B5EF4-FFF2-40B4-BE49-F238E27FC236}">
                <a16:creationId xmlns:a16="http://schemas.microsoft.com/office/drawing/2014/main" id="{84E87EC8-E6B3-9A73-CFDB-561CD1946EC6}"/>
              </a:ext>
            </a:extLst>
          </p:cNvPr>
          <p:cNvGrpSpPr/>
          <p:nvPr/>
        </p:nvGrpSpPr>
        <p:grpSpPr>
          <a:xfrm>
            <a:off x="800043" y="5112021"/>
            <a:ext cx="9993785" cy="729972"/>
            <a:chOff x="800043" y="5112021"/>
            <a:chExt cx="9993785" cy="729972"/>
          </a:xfrm>
        </p:grpSpPr>
        <p:sp>
          <p:nvSpPr>
            <p:cNvPr id="20" name="TextBox 19">
              <a:extLst>
                <a:ext uri="{FF2B5EF4-FFF2-40B4-BE49-F238E27FC236}">
                  <a16:creationId xmlns:a16="http://schemas.microsoft.com/office/drawing/2014/main" id="{8D6DC3F1-FCA4-88F3-3020-8756213CE6AF}"/>
                </a:ext>
              </a:extLst>
            </p:cNvPr>
            <p:cNvSpPr txBox="1"/>
            <p:nvPr/>
          </p:nvSpPr>
          <p:spPr>
            <a:xfrm>
              <a:off x="800043" y="5112021"/>
              <a:ext cx="9993785" cy="369332"/>
            </a:xfrm>
            <a:prstGeom prst="rect">
              <a:avLst/>
            </a:prstGeom>
            <a:noFill/>
          </p:spPr>
          <p:txBody>
            <a:bodyPr wrap="square">
              <a:spAutoFit/>
            </a:bodyPr>
            <a:lstStyle/>
            <a:p>
              <a:r>
                <a:rPr lang="en-US" dirty="0"/>
                <a:t>&lt;|</a:t>
              </a:r>
              <a:r>
                <a:rPr lang="en-US" dirty="0" err="1"/>
                <a:t>bos</a:t>
              </a:r>
              <a:r>
                <a:rPr lang="en-US" dirty="0"/>
                <a:t>|&gt; [EMOR] </a:t>
              </a:r>
              <a:r>
                <a:rPr lang="en-US" dirty="0">
                  <a:solidFill>
                    <a:srgbClr val="7030A0"/>
                  </a:solidFill>
                </a:rPr>
                <a:t>I was so exhausted yesterday. </a:t>
              </a:r>
              <a:r>
                <a:rPr lang="en-US" dirty="0"/>
                <a:t>&lt;|</a:t>
              </a:r>
              <a:r>
                <a:rPr lang="en-US" dirty="0" err="1"/>
                <a:t>sep</a:t>
              </a:r>
              <a:r>
                <a:rPr lang="en-US" dirty="0"/>
                <a:t>|&gt; </a:t>
              </a:r>
              <a:r>
                <a:rPr lang="en-US" dirty="0">
                  <a:solidFill>
                    <a:schemeClr val="accent2"/>
                  </a:solidFill>
                </a:rPr>
                <a:t>That’s understandable. Take some rest! </a:t>
              </a:r>
              <a:r>
                <a:rPr lang="en-US" dirty="0"/>
                <a:t>&lt;|</a:t>
              </a:r>
              <a:r>
                <a:rPr lang="en-US" dirty="0" err="1"/>
                <a:t>eos</a:t>
              </a:r>
              <a:r>
                <a:rPr lang="en-US" dirty="0"/>
                <a:t>|&gt; </a:t>
              </a:r>
            </a:p>
          </p:txBody>
        </p:sp>
        <p:sp>
          <p:nvSpPr>
            <p:cNvPr id="21" name="TextBox 20">
              <a:extLst>
                <a:ext uri="{FF2B5EF4-FFF2-40B4-BE49-F238E27FC236}">
                  <a16:creationId xmlns:a16="http://schemas.microsoft.com/office/drawing/2014/main" id="{A4E45B0F-6A6D-B97E-9978-6EB28E896406}"/>
                </a:ext>
              </a:extLst>
            </p:cNvPr>
            <p:cNvSpPr txBox="1"/>
            <p:nvPr/>
          </p:nvSpPr>
          <p:spPr>
            <a:xfrm>
              <a:off x="2879126" y="5472661"/>
              <a:ext cx="1949123" cy="369332"/>
            </a:xfrm>
            <a:prstGeom prst="rect">
              <a:avLst/>
            </a:prstGeom>
            <a:noFill/>
          </p:spPr>
          <p:txBody>
            <a:bodyPr wrap="none" rtlCol="0">
              <a:spAutoFit/>
            </a:bodyPr>
            <a:lstStyle/>
            <a:p>
              <a:r>
                <a:rPr lang="en-US" dirty="0">
                  <a:solidFill>
                    <a:srgbClr val="7030A0"/>
                  </a:solidFill>
                </a:rPr>
                <a:t>(Patient utterance)</a:t>
              </a:r>
            </a:p>
          </p:txBody>
        </p:sp>
        <p:sp>
          <p:nvSpPr>
            <p:cNvPr id="22" name="TextBox 21">
              <a:extLst>
                <a:ext uri="{FF2B5EF4-FFF2-40B4-BE49-F238E27FC236}">
                  <a16:creationId xmlns:a16="http://schemas.microsoft.com/office/drawing/2014/main" id="{DCE6E20B-9E22-0E4A-B810-865D09789D1F}"/>
                </a:ext>
              </a:extLst>
            </p:cNvPr>
            <p:cNvSpPr txBox="1"/>
            <p:nvPr/>
          </p:nvSpPr>
          <p:spPr>
            <a:xfrm>
              <a:off x="6647108" y="5459885"/>
              <a:ext cx="2299091" cy="369332"/>
            </a:xfrm>
            <a:prstGeom prst="rect">
              <a:avLst/>
            </a:prstGeom>
            <a:noFill/>
          </p:spPr>
          <p:txBody>
            <a:bodyPr wrap="none" rtlCol="0">
              <a:spAutoFit/>
            </a:bodyPr>
            <a:lstStyle/>
            <a:p>
              <a:r>
                <a:rPr lang="en-US" dirty="0">
                  <a:solidFill>
                    <a:schemeClr val="accent2"/>
                  </a:solidFill>
                </a:rPr>
                <a:t>(Empathetic response)</a:t>
              </a:r>
            </a:p>
          </p:txBody>
        </p:sp>
      </p:grpSp>
      <p:sp>
        <p:nvSpPr>
          <p:cNvPr id="2" name="Title 1">
            <a:extLst>
              <a:ext uri="{FF2B5EF4-FFF2-40B4-BE49-F238E27FC236}">
                <a16:creationId xmlns:a16="http://schemas.microsoft.com/office/drawing/2014/main" id="{96CA6F3F-AAE7-C27E-E5C5-BE72BDC0F90B}"/>
              </a:ext>
            </a:extLst>
          </p:cNvPr>
          <p:cNvSpPr txBox="1">
            <a:spLocks/>
          </p:cNvSpPr>
          <p:nvPr/>
        </p:nvSpPr>
        <p:spPr>
          <a:xfrm>
            <a:off x="348387" y="321410"/>
            <a:ext cx="10010078" cy="865618"/>
          </a:xfrm>
          <a:prstGeom prst="rect">
            <a:avLst/>
          </a:prstGeom>
        </p:spPr>
        <p:txBody>
          <a:bodyPr vert="horz" lIns="91440" tIns="45720" rIns="91440" bIns="45720" rtlCol="0" anchor="b">
            <a:normAutofit fontScale="92500" lnSpcReduction="10000"/>
          </a:bodyPr>
          <a:lst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r>
              <a:rPr lang="en-US" b="1" spc="0" dirty="0">
                <a:solidFill>
                  <a:srgbClr val="00B0F0"/>
                </a:solidFill>
                <a:latin typeface="Calibri"/>
                <a:ea typeface="+mn-lt"/>
                <a:cs typeface="Calibri"/>
              </a:rPr>
              <a:t>Generate empathetic responses </a:t>
            </a:r>
            <a:r>
              <a:rPr lang="en-US" dirty="0">
                <a:solidFill>
                  <a:srgbClr val="00B0F0"/>
                </a:solidFill>
                <a:latin typeface="Calibri"/>
                <a:ea typeface="+mn-lt"/>
                <a:cs typeface="Calibri"/>
              </a:rPr>
              <a:t>[Zhou et al COLING 22] </a:t>
            </a:r>
            <a:br>
              <a:rPr lang="en-US" spc="0" dirty="0">
                <a:solidFill>
                  <a:srgbClr val="00B0F0"/>
                </a:solidFill>
                <a:latin typeface="Calibri"/>
                <a:ea typeface="+mn-lt"/>
                <a:cs typeface="Calibri"/>
              </a:rPr>
            </a:br>
            <a:endParaRPr lang="en-IT" dirty="0"/>
          </a:p>
        </p:txBody>
      </p:sp>
      <p:sp>
        <p:nvSpPr>
          <p:cNvPr id="4" name="TextBox 3">
            <a:extLst>
              <a:ext uri="{FF2B5EF4-FFF2-40B4-BE49-F238E27FC236}">
                <a16:creationId xmlns:a16="http://schemas.microsoft.com/office/drawing/2014/main" id="{C65CA15D-FFA7-BBEE-A887-6EA1251F62FA}"/>
              </a:ext>
            </a:extLst>
          </p:cNvPr>
          <p:cNvSpPr txBox="1"/>
          <p:nvPr/>
        </p:nvSpPr>
        <p:spPr>
          <a:xfrm>
            <a:off x="622609" y="3890159"/>
            <a:ext cx="10312594" cy="1200329"/>
          </a:xfrm>
          <a:prstGeom prst="rect">
            <a:avLst/>
          </a:prstGeom>
          <a:noFill/>
        </p:spPr>
        <p:txBody>
          <a:bodyPr wrap="square" rtlCol="0">
            <a:spAutoFit/>
          </a:bodyPr>
          <a:lstStyle/>
          <a:p>
            <a:pPr marL="285750" indent="-285750">
              <a:buFont typeface="Arial" panose="020B0604020202020204" pitchFamily="34" charset="0"/>
              <a:buChar char="•"/>
            </a:pPr>
            <a:endParaRPr lang="en-IT" sz="2400" dirty="0"/>
          </a:p>
          <a:p>
            <a:pPr marL="285750" indent="-285750">
              <a:buFont typeface="Arial" panose="020B0604020202020204" pitchFamily="34" charset="0"/>
              <a:buChar char="•"/>
            </a:pPr>
            <a:r>
              <a:rPr lang="en-IT" sz="2400" dirty="0"/>
              <a:t>Train GPT2 to generate empathetic responses,  </a:t>
            </a:r>
            <a:r>
              <a:rPr lang="en-US" sz="2400" dirty="0"/>
              <a:t>given  communication mechanism token [EMOR] &amp;  patient utterance</a:t>
            </a:r>
            <a:endParaRPr lang="en-IT" sz="2400" dirty="0"/>
          </a:p>
        </p:txBody>
      </p:sp>
    </p:spTree>
    <p:extLst>
      <p:ext uri="{BB962C8B-B14F-4D97-AF65-F5344CB8AC3E}">
        <p14:creationId xmlns:p14="http://schemas.microsoft.com/office/powerpoint/2010/main" val="2943865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BEA62D-C6FC-C2F2-DD62-B24E2CE78BE9}"/>
              </a:ext>
            </a:extLst>
          </p:cNvPr>
          <p:cNvSpPr>
            <a:spLocks noGrp="1"/>
          </p:cNvSpPr>
          <p:nvPr>
            <p:ph type="sldNum" sz="quarter" idx="12"/>
          </p:nvPr>
        </p:nvSpPr>
        <p:spPr/>
        <p:txBody>
          <a:bodyPr/>
          <a:lstStyle/>
          <a:p>
            <a:fld id="{4FAB73BC-B049-4115-A692-8D63A059BFB8}" type="slidenum">
              <a:rPr lang="en-US" smtClean="0"/>
              <a:pPr/>
              <a:t>29</a:t>
            </a:fld>
            <a:endParaRPr lang="en-US" dirty="0"/>
          </a:p>
        </p:txBody>
      </p:sp>
      <p:sp>
        <p:nvSpPr>
          <p:cNvPr id="4" name="TextBox 3">
            <a:extLst>
              <a:ext uri="{FF2B5EF4-FFF2-40B4-BE49-F238E27FC236}">
                <a16:creationId xmlns:a16="http://schemas.microsoft.com/office/drawing/2014/main" id="{7EB06A16-ED50-AEB9-FE7D-E6716DCF4F26}"/>
              </a:ext>
            </a:extLst>
          </p:cNvPr>
          <p:cNvSpPr txBox="1"/>
          <p:nvPr/>
        </p:nvSpPr>
        <p:spPr>
          <a:xfrm>
            <a:off x="497305" y="2005263"/>
            <a:ext cx="10234863" cy="830997"/>
          </a:xfrm>
          <a:prstGeom prst="rect">
            <a:avLst/>
          </a:prstGeom>
          <a:noFill/>
        </p:spPr>
        <p:txBody>
          <a:bodyPr wrap="square" rtlCol="0">
            <a:spAutoFit/>
          </a:bodyPr>
          <a:lstStyle/>
          <a:p>
            <a:r>
              <a:rPr lang="en-IT" sz="2400" dirty="0"/>
              <a:t>Coach: Good morning! How is your goal for the week going?</a:t>
            </a:r>
          </a:p>
          <a:p>
            <a:r>
              <a:rPr lang="en-IT" sz="2400" dirty="0"/>
              <a:t>Patient: I am sorry I didn’t go to work today I have a massive migraine headache</a:t>
            </a:r>
          </a:p>
        </p:txBody>
      </p:sp>
      <p:sp>
        <p:nvSpPr>
          <p:cNvPr id="5" name="TextBox 4">
            <a:extLst>
              <a:ext uri="{FF2B5EF4-FFF2-40B4-BE49-F238E27FC236}">
                <a16:creationId xmlns:a16="http://schemas.microsoft.com/office/drawing/2014/main" id="{2BE9C6A1-142A-AEC6-D230-174953394636}"/>
              </a:ext>
            </a:extLst>
          </p:cNvPr>
          <p:cNvSpPr txBox="1"/>
          <p:nvPr/>
        </p:nvSpPr>
        <p:spPr>
          <a:xfrm>
            <a:off x="497305" y="3421576"/>
            <a:ext cx="9593179" cy="1200329"/>
          </a:xfrm>
          <a:prstGeom prst="rect">
            <a:avLst/>
          </a:prstGeom>
          <a:noFill/>
        </p:spPr>
        <p:txBody>
          <a:bodyPr wrap="square" rtlCol="0">
            <a:spAutoFit/>
          </a:bodyPr>
          <a:lstStyle/>
          <a:p>
            <a:r>
              <a:rPr lang="en-IT" sz="2400" dirty="0"/>
              <a:t>[EMOR] oh no I hope you are OK</a:t>
            </a:r>
          </a:p>
          <a:p>
            <a:r>
              <a:rPr lang="en-IT" sz="2400" dirty="0"/>
              <a:t>[EXPLOR] Oh geez, sorry to hear that. Are you feeling better?</a:t>
            </a:r>
          </a:p>
          <a:p>
            <a:r>
              <a:rPr lang="en-IT" sz="2400" dirty="0"/>
              <a:t>[INTERP] I’ve had this experience before. Sometimes it really hits you</a:t>
            </a:r>
          </a:p>
        </p:txBody>
      </p:sp>
      <p:sp>
        <p:nvSpPr>
          <p:cNvPr id="6" name="TextBox 5">
            <a:extLst>
              <a:ext uri="{FF2B5EF4-FFF2-40B4-BE49-F238E27FC236}">
                <a16:creationId xmlns:a16="http://schemas.microsoft.com/office/drawing/2014/main" id="{A740FDFA-91AF-14C9-F757-05A2402AD486}"/>
              </a:ext>
            </a:extLst>
          </p:cNvPr>
          <p:cNvSpPr txBox="1"/>
          <p:nvPr/>
        </p:nvSpPr>
        <p:spPr>
          <a:xfrm>
            <a:off x="930442" y="962526"/>
            <a:ext cx="5954322" cy="584775"/>
          </a:xfrm>
          <a:prstGeom prst="rect">
            <a:avLst/>
          </a:prstGeom>
          <a:noFill/>
        </p:spPr>
        <p:txBody>
          <a:bodyPr wrap="none" rtlCol="0">
            <a:spAutoFit/>
          </a:bodyPr>
          <a:lstStyle/>
          <a:p>
            <a:r>
              <a:rPr lang="en-IT" sz="3200" dirty="0">
                <a:solidFill>
                  <a:srgbClr val="00B0F0"/>
                </a:solidFill>
              </a:rPr>
              <a:t>Examples of empathetic responses</a:t>
            </a:r>
          </a:p>
        </p:txBody>
      </p:sp>
    </p:spTree>
    <p:extLst>
      <p:ext uri="{BB962C8B-B14F-4D97-AF65-F5344CB8AC3E}">
        <p14:creationId xmlns:p14="http://schemas.microsoft.com/office/powerpoint/2010/main" val="326593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29A77-4ED0-1233-E0E8-C31F5786D33A}"/>
              </a:ext>
            </a:extLst>
          </p:cNvPr>
          <p:cNvSpPr>
            <a:spLocks noGrp="1"/>
          </p:cNvSpPr>
          <p:nvPr>
            <p:ph type="title"/>
          </p:nvPr>
        </p:nvSpPr>
        <p:spPr>
          <a:xfrm>
            <a:off x="586980" y="128796"/>
            <a:ext cx="10625506" cy="1450757"/>
          </a:xfrm>
        </p:spPr>
        <p:txBody>
          <a:bodyPr/>
          <a:lstStyle/>
          <a:p>
            <a:r>
              <a:rPr lang="en-IT" b="1" dirty="0">
                <a:solidFill>
                  <a:srgbClr val="00B0F0"/>
                </a:solidFill>
                <a:latin typeface="+mn-lt"/>
              </a:rPr>
              <a:t>NLG: Text-Unit-Text generation </a:t>
            </a:r>
            <a:r>
              <a:rPr lang="en-IT" sz="3200" b="1" dirty="0">
                <a:solidFill>
                  <a:srgbClr val="00B0F0"/>
                </a:solidFill>
                <a:latin typeface="+mn-lt"/>
              </a:rPr>
              <a:t>[Zhou et al LREC-COLING 24]</a:t>
            </a:r>
          </a:p>
        </p:txBody>
      </p:sp>
      <p:pic>
        <p:nvPicPr>
          <p:cNvPr id="5" name="Content Placeholder 4">
            <a:extLst>
              <a:ext uri="{FF2B5EF4-FFF2-40B4-BE49-F238E27FC236}">
                <a16:creationId xmlns:a16="http://schemas.microsoft.com/office/drawing/2014/main" id="{4550D421-664B-FA2C-5013-34E7F812CF72}"/>
              </a:ext>
            </a:extLst>
          </p:cNvPr>
          <p:cNvPicPr>
            <a:picLocks noGrp="1" noChangeAspect="1"/>
          </p:cNvPicPr>
          <p:nvPr>
            <p:ph idx="1"/>
          </p:nvPr>
        </p:nvPicPr>
        <p:blipFill>
          <a:blip r:embed="rId3"/>
          <a:stretch>
            <a:fillRect/>
          </a:stretch>
        </p:blipFill>
        <p:spPr>
          <a:xfrm>
            <a:off x="586980" y="1893445"/>
            <a:ext cx="11209776" cy="3938560"/>
          </a:xfrm>
          <a:prstGeom prst="rect">
            <a:avLst/>
          </a:prstGeom>
        </p:spPr>
      </p:pic>
      <p:sp>
        <p:nvSpPr>
          <p:cNvPr id="4" name="Slide Number Placeholder 3">
            <a:extLst>
              <a:ext uri="{FF2B5EF4-FFF2-40B4-BE49-F238E27FC236}">
                <a16:creationId xmlns:a16="http://schemas.microsoft.com/office/drawing/2014/main" id="{4C4D2450-04EC-D880-B24E-D691D25052A9}"/>
              </a:ext>
            </a:extLst>
          </p:cNvPr>
          <p:cNvSpPr>
            <a:spLocks noGrp="1"/>
          </p:cNvSpPr>
          <p:nvPr>
            <p:ph type="sldNum" sz="quarter" idx="12"/>
          </p:nvPr>
        </p:nvSpPr>
        <p:spPr/>
        <p:txBody>
          <a:bodyPr/>
          <a:lstStyle/>
          <a:p>
            <a:fld id="{6113E31D-E2AB-40D1-8B51-AFA5AFEF393A}" type="slidenum">
              <a:rPr lang="en-US" smtClean="0"/>
              <a:t>30</a:t>
            </a:fld>
            <a:endParaRPr lang="en-US" dirty="0"/>
          </a:p>
        </p:txBody>
      </p:sp>
      <p:pic>
        <p:nvPicPr>
          <p:cNvPr id="6" name="Picture 5" descr="A red circle with black text&#10;&#10;Description automatically generated">
            <a:extLst>
              <a:ext uri="{FF2B5EF4-FFF2-40B4-BE49-F238E27FC236}">
                <a16:creationId xmlns:a16="http://schemas.microsoft.com/office/drawing/2014/main" id="{0135A98C-C645-B3F3-0936-8521575B2577}"/>
              </a:ext>
            </a:extLst>
          </p:cNvPr>
          <p:cNvPicPr>
            <a:picLocks noChangeAspect="1"/>
          </p:cNvPicPr>
          <p:nvPr/>
        </p:nvPicPr>
        <p:blipFill>
          <a:blip r:embed="rId4"/>
          <a:stretch>
            <a:fillRect/>
          </a:stretch>
        </p:blipFill>
        <p:spPr>
          <a:xfrm>
            <a:off x="-111407" y="5832004"/>
            <a:ext cx="812977" cy="820659"/>
          </a:xfrm>
          <a:prstGeom prst="rect">
            <a:avLst/>
          </a:prstGeom>
        </p:spPr>
      </p:pic>
    </p:spTree>
    <p:extLst>
      <p:ext uri="{BB962C8B-B14F-4D97-AF65-F5344CB8AC3E}">
        <p14:creationId xmlns:p14="http://schemas.microsoft.com/office/powerpoint/2010/main" val="3050733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4C9A-D499-2060-B8B9-85594D00A304}"/>
              </a:ext>
            </a:extLst>
          </p:cNvPr>
          <p:cNvSpPr>
            <a:spLocks noGrp="1"/>
          </p:cNvSpPr>
          <p:nvPr>
            <p:ph type="title"/>
          </p:nvPr>
        </p:nvSpPr>
        <p:spPr/>
        <p:txBody>
          <a:bodyPr/>
          <a:lstStyle/>
          <a:p>
            <a:r>
              <a:rPr lang="en-GB" b="1" dirty="0">
                <a:solidFill>
                  <a:srgbClr val="00B0F0"/>
                </a:solidFill>
                <a:latin typeface="+mn-lt"/>
              </a:rPr>
              <a:t>A</a:t>
            </a:r>
            <a:r>
              <a:rPr lang="en-IT" b="1" dirty="0">
                <a:solidFill>
                  <a:srgbClr val="00B0F0"/>
                </a:solidFill>
                <a:latin typeface="+mn-lt"/>
              </a:rPr>
              <a:t>nd what about LLMs? </a:t>
            </a:r>
            <a:r>
              <a:rPr lang="en-IT" b="1" dirty="0">
                <a:solidFill>
                  <a:srgbClr val="00B0F0"/>
                </a:solidFill>
              </a:rPr>
              <a:t>[Zhou et al LREC-COLING 24]</a:t>
            </a:r>
            <a:endParaRPr lang="en-IT" b="1" dirty="0">
              <a:solidFill>
                <a:srgbClr val="00B0F0"/>
              </a:solidFill>
              <a:latin typeface="+mn-lt"/>
            </a:endParaRPr>
          </a:p>
        </p:txBody>
      </p:sp>
      <p:sp>
        <p:nvSpPr>
          <p:cNvPr id="3" name="Content Placeholder 2">
            <a:extLst>
              <a:ext uri="{FF2B5EF4-FFF2-40B4-BE49-F238E27FC236}">
                <a16:creationId xmlns:a16="http://schemas.microsoft.com/office/drawing/2014/main" id="{AD87690C-E750-F5AA-9257-41E4AAC93E97}"/>
              </a:ext>
            </a:extLst>
          </p:cNvPr>
          <p:cNvSpPr>
            <a:spLocks noGrp="1"/>
          </p:cNvSpPr>
          <p:nvPr>
            <p:ph idx="1"/>
          </p:nvPr>
        </p:nvSpPr>
        <p:spPr/>
        <p:txBody>
          <a:bodyPr>
            <a:normAutofit/>
          </a:bodyPr>
          <a:lstStyle/>
          <a:p>
            <a:r>
              <a:rPr lang="en-GB" sz="2800" b="1" dirty="0"/>
              <a:t>GPT-3.5-turbo: </a:t>
            </a:r>
            <a:r>
              <a:rPr lang="en-GB" sz="2800" dirty="0"/>
              <a:t>two-shot in-context exemplars due to input context limit</a:t>
            </a:r>
          </a:p>
          <a:p>
            <a:endParaRPr lang="en-GB" sz="2400" b="1" dirty="0"/>
          </a:p>
          <a:p>
            <a:r>
              <a:rPr lang="en-GB" sz="2800" b="1" dirty="0"/>
              <a:t>Prompt: </a:t>
            </a:r>
            <a:r>
              <a:rPr lang="en-GB" sz="2800" dirty="0"/>
              <a:t>As a health coach, your task is to refine the patient’s goal into a SMART goal. Ask for details like frequency, time, duration, location, and confidence level, but only one aspect at a time. After establishing the goal, monitor the patient’s progress and keep them engaged. Always address their concerns concisely. Now, consider the following dialogue context and formulate your response: …</a:t>
            </a:r>
          </a:p>
          <a:p>
            <a:endParaRPr lang="en-IT" sz="2400" dirty="0"/>
          </a:p>
        </p:txBody>
      </p:sp>
      <p:sp>
        <p:nvSpPr>
          <p:cNvPr id="4" name="Slide Number Placeholder 3">
            <a:extLst>
              <a:ext uri="{FF2B5EF4-FFF2-40B4-BE49-F238E27FC236}">
                <a16:creationId xmlns:a16="http://schemas.microsoft.com/office/drawing/2014/main" id="{BB95C559-D03F-85C4-40E6-F3E1D35B5093}"/>
              </a:ext>
            </a:extLst>
          </p:cNvPr>
          <p:cNvSpPr>
            <a:spLocks noGrp="1"/>
          </p:cNvSpPr>
          <p:nvPr>
            <p:ph type="sldNum" sz="quarter" idx="12"/>
          </p:nvPr>
        </p:nvSpPr>
        <p:spPr/>
        <p:txBody>
          <a:bodyPr/>
          <a:lstStyle/>
          <a:p>
            <a:fld id="{6113E31D-E2AB-40D1-8B51-AFA5AFEF393A}" type="slidenum">
              <a:rPr lang="en-US" smtClean="0"/>
              <a:t>31</a:t>
            </a:fld>
            <a:endParaRPr lang="en-US" dirty="0"/>
          </a:p>
        </p:txBody>
      </p:sp>
      <p:pic>
        <p:nvPicPr>
          <p:cNvPr id="5" name="Picture 4" descr="A red circle with black text&#10;&#10;Description automatically generated">
            <a:extLst>
              <a:ext uri="{FF2B5EF4-FFF2-40B4-BE49-F238E27FC236}">
                <a16:creationId xmlns:a16="http://schemas.microsoft.com/office/drawing/2014/main" id="{A8C91462-6BD1-1120-7E16-78C36C38C384}"/>
              </a:ext>
            </a:extLst>
          </p:cNvPr>
          <p:cNvPicPr>
            <a:picLocks noChangeAspect="1"/>
          </p:cNvPicPr>
          <p:nvPr/>
        </p:nvPicPr>
        <p:blipFill>
          <a:blip r:embed="rId3"/>
          <a:stretch>
            <a:fillRect/>
          </a:stretch>
        </p:blipFill>
        <p:spPr>
          <a:xfrm>
            <a:off x="-111407" y="5832004"/>
            <a:ext cx="812977" cy="820659"/>
          </a:xfrm>
          <a:prstGeom prst="rect">
            <a:avLst/>
          </a:prstGeom>
        </p:spPr>
      </p:pic>
    </p:spTree>
    <p:extLst>
      <p:ext uri="{BB962C8B-B14F-4D97-AF65-F5344CB8AC3E}">
        <p14:creationId xmlns:p14="http://schemas.microsoft.com/office/powerpoint/2010/main" val="4887925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2B387-75D5-6F2A-4D10-7AE00EBF4411}"/>
              </a:ext>
            </a:extLst>
          </p:cNvPr>
          <p:cNvSpPr>
            <a:spLocks noGrp="1"/>
          </p:cNvSpPr>
          <p:nvPr>
            <p:ph type="title"/>
          </p:nvPr>
        </p:nvSpPr>
        <p:spPr>
          <a:xfrm>
            <a:off x="624840" y="286605"/>
            <a:ext cx="10530840" cy="1450757"/>
          </a:xfrm>
        </p:spPr>
        <p:txBody>
          <a:bodyPr/>
          <a:lstStyle/>
          <a:p>
            <a:r>
              <a:rPr lang="en-IT" b="1" dirty="0">
                <a:solidFill>
                  <a:srgbClr val="00B0F0"/>
                </a:solidFill>
              </a:rPr>
              <a:t>Response examples </a:t>
            </a:r>
          </a:p>
        </p:txBody>
      </p:sp>
      <p:sp>
        <p:nvSpPr>
          <p:cNvPr id="3" name="Content Placeholder 2">
            <a:extLst>
              <a:ext uri="{FF2B5EF4-FFF2-40B4-BE49-F238E27FC236}">
                <a16:creationId xmlns:a16="http://schemas.microsoft.com/office/drawing/2014/main" id="{A7278DA5-40B1-7C3B-3AA1-4DB8A4EB0493}"/>
              </a:ext>
            </a:extLst>
          </p:cNvPr>
          <p:cNvSpPr>
            <a:spLocks noGrp="1"/>
          </p:cNvSpPr>
          <p:nvPr>
            <p:ph idx="1"/>
          </p:nvPr>
        </p:nvSpPr>
        <p:spPr>
          <a:xfrm>
            <a:off x="628357" y="1845734"/>
            <a:ext cx="10684412" cy="1423589"/>
          </a:xfrm>
          <a:solidFill>
            <a:schemeClr val="bg1">
              <a:lumMod val="85000"/>
            </a:schemeClr>
          </a:solidFill>
        </p:spPr>
        <p:txBody>
          <a:bodyPr>
            <a:noAutofit/>
          </a:bodyPr>
          <a:lstStyle/>
          <a:p>
            <a:r>
              <a:rPr lang="en-GB" sz="2000" b="1" dirty="0"/>
              <a:t>Coach</a:t>
            </a:r>
            <a:r>
              <a:rPr lang="en-GB" sz="2000" dirty="0"/>
              <a:t>: Hi [Name], hope you’re well. I forgot to message you yesterday to set your goal for Week 6, my apologies!</a:t>
            </a:r>
          </a:p>
          <a:p>
            <a:r>
              <a:rPr lang="en-GB" sz="2000" b="1" dirty="0"/>
              <a:t>Coach</a:t>
            </a:r>
            <a:r>
              <a:rPr lang="en-GB" sz="2000" dirty="0"/>
              <a:t>: You met your goal 5 out of 7 days last week, great job. What would you like to do for this week?</a:t>
            </a:r>
          </a:p>
          <a:p>
            <a:r>
              <a:rPr lang="en-GB" sz="2000" b="1" dirty="0"/>
              <a:t>Patient:</a:t>
            </a:r>
            <a:r>
              <a:rPr lang="en-GB" sz="2000" dirty="0"/>
              <a:t> Gd morning [Name], I am going to set the same goals. With a 7 confidence.</a:t>
            </a:r>
          </a:p>
        </p:txBody>
      </p:sp>
      <p:sp>
        <p:nvSpPr>
          <p:cNvPr id="4" name="Slide Number Placeholder 3">
            <a:extLst>
              <a:ext uri="{FF2B5EF4-FFF2-40B4-BE49-F238E27FC236}">
                <a16:creationId xmlns:a16="http://schemas.microsoft.com/office/drawing/2014/main" id="{1B6F94DE-2F68-CE14-1C5C-94AE470278C2}"/>
              </a:ext>
            </a:extLst>
          </p:cNvPr>
          <p:cNvSpPr>
            <a:spLocks noGrp="1"/>
          </p:cNvSpPr>
          <p:nvPr>
            <p:ph type="sldNum" sz="quarter" idx="12"/>
          </p:nvPr>
        </p:nvSpPr>
        <p:spPr/>
        <p:txBody>
          <a:bodyPr/>
          <a:lstStyle/>
          <a:p>
            <a:fld id="{6113E31D-E2AB-40D1-8B51-AFA5AFEF393A}" type="slidenum">
              <a:rPr lang="en-US" smtClean="0"/>
              <a:t>32</a:t>
            </a:fld>
            <a:endParaRPr lang="en-US" dirty="0"/>
          </a:p>
        </p:txBody>
      </p:sp>
      <p:sp>
        <p:nvSpPr>
          <p:cNvPr id="5" name="TextBox 4">
            <a:extLst>
              <a:ext uri="{FF2B5EF4-FFF2-40B4-BE49-F238E27FC236}">
                <a16:creationId xmlns:a16="http://schemas.microsoft.com/office/drawing/2014/main" id="{A71C2628-BB78-34EF-9D1C-140FD9F79AD2}"/>
              </a:ext>
            </a:extLst>
          </p:cNvPr>
          <p:cNvSpPr txBox="1"/>
          <p:nvPr/>
        </p:nvSpPr>
        <p:spPr>
          <a:xfrm>
            <a:off x="624840" y="3429002"/>
            <a:ext cx="10942320" cy="984885"/>
          </a:xfrm>
          <a:prstGeom prst="rect">
            <a:avLst/>
          </a:prstGeom>
          <a:noFill/>
        </p:spPr>
        <p:txBody>
          <a:bodyPr wrap="square" rtlCol="0">
            <a:spAutoFit/>
          </a:bodyPr>
          <a:lstStyle/>
          <a:p>
            <a:r>
              <a:rPr lang="en-GB" sz="2000" b="1" dirty="0"/>
              <a:t>a) Zhou et al. (2022):</a:t>
            </a:r>
            <a:r>
              <a:rPr lang="en-GB" sz="2000" dirty="0"/>
              <a:t> </a:t>
            </a:r>
            <a:r>
              <a:rPr lang="en-GB" sz="2000" i="1" dirty="0"/>
              <a:t>That’s great. And think about what activity would you like to set for your goal? Walks, stairs, etc</a:t>
            </a:r>
          </a:p>
          <a:p>
            <a:endParaRPr lang="en-IT" dirty="0"/>
          </a:p>
        </p:txBody>
      </p:sp>
      <p:sp>
        <p:nvSpPr>
          <p:cNvPr id="6" name="TextBox 5">
            <a:extLst>
              <a:ext uri="{FF2B5EF4-FFF2-40B4-BE49-F238E27FC236}">
                <a16:creationId xmlns:a16="http://schemas.microsoft.com/office/drawing/2014/main" id="{E3196529-2E87-F312-320F-7B34DE739E5D}"/>
              </a:ext>
            </a:extLst>
          </p:cNvPr>
          <p:cNvSpPr txBox="1"/>
          <p:nvPr/>
        </p:nvSpPr>
        <p:spPr>
          <a:xfrm>
            <a:off x="624840" y="4155170"/>
            <a:ext cx="9685537" cy="677108"/>
          </a:xfrm>
          <a:prstGeom prst="rect">
            <a:avLst/>
          </a:prstGeom>
          <a:noFill/>
        </p:spPr>
        <p:txBody>
          <a:bodyPr wrap="none" rtlCol="0">
            <a:spAutoFit/>
          </a:bodyPr>
          <a:lstStyle/>
          <a:p>
            <a:r>
              <a:rPr lang="en-GB" sz="2000" b="1" dirty="0"/>
              <a:t>b) Zhou et al. (2024):</a:t>
            </a:r>
            <a:r>
              <a:rPr lang="en-GB" sz="2000" dirty="0"/>
              <a:t> </a:t>
            </a:r>
            <a:r>
              <a:rPr lang="en-GB" sz="2000" i="1" dirty="0"/>
              <a:t>Ok, great! Can you think of any barriers that might prevent your goal?</a:t>
            </a:r>
          </a:p>
          <a:p>
            <a:endParaRPr lang="en-IT" dirty="0"/>
          </a:p>
        </p:txBody>
      </p:sp>
      <p:sp>
        <p:nvSpPr>
          <p:cNvPr id="7" name="TextBox 6">
            <a:extLst>
              <a:ext uri="{FF2B5EF4-FFF2-40B4-BE49-F238E27FC236}">
                <a16:creationId xmlns:a16="http://schemas.microsoft.com/office/drawing/2014/main" id="{8C6BF0C2-C3E3-B51F-6F45-181FBC49A0ED}"/>
              </a:ext>
            </a:extLst>
          </p:cNvPr>
          <p:cNvSpPr txBox="1"/>
          <p:nvPr/>
        </p:nvSpPr>
        <p:spPr>
          <a:xfrm>
            <a:off x="624841" y="4573562"/>
            <a:ext cx="11458393" cy="1292662"/>
          </a:xfrm>
          <a:prstGeom prst="rect">
            <a:avLst/>
          </a:prstGeom>
          <a:noFill/>
        </p:spPr>
        <p:txBody>
          <a:bodyPr wrap="none" rtlCol="0">
            <a:spAutoFit/>
          </a:bodyPr>
          <a:lstStyle/>
          <a:p>
            <a:r>
              <a:rPr lang="en-GB" sz="2000" b="1" dirty="0"/>
              <a:t>c) GPT-3.5-turbo: </a:t>
            </a:r>
            <a:r>
              <a:rPr lang="en-GB" sz="2000" i="1" dirty="0"/>
              <a:t>That’s fantastic to hear that you’re sticking to your goals! Let’s make sure it’s a SMART goal</a:t>
            </a:r>
          </a:p>
          <a:p>
            <a:r>
              <a:rPr lang="en-GB" sz="2000" i="1" dirty="0"/>
              <a:t> for Week 6. Can you provide more details about the goal, like the specific number of steps or any changes in</a:t>
            </a:r>
          </a:p>
          <a:p>
            <a:r>
              <a:rPr lang="en-GB" sz="2000" i="1" dirty="0"/>
              <a:t> frequency, time, or location?</a:t>
            </a:r>
            <a:endParaRPr lang="en-IT" sz="2000" i="1" dirty="0"/>
          </a:p>
          <a:p>
            <a:endParaRPr lang="en-IT" dirty="0"/>
          </a:p>
        </p:txBody>
      </p:sp>
      <p:pic>
        <p:nvPicPr>
          <p:cNvPr id="8" name="Picture 7" descr="A red circle with black text&#10;&#10;Description automatically generated">
            <a:extLst>
              <a:ext uri="{FF2B5EF4-FFF2-40B4-BE49-F238E27FC236}">
                <a16:creationId xmlns:a16="http://schemas.microsoft.com/office/drawing/2014/main" id="{4EE10D08-692D-01E5-1F4C-5FC0017F7816}"/>
              </a:ext>
            </a:extLst>
          </p:cNvPr>
          <p:cNvPicPr>
            <a:picLocks noChangeAspect="1"/>
          </p:cNvPicPr>
          <p:nvPr/>
        </p:nvPicPr>
        <p:blipFill>
          <a:blip r:embed="rId3"/>
          <a:stretch>
            <a:fillRect/>
          </a:stretch>
        </p:blipFill>
        <p:spPr>
          <a:xfrm>
            <a:off x="-111407" y="5832004"/>
            <a:ext cx="812977" cy="820659"/>
          </a:xfrm>
          <a:prstGeom prst="rect">
            <a:avLst/>
          </a:prstGeom>
        </p:spPr>
      </p:pic>
    </p:spTree>
    <p:extLst>
      <p:ext uri="{BB962C8B-B14F-4D97-AF65-F5344CB8AC3E}">
        <p14:creationId xmlns:p14="http://schemas.microsoft.com/office/powerpoint/2010/main" val="245812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30CBC-3591-8A48-777C-BE47563145A8}"/>
              </a:ext>
            </a:extLst>
          </p:cNvPr>
          <p:cNvSpPr>
            <a:spLocks noGrp="1"/>
          </p:cNvSpPr>
          <p:nvPr>
            <p:ph type="title"/>
          </p:nvPr>
        </p:nvSpPr>
        <p:spPr/>
        <p:txBody>
          <a:bodyPr/>
          <a:lstStyle/>
          <a:p>
            <a:r>
              <a:rPr lang="en-IT" b="1" dirty="0">
                <a:solidFill>
                  <a:srgbClr val="00B0F0"/>
                </a:solidFill>
                <a:latin typeface="+mn-lt"/>
              </a:rPr>
              <a:t>Human Evaluation </a:t>
            </a:r>
          </a:p>
        </p:txBody>
      </p:sp>
      <p:sp>
        <p:nvSpPr>
          <p:cNvPr id="3" name="Content Placeholder 2">
            <a:extLst>
              <a:ext uri="{FF2B5EF4-FFF2-40B4-BE49-F238E27FC236}">
                <a16:creationId xmlns:a16="http://schemas.microsoft.com/office/drawing/2014/main" id="{7EB471D4-705F-B022-4E5D-79FF08634228}"/>
              </a:ext>
            </a:extLst>
          </p:cNvPr>
          <p:cNvSpPr>
            <a:spLocks noGrp="1"/>
          </p:cNvSpPr>
          <p:nvPr>
            <p:ph idx="1"/>
          </p:nvPr>
        </p:nvSpPr>
        <p:spPr>
          <a:xfrm>
            <a:off x="1154085" y="1845734"/>
            <a:ext cx="10058400" cy="4023360"/>
          </a:xfrm>
        </p:spPr>
        <p:txBody>
          <a:bodyPr>
            <a:normAutofit fontScale="92500" lnSpcReduction="20000"/>
          </a:bodyPr>
          <a:lstStyle/>
          <a:p>
            <a:pPr marL="0" indent="0">
              <a:lnSpc>
                <a:spcPct val="120000"/>
              </a:lnSpc>
              <a:buNone/>
            </a:pPr>
            <a:r>
              <a:rPr lang="en-IT" sz="3800" dirty="0"/>
              <a:t>45 nursing students evaluated several  contexts + their respective generated responses: about 900 total items, about 20/student </a:t>
            </a:r>
          </a:p>
          <a:p>
            <a:pPr marL="0" indent="0">
              <a:lnSpc>
                <a:spcPct val="120000"/>
              </a:lnSpc>
              <a:buNone/>
            </a:pPr>
            <a:r>
              <a:rPr lang="en-IT" sz="3800" dirty="0"/>
              <a:t>Responses: only [Zhou et al COLING-LREC 24]</a:t>
            </a:r>
          </a:p>
          <a:p>
            <a:pPr marL="0" indent="0">
              <a:buNone/>
            </a:pPr>
            <a:endParaRPr lang="en-IT" sz="2400" dirty="0"/>
          </a:p>
          <a:p>
            <a:pPr>
              <a:buFont typeface="Arial" panose="020B0604020202020204" pitchFamily="34" charset="0"/>
              <a:buChar char="•"/>
            </a:pPr>
            <a:r>
              <a:rPr lang="en-IT" sz="3200" dirty="0"/>
              <a:t> </a:t>
            </a:r>
            <a:r>
              <a:rPr lang="en-IT" sz="3800" dirty="0"/>
              <a:t>&lt;no edits, minor edits, major edits&gt;</a:t>
            </a:r>
          </a:p>
          <a:p>
            <a:pPr>
              <a:buFont typeface="Arial" panose="020B0604020202020204" pitchFamily="34" charset="0"/>
              <a:buChar char="•"/>
            </a:pPr>
            <a:r>
              <a:rPr lang="en-IT" sz="3800" dirty="0"/>
              <a:t> &lt;irrelevant, harmful,incoherent&gt;</a:t>
            </a:r>
          </a:p>
          <a:p>
            <a:endParaRPr lang="en-IT" dirty="0"/>
          </a:p>
        </p:txBody>
      </p:sp>
      <p:sp>
        <p:nvSpPr>
          <p:cNvPr id="4" name="Slide Number Placeholder 3">
            <a:extLst>
              <a:ext uri="{FF2B5EF4-FFF2-40B4-BE49-F238E27FC236}">
                <a16:creationId xmlns:a16="http://schemas.microsoft.com/office/drawing/2014/main" id="{4ADC0349-6014-9157-CC61-162420E89D60}"/>
              </a:ext>
            </a:extLst>
          </p:cNvPr>
          <p:cNvSpPr>
            <a:spLocks noGrp="1"/>
          </p:cNvSpPr>
          <p:nvPr>
            <p:ph type="sldNum" sz="quarter" idx="12"/>
          </p:nvPr>
        </p:nvSpPr>
        <p:spPr/>
        <p:txBody>
          <a:bodyPr/>
          <a:lstStyle/>
          <a:p>
            <a:fld id="{6113E31D-E2AB-40D1-8B51-AFA5AFEF393A}" type="slidenum">
              <a:rPr lang="en-US" smtClean="0"/>
              <a:t>33</a:t>
            </a:fld>
            <a:endParaRPr lang="en-US" dirty="0"/>
          </a:p>
        </p:txBody>
      </p:sp>
      <p:pic>
        <p:nvPicPr>
          <p:cNvPr id="5" name="Picture 4" descr="A red circle with black text&#10;&#10;Description automatically generated">
            <a:extLst>
              <a:ext uri="{FF2B5EF4-FFF2-40B4-BE49-F238E27FC236}">
                <a16:creationId xmlns:a16="http://schemas.microsoft.com/office/drawing/2014/main" id="{02B2CF68-6A4C-CFA2-9EAF-76D10BEC10E1}"/>
              </a:ext>
            </a:extLst>
          </p:cNvPr>
          <p:cNvPicPr>
            <a:picLocks noChangeAspect="1"/>
          </p:cNvPicPr>
          <p:nvPr/>
        </p:nvPicPr>
        <p:blipFill>
          <a:blip r:embed="rId3"/>
          <a:stretch>
            <a:fillRect/>
          </a:stretch>
        </p:blipFill>
        <p:spPr>
          <a:xfrm>
            <a:off x="-111407" y="5832004"/>
            <a:ext cx="812977" cy="820659"/>
          </a:xfrm>
          <a:prstGeom prst="rect">
            <a:avLst/>
          </a:prstGeom>
        </p:spPr>
      </p:pic>
    </p:spTree>
    <p:extLst>
      <p:ext uri="{BB962C8B-B14F-4D97-AF65-F5344CB8AC3E}">
        <p14:creationId xmlns:p14="http://schemas.microsoft.com/office/powerpoint/2010/main" val="1470518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3F481-6707-8C56-10EE-907B69529DE3}"/>
              </a:ext>
            </a:extLst>
          </p:cNvPr>
          <p:cNvSpPr>
            <a:spLocks noGrp="1"/>
          </p:cNvSpPr>
          <p:nvPr>
            <p:ph type="title"/>
          </p:nvPr>
        </p:nvSpPr>
        <p:spPr>
          <a:xfrm>
            <a:off x="450850" y="287828"/>
            <a:ext cx="11290300" cy="741172"/>
          </a:xfrm>
        </p:spPr>
        <p:txBody>
          <a:bodyPr anchor="b">
            <a:normAutofit/>
          </a:bodyPr>
          <a:lstStyle/>
          <a:p>
            <a:r>
              <a:rPr lang="en-US" sz="4200" dirty="0">
                <a:solidFill>
                  <a:srgbClr val="00B0F0"/>
                </a:solidFill>
                <a:latin typeface="+mn-lt"/>
                <a:cs typeface="Arial"/>
              </a:rPr>
              <a:t>Response Analysis</a:t>
            </a:r>
          </a:p>
        </p:txBody>
      </p:sp>
      <p:sp>
        <p:nvSpPr>
          <p:cNvPr id="3" name="Content Placeholder 2">
            <a:extLst>
              <a:ext uri="{FF2B5EF4-FFF2-40B4-BE49-F238E27FC236}">
                <a16:creationId xmlns:a16="http://schemas.microsoft.com/office/drawing/2014/main" id="{B9D1DE2B-C51E-FD58-67E9-2A9770589241}"/>
              </a:ext>
            </a:extLst>
          </p:cNvPr>
          <p:cNvSpPr>
            <a:spLocks noGrp="1"/>
          </p:cNvSpPr>
          <p:nvPr>
            <p:ph idx="1"/>
          </p:nvPr>
        </p:nvSpPr>
        <p:spPr>
          <a:xfrm>
            <a:off x="8898686" y="2162740"/>
            <a:ext cx="2955348" cy="1492843"/>
          </a:xfrm>
        </p:spPr>
        <p:txBody>
          <a:bodyPr vert="horz" lIns="91440" tIns="45720" rIns="91440" bIns="45720" rtlCol="0" anchor="t">
            <a:normAutofit fontScale="92500" lnSpcReduction="20000"/>
          </a:bodyPr>
          <a:lstStyle/>
          <a:p>
            <a:pPr marL="0" indent="0">
              <a:buNone/>
            </a:pPr>
            <a:endParaRPr lang="en-US" sz="1800" dirty="0">
              <a:latin typeface="Consolas"/>
              <a:ea typeface="Calibri"/>
              <a:cs typeface="Calibri"/>
            </a:endParaRPr>
          </a:p>
          <a:p>
            <a:pPr marL="0" indent="0">
              <a:buNone/>
            </a:pPr>
            <a:r>
              <a:rPr lang="en-US" sz="3300" b="1" i="1" dirty="0">
                <a:ea typeface="Calibri"/>
                <a:cs typeface="Calibri"/>
              </a:rPr>
              <a:t>No harmful or incoherent responses</a:t>
            </a:r>
          </a:p>
          <a:p>
            <a:endParaRPr lang="en-US" sz="2200" dirty="0">
              <a:ea typeface="Calibri"/>
              <a:cs typeface="Calibri"/>
            </a:endParaRPr>
          </a:p>
        </p:txBody>
      </p:sp>
      <p:pic>
        <p:nvPicPr>
          <p:cNvPr id="4" name="Picture 3">
            <a:extLst>
              <a:ext uri="{FF2B5EF4-FFF2-40B4-BE49-F238E27FC236}">
                <a16:creationId xmlns:a16="http://schemas.microsoft.com/office/drawing/2014/main" id="{31A97160-A14E-13E9-81DF-4E9001075541}"/>
              </a:ext>
            </a:extLst>
          </p:cNvPr>
          <p:cNvPicPr>
            <a:picLocks noChangeAspect="1"/>
          </p:cNvPicPr>
          <p:nvPr/>
        </p:nvPicPr>
        <p:blipFill>
          <a:blip r:embed="rId3"/>
          <a:srcRect/>
          <a:stretch/>
        </p:blipFill>
        <p:spPr>
          <a:xfrm>
            <a:off x="264425" y="1094089"/>
            <a:ext cx="8538306" cy="5122984"/>
          </a:xfrm>
          <a:prstGeom prst="rect">
            <a:avLst/>
          </a:prstGeom>
        </p:spPr>
      </p:pic>
      <p:pic>
        <p:nvPicPr>
          <p:cNvPr id="5" name="Picture 4" descr="A red circle with black text&#10;&#10;Description automatically generated">
            <a:extLst>
              <a:ext uri="{FF2B5EF4-FFF2-40B4-BE49-F238E27FC236}">
                <a16:creationId xmlns:a16="http://schemas.microsoft.com/office/drawing/2014/main" id="{E4641326-3B47-4B34-D01B-65A594A89B3C}"/>
              </a:ext>
            </a:extLst>
          </p:cNvPr>
          <p:cNvPicPr>
            <a:picLocks noChangeAspect="1"/>
          </p:cNvPicPr>
          <p:nvPr/>
        </p:nvPicPr>
        <p:blipFill>
          <a:blip r:embed="rId4"/>
          <a:stretch>
            <a:fillRect/>
          </a:stretch>
        </p:blipFill>
        <p:spPr>
          <a:xfrm>
            <a:off x="-111407" y="5832004"/>
            <a:ext cx="812977" cy="820659"/>
          </a:xfrm>
          <a:prstGeom prst="rect">
            <a:avLst/>
          </a:prstGeom>
        </p:spPr>
      </p:pic>
    </p:spTree>
    <p:extLst>
      <p:ext uri="{BB962C8B-B14F-4D97-AF65-F5344CB8AC3E}">
        <p14:creationId xmlns:p14="http://schemas.microsoft.com/office/powerpoint/2010/main" val="40865528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95504-2D68-CF49-94CE-52338B8DF61F}"/>
              </a:ext>
            </a:extLst>
          </p:cNvPr>
          <p:cNvSpPr>
            <a:spLocks noGrp="1"/>
          </p:cNvSpPr>
          <p:nvPr>
            <p:ph type="title"/>
          </p:nvPr>
        </p:nvSpPr>
        <p:spPr/>
        <p:txBody>
          <a:bodyPr/>
          <a:lstStyle/>
          <a:p>
            <a:r>
              <a:rPr lang="en-IT" b="1" dirty="0">
                <a:solidFill>
                  <a:srgbClr val="00B0F0"/>
                </a:solidFill>
                <a:latin typeface="+mn-lt"/>
              </a:rPr>
              <a:t>Virtual Coach: Take aways</a:t>
            </a:r>
          </a:p>
        </p:txBody>
      </p:sp>
      <p:sp>
        <p:nvSpPr>
          <p:cNvPr id="3" name="Content Placeholder 2">
            <a:extLst>
              <a:ext uri="{FF2B5EF4-FFF2-40B4-BE49-F238E27FC236}">
                <a16:creationId xmlns:a16="http://schemas.microsoft.com/office/drawing/2014/main" id="{9D71E25A-5945-D796-E5B9-09B36C02332D}"/>
              </a:ext>
            </a:extLst>
          </p:cNvPr>
          <p:cNvSpPr>
            <a:spLocks noGrp="1"/>
          </p:cNvSpPr>
          <p:nvPr>
            <p:ph idx="1"/>
          </p:nvPr>
        </p:nvSpPr>
        <p:spPr>
          <a:xfrm>
            <a:off x="1036320" y="1737362"/>
            <a:ext cx="10058400" cy="4023360"/>
          </a:xfrm>
        </p:spPr>
        <p:txBody>
          <a:bodyPr>
            <a:normAutofit fontScale="25000" lnSpcReduction="20000"/>
          </a:bodyPr>
          <a:lstStyle/>
          <a:p>
            <a:pPr marL="0" indent="0">
              <a:buClr>
                <a:srgbClr val="E48312"/>
              </a:buClr>
              <a:buNone/>
              <a:defRPr/>
            </a:pPr>
            <a:endParaRPr lang="en-US" sz="11200" dirty="0">
              <a:solidFill>
                <a:srgbClr val="00B050"/>
              </a:solidFill>
              <a:latin typeface="Calibri"/>
            </a:endParaRPr>
          </a:p>
          <a:p>
            <a:pPr lvl="1">
              <a:spcBef>
                <a:spcPts val="900"/>
              </a:spcBef>
              <a:spcAft>
                <a:spcPts val="150"/>
              </a:spcAft>
              <a:buClr>
                <a:srgbClr val="E48312"/>
              </a:buClr>
              <a:buSzPct val="100000"/>
              <a:buFont typeface="Wingdings" pitchFamily="2" charset="2"/>
              <a:buChar char="v"/>
              <a:defRPr/>
            </a:pPr>
            <a:r>
              <a:rPr lang="en-US" sz="12800" dirty="0">
                <a:solidFill>
                  <a:schemeClr val="accent1"/>
                </a:solidFill>
                <a:latin typeface="Calibri"/>
              </a:rPr>
              <a:t> </a:t>
            </a:r>
            <a:r>
              <a:rPr lang="en-US" sz="11200" dirty="0">
                <a:solidFill>
                  <a:schemeClr val="accent1"/>
                </a:solidFill>
                <a:latin typeface="Calibri"/>
              </a:rPr>
              <a:t>Dataset: </a:t>
            </a:r>
            <a:r>
              <a:rPr lang="en-US" sz="11200" dirty="0">
                <a:solidFill>
                  <a:schemeClr val="tx1"/>
                </a:solidFill>
                <a:latin typeface="Calibri"/>
              </a:rPr>
              <a:t>collected dataset, partially sharable</a:t>
            </a:r>
          </a:p>
          <a:p>
            <a:pPr marL="150876" lvl="1" indent="0">
              <a:buClr>
                <a:srgbClr val="E48312"/>
              </a:buClr>
              <a:buNone/>
              <a:defRPr/>
            </a:pPr>
            <a:endParaRPr lang="en-US" sz="11200" dirty="0">
              <a:solidFill>
                <a:srgbClr val="000000">
                  <a:lumMod val="75000"/>
                  <a:lumOff val="25000"/>
                </a:srgbClr>
              </a:solidFill>
              <a:latin typeface="Calibri"/>
            </a:endParaRPr>
          </a:p>
          <a:p>
            <a:pPr lvl="1">
              <a:buClr>
                <a:srgbClr val="E48312"/>
              </a:buClr>
              <a:buFont typeface="Wingdings" pitchFamily="2" charset="2"/>
              <a:buChar char="v"/>
              <a:defRPr/>
            </a:pPr>
            <a:r>
              <a:rPr lang="en-US" sz="11500" dirty="0">
                <a:solidFill>
                  <a:schemeClr val="accent1"/>
                </a:solidFill>
                <a:latin typeface="Calibri"/>
              </a:rPr>
              <a:t> </a:t>
            </a:r>
            <a:r>
              <a:rPr lang="en-US" sz="11500" dirty="0">
                <a:solidFill>
                  <a:srgbClr val="000000">
                    <a:lumMod val="75000"/>
                    <a:lumOff val="25000"/>
                  </a:srgbClr>
                </a:solidFill>
              </a:rPr>
              <a:t>Developed </a:t>
            </a:r>
            <a:r>
              <a:rPr lang="en-US" sz="11500" dirty="0" err="1">
                <a:solidFill>
                  <a:schemeClr val="accent1"/>
                </a:solidFill>
              </a:rPr>
              <a:t>neurosymbolic</a:t>
            </a:r>
            <a:r>
              <a:rPr lang="en-US" sz="11500" dirty="0">
                <a:solidFill>
                  <a:srgbClr val="000000">
                    <a:lumMod val="75000"/>
                    <a:lumOff val="25000"/>
                  </a:srgbClr>
                </a:solidFill>
              </a:rPr>
              <a:t> approach, highest performance</a:t>
            </a:r>
          </a:p>
          <a:p>
            <a:pPr lvl="1">
              <a:buClr>
                <a:srgbClr val="E48312"/>
              </a:buClr>
              <a:buFont typeface="Wingdings" pitchFamily="2" charset="2"/>
              <a:buChar char="v"/>
              <a:defRPr/>
            </a:pPr>
            <a:endParaRPr lang="en-US" sz="11500" dirty="0">
              <a:solidFill>
                <a:srgbClr val="000000">
                  <a:lumMod val="75000"/>
                  <a:lumOff val="25000"/>
                </a:srgbClr>
              </a:solidFill>
            </a:endParaRPr>
          </a:p>
          <a:p>
            <a:pPr lvl="1">
              <a:buClr>
                <a:srgbClr val="E48312"/>
              </a:buClr>
              <a:buFont typeface="Wingdings" pitchFamily="2" charset="2"/>
              <a:buChar char="v"/>
              <a:defRPr/>
            </a:pPr>
            <a:r>
              <a:rPr lang="en-US" sz="11500" dirty="0">
                <a:solidFill>
                  <a:schemeClr val="accent1"/>
                </a:solidFill>
                <a:latin typeface="Calibri"/>
              </a:rPr>
              <a:t> LLMs</a:t>
            </a:r>
            <a:r>
              <a:rPr lang="en-US" sz="11500" dirty="0">
                <a:solidFill>
                  <a:srgbClr val="000000">
                    <a:lumMod val="75000"/>
                    <a:lumOff val="25000"/>
                  </a:srgbClr>
                </a:solidFill>
                <a:latin typeface="Calibri"/>
              </a:rPr>
              <a:t>: qualitatively, GPT-3.5 answers were incomplete / incoherent</a:t>
            </a:r>
          </a:p>
          <a:p>
            <a:pPr marL="150876" lvl="1" indent="0">
              <a:buClr>
                <a:srgbClr val="E48312"/>
              </a:buClr>
              <a:buNone/>
              <a:defRPr/>
            </a:pPr>
            <a:endParaRPr lang="en-US" sz="11500" dirty="0">
              <a:solidFill>
                <a:srgbClr val="000000">
                  <a:lumMod val="75000"/>
                  <a:lumOff val="25000"/>
                </a:srgbClr>
              </a:solidFill>
              <a:latin typeface="Calibri"/>
            </a:endParaRPr>
          </a:p>
          <a:p>
            <a:pPr lvl="1">
              <a:buClr>
                <a:srgbClr val="E48312"/>
              </a:buClr>
              <a:buFont typeface="Wingdings" pitchFamily="2" charset="2"/>
              <a:buChar char="v"/>
              <a:defRPr/>
            </a:pPr>
            <a:r>
              <a:rPr lang="en-US" sz="11200" dirty="0">
                <a:solidFill>
                  <a:schemeClr val="accent1"/>
                </a:solidFill>
                <a:latin typeface="Calibri"/>
              </a:rPr>
              <a:t> Evaluation</a:t>
            </a:r>
            <a:r>
              <a:rPr lang="en-US" sz="11200" dirty="0">
                <a:solidFill>
                  <a:srgbClr val="000000">
                    <a:lumMod val="75000"/>
                    <a:lumOff val="25000"/>
                  </a:srgbClr>
                </a:solidFill>
                <a:latin typeface="Calibri"/>
              </a:rPr>
              <a:t>: ran  user study with nursing students</a:t>
            </a:r>
          </a:p>
          <a:p>
            <a:endParaRPr lang="en-IT" dirty="0"/>
          </a:p>
        </p:txBody>
      </p:sp>
      <p:sp>
        <p:nvSpPr>
          <p:cNvPr id="4" name="Slide Number Placeholder 3">
            <a:extLst>
              <a:ext uri="{FF2B5EF4-FFF2-40B4-BE49-F238E27FC236}">
                <a16:creationId xmlns:a16="http://schemas.microsoft.com/office/drawing/2014/main" id="{7761D06A-1DD2-44F6-1C88-20492AC89156}"/>
              </a:ext>
            </a:extLst>
          </p:cNvPr>
          <p:cNvSpPr>
            <a:spLocks noGrp="1"/>
          </p:cNvSpPr>
          <p:nvPr>
            <p:ph type="sldNum" sz="quarter" idx="12"/>
          </p:nvPr>
        </p:nvSpPr>
        <p:spPr/>
        <p:txBody>
          <a:bodyPr/>
          <a:lstStyle/>
          <a:p>
            <a:fld id="{6113E31D-E2AB-40D1-8B51-AFA5AFEF393A}" type="slidenum">
              <a:rPr lang="en-US" smtClean="0"/>
              <a:t>35</a:t>
            </a:fld>
            <a:endParaRPr lang="en-US" dirty="0"/>
          </a:p>
        </p:txBody>
      </p:sp>
      <p:pic>
        <p:nvPicPr>
          <p:cNvPr id="5" name="Picture 4" descr="A red circle with black text&#10;&#10;Description automatically generated">
            <a:extLst>
              <a:ext uri="{FF2B5EF4-FFF2-40B4-BE49-F238E27FC236}">
                <a16:creationId xmlns:a16="http://schemas.microsoft.com/office/drawing/2014/main" id="{E6FBAB8B-FE26-7428-2069-EB7EB997D17A}"/>
              </a:ext>
            </a:extLst>
          </p:cNvPr>
          <p:cNvPicPr>
            <a:picLocks noChangeAspect="1"/>
          </p:cNvPicPr>
          <p:nvPr/>
        </p:nvPicPr>
        <p:blipFill>
          <a:blip r:embed="rId3"/>
          <a:stretch>
            <a:fillRect/>
          </a:stretch>
        </p:blipFill>
        <p:spPr>
          <a:xfrm>
            <a:off x="-111407" y="5832004"/>
            <a:ext cx="812977" cy="820659"/>
          </a:xfrm>
          <a:prstGeom prst="rect">
            <a:avLst/>
          </a:prstGeom>
        </p:spPr>
      </p:pic>
    </p:spTree>
    <p:extLst>
      <p:ext uri="{BB962C8B-B14F-4D97-AF65-F5344CB8AC3E}">
        <p14:creationId xmlns:p14="http://schemas.microsoft.com/office/powerpoint/2010/main" val="32757427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EFEEB-DC42-B9EB-5F82-F4760220B6D4}"/>
              </a:ext>
            </a:extLst>
          </p:cNvPr>
          <p:cNvSpPr>
            <a:spLocks noGrp="1"/>
          </p:cNvSpPr>
          <p:nvPr>
            <p:ph type="ctrTitle"/>
          </p:nvPr>
        </p:nvSpPr>
        <p:spPr/>
        <p:txBody>
          <a:bodyPr/>
          <a:lstStyle/>
          <a:p>
            <a:r>
              <a:rPr lang="en-IT" b="1" dirty="0">
                <a:solidFill>
                  <a:srgbClr val="00B0F0"/>
                </a:solidFill>
                <a:latin typeface="+mn-lt"/>
              </a:rPr>
              <a:t>Additional slides</a:t>
            </a:r>
          </a:p>
        </p:txBody>
      </p:sp>
      <p:sp>
        <p:nvSpPr>
          <p:cNvPr id="3" name="Subtitle 2">
            <a:extLst>
              <a:ext uri="{FF2B5EF4-FFF2-40B4-BE49-F238E27FC236}">
                <a16:creationId xmlns:a16="http://schemas.microsoft.com/office/drawing/2014/main" id="{F2A49378-49B3-4ABB-6F56-030F45C69278}"/>
              </a:ext>
            </a:extLst>
          </p:cNvPr>
          <p:cNvSpPr>
            <a:spLocks noGrp="1"/>
          </p:cNvSpPr>
          <p:nvPr>
            <p:ph type="subTitle" idx="1"/>
          </p:nvPr>
        </p:nvSpPr>
        <p:spPr/>
        <p:txBody>
          <a:bodyPr/>
          <a:lstStyle/>
          <a:p>
            <a:endParaRPr lang="en-IT"/>
          </a:p>
        </p:txBody>
      </p:sp>
      <p:sp>
        <p:nvSpPr>
          <p:cNvPr id="4" name="Slide Number Placeholder 3">
            <a:extLst>
              <a:ext uri="{FF2B5EF4-FFF2-40B4-BE49-F238E27FC236}">
                <a16:creationId xmlns:a16="http://schemas.microsoft.com/office/drawing/2014/main" id="{C6B9D9F9-DA38-F544-8B07-7852A6D636DD}"/>
              </a:ext>
            </a:extLst>
          </p:cNvPr>
          <p:cNvSpPr>
            <a:spLocks noGrp="1"/>
          </p:cNvSpPr>
          <p:nvPr>
            <p:ph type="sldNum" sz="quarter" idx="12"/>
          </p:nvPr>
        </p:nvSpPr>
        <p:spPr/>
        <p:txBody>
          <a:bodyPr/>
          <a:lstStyle/>
          <a:p>
            <a:fld id="{4FAB73BC-B049-4115-A692-8D63A059BFB8}" type="slidenum">
              <a:rPr lang="en-US" smtClean="0"/>
              <a:t>36</a:t>
            </a:fld>
            <a:endParaRPr lang="en-US" dirty="0"/>
          </a:p>
        </p:txBody>
      </p:sp>
    </p:spTree>
    <p:extLst>
      <p:ext uri="{BB962C8B-B14F-4D97-AF65-F5344CB8AC3E}">
        <p14:creationId xmlns:p14="http://schemas.microsoft.com/office/powerpoint/2010/main" val="391517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D4F70-56F7-9AF9-8728-DE2A914920EC}"/>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4699CCFA-756C-C985-55C1-589D1C2195F2}"/>
              </a:ext>
            </a:extLst>
          </p:cNvPr>
          <p:cNvSpPr txBox="1">
            <a:spLocks/>
          </p:cNvSpPr>
          <p:nvPr/>
        </p:nvSpPr>
        <p:spPr>
          <a:xfrm>
            <a:off x="525518" y="1442252"/>
            <a:ext cx="11326677" cy="4728917"/>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800" dirty="0">
              <a:ea typeface="+mn-lt"/>
              <a:cs typeface="+mn-lt"/>
            </a:endParaRPr>
          </a:p>
          <a:p>
            <a:pPr algn="l"/>
            <a:br>
              <a:rPr lang="en-US" sz="2800" dirty="0">
                <a:ea typeface="+mn-lt"/>
                <a:cs typeface="+mn-lt"/>
              </a:rPr>
            </a:br>
            <a:endParaRPr lang="en-US" sz="2800" dirty="0">
              <a:ea typeface="+mn-lt"/>
              <a:cs typeface="+mn-lt"/>
            </a:endParaRPr>
          </a:p>
        </p:txBody>
      </p:sp>
      <p:sp>
        <p:nvSpPr>
          <p:cNvPr id="31" name="Slide Number Placeholder 30">
            <a:extLst>
              <a:ext uri="{FF2B5EF4-FFF2-40B4-BE49-F238E27FC236}">
                <a16:creationId xmlns:a16="http://schemas.microsoft.com/office/drawing/2014/main" id="{1D47FBB3-CC24-ECEE-1AAB-01F5E6C2024D}"/>
              </a:ext>
            </a:extLst>
          </p:cNvPr>
          <p:cNvSpPr>
            <a:spLocks noGrp="1"/>
          </p:cNvSpPr>
          <p:nvPr>
            <p:ph type="sldNum" sz="quarter" idx="12"/>
          </p:nvPr>
        </p:nvSpPr>
        <p:spPr/>
        <p:txBody>
          <a:bodyPr/>
          <a:lstStyle/>
          <a:p>
            <a:fld id="{C98AF8CE-0322-E540-B64D-7175E9218127}" type="slidenum">
              <a:rPr lang="en-CN" smtClean="0"/>
              <a:t>37</a:t>
            </a:fld>
            <a:endParaRPr lang="en-CN"/>
          </a:p>
        </p:txBody>
      </p:sp>
      <p:sp>
        <p:nvSpPr>
          <p:cNvPr id="9" name="Rectangle 8">
            <a:extLst>
              <a:ext uri="{FF2B5EF4-FFF2-40B4-BE49-F238E27FC236}">
                <a16:creationId xmlns:a16="http://schemas.microsoft.com/office/drawing/2014/main" id="{2BCA088F-8EC7-2838-3F59-760A4E1FF10E}"/>
              </a:ext>
            </a:extLst>
          </p:cNvPr>
          <p:cNvSpPr/>
          <p:nvPr/>
        </p:nvSpPr>
        <p:spPr>
          <a:xfrm>
            <a:off x="1977083" y="5500055"/>
            <a:ext cx="902043" cy="3017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4356412-1754-21EC-F15B-7177A5F6AB3C}"/>
              </a:ext>
            </a:extLst>
          </p:cNvPr>
          <p:cNvPicPr>
            <a:picLocks noChangeAspect="1"/>
          </p:cNvPicPr>
          <p:nvPr/>
        </p:nvPicPr>
        <p:blipFill>
          <a:blip r:embed="rId3"/>
          <a:stretch>
            <a:fillRect/>
          </a:stretch>
        </p:blipFill>
        <p:spPr>
          <a:xfrm>
            <a:off x="525517" y="1056230"/>
            <a:ext cx="10913710" cy="3351630"/>
          </a:xfrm>
          <a:prstGeom prst="rect">
            <a:avLst/>
          </a:prstGeom>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DAD37DCE-D253-4DFB-E782-FEAB1ACDA229}"/>
                  </a:ext>
                </a:extLst>
              </p:cNvPr>
              <p:cNvSpPr txBox="1"/>
              <p:nvPr/>
            </p:nvSpPr>
            <p:spPr>
              <a:xfrm>
                <a:off x="589376" y="4715157"/>
                <a:ext cx="10449926" cy="830997"/>
              </a:xfrm>
              <a:prstGeom prst="rect">
                <a:avLst/>
              </a:prstGeom>
              <a:noFill/>
            </p:spPr>
            <p:txBody>
              <a:bodyPr wrap="square">
                <a:spAutoFit/>
              </a:bodyPr>
              <a:lstStyle/>
              <a:p>
                <a:r>
                  <a:rPr lang="en-US" sz="2400" dirty="0"/>
                  <a:t>Context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𝐶</m:t>
                        </m:r>
                      </m:e>
                      <m:sub>
                        <m:r>
                          <a:rPr lang="en-US" sz="2400" i="1" dirty="0">
                            <a:latin typeface="Cambria Math" panose="02040503050406030204" pitchFamily="18" charset="0"/>
                          </a:rPr>
                          <m:t>𝑡</m:t>
                        </m:r>
                      </m:sub>
                    </m:sSub>
                  </m:oMath>
                </a14:m>
                <a:r>
                  <a:rPr lang="en-US" sz="2400" dirty="0"/>
                  <a:t>, belief tokens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𝐵</m:t>
                        </m:r>
                      </m:e>
                      <m:sub>
                        <m:r>
                          <a:rPr lang="en-US" sz="2400" i="1" dirty="0">
                            <a:latin typeface="Cambria Math" panose="02040503050406030204" pitchFamily="18" charset="0"/>
                          </a:rPr>
                          <m:t>𝑡</m:t>
                        </m:r>
                      </m:sub>
                    </m:sSub>
                  </m:oMath>
                </a14:m>
                <a:r>
                  <a:rPr lang="en-US" sz="2400" dirty="0"/>
                  <a:t>, and  predicted stage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𝑆</m:t>
                        </m:r>
                      </m:e>
                      <m:sub>
                        <m:r>
                          <a:rPr lang="en-US" sz="2400" i="1" dirty="0">
                            <a:latin typeface="Cambria Math" panose="02040503050406030204" pitchFamily="18" charset="0"/>
                          </a:rPr>
                          <m:t>𝑡</m:t>
                        </m:r>
                      </m:sub>
                    </m:sSub>
                  </m:oMath>
                </a14:m>
                <a:r>
                  <a:rPr lang="en-US" sz="2400" dirty="0"/>
                  <a:t>  embedded with </a:t>
                </a:r>
                <a14:m>
                  <m:oMath xmlns:m="http://schemas.openxmlformats.org/officeDocument/2006/math">
                    <m:r>
                      <a:rPr lang="en-US" sz="2400" i="1" dirty="0">
                        <a:latin typeface="Cambria Math" panose="02040503050406030204" pitchFamily="18" charset="0"/>
                      </a:rPr>
                      <m:t>𝑇</m:t>
                    </m:r>
                    <m:r>
                      <a:rPr lang="en-US" sz="2400" i="1" dirty="0">
                        <a:latin typeface="Cambria Math" panose="02040503050406030204" pitchFamily="18" charset="0"/>
                      </a:rPr>
                      <m:t>5</m:t>
                    </m:r>
                  </m:oMath>
                </a14:m>
                <a:r>
                  <a:rPr lang="en-US" sz="2400" dirty="0"/>
                  <a:t> encoder-decoder model  [Reffel et al JLMR 2020]</a:t>
                </a:r>
              </a:p>
            </p:txBody>
          </p:sp>
        </mc:Choice>
        <mc:Fallback>
          <p:sp>
            <p:nvSpPr>
              <p:cNvPr id="13" name="TextBox 12">
                <a:extLst>
                  <a:ext uri="{FF2B5EF4-FFF2-40B4-BE49-F238E27FC236}">
                    <a16:creationId xmlns:a16="http://schemas.microsoft.com/office/drawing/2014/main" id="{DAD37DCE-D253-4DFB-E782-FEAB1ACDA229}"/>
                  </a:ext>
                </a:extLst>
              </p:cNvPr>
              <p:cNvSpPr txBox="1">
                <a:spLocks noRot="1" noChangeAspect="1" noMove="1" noResize="1" noEditPoints="1" noAdjustHandles="1" noChangeArrowheads="1" noChangeShapeType="1" noTextEdit="1"/>
              </p:cNvSpPr>
              <p:nvPr/>
            </p:nvSpPr>
            <p:spPr>
              <a:xfrm>
                <a:off x="589376" y="4715157"/>
                <a:ext cx="10449926" cy="830997"/>
              </a:xfrm>
              <a:prstGeom prst="rect">
                <a:avLst/>
              </a:prstGeom>
              <a:blipFill>
                <a:blip r:embed="rId4"/>
                <a:stretch>
                  <a:fillRect l="-971" t="-4545" b="-15152"/>
                </a:stretch>
              </a:blipFill>
            </p:spPr>
            <p:txBody>
              <a:bodyPr/>
              <a:lstStyle/>
              <a:p>
                <a:r>
                  <a:rPr lang="en-IT">
                    <a:noFill/>
                  </a:rPr>
                  <a:t> </a:t>
                </a:r>
              </a:p>
            </p:txBody>
          </p:sp>
        </mc:Fallback>
      </mc:AlternateContent>
      <p:pic>
        <p:nvPicPr>
          <p:cNvPr id="2" name="Picture 1" descr="A red circle with black text&#10;&#10;Description automatically generated">
            <a:extLst>
              <a:ext uri="{FF2B5EF4-FFF2-40B4-BE49-F238E27FC236}">
                <a16:creationId xmlns:a16="http://schemas.microsoft.com/office/drawing/2014/main" id="{74B77157-3ED1-6AD0-E5B4-2ABCD4DE3E91}"/>
              </a:ext>
            </a:extLst>
          </p:cNvPr>
          <p:cNvPicPr>
            <a:picLocks noChangeAspect="1"/>
          </p:cNvPicPr>
          <p:nvPr/>
        </p:nvPicPr>
        <p:blipFill>
          <a:blip r:embed="rId5"/>
          <a:stretch>
            <a:fillRect/>
          </a:stretch>
        </p:blipFill>
        <p:spPr>
          <a:xfrm>
            <a:off x="-111407" y="5832004"/>
            <a:ext cx="812977" cy="820659"/>
          </a:xfrm>
          <a:prstGeom prst="rect">
            <a:avLst/>
          </a:prstGeom>
        </p:spPr>
      </p:pic>
      <p:sp>
        <p:nvSpPr>
          <p:cNvPr id="7" name="TextBox 6">
            <a:extLst>
              <a:ext uri="{FF2B5EF4-FFF2-40B4-BE49-F238E27FC236}">
                <a16:creationId xmlns:a16="http://schemas.microsoft.com/office/drawing/2014/main" id="{50A89623-46C6-C62F-4DCD-615A7C9F1223}"/>
              </a:ext>
            </a:extLst>
          </p:cNvPr>
          <p:cNvSpPr txBox="1"/>
          <p:nvPr/>
        </p:nvSpPr>
        <p:spPr>
          <a:xfrm>
            <a:off x="510433" y="301316"/>
            <a:ext cx="10046039" cy="523220"/>
          </a:xfrm>
          <a:prstGeom prst="rect">
            <a:avLst/>
          </a:prstGeom>
          <a:noFill/>
        </p:spPr>
        <p:txBody>
          <a:bodyPr wrap="square">
            <a:spAutoFit/>
          </a:bodyPr>
          <a:lstStyle/>
          <a:p>
            <a:pPr>
              <a:defRPr/>
            </a:pPr>
            <a:r>
              <a:rPr lang="en-US" sz="2800" b="1" dirty="0">
                <a:solidFill>
                  <a:srgbClr val="00B0F0"/>
                </a:solidFill>
                <a:latin typeface="Calibri"/>
                <a:ea typeface="+mn-lt"/>
                <a:cs typeface="Calibri"/>
              </a:rPr>
              <a:t>NLG [Zhou et al COLING 22] </a:t>
            </a:r>
            <a:endParaRPr lang="en-US" sz="2800" b="1" dirty="0">
              <a:solidFill>
                <a:srgbClr val="00B0F0"/>
              </a:solidFill>
              <a:latin typeface="Calibri"/>
            </a:endParaRPr>
          </a:p>
        </p:txBody>
      </p:sp>
    </p:spTree>
    <p:extLst>
      <p:ext uri="{BB962C8B-B14F-4D97-AF65-F5344CB8AC3E}">
        <p14:creationId xmlns:p14="http://schemas.microsoft.com/office/powerpoint/2010/main" val="28897864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B9B17-2865-6C75-4523-7DE7D8A8BAA4}"/>
              </a:ext>
            </a:extLst>
          </p:cNvPr>
          <p:cNvSpPr>
            <a:spLocks noGrp="1"/>
          </p:cNvSpPr>
          <p:nvPr>
            <p:ph type="title"/>
          </p:nvPr>
        </p:nvSpPr>
        <p:spPr/>
        <p:txBody>
          <a:bodyPr/>
          <a:lstStyle/>
          <a:p>
            <a:r>
              <a:rPr lang="en-IT" b="1" dirty="0">
                <a:solidFill>
                  <a:srgbClr val="00B0F0"/>
                </a:solidFill>
                <a:latin typeface="+mn-lt"/>
              </a:rPr>
              <a:t>References</a:t>
            </a:r>
          </a:p>
        </p:txBody>
      </p:sp>
      <p:sp>
        <p:nvSpPr>
          <p:cNvPr id="3" name="Content Placeholder 2">
            <a:extLst>
              <a:ext uri="{FF2B5EF4-FFF2-40B4-BE49-F238E27FC236}">
                <a16:creationId xmlns:a16="http://schemas.microsoft.com/office/drawing/2014/main" id="{65C22218-BFB0-00CD-49CF-E2AE8A8F98DB}"/>
              </a:ext>
            </a:extLst>
          </p:cNvPr>
          <p:cNvSpPr>
            <a:spLocks noGrp="1"/>
          </p:cNvSpPr>
          <p:nvPr>
            <p:ph idx="1"/>
          </p:nvPr>
        </p:nvSpPr>
        <p:spPr/>
        <p:txBody>
          <a:bodyPr>
            <a:normAutofit fontScale="92500" lnSpcReduction="20000"/>
          </a:bodyPr>
          <a:lstStyle/>
          <a:p>
            <a:pPr>
              <a:lnSpc>
                <a:spcPct val="100000"/>
              </a:lnSpc>
            </a:pPr>
            <a:r>
              <a:rPr lang="en-GB" dirty="0"/>
              <a:t>I. Gupta, B. Di Eugenio, B. Ziebart, A. Baiju, B. Liu, B. Gerber, L. Sharp, N. Nabulsi, and M. Smart. </a:t>
            </a:r>
            <a:r>
              <a:rPr lang="en-GB" i="1" dirty="0"/>
              <a:t>Human-human health coaching via text messages: Corpus, annotation, and analysis.</a:t>
            </a:r>
            <a:r>
              <a:rPr lang="en-GB" dirty="0"/>
              <a:t> In Proceedings of the 21th Annual Meeting of the Special Interest Group on Discourse and Dialogue, pages 246–256, 1st virtual meeting, July 2020. Association for Computational Linguistics.</a:t>
            </a:r>
          </a:p>
          <a:p>
            <a:r>
              <a:rPr lang="en-GB" dirty="0"/>
              <a:t>I. Gupta, B. Di Eugenio, B. Ziebart, B. Liu, B. Gerber, and L. Sharp. </a:t>
            </a:r>
            <a:r>
              <a:rPr lang="en-GB" i="1" dirty="0"/>
              <a:t>Goal summarization for human-human health coaching dialogues</a:t>
            </a:r>
            <a:r>
              <a:rPr lang="en-GB" dirty="0"/>
              <a:t>. In The Thirty-Third International FLAIRS Conference, 2020.</a:t>
            </a:r>
          </a:p>
          <a:p>
            <a:r>
              <a:rPr lang="en-GB" dirty="0"/>
              <a:t>I. Gupta, B. Di Eugenio, B. D. Ziebart, B. Liu, B. S. Gerber, and L. K. Sharp. </a:t>
            </a:r>
            <a:r>
              <a:rPr lang="en-GB" i="1" dirty="0"/>
              <a:t>Summarizing </a:t>
            </a:r>
            <a:r>
              <a:rPr lang="en-GB" i="1" dirty="0" err="1"/>
              <a:t>behavioral</a:t>
            </a:r>
            <a:r>
              <a:rPr lang="en-GB" i="1" dirty="0"/>
              <a:t> change goals from SMS exchanges to support health coaches</a:t>
            </a:r>
            <a:r>
              <a:rPr lang="en-GB" dirty="0"/>
              <a:t>. In Proceedings of the 22nd Annual Meeting of the Special Interest Group on Discourse and Dialogue, pages 276–289, 2021.</a:t>
            </a:r>
          </a:p>
          <a:p>
            <a:r>
              <a:rPr lang="en-GB" dirty="0"/>
              <a:t>Gupta, Itika, Barbara Di Eugenio, Devika Salunke, Andrew Boyd, Paula Allen-Meares, Carolyn Dickens, and Olga Garcia. "Heart failure education of African American and Hispanic/Latino patients: Data collection and analysis." In </a:t>
            </a:r>
            <a:r>
              <a:rPr lang="en-GB" i="1" dirty="0"/>
              <a:t>Proceedings of the First Workshop on Natural Language Processing for Medical Conversations</a:t>
            </a:r>
            <a:r>
              <a:rPr lang="en-GB" dirty="0"/>
              <a:t>, pp. 41-46. 2020.</a:t>
            </a:r>
          </a:p>
          <a:p>
            <a:r>
              <a:rPr lang="en-GB" sz="1600" dirty="0"/>
              <a:t>Mac, O., et al . (2022). Comparison of Readability Scores for Written Health Information Across Formulas  Using Automated vs Manual Measures. </a:t>
            </a:r>
            <a:r>
              <a:rPr lang="en-GB" sz="1600" i="1" dirty="0"/>
              <a:t>JAMA Network Open</a:t>
            </a:r>
            <a:r>
              <a:rPr lang="en-GB" sz="1600" dirty="0"/>
              <a:t>, </a:t>
            </a:r>
            <a:r>
              <a:rPr lang="en-GB" sz="1600" i="1" dirty="0"/>
              <a:t>5</a:t>
            </a:r>
            <a:r>
              <a:rPr lang="en-GB" sz="1600" dirty="0"/>
              <a:t>(12)</a:t>
            </a:r>
            <a:endParaRPr lang="en-GB" dirty="0"/>
          </a:p>
          <a:p>
            <a:r>
              <a:rPr lang="en-GB" dirty="0"/>
              <a:t>C. Raffel, N. </a:t>
            </a:r>
            <a:r>
              <a:rPr lang="en-GB" dirty="0" err="1"/>
              <a:t>Shazeer</a:t>
            </a:r>
            <a:r>
              <a:rPr lang="en-GB" dirty="0"/>
              <a:t>, A. Roberts, K. Lee, S. Narang, M. </a:t>
            </a:r>
            <a:r>
              <a:rPr lang="en-GB" dirty="0" err="1"/>
              <a:t>Matena</a:t>
            </a:r>
            <a:r>
              <a:rPr lang="en-GB" dirty="0"/>
              <a:t>, Y. Zhou, W. Li, and P. </a:t>
            </a:r>
            <a:r>
              <a:rPr lang="en-GB" dirty="0" err="1"/>
              <a:t>J.Liu</a:t>
            </a:r>
            <a:r>
              <a:rPr lang="en-GB" dirty="0"/>
              <a:t>. </a:t>
            </a:r>
            <a:r>
              <a:rPr lang="en-GB" i="1" dirty="0"/>
              <a:t>Exploring the limits of transfer learning with a unified text-to-text transformer</a:t>
            </a:r>
            <a:r>
              <a:rPr lang="en-GB" dirty="0"/>
              <a:t>. Journal of Machine Learning Research, 21(140):1–67, 2020. </a:t>
            </a:r>
          </a:p>
          <a:p>
            <a:r>
              <a:rPr lang="en-GB" dirty="0"/>
              <a:t>Su, Y., Shu, L., Mansimov, E., Gupta, A., Cai, D., Lai, Y.-A., and Zhang, Y.</a:t>
            </a:r>
            <a:r>
              <a:rPr lang="en-GB" i="1" dirty="0"/>
              <a:t>: Multi-task pre-training for plug-and-play task-oriented dialogue</a:t>
            </a:r>
            <a:r>
              <a:rPr lang="en-GB" dirty="0"/>
              <a:t> </a:t>
            </a:r>
            <a:r>
              <a:rPr lang="en-GB" i="1" dirty="0"/>
              <a:t>system. </a:t>
            </a:r>
            <a:r>
              <a:rPr lang="en-GB" dirty="0"/>
              <a:t>In Proceedings of the 60th Annual Meeting of the Association for Computational Linguistics (Volume 1: Long Papers), eds. S. Muresan, P. </a:t>
            </a:r>
            <a:r>
              <a:rPr lang="en-GB" dirty="0" err="1"/>
              <a:t>Nakov</a:t>
            </a:r>
            <a:r>
              <a:rPr lang="en-GB" dirty="0"/>
              <a:t>, and A. Villavicencio, pages 4661–4676, Dublin, Ireland, May 2022. Association for Computational Linguistics.</a:t>
            </a:r>
          </a:p>
          <a:p>
            <a:endParaRPr lang="en-GB" dirty="0"/>
          </a:p>
          <a:p>
            <a:pPr marL="0" indent="0">
              <a:buNone/>
            </a:pPr>
            <a:endParaRPr lang="en-GB" dirty="0"/>
          </a:p>
          <a:p>
            <a:endParaRPr lang="en-GB" dirty="0"/>
          </a:p>
          <a:p>
            <a:endParaRPr lang="en-IT" dirty="0"/>
          </a:p>
        </p:txBody>
      </p:sp>
      <p:sp>
        <p:nvSpPr>
          <p:cNvPr id="4" name="Slide Number Placeholder 3">
            <a:extLst>
              <a:ext uri="{FF2B5EF4-FFF2-40B4-BE49-F238E27FC236}">
                <a16:creationId xmlns:a16="http://schemas.microsoft.com/office/drawing/2014/main" id="{9648AEE0-C99B-599E-28C9-1854A27BCCE7}"/>
              </a:ext>
            </a:extLst>
          </p:cNvPr>
          <p:cNvSpPr>
            <a:spLocks noGrp="1"/>
          </p:cNvSpPr>
          <p:nvPr>
            <p:ph type="sldNum" sz="quarter" idx="12"/>
          </p:nvPr>
        </p:nvSpPr>
        <p:spPr/>
        <p:txBody>
          <a:bodyPr/>
          <a:lstStyle/>
          <a:p>
            <a:fld id="{6113E31D-E2AB-40D1-8B51-AFA5AFEF393A}" type="slidenum">
              <a:rPr lang="en-US" smtClean="0"/>
              <a:t>38</a:t>
            </a:fld>
            <a:endParaRPr lang="en-US" dirty="0"/>
          </a:p>
        </p:txBody>
      </p:sp>
    </p:spTree>
    <p:extLst>
      <p:ext uri="{BB962C8B-B14F-4D97-AF65-F5344CB8AC3E}">
        <p14:creationId xmlns:p14="http://schemas.microsoft.com/office/powerpoint/2010/main" val="22589899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ED513-0718-3D8A-E7F9-422E98F195D4}"/>
              </a:ext>
            </a:extLst>
          </p:cNvPr>
          <p:cNvSpPr>
            <a:spLocks noGrp="1"/>
          </p:cNvSpPr>
          <p:nvPr>
            <p:ph type="title"/>
          </p:nvPr>
        </p:nvSpPr>
        <p:spPr/>
        <p:txBody>
          <a:bodyPr/>
          <a:lstStyle/>
          <a:p>
            <a:r>
              <a:rPr lang="en-IT" b="1" dirty="0">
                <a:solidFill>
                  <a:srgbClr val="00B0F0"/>
                </a:solidFill>
              </a:rPr>
              <a:t>References (ctd)</a:t>
            </a:r>
            <a:endParaRPr lang="en-IT" dirty="0"/>
          </a:p>
        </p:txBody>
      </p:sp>
      <p:sp>
        <p:nvSpPr>
          <p:cNvPr id="3" name="Content Placeholder 2">
            <a:extLst>
              <a:ext uri="{FF2B5EF4-FFF2-40B4-BE49-F238E27FC236}">
                <a16:creationId xmlns:a16="http://schemas.microsoft.com/office/drawing/2014/main" id="{22D8D69F-1699-65CA-FAE2-62D827F7C752}"/>
              </a:ext>
            </a:extLst>
          </p:cNvPr>
          <p:cNvSpPr>
            <a:spLocks noGrp="1"/>
          </p:cNvSpPr>
          <p:nvPr>
            <p:ph idx="1"/>
          </p:nvPr>
        </p:nvSpPr>
        <p:spPr/>
        <p:txBody>
          <a:bodyPr>
            <a:normAutofit lnSpcReduction="10000"/>
          </a:bodyPr>
          <a:lstStyle/>
          <a:p>
            <a:r>
              <a:rPr lang="en-GB" dirty="0"/>
              <a:t>Tayal, Anuja, Barbara Di Eugenio, Devika Salunke, Andrew Boyd, Carolyn A. Dickens, Eulalia P. Abril, Olga Garcia-Bedoya, and Paula G. Allen-Meares. "A neuro-symbolic approach to monitoring salt content in food." In </a:t>
            </a:r>
            <a:r>
              <a:rPr lang="en-GB" i="1" dirty="0"/>
              <a:t>Proceedings of the First Workshop on Patient-Oriented Language Processing (CL4Health)@ LREC-COLING 2024</a:t>
            </a:r>
            <a:r>
              <a:rPr lang="en-GB" dirty="0"/>
              <a:t>, pp. 93-103. 2024. </a:t>
            </a:r>
          </a:p>
          <a:p>
            <a:r>
              <a:rPr lang="en-GB" dirty="0"/>
              <a:t>Y. Zhou, B. Di Eugenio, B. Ziebart, L. Sharp, B. Liu, B. Gerber, N. </a:t>
            </a:r>
            <a:r>
              <a:rPr lang="en-GB" dirty="0" err="1"/>
              <a:t>Agadakos</a:t>
            </a:r>
            <a:r>
              <a:rPr lang="en-GB" dirty="0"/>
              <a:t>, and S. Yadav. Towards enhancing health coaching dialogue in low-resource settings. In Proceedings of the 29th International Conference on Computational Linguistics, pages 694–706, Gyeongju, Republic of Korea, Oct. 2022. International Committee on Computational Linguistics.</a:t>
            </a:r>
          </a:p>
          <a:p>
            <a:r>
              <a:rPr lang="en-GB" dirty="0"/>
              <a:t>Y. Zhou, B. Di Eugenio, B. Ziebart, L. Sharp, B. Liu, and N. </a:t>
            </a:r>
            <a:r>
              <a:rPr lang="en-GB" dirty="0" err="1"/>
              <a:t>Agadakos</a:t>
            </a:r>
            <a:r>
              <a:rPr lang="en-GB" dirty="0"/>
              <a:t>. </a:t>
            </a:r>
            <a:r>
              <a:rPr lang="en-GB" dirty="0" err="1"/>
              <a:t>Modeling</a:t>
            </a:r>
            <a:r>
              <a:rPr lang="en-GB" dirty="0"/>
              <a:t> </a:t>
            </a:r>
            <a:r>
              <a:rPr lang="en-GB" dirty="0" err="1"/>
              <a:t>lowresource</a:t>
            </a:r>
            <a:r>
              <a:rPr lang="en-GB" dirty="0"/>
              <a:t> health coaching dialogues via neuro-symbolic goal summarization and text-units text generation. In N. </a:t>
            </a:r>
            <a:r>
              <a:rPr lang="en-GB" dirty="0" err="1"/>
              <a:t>Calzolari</a:t>
            </a:r>
            <a:r>
              <a:rPr lang="en-GB" dirty="0"/>
              <a:t>, M.-Y. Kan, V. Hoste, A. Lenci, S. Sakti, and N. Xue, editors, Proceedings of the 2024 Joint International Conference on Computational Linguistics, Language Resources and Evaluation (LREC-COLING 2024), pages 11498–11509, Torino, Italia, May 2024. ELRA and ICCL.</a:t>
            </a:r>
          </a:p>
          <a:p>
            <a:r>
              <a:rPr lang="en-GB" dirty="0"/>
              <a:t>Y. Zhou, B. Di Eugenio, and L. Cheng. </a:t>
            </a:r>
            <a:r>
              <a:rPr lang="en-GB" i="1" dirty="0"/>
              <a:t>Unveiling performance challenges of large language models in low-resource healthcare: A demographic fairness perspective.</a:t>
            </a:r>
            <a:r>
              <a:rPr lang="en-GB" dirty="0"/>
              <a:t> In O. Rambow, </a:t>
            </a:r>
            <a:r>
              <a:rPr lang="en-GB" dirty="0" err="1"/>
              <a:t>L.Wanner</a:t>
            </a:r>
            <a:r>
              <a:rPr lang="en-GB" dirty="0"/>
              <a:t>, M. </a:t>
            </a:r>
            <a:r>
              <a:rPr lang="en-GB" dirty="0" err="1"/>
              <a:t>Apidianaki</a:t>
            </a:r>
            <a:r>
              <a:rPr lang="en-GB" dirty="0"/>
              <a:t>, H. Al-Khalifa, B. D. Eugenio, and S. </a:t>
            </a:r>
            <a:r>
              <a:rPr lang="en-GB" dirty="0" err="1"/>
              <a:t>Schockaert</a:t>
            </a:r>
            <a:r>
              <a:rPr lang="en-GB" dirty="0"/>
              <a:t>, editors, Proceedings of the 31st International Conference on Computational Linguistics, pages 7266–7278, Abu Dhabi, UAE, Jan. 2025. Association for Computational Linguistics.</a:t>
            </a:r>
          </a:p>
          <a:p>
            <a:r>
              <a:rPr lang="en-GB" dirty="0"/>
              <a:t>Y. Zhou and B. Di Eugenio. </a:t>
            </a:r>
            <a:r>
              <a:rPr lang="en-GB" i="1" dirty="0"/>
              <a:t>Veracity bias and beyond: Uncovering LLMs’ hidden beliefs in</a:t>
            </a:r>
            <a:r>
              <a:rPr lang="en-GB" dirty="0"/>
              <a:t> </a:t>
            </a:r>
            <a:r>
              <a:rPr lang="en-GB" i="1" dirty="0"/>
              <a:t>problem-solving reasoning. </a:t>
            </a:r>
            <a:r>
              <a:rPr lang="en-GB" dirty="0"/>
              <a:t>In W. Che, J. </a:t>
            </a:r>
            <a:r>
              <a:rPr lang="en-GB" dirty="0" err="1"/>
              <a:t>Nabende</a:t>
            </a:r>
            <a:r>
              <a:rPr lang="en-GB" dirty="0"/>
              <a:t>, E. </a:t>
            </a:r>
            <a:r>
              <a:rPr lang="en-GB" dirty="0" err="1"/>
              <a:t>Shutova</a:t>
            </a:r>
            <a:r>
              <a:rPr lang="en-GB" dirty="0"/>
              <a:t>, and M. T. </a:t>
            </a:r>
            <a:r>
              <a:rPr lang="en-GB" dirty="0" err="1"/>
              <a:t>Pilehvar</a:t>
            </a:r>
            <a:r>
              <a:rPr lang="en-GB" dirty="0"/>
              <a:t>, editors, Proceedings of the 63rd Annual Meeting of the Association for Computational Linguistics (Volume 1: Long Papers), pages 21298–21310, Vienna, Austria, July 2025. Association for Computational Linguistics.</a:t>
            </a:r>
          </a:p>
          <a:p>
            <a:endParaRPr lang="en-IT" dirty="0"/>
          </a:p>
        </p:txBody>
      </p:sp>
      <p:sp>
        <p:nvSpPr>
          <p:cNvPr id="4" name="Slide Number Placeholder 3">
            <a:extLst>
              <a:ext uri="{FF2B5EF4-FFF2-40B4-BE49-F238E27FC236}">
                <a16:creationId xmlns:a16="http://schemas.microsoft.com/office/drawing/2014/main" id="{499767C3-8143-FAB1-15D5-DB1C5B1FB3B5}"/>
              </a:ext>
            </a:extLst>
          </p:cNvPr>
          <p:cNvSpPr>
            <a:spLocks noGrp="1"/>
          </p:cNvSpPr>
          <p:nvPr>
            <p:ph type="sldNum" sz="quarter" idx="12"/>
          </p:nvPr>
        </p:nvSpPr>
        <p:spPr/>
        <p:txBody>
          <a:bodyPr/>
          <a:lstStyle/>
          <a:p>
            <a:fld id="{6113E31D-E2AB-40D1-8B51-AFA5AFEF393A}" type="slidenum">
              <a:rPr lang="en-US" smtClean="0"/>
              <a:t>39</a:t>
            </a:fld>
            <a:endParaRPr lang="en-US" dirty="0"/>
          </a:p>
        </p:txBody>
      </p:sp>
    </p:spTree>
    <p:extLst>
      <p:ext uri="{BB962C8B-B14F-4D97-AF65-F5344CB8AC3E}">
        <p14:creationId xmlns:p14="http://schemas.microsoft.com/office/powerpoint/2010/main" val="337575237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75501</TotalTime>
  <Words>3945</Words>
  <Application>Microsoft Macintosh PowerPoint</Application>
  <PresentationFormat>Widescreen</PresentationFormat>
  <Paragraphs>361</Paragraphs>
  <Slides>39</Slides>
  <Notes>31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39</vt:i4>
      </vt:variant>
    </vt:vector>
  </HeadingPairs>
  <TitlesOfParts>
    <vt:vector size="53" baseType="lpstr">
      <vt:lpstr>Apple Braille Pinpoint 8 Dot</vt:lpstr>
      <vt:lpstr>Arial</vt:lpstr>
      <vt:lpstr>Arial Hebrew</vt:lpstr>
      <vt:lpstr>Calibri</vt:lpstr>
      <vt:lpstr>Calibri Light</vt:lpstr>
      <vt:lpstr>Cambria Math</vt:lpstr>
      <vt:lpstr>Consolas</vt:lpstr>
      <vt:lpstr>Copperplate Gothic Bold</vt:lpstr>
      <vt:lpstr>Gill Sans MT</vt:lpstr>
      <vt:lpstr>Microsoft Himalaya</vt:lpstr>
      <vt:lpstr>System Font Regular</vt:lpstr>
      <vt:lpstr>Times New Roman</vt:lpstr>
      <vt:lpstr>Wingdings</vt:lpstr>
      <vt:lpstr>Retrospect</vt:lpstr>
      <vt:lpstr>                         Engaging the Patient in Healthcare: Conversational Assistants   in the era of LLMs </vt:lpstr>
      <vt:lpstr>PowerPoint Presentation</vt:lpstr>
      <vt:lpstr>Conversational assistants for patients </vt:lpstr>
      <vt:lpstr>Conversational assistants for patients: A non-exhaustive list of challenges </vt:lpstr>
      <vt:lpstr>Conversational assistants for patients: A non-exhaustive list of challenges (ctd)</vt:lpstr>
      <vt:lpstr>Challenges Incarnated </vt:lpstr>
      <vt:lpstr>Riassunto-  lezione 7 su dialogue systems &amp; chatbots (Prof Mazzei)</vt:lpstr>
      <vt:lpstr>PowerPoint Presentation</vt:lpstr>
      <vt:lpstr>PowerPoint Presentation</vt:lpstr>
      <vt:lpstr>PowerPoint Presentation</vt:lpstr>
      <vt:lpstr>Virtual Health Coach  (National Science Foundation 1838770, 2018-2025)</vt:lpstr>
      <vt:lpstr>Health Coaching  </vt:lpstr>
      <vt:lpstr>Virtual Coach: Overall Research Question</vt:lpstr>
      <vt:lpstr>Data Collection</vt:lpstr>
      <vt:lpstr>What should dialogue agent do [to support coaches]? </vt:lpstr>
      <vt:lpstr>Text Messages Exchange Excerpt</vt:lpstr>
      <vt:lpstr>Three-Tier Dialogue Annotations</vt:lpstr>
      <vt:lpstr> Interface with Summary</vt:lpstr>
      <vt:lpstr>”Classic”: Goal Extraction Approaches [Gupta et al SigDIAL 20, 21]</vt:lpstr>
      <vt:lpstr>”Classic”: Goal Extraction Approaches [Gupta et al SigDIAL 20, 21]</vt:lpstr>
      <vt:lpstr>PowerPoint Presentation</vt:lpstr>
      <vt:lpstr>PowerPoint Presentation</vt:lpstr>
      <vt:lpstr>Neural NLU v2: Neurosymbolic AI</vt:lpstr>
      <vt:lpstr>Neural NLU v2: Neurosymbolic approach   [Zhou et al LREC-COLING 2024]  </vt:lpstr>
      <vt:lpstr>Virtual Coach: NLU Results</vt:lpstr>
      <vt:lpstr>PowerPoint Presentation</vt:lpstr>
      <vt:lpstr>PowerPoint Presentation</vt:lpstr>
      <vt:lpstr>PowerPoint Presentation</vt:lpstr>
      <vt:lpstr>PowerPoint Presentation</vt:lpstr>
      <vt:lpstr>NLG: Text-Unit-Text generation [Zhou et al LREC-COLING 24]</vt:lpstr>
      <vt:lpstr>And what about LLMs? [Zhou et al LREC-COLING 24]</vt:lpstr>
      <vt:lpstr>Response examples </vt:lpstr>
      <vt:lpstr>Human Evaluation </vt:lpstr>
      <vt:lpstr>Response Analysis</vt:lpstr>
      <vt:lpstr>Virtual Coach: Take aways</vt:lpstr>
      <vt:lpstr>Additional slides</vt:lpstr>
      <vt:lpstr>PowerPoint Presentation</vt:lpstr>
      <vt:lpstr>References</vt:lpstr>
      <vt:lpstr>References (ctd)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The Virtual Assistant Health Coach for behavioral change:  supporting patients and human coaches  </dc:title>
  <dc:creator>Di Eugenio, Barbara</dc:creator>
  <cp:lastModifiedBy>Di Eugenio, Barbara</cp:lastModifiedBy>
  <cp:revision>113</cp:revision>
  <dcterms:created xsi:type="dcterms:W3CDTF">2022-04-20T22:09:18Z</dcterms:created>
  <dcterms:modified xsi:type="dcterms:W3CDTF">2026-05-14T10:33:58Z</dcterms:modified>
</cp:coreProperties>
</file>