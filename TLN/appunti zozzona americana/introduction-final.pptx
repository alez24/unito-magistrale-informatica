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6" r:id="rId2"/>
    <p:sldMasterId id="2147483689" r:id="rId3"/>
  </p:sldMasterIdLst>
  <p:notesMasterIdLst>
    <p:notesMasterId r:id="rId29"/>
  </p:notesMasterIdLst>
  <p:sldIdLst>
    <p:sldId id="257" r:id="rId4"/>
    <p:sldId id="258" r:id="rId5"/>
    <p:sldId id="272" r:id="rId6"/>
    <p:sldId id="383" r:id="rId7"/>
    <p:sldId id="265" r:id="rId8"/>
    <p:sldId id="276" r:id="rId9"/>
    <p:sldId id="277" r:id="rId10"/>
    <p:sldId id="351" r:id="rId11"/>
    <p:sldId id="352" r:id="rId12"/>
    <p:sldId id="379" r:id="rId13"/>
    <p:sldId id="353" r:id="rId14"/>
    <p:sldId id="282" r:id="rId15"/>
    <p:sldId id="288" r:id="rId16"/>
    <p:sldId id="287" r:id="rId17"/>
    <p:sldId id="291" r:id="rId18"/>
    <p:sldId id="356" r:id="rId19"/>
    <p:sldId id="292" r:id="rId20"/>
    <p:sldId id="381" r:id="rId21"/>
    <p:sldId id="289" r:id="rId22"/>
    <p:sldId id="382" r:id="rId23"/>
    <p:sldId id="286" r:id="rId24"/>
    <p:sldId id="285" r:id="rId25"/>
    <p:sldId id="357" r:id="rId26"/>
    <p:sldId id="284" r:id="rId27"/>
    <p:sldId id="293" r:id="rId28"/>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2"/>
    <p:restoredTop sz="94682"/>
  </p:normalViewPr>
  <p:slideViewPr>
    <p:cSldViewPr snapToGrid="0">
      <p:cViewPr varScale="1">
        <p:scale>
          <a:sx n="100" d="100"/>
          <a:sy n="100" d="100"/>
        </p:scale>
        <p:origin x="184" y="5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657A4C-81F0-6544-96B9-A820D6E1A94D}" type="datetimeFigureOut">
              <a:rPr lang="en-IT" smtClean="0"/>
              <a:t>04/05/26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B37FAA-AA78-344A-A917-5438B6D6F91F}" type="slidenum">
              <a:rPr lang="en-IT" smtClean="0"/>
              <a:t>‹#›</a:t>
            </a:fld>
            <a:endParaRPr lang="en-IT"/>
          </a:p>
        </p:txBody>
      </p:sp>
    </p:spTree>
    <p:extLst>
      <p:ext uri="{BB962C8B-B14F-4D97-AF65-F5344CB8AC3E}">
        <p14:creationId xmlns:p14="http://schemas.microsoft.com/office/powerpoint/2010/main" val="230942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rcsb.org/pages/about-us/index"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www.rcsb.org/docs/general-help/computed-structure-models-and-rcsborg" TargetMode="External"/><Relationship Id="rId5" Type="http://schemas.openxmlformats.org/officeDocument/2006/relationships/hyperlink" Target="https://www.rcsb.org/docs/general-help/integrative-structures-on-rcsborg" TargetMode="External"/><Relationship Id="rId4" Type="http://schemas.openxmlformats.org/officeDocument/2006/relationships/hyperlink" Target="https://www.rcsb.org/docs/general-help/organization-of-3d-structures-in-the-protein-data-bank" TargetMode="Externa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www.nlm.nih.gov/medline/medline_history.html" TargetMode="External"/><Relationship Id="rId3" Type="http://schemas.openxmlformats.org/officeDocument/2006/relationships/hyperlink" Target="https://www.ncbi.nlm.nih.gov/pmc/about/intro/" TargetMode="External"/><Relationship Id="rId7" Type="http://schemas.openxmlformats.org/officeDocument/2006/relationships/hyperlink" Target="https://pubmed.ncbi.nlm.nih.gov/"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nih.gov/" TargetMode="External"/><Relationship Id="rId5" Type="http://schemas.openxmlformats.org/officeDocument/2006/relationships/hyperlink" Target="https://www.nlm.nih.gov/" TargetMode="External"/><Relationship Id="rId4" Type="http://schemas.openxmlformats.org/officeDocument/2006/relationships/hyperlink" Target="https://www.ncbi.nlm.nih.gov/" TargetMode="External"/><Relationship Id="rId9" Type="http://schemas.openxmlformats.org/officeDocument/2006/relationships/hyperlink" Target="https://www.nlm.nih.gov/mesh/meshhome.html"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Mention Davide</a:t>
            </a:r>
          </a:p>
        </p:txBody>
      </p:sp>
      <p:sp>
        <p:nvSpPr>
          <p:cNvPr id="4" name="Slide Number Placeholder 3"/>
          <p:cNvSpPr>
            <a:spLocks noGrp="1"/>
          </p:cNvSpPr>
          <p:nvPr>
            <p:ph type="sldNum" sz="quarter" idx="5"/>
          </p:nvPr>
        </p:nvSpPr>
        <p:spPr/>
        <p:txBody>
          <a:bodyPr/>
          <a:lstStyle/>
          <a:p>
            <a:fld id="{1FB37FAA-AA78-344A-A917-5438B6D6F91F}" type="slidenum">
              <a:rPr lang="en-IT" smtClean="0"/>
              <a:t>3</a:t>
            </a:fld>
            <a:endParaRPr lang="en-IT"/>
          </a:p>
        </p:txBody>
      </p:sp>
    </p:spTree>
    <p:extLst>
      <p:ext uri="{BB962C8B-B14F-4D97-AF65-F5344CB8AC3E}">
        <p14:creationId xmlns:p14="http://schemas.microsoft.com/office/powerpoint/2010/main" val="83038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T" sz="1200" dirty="0"/>
              <a:t>Disclaimer … molti esempi in Inglese, o riferimento alla situazione della salute in USA.  Esempi potrebbero essere problematici per qualcuno – riferimento a salute mentale, suicidio, varie malattie; per bias, stereotipi ecc. Feel free to reach out</a:t>
            </a:r>
          </a:p>
          <a:p>
            <a:endParaRPr lang="en-IT" dirty="0"/>
          </a:p>
        </p:txBody>
      </p:sp>
      <p:sp>
        <p:nvSpPr>
          <p:cNvPr id="4" name="Slide Number Placeholder 3"/>
          <p:cNvSpPr>
            <a:spLocks noGrp="1"/>
          </p:cNvSpPr>
          <p:nvPr>
            <p:ph type="sldNum" sz="quarter" idx="5"/>
          </p:nvPr>
        </p:nvSpPr>
        <p:spPr/>
        <p:txBody>
          <a:bodyPr/>
          <a:lstStyle/>
          <a:p>
            <a:fld id="{1FB37FAA-AA78-344A-A917-5438B6D6F91F}" type="slidenum">
              <a:rPr lang="en-IT" smtClean="0"/>
              <a:t>4</a:t>
            </a:fld>
            <a:endParaRPr lang="en-IT"/>
          </a:p>
        </p:txBody>
      </p:sp>
    </p:spTree>
    <p:extLst>
      <p:ext uri="{BB962C8B-B14F-4D97-AF65-F5344CB8AC3E}">
        <p14:creationId xmlns:p14="http://schemas.microsoft.com/office/powerpoint/2010/main" val="2207110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err="1">
                <a:solidFill>
                  <a:schemeClr val="tx1"/>
                </a:solidFill>
                <a:effectLst/>
                <a:latin typeface="+mn-lt"/>
                <a:ea typeface="+mn-ea"/>
                <a:cs typeface="+mn-cs"/>
              </a:rPr>
              <a:t>UniProt</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SwissProt</a:t>
            </a:r>
            <a:r>
              <a:rPr lang="en-GB" sz="1200" kern="1200" dirty="0">
                <a:solidFill>
                  <a:schemeClr val="tx1"/>
                </a:solidFill>
                <a:effectLst/>
                <a:latin typeface="+mn-lt"/>
                <a:ea typeface="+mn-ea"/>
                <a:cs typeface="+mn-cs"/>
              </a:rPr>
              <a:t>)is the world’s leading high-quality, comprehensive and freely accessible resource of protein sequence and functional information. </a:t>
            </a:r>
          </a:p>
          <a:p>
            <a:r>
              <a:rPr lang="en-GB" dirty="0"/>
              <a:t>GenBank </a:t>
            </a:r>
            <a:r>
              <a:rPr lang="en-GB" baseline="30000" dirty="0"/>
              <a:t>®</a:t>
            </a:r>
            <a:r>
              <a:rPr lang="en-GB" dirty="0"/>
              <a:t> is the NIH genetic sequence database, an annotated collection of all publicly available DNA sequences</a:t>
            </a:r>
          </a:p>
          <a:p>
            <a:r>
              <a:rPr lang="en-GB" dirty="0"/>
              <a:t>https://</a:t>
            </a:r>
            <a:r>
              <a:rPr lang="en-GB" dirty="0" err="1"/>
              <a:t>www.rcsb.org</a:t>
            </a:r>
            <a:r>
              <a:rPr lang="en-GB" dirty="0"/>
              <a:t>/ </a:t>
            </a:r>
            <a:r>
              <a:rPr lang="en-GB" dirty="0">
                <a:hlinkClick r:id="rId3"/>
              </a:rPr>
              <a:t>RCSB Protein Data Bank (RCSB PDB)</a:t>
            </a:r>
            <a:r>
              <a:rPr lang="en-GB" dirty="0"/>
              <a:t> enables breakthroughs in science and education by providing access and tools for exploration, visualization, and analysis of:</a:t>
            </a:r>
          </a:p>
          <a:p>
            <a:r>
              <a:rPr lang="en-GB" dirty="0"/>
              <a:t>Experimentally-determined 3D structures from the </a:t>
            </a:r>
            <a:r>
              <a:rPr lang="en-GB" dirty="0">
                <a:hlinkClick r:id="rId4"/>
              </a:rPr>
              <a:t>Protein Data Bank (PDB)</a:t>
            </a:r>
            <a:r>
              <a:rPr lang="en-GB" dirty="0"/>
              <a:t> archive</a:t>
            </a:r>
          </a:p>
          <a:p>
            <a:r>
              <a:rPr lang="en-GB" dirty="0">
                <a:hlinkClick r:id="rId5"/>
              </a:rPr>
              <a:t>Integrative 3D Structures</a:t>
            </a:r>
            <a:r>
              <a:rPr lang="en-GB" dirty="0"/>
              <a:t> from the PDB Archive </a:t>
            </a:r>
          </a:p>
          <a:p>
            <a:r>
              <a:rPr lang="en-GB" dirty="0">
                <a:hlinkClick r:id="rId6"/>
              </a:rPr>
              <a:t>Computed Structure Models (CSM)</a:t>
            </a:r>
            <a:r>
              <a:rPr lang="en-GB" dirty="0"/>
              <a:t> from AlphaFold DB and </a:t>
            </a:r>
            <a:r>
              <a:rPr lang="en-GB" dirty="0" err="1"/>
              <a:t>ModelArchive</a:t>
            </a:r>
            <a:endParaRPr lang="en-GB" dirty="0"/>
          </a:p>
          <a:p>
            <a:endParaRPr lang="en-IT"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289C57-55D7-40A4-A101-E74FAC7A09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5178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PubMed is a free resource supporting the search and retrieval of biomedical and life sciences literature with the aim of improving health–both globally and personally. </a:t>
            </a:r>
          </a:p>
          <a:p>
            <a:r>
              <a:rPr lang="en-GB" dirty="0"/>
              <a:t>PubMed contains more than 40 million citations and abstracts of biomedical literature. It does not include full text journal articles; however, links to the full text are often present when available from other sources, such as the publisher's website or </a:t>
            </a:r>
            <a:r>
              <a:rPr lang="en-GB" dirty="0">
                <a:hlinkClick r:id="rId3"/>
              </a:rPr>
              <a:t>PubMed Central (PMC)</a:t>
            </a:r>
            <a:r>
              <a:rPr lang="en-GB" dirty="0"/>
              <a:t>. </a:t>
            </a:r>
          </a:p>
          <a:p>
            <a:r>
              <a:rPr lang="en-GB" dirty="0"/>
              <a:t>Available to the public online since 1996, PubMed was developed and is maintained by the </a:t>
            </a:r>
            <a:r>
              <a:rPr lang="en-GB" dirty="0">
                <a:hlinkClick r:id="rId4"/>
              </a:rPr>
              <a:t>National Center for Biotechnology Information (NCBI)</a:t>
            </a:r>
            <a:r>
              <a:rPr lang="en-GB" dirty="0"/>
              <a:t>, at the </a:t>
            </a:r>
            <a:r>
              <a:rPr lang="en-GB" dirty="0">
                <a:hlinkClick r:id="rId5"/>
              </a:rPr>
              <a:t>U.S. National Library of Medicine (NLM)</a:t>
            </a:r>
            <a:r>
              <a:rPr lang="en-GB" dirty="0"/>
              <a:t>, located at the </a:t>
            </a:r>
            <a:r>
              <a:rPr lang="en-GB" dirty="0">
                <a:hlinkClick r:id="rId6"/>
              </a:rPr>
              <a:t>National Institutes of Health (NIH)</a:t>
            </a:r>
            <a:r>
              <a:rPr lang="en-GB" dirty="0"/>
              <a:t>. </a:t>
            </a:r>
          </a:p>
          <a:p>
            <a:r>
              <a:rPr lang="en-GB" dirty="0"/>
              <a:t>MEDLINE is a primary component of </a:t>
            </a:r>
            <a:r>
              <a:rPr lang="en-GB" dirty="0">
                <a:hlinkClick r:id="rId7" tooltip="PubMed"/>
              </a:rPr>
              <a:t>PubMed</a:t>
            </a:r>
            <a:r>
              <a:rPr lang="en-GB" dirty="0"/>
              <a:t>, a literature database developed and maintained by the NLM </a:t>
            </a:r>
            <a:r>
              <a:rPr lang="en-GB" dirty="0">
                <a:hlinkClick r:id="rId4"/>
              </a:rPr>
              <a:t>National Center for Biotechnology Information</a:t>
            </a:r>
            <a:r>
              <a:rPr lang="en-GB" dirty="0"/>
              <a:t> (NCBI). MEDLINE is the online counterpart to the </a:t>
            </a:r>
            <a:r>
              <a:rPr lang="en-GB" dirty="0" err="1"/>
              <a:t>MEDical</a:t>
            </a:r>
            <a:r>
              <a:rPr lang="en-GB" dirty="0"/>
              <a:t> Literature Analysis and Retrieval System (MEDLARS) that originated in 1964 (see </a:t>
            </a:r>
            <a:r>
              <a:rPr lang="en-GB" dirty="0">
                <a:hlinkClick r:id="rId8" tooltip="MEDLINE history"/>
              </a:rPr>
              <a:t>MEDLINE history</a:t>
            </a:r>
            <a:r>
              <a:rPr lang="en-GB" dirty="0"/>
              <a:t>). A distinctive feature of MEDLINE is that the records are indexed with NLM </a:t>
            </a:r>
            <a:r>
              <a:rPr lang="en-GB" dirty="0">
                <a:hlinkClick r:id="rId9"/>
              </a:rPr>
              <a:t>Medical Subject Headings</a:t>
            </a:r>
            <a:r>
              <a:rPr lang="en-GB" dirty="0"/>
              <a:t> (</a:t>
            </a:r>
            <a:r>
              <a:rPr lang="en-GB" dirty="0" err="1"/>
              <a:t>MeSH</a:t>
            </a:r>
            <a:r>
              <a:rPr lang="en-GB" dirty="0"/>
              <a:t>). </a:t>
            </a:r>
            <a:endParaRPr lang="en-IT"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289C57-55D7-40A4-A101-E74FAC7A09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5168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OECD (Organisation for Economic Co-operation and Development) </a:t>
            </a:r>
            <a:endParaRPr lang="en-IT" dirty="0"/>
          </a:p>
        </p:txBody>
      </p:sp>
      <p:sp>
        <p:nvSpPr>
          <p:cNvPr id="4" name="Slide Number Placeholder 3"/>
          <p:cNvSpPr>
            <a:spLocks noGrp="1"/>
          </p:cNvSpPr>
          <p:nvPr>
            <p:ph type="sldNum" sz="quarter" idx="5"/>
          </p:nvPr>
        </p:nvSpPr>
        <p:spPr/>
        <p:txBody>
          <a:bodyPr/>
          <a:lstStyle/>
          <a:p>
            <a:fld id="{1FB37FAA-AA78-344A-A917-5438B6D6F91F}" type="slidenum">
              <a:rPr lang="en-IT" smtClean="0"/>
              <a:t>9</a:t>
            </a:fld>
            <a:endParaRPr lang="en-IT"/>
          </a:p>
        </p:txBody>
      </p:sp>
    </p:spTree>
    <p:extLst>
      <p:ext uri="{BB962C8B-B14F-4D97-AF65-F5344CB8AC3E}">
        <p14:creationId xmlns:p14="http://schemas.microsoft.com/office/powerpoint/2010/main" val="3242940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Newman-Toker DE, Wang Z, Zhu Y, et al. Rate of diagnostic errors and serious misdiagnosis-related harms for major vascular events, infections, and cancers: toward a national incidence estimate using the “Big Three”. Diagnosis (Berlin, Germany). 2020 May 14. </a:t>
            </a:r>
            <a:r>
              <a:rPr lang="en-GB" dirty="0" err="1"/>
              <a:t>doi</a:t>
            </a:r>
            <a:r>
              <a:rPr lang="en-GB" dirty="0"/>
              <a:t>: 10.1515/dx-2019-0104. PMID: 32412440. </a:t>
            </a:r>
            <a:endParaRPr lang="en-IT" dirty="0"/>
          </a:p>
        </p:txBody>
      </p:sp>
      <p:sp>
        <p:nvSpPr>
          <p:cNvPr id="4" name="Slide Number Placeholder 3"/>
          <p:cNvSpPr>
            <a:spLocks noGrp="1"/>
          </p:cNvSpPr>
          <p:nvPr>
            <p:ph type="sldNum" sz="quarter" idx="5"/>
          </p:nvPr>
        </p:nvSpPr>
        <p:spPr/>
        <p:txBody>
          <a:bodyPr/>
          <a:lstStyle/>
          <a:p>
            <a:fld id="{1FB37FAA-AA78-344A-A917-5438B6D6F91F}" type="slidenum">
              <a:rPr lang="en-IT" smtClean="0"/>
              <a:t>11</a:t>
            </a:fld>
            <a:endParaRPr lang="en-IT"/>
          </a:p>
        </p:txBody>
      </p:sp>
    </p:spTree>
    <p:extLst>
      <p:ext uri="{BB962C8B-B14F-4D97-AF65-F5344CB8AC3E}">
        <p14:creationId xmlns:p14="http://schemas.microsoft.com/office/powerpoint/2010/main" val="4289159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10c123455e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10c123455e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dirty="0">
                <a:cs typeface="+mn-lt"/>
              </a:rPr>
              <a:t>W</a:t>
            </a:r>
            <a:r>
              <a:rPr lang="en" dirty="0" err="1">
                <a:cs typeface="+mn-lt"/>
              </a:rPr>
              <a:t>hich</a:t>
            </a:r>
            <a:r>
              <a:rPr lang="en" dirty="0">
                <a:cs typeface="+mn-lt"/>
              </a:rPr>
              <a:t> applications? </a:t>
            </a:r>
            <a:r>
              <a:rPr lang="en-GB" dirty="0">
                <a:cs typeface="+mn-lt"/>
              </a:rPr>
              <a:t>T</a:t>
            </a:r>
            <a:r>
              <a:rPr lang="en" dirty="0" err="1">
                <a:cs typeface="+mn-lt"/>
              </a:rPr>
              <a:t>hink</a:t>
            </a:r>
            <a:r>
              <a:rPr lang="en" dirty="0">
                <a:cs typeface="+mn-lt"/>
              </a:rPr>
              <a:t> about it – discuss with your neighbor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0c123455ed_0_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7" name="Google Shape;647;g10c123455ed_0_5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100"/>
              <a:buNone/>
            </a:pPr>
            <a:endParaRPr lang="en" dirty="0">
              <a:ea typeface="Calibri"/>
              <a:cs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10c123455ed_0_6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5" name="Google Shape;655;g10c123455ed_0_6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100"/>
              <a:buNone/>
            </a:pPr>
            <a:endParaRPr lang="en" dirty="0">
              <a:ea typeface="Calibri"/>
              <a:cs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10c123455ed_0_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10c123455ed_0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dirty="0">
              <a:ea typeface="Calibri"/>
              <a:cs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clinical case is a statement of a clinical practice, presenting the reason for a clinical visit, the de-</a:t>
            </a:r>
          </a:p>
          <a:p>
            <a:r>
              <a:rPr lang="en-GB" dirty="0"/>
              <a:t>scription of physical exams, and the assessment of the patient’s situation.” Magnini, B., Altuna, B., Lavelli, A., Speranza, M. and </a:t>
            </a:r>
            <a:r>
              <a:rPr lang="en-GB" dirty="0" err="1"/>
              <a:t>Zanoli</a:t>
            </a:r>
            <a:r>
              <a:rPr lang="en-GB" dirty="0"/>
              <a:t>, R., 2021. The e3c project: European clinical case corpus. </a:t>
            </a:r>
            <a:r>
              <a:rPr lang="en-GB" i="1" dirty="0"/>
              <a:t>Language</a:t>
            </a:r>
            <a:r>
              <a:rPr lang="en-GB" dirty="0"/>
              <a:t>, </a:t>
            </a:r>
            <a:r>
              <a:rPr lang="en-GB" i="1" dirty="0"/>
              <a:t>1</a:t>
            </a:r>
            <a:r>
              <a:rPr lang="en-GB" dirty="0"/>
              <a:t>(L2), p.L3.</a:t>
            </a:r>
            <a:endParaRPr lang="en-IT" dirty="0"/>
          </a:p>
          <a:p>
            <a:r>
              <a:rPr lang="en-IT" dirty="0"/>
              <a:t>PHE-S: patient health engagement scale.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289C57-55D7-40A4-A101-E74FAC7A092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6698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10c123455ed_0_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0" name="Google Shape;640;g10c123455ed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0d43958e11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5" name="Google Shape;665;g10d43958e11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1100"/>
              <a:buNone/>
            </a:pPr>
            <a:endParaRPr lang="en" dirty="0">
              <a:ea typeface="Calibri"/>
              <a:cs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10c123455ed_0_4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10c123455ed_0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dirty="0">
              <a:ea typeface="Calibri"/>
              <a:cs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10c123455ed_0_6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g10c123455ed_0_6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 dirty="0">
              <a:ea typeface="Calibri"/>
              <a:cs typeface="Calibri"/>
            </a:endParaRPr>
          </a:p>
        </p:txBody>
      </p:sp>
    </p:spTree>
    <p:extLst>
      <p:ext uri="{BB962C8B-B14F-4D97-AF65-F5344CB8AC3E}">
        <p14:creationId xmlns:p14="http://schemas.microsoft.com/office/powerpoint/2010/main" val="644747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10c123455ed_0_6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3" name="Google Shape;683;g10c123455ed_0_6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lang="en" dirty="0">
              <a:ea typeface="Calibri"/>
              <a:cs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3507144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345686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0726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1630127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endParaRPr lang="en-US"/>
          </a:p>
        </p:txBody>
      </p:sp>
    </p:spTree>
    <p:extLst>
      <p:ext uri="{BB962C8B-B14F-4D97-AF65-F5344CB8AC3E}">
        <p14:creationId xmlns:p14="http://schemas.microsoft.com/office/powerpoint/2010/main" val="1795822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endParaRPr lang="en-US"/>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36412921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1143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endParaRPr lang="en-US"/>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endParaRPr lang="en-US"/>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endParaRPr lang="en-US"/>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endParaRPr lang="en-US"/>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476044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endParaRPr lang="en-US"/>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355070896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endParaRPr lang="en-US"/>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348009880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6731663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1443321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899996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135028013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1716427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421456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0079343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2468238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7086309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0362173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2849804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182912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533"/>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281985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2529079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2366816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1838718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ubheader, Image and Content">
  <p:cSld name="Title, Subheader, Image and Content">
    <p:bg>
      <p:bgPr>
        <a:solidFill>
          <a:srgbClr val="1E4429"/>
        </a:solidFill>
        <a:effectLst/>
      </p:bgPr>
    </p:bg>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2260600"/>
            <a:ext cx="12192000" cy="4597600"/>
          </a:xfrm>
          <a:prstGeom prst="rect">
            <a:avLst/>
          </a:prstGeom>
          <a:solidFill>
            <a:srgbClr val="F2F2F2"/>
          </a:solidFill>
          <a:ln>
            <a:noFill/>
          </a:ln>
        </p:spPr>
      </p:sp>
      <p:cxnSp>
        <p:nvCxnSpPr>
          <p:cNvPr id="52" name="Google Shape;52;p13"/>
          <p:cNvCxnSpPr/>
          <p:nvPr/>
        </p:nvCxnSpPr>
        <p:spPr>
          <a:xfrm>
            <a:off x="4813300" y="649040"/>
            <a:ext cx="0" cy="935600"/>
          </a:xfrm>
          <a:prstGeom prst="straightConnector1">
            <a:avLst/>
          </a:prstGeom>
          <a:noFill/>
          <a:ln w="127000" cap="rnd" cmpd="sng">
            <a:solidFill>
              <a:schemeClr val="lt1"/>
            </a:solidFill>
            <a:prstDash val="solid"/>
            <a:miter lim="800000"/>
            <a:headEnd type="none" w="sm" len="sm"/>
            <a:tailEnd type="none" w="sm" len="sm"/>
          </a:ln>
        </p:spPr>
      </p:cxnSp>
      <p:sp>
        <p:nvSpPr>
          <p:cNvPr id="53" name="Google Shape;53;p13"/>
          <p:cNvSpPr txBox="1">
            <a:spLocks noGrp="1"/>
          </p:cNvSpPr>
          <p:nvPr>
            <p:ph type="body" idx="1"/>
          </p:nvPr>
        </p:nvSpPr>
        <p:spPr>
          <a:xfrm>
            <a:off x="1079500" y="306388"/>
            <a:ext cx="3403600" cy="16224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SzPts val="2100"/>
              <a:buNone/>
              <a:defRPr sz="2800" b="1">
                <a:solidFill>
                  <a:schemeClr val="lt1"/>
                </a:solidFill>
              </a:defRPr>
            </a:lvl1pPr>
            <a:lvl2pPr marL="1219170" lvl="1" indent="-304792" algn="l" rtl="0">
              <a:lnSpc>
                <a:spcPct val="90000"/>
              </a:lnSpc>
              <a:spcBef>
                <a:spcPts val="1600"/>
              </a:spcBef>
              <a:spcAft>
                <a:spcPts val="0"/>
              </a:spcAft>
              <a:buClr>
                <a:srgbClr val="3F3F3F"/>
              </a:buClr>
              <a:buSzPts val="1200"/>
              <a:buNone/>
              <a:defRPr/>
            </a:lvl2pPr>
            <a:lvl3pPr marL="1828754" lvl="2" indent="-304792" algn="l" rtl="0">
              <a:lnSpc>
                <a:spcPct val="90000"/>
              </a:lnSpc>
              <a:spcBef>
                <a:spcPts val="1600"/>
              </a:spcBef>
              <a:spcAft>
                <a:spcPts val="0"/>
              </a:spcAft>
              <a:buClr>
                <a:srgbClr val="3F3F3F"/>
              </a:buClr>
              <a:buSzPts val="1100"/>
              <a:buNone/>
              <a:defRPr/>
            </a:lvl3pPr>
            <a:lvl4pPr marL="2438339" lvl="3" indent="-304792" algn="l" rtl="0">
              <a:lnSpc>
                <a:spcPct val="90000"/>
              </a:lnSpc>
              <a:spcBef>
                <a:spcPts val="1600"/>
              </a:spcBef>
              <a:spcAft>
                <a:spcPts val="0"/>
              </a:spcAft>
              <a:buClr>
                <a:srgbClr val="3F3F3F"/>
              </a:buClr>
              <a:buSzPts val="900"/>
              <a:buNone/>
              <a:defRPr/>
            </a:lvl4pPr>
            <a:lvl5pPr marL="3047924" lvl="4" indent="-304792" algn="l" rtl="0">
              <a:lnSpc>
                <a:spcPct val="90000"/>
              </a:lnSpc>
              <a:spcBef>
                <a:spcPts val="1600"/>
              </a:spcBef>
              <a:spcAft>
                <a:spcPts val="0"/>
              </a:spcAft>
              <a:buClr>
                <a:srgbClr val="3F3F3F"/>
              </a:buClr>
              <a:buSzPts val="900"/>
              <a:buNone/>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4" name="Google Shape;54;p13"/>
          <p:cNvSpPr txBox="1">
            <a:spLocks noGrp="1"/>
          </p:cNvSpPr>
          <p:nvPr>
            <p:ph type="body" idx="3"/>
          </p:nvPr>
        </p:nvSpPr>
        <p:spPr>
          <a:xfrm>
            <a:off x="5143501" y="305644"/>
            <a:ext cx="4421200" cy="1622400"/>
          </a:xfrm>
          <a:prstGeom prst="rect">
            <a:avLst/>
          </a:prstGeom>
          <a:noFill/>
          <a:ln>
            <a:noFill/>
          </a:ln>
        </p:spPr>
        <p:txBody>
          <a:bodyPr spcFirstLastPara="1" wrap="square" lIns="68575" tIns="34275" rIns="68575" bIns="34275" anchor="ctr" anchorCtr="0">
            <a:normAutofit/>
          </a:bodyPr>
          <a:lstStyle>
            <a:lvl1pPr marL="609585" lvl="0" indent="-423323" algn="l" rtl="0">
              <a:lnSpc>
                <a:spcPct val="90000"/>
              </a:lnSpc>
              <a:spcBef>
                <a:spcPts val="1067"/>
              </a:spcBef>
              <a:spcAft>
                <a:spcPts val="0"/>
              </a:spcAft>
              <a:buClr>
                <a:schemeClr val="lt1"/>
              </a:buClr>
              <a:buSzPts val="1400"/>
              <a:buChar char="●"/>
              <a:defRPr>
                <a:solidFill>
                  <a:schemeClr val="lt1"/>
                </a:solidFill>
              </a:defRPr>
            </a:lvl1pPr>
            <a:lvl2pPr marL="1219170" lvl="1" indent="-406390" algn="l" rtl="0">
              <a:lnSpc>
                <a:spcPct val="90000"/>
              </a:lnSpc>
              <a:spcBef>
                <a:spcPts val="1600"/>
              </a:spcBef>
              <a:spcAft>
                <a:spcPts val="0"/>
              </a:spcAft>
              <a:buClr>
                <a:schemeClr val="lt1"/>
              </a:buClr>
              <a:buSzPts val="1200"/>
              <a:buChar char="○"/>
              <a:defRPr>
                <a:solidFill>
                  <a:schemeClr val="lt1"/>
                </a:solidFill>
              </a:defRPr>
            </a:lvl2pPr>
            <a:lvl3pPr marL="1828754" lvl="2" indent="-397923" algn="l" rtl="0">
              <a:lnSpc>
                <a:spcPct val="90000"/>
              </a:lnSpc>
              <a:spcBef>
                <a:spcPts val="1600"/>
              </a:spcBef>
              <a:spcAft>
                <a:spcPts val="0"/>
              </a:spcAft>
              <a:buClr>
                <a:schemeClr val="lt1"/>
              </a:buClr>
              <a:buSzPts val="1100"/>
              <a:buChar char="■"/>
              <a:defRPr>
                <a:solidFill>
                  <a:schemeClr val="lt1"/>
                </a:solidFill>
              </a:defRPr>
            </a:lvl3pPr>
            <a:lvl4pPr marL="2438339" lvl="3" indent="-380990" algn="l" rtl="0">
              <a:lnSpc>
                <a:spcPct val="90000"/>
              </a:lnSpc>
              <a:spcBef>
                <a:spcPts val="1600"/>
              </a:spcBef>
              <a:spcAft>
                <a:spcPts val="0"/>
              </a:spcAft>
              <a:buClr>
                <a:schemeClr val="lt1"/>
              </a:buClr>
              <a:buSzPts val="900"/>
              <a:buChar char="●"/>
              <a:defRPr>
                <a:solidFill>
                  <a:schemeClr val="lt1"/>
                </a:solidFill>
              </a:defRPr>
            </a:lvl4pPr>
            <a:lvl5pPr marL="3047924" lvl="4" indent="-380990" algn="l" rtl="0">
              <a:lnSpc>
                <a:spcPct val="90000"/>
              </a:lnSpc>
              <a:spcBef>
                <a:spcPts val="1600"/>
              </a:spcBef>
              <a:spcAft>
                <a:spcPts val="0"/>
              </a:spcAft>
              <a:buClr>
                <a:schemeClr val="lt1"/>
              </a:buClr>
              <a:buSzPts val="900"/>
              <a:buChar char="○"/>
              <a:defRPr>
                <a:solidFill>
                  <a:schemeClr val="lt1"/>
                </a:solidFill>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5" name="Google Shape;55;p13"/>
          <p:cNvSpPr txBox="1">
            <a:spLocks noGrp="1"/>
          </p:cNvSpPr>
          <p:nvPr>
            <p:ph type="title"/>
          </p:nvPr>
        </p:nvSpPr>
        <p:spPr>
          <a:xfrm>
            <a:off x="1079999" y="2268000"/>
            <a:ext cx="6235200" cy="792000"/>
          </a:xfrm>
          <a:prstGeom prst="rect">
            <a:avLst/>
          </a:prstGeom>
          <a:solidFill>
            <a:schemeClr val="lt1"/>
          </a:solid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rgbClr val="262626"/>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13"/>
          <p:cNvSpPr txBox="1">
            <a:spLocks noGrp="1"/>
          </p:cNvSpPr>
          <p:nvPr>
            <p:ph type="ftr" idx="11"/>
          </p:nvPr>
        </p:nvSpPr>
        <p:spPr>
          <a:xfrm>
            <a:off x="145385" y="6356351"/>
            <a:ext cx="4114800" cy="3652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7" name="Google Shape;57;p13"/>
          <p:cNvSpPr>
            <a:spLocks noGrp="1"/>
          </p:cNvSpPr>
          <p:nvPr>
            <p:ph type="sldNum" idx="12"/>
          </p:nvPr>
        </p:nvSpPr>
        <p:spPr>
          <a:xfrm>
            <a:off x="11386425" y="6142912"/>
            <a:ext cx="396000" cy="396000"/>
          </a:xfrm>
          <a:prstGeom prst="ellipse">
            <a:avLst/>
          </a:prstGeom>
          <a:noFill/>
          <a:ln w="9525" cap="flat" cmpd="sng">
            <a:solidFill>
              <a:srgbClr val="1E4429"/>
            </a:solidFill>
            <a:prstDash val="solid"/>
            <a:round/>
            <a:headEnd type="none" w="sm" len="sm"/>
            <a:tailEnd type="none" w="sm" len="sm"/>
          </a:ln>
        </p:spPr>
        <p:txBody>
          <a:bodyPr spcFirstLastPara="1" wrap="square" lIns="0" tIns="0" rIns="0" bIns="0" anchor="ctr" anchorCtr="0">
            <a:normAutofit/>
          </a:bodyPr>
          <a:lstStyle>
            <a:lvl1pPr marL="0" lvl="0" indent="0" algn="ctr" rtl="0">
              <a:spcBef>
                <a:spcPts val="0"/>
              </a:spcBef>
              <a:buNone/>
              <a:defRPr sz="1200" b="0" i="0" u="none" strike="noStrike" cap="none">
                <a:solidFill>
                  <a:srgbClr val="1E4429"/>
                </a:solidFill>
                <a:latin typeface="Calibri"/>
                <a:ea typeface="Calibri"/>
                <a:cs typeface="Calibri"/>
                <a:sym typeface="Calibri"/>
              </a:defRPr>
            </a:lvl1pPr>
            <a:lvl2pPr marL="0" lvl="1" indent="0" algn="ctr" rtl="0">
              <a:spcBef>
                <a:spcPts val="0"/>
              </a:spcBef>
              <a:buNone/>
              <a:defRPr sz="1200" b="0" i="0" u="none" strike="noStrike" cap="none">
                <a:solidFill>
                  <a:srgbClr val="1E4429"/>
                </a:solidFill>
                <a:latin typeface="Calibri"/>
                <a:ea typeface="Calibri"/>
                <a:cs typeface="Calibri"/>
                <a:sym typeface="Calibri"/>
              </a:defRPr>
            </a:lvl2pPr>
            <a:lvl3pPr marL="0" lvl="2" indent="0" algn="ctr" rtl="0">
              <a:spcBef>
                <a:spcPts val="0"/>
              </a:spcBef>
              <a:buNone/>
              <a:defRPr sz="1200" b="0" i="0" u="none" strike="noStrike" cap="none">
                <a:solidFill>
                  <a:srgbClr val="1E4429"/>
                </a:solidFill>
                <a:latin typeface="Calibri"/>
                <a:ea typeface="Calibri"/>
                <a:cs typeface="Calibri"/>
                <a:sym typeface="Calibri"/>
              </a:defRPr>
            </a:lvl3pPr>
            <a:lvl4pPr marL="0" lvl="3" indent="0" algn="ctr" rtl="0">
              <a:spcBef>
                <a:spcPts val="0"/>
              </a:spcBef>
              <a:buNone/>
              <a:defRPr sz="1200" b="0" i="0" u="none" strike="noStrike" cap="none">
                <a:solidFill>
                  <a:srgbClr val="1E4429"/>
                </a:solidFill>
                <a:latin typeface="Calibri"/>
                <a:ea typeface="Calibri"/>
                <a:cs typeface="Calibri"/>
                <a:sym typeface="Calibri"/>
              </a:defRPr>
            </a:lvl4pPr>
            <a:lvl5pPr marL="0" lvl="4" indent="0" algn="ctr" rtl="0">
              <a:spcBef>
                <a:spcPts val="0"/>
              </a:spcBef>
              <a:buNone/>
              <a:defRPr sz="1200" b="0" i="0" u="none" strike="noStrike" cap="none">
                <a:solidFill>
                  <a:srgbClr val="1E4429"/>
                </a:solidFill>
                <a:latin typeface="Calibri"/>
                <a:ea typeface="Calibri"/>
                <a:cs typeface="Calibri"/>
                <a:sym typeface="Calibri"/>
              </a:defRPr>
            </a:lvl5pPr>
            <a:lvl6pPr marL="0" lvl="5" indent="0" algn="ctr" rtl="0">
              <a:spcBef>
                <a:spcPts val="0"/>
              </a:spcBef>
              <a:buNone/>
              <a:defRPr sz="1200" b="0" i="0" u="none" strike="noStrike" cap="none">
                <a:solidFill>
                  <a:srgbClr val="1E4429"/>
                </a:solidFill>
                <a:latin typeface="Calibri"/>
                <a:ea typeface="Calibri"/>
                <a:cs typeface="Calibri"/>
                <a:sym typeface="Calibri"/>
              </a:defRPr>
            </a:lvl6pPr>
            <a:lvl7pPr marL="0" lvl="6" indent="0" algn="ctr" rtl="0">
              <a:spcBef>
                <a:spcPts val="0"/>
              </a:spcBef>
              <a:buNone/>
              <a:defRPr sz="1200" b="0" i="0" u="none" strike="noStrike" cap="none">
                <a:solidFill>
                  <a:srgbClr val="1E4429"/>
                </a:solidFill>
                <a:latin typeface="Calibri"/>
                <a:ea typeface="Calibri"/>
                <a:cs typeface="Calibri"/>
                <a:sym typeface="Calibri"/>
              </a:defRPr>
            </a:lvl7pPr>
            <a:lvl8pPr marL="0" lvl="7" indent="0" algn="ctr" rtl="0">
              <a:spcBef>
                <a:spcPts val="0"/>
              </a:spcBef>
              <a:buNone/>
              <a:defRPr sz="1200" b="0" i="0" u="none" strike="noStrike" cap="none">
                <a:solidFill>
                  <a:srgbClr val="1E4429"/>
                </a:solidFill>
                <a:latin typeface="Calibri"/>
                <a:ea typeface="Calibri"/>
                <a:cs typeface="Calibri"/>
                <a:sym typeface="Calibri"/>
              </a:defRPr>
            </a:lvl8pPr>
            <a:lvl9pPr marL="0" lvl="8" indent="0" algn="ctr" rtl="0">
              <a:spcBef>
                <a:spcPts val="0"/>
              </a:spcBef>
              <a:buNone/>
              <a:defRPr sz="1200" b="0" i="0" u="none" strike="noStrike" cap="none">
                <a:solidFill>
                  <a:srgbClr val="1E4429"/>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extLst>
      <p:ext uri="{BB962C8B-B14F-4D97-AF65-F5344CB8AC3E}">
        <p14:creationId xmlns:p14="http://schemas.microsoft.com/office/powerpoint/2010/main" val="1876333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62"/>
        <p:cNvGrpSpPr/>
        <p:nvPr/>
      </p:nvGrpSpPr>
      <p:grpSpPr>
        <a:xfrm>
          <a:off x="0" y="0"/>
          <a:ext cx="0" cy="0"/>
          <a:chOff x="0" y="0"/>
          <a:chExt cx="0" cy="0"/>
        </a:xfrm>
      </p:grpSpPr>
      <p:sp>
        <p:nvSpPr>
          <p:cNvPr id="63" name="Google Shape;63;p15"/>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69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endParaRPr/>
          </a:p>
        </p:txBody>
      </p:sp>
      <p:sp>
        <p:nvSpPr>
          <p:cNvPr id="64" name="Google Shape;64;p15"/>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3733"/>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sp>
        <p:nvSpPr>
          <p:cNvPr id="65" name="Google Shape;65;p1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3879295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68" name="Google Shape;68;p1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8171668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7"/>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507987" rtl="0">
              <a:spcBef>
                <a:spcPts val="0"/>
              </a:spcBef>
              <a:spcAft>
                <a:spcPts val="0"/>
              </a:spcAft>
              <a:buSzPts val="2400"/>
              <a:buChar char="●"/>
              <a:defRPr sz="3200"/>
            </a:lvl1pPr>
            <a:lvl2pPr marL="1219170" lvl="1" indent="-457189" rtl="0">
              <a:spcBef>
                <a:spcPts val="2133"/>
              </a:spcBef>
              <a:spcAft>
                <a:spcPts val="0"/>
              </a:spcAft>
              <a:buSzPts val="1800"/>
              <a:buChar char="○"/>
              <a:defRPr sz="2400"/>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72" name="Google Shape;72;p1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5690124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8"/>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sz="1867"/>
            </a:lvl1pPr>
            <a:lvl2pPr marL="1219170" lvl="1" indent="-406390" rtl="0">
              <a:spcBef>
                <a:spcPts val="2133"/>
              </a:spcBef>
              <a:spcAft>
                <a:spcPts val="0"/>
              </a:spcAft>
              <a:buSzPts val="1200"/>
              <a:buChar char="○"/>
              <a:defRPr sz="1600"/>
            </a:lvl2pPr>
            <a:lvl3pPr marL="1828754" lvl="2" indent="-406390" rtl="0">
              <a:spcBef>
                <a:spcPts val="2133"/>
              </a:spcBef>
              <a:spcAft>
                <a:spcPts val="0"/>
              </a:spcAft>
              <a:buSzPts val="1200"/>
              <a:buChar char="■"/>
              <a:defRPr sz="1600"/>
            </a:lvl3pPr>
            <a:lvl4pPr marL="2438339" lvl="3" indent="-406390" rtl="0">
              <a:spcBef>
                <a:spcPts val="2133"/>
              </a:spcBef>
              <a:spcAft>
                <a:spcPts val="0"/>
              </a:spcAft>
              <a:buSzPts val="1200"/>
              <a:buChar char="●"/>
              <a:defRPr sz="1600"/>
            </a:lvl4pPr>
            <a:lvl5pPr marL="3047924" lvl="4" indent="-406390" rtl="0">
              <a:spcBef>
                <a:spcPts val="2133"/>
              </a:spcBef>
              <a:spcAft>
                <a:spcPts val="0"/>
              </a:spcAft>
              <a:buSzPts val="1200"/>
              <a:buChar char="○"/>
              <a:defRPr sz="1600"/>
            </a:lvl5pPr>
            <a:lvl6pPr marL="3657509" lvl="5" indent="-406390" rtl="0">
              <a:spcBef>
                <a:spcPts val="2133"/>
              </a:spcBef>
              <a:spcAft>
                <a:spcPts val="0"/>
              </a:spcAft>
              <a:buSzPts val="1200"/>
              <a:buChar char="■"/>
              <a:defRPr sz="1600"/>
            </a:lvl6pPr>
            <a:lvl7pPr marL="4267093" lvl="6" indent="-406390" rtl="0">
              <a:spcBef>
                <a:spcPts val="2133"/>
              </a:spcBef>
              <a:spcAft>
                <a:spcPts val="0"/>
              </a:spcAft>
              <a:buSzPts val="1200"/>
              <a:buChar char="●"/>
              <a:defRPr sz="1600"/>
            </a:lvl7pPr>
            <a:lvl8pPr marL="4876678" lvl="7" indent="-406390" rtl="0">
              <a:spcBef>
                <a:spcPts val="2133"/>
              </a:spcBef>
              <a:spcAft>
                <a:spcPts val="0"/>
              </a:spcAft>
              <a:buSzPts val="1200"/>
              <a:buChar char="○"/>
              <a:defRPr sz="1600"/>
            </a:lvl8pPr>
            <a:lvl9pPr marL="5486263" lvl="8" indent="-406390" rtl="0">
              <a:spcBef>
                <a:spcPts val="2133"/>
              </a:spcBef>
              <a:spcAft>
                <a:spcPts val="2133"/>
              </a:spcAft>
              <a:buSzPts val="1200"/>
              <a:buChar char="■"/>
              <a:defRPr sz="1600"/>
            </a:lvl9pPr>
          </a:lstStyle>
          <a:p>
            <a:endParaRPr/>
          </a:p>
        </p:txBody>
      </p:sp>
      <p:sp>
        <p:nvSpPr>
          <p:cNvPr id="76" name="Google Shape;76;p18"/>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Char char="●"/>
              <a:defRPr sz="1867"/>
            </a:lvl1pPr>
            <a:lvl2pPr marL="1219170" lvl="1" indent="-406390" rtl="0">
              <a:spcBef>
                <a:spcPts val="2133"/>
              </a:spcBef>
              <a:spcAft>
                <a:spcPts val="0"/>
              </a:spcAft>
              <a:buSzPts val="1200"/>
              <a:buChar char="○"/>
              <a:defRPr sz="1600"/>
            </a:lvl2pPr>
            <a:lvl3pPr marL="1828754" lvl="2" indent="-406390" rtl="0">
              <a:spcBef>
                <a:spcPts val="2133"/>
              </a:spcBef>
              <a:spcAft>
                <a:spcPts val="0"/>
              </a:spcAft>
              <a:buSzPts val="1200"/>
              <a:buChar char="■"/>
              <a:defRPr sz="1600"/>
            </a:lvl3pPr>
            <a:lvl4pPr marL="2438339" lvl="3" indent="-406390" rtl="0">
              <a:spcBef>
                <a:spcPts val="2133"/>
              </a:spcBef>
              <a:spcAft>
                <a:spcPts val="0"/>
              </a:spcAft>
              <a:buSzPts val="1200"/>
              <a:buChar char="●"/>
              <a:defRPr sz="1600"/>
            </a:lvl4pPr>
            <a:lvl5pPr marL="3047924" lvl="4" indent="-406390" rtl="0">
              <a:spcBef>
                <a:spcPts val="2133"/>
              </a:spcBef>
              <a:spcAft>
                <a:spcPts val="0"/>
              </a:spcAft>
              <a:buSzPts val="1200"/>
              <a:buChar char="○"/>
              <a:defRPr sz="1600"/>
            </a:lvl5pPr>
            <a:lvl6pPr marL="3657509" lvl="5" indent="-406390" rtl="0">
              <a:spcBef>
                <a:spcPts val="2133"/>
              </a:spcBef>
              <a:spcAft>
                <a:spcPts val="0"/>
              </a:spcAft>
              <a:buSzPts val="1200"/>
              <a:buChar char="■"/>
              <a:defRPr sz="1600"/>
            </a:lvl6pPr>
            <a:lvl7pPr marL="4267093" lvl="6" indent="-406390" rtl="0">
              <a:spcBef>
                <a:spcPts val="2133"/>
              </a:spcBef>
              <a:spcAft>
                <a:spcPts val="0"/>
              </a:spcAft>
              <a:buSzPts val="1200"/>
              <a:buChar char="●"/>
              <a:defRPr sz="1600"/>
            </a:lvl7pPr>
            <a:lvl8pPr marL="4876678" lvl="7" indent="-406390" rtl="0">
              <a:spcBef>
                <a:spcPts val="2133"/>
              </a:spcBef>
              <a:spcAft>
                <a:spcPts val="0"/>
              </a:spcAft>
              <a:buSzPts val="1200"/>
              <a:buChar char="○"/>
              <a:defRPr sz="1600"/>
            </a:lvl8pPr>
            <a:lvl9pPr marL="5486263" lvl="8" indent="-406390" rtl="0">
              <a:spcBef>
                <a:spcPts val="2133"/>
              </a:spcBef>
              <a:spcAft>
                <a:spcPts val="2133"/>
              </a:spcAft>
              <a:buSzPts val="1200"/>
              <a:buChar char="■"/>
              <a:defRPr sz="1600"/>
            </a:lvl9pPr>
          </a:lstStyle>
          <a:p>
            <a:endParaRPr/>
          </a:p>
        </p:txBody>
      </p:sp>
      <p:sp>
        <p:nvSpPr>
          <p:cNvPr id="77" name="Google Shape;77;p1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3421828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0" name="Google Shape;80;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4082155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83" name="Google Shape;83;p20"/>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SzPts val="1200"/>
              <a:buChar char="●"/>
              <a:defRPr sz="1600"/>
            </a:lvl1pPr>
            <a:lvl2pPr marL="1219170" lvl="1" indent="-406390" rtl="0">
              <a:spcBef>
                <a:spcPts val="2133"/>
              </a:spcBef>
              <a:spcAft>
                <a:spcPts val="0"/>
              </a:spcAft>
              <a:buSzPts val="1200"/>
              <a:buChar char="○"/>
              <a:defRPr sz="1600"/>
            </a:lvl2pPr>
            <a:lvl3pPr marL="1828754" lvl="2" indent="-406390" rtl="0">
              <a:spcBef>
                <a:spcPts val="2133"/>
              </a:spcBef>
              <a:spcAft>
                <a:spcPts val="0"/>
              </a:spcAft>
              <a:buSzPts val="1200"/>
              <a:buChar char="■"/>
              <a:defRPr sz="1600"/>
            </a:lvl3pPr>
            <a:lvl4pPr marL="2438339" lvl="3" indent="-406390" rtl="0">
              <a:spcBef>
                <a:spcPts val="2133"/>
              </a:spcBef>
              <a:spcAft>
                <a:spcPts val="0"/>
              </a:spcAft>
              <a:buSzPts val="1200"/>
              <a:buChar char="●"/>
              <a:defRPr sz="1600"/>
            </a:lvl4pPr>
            <a:lvl5pPr marL="3047924" lvl="4" indent="-406390" rtl="0">
              <a:spcBef>
                <a:spcPts val="2133"/>
              </a:spcBef>
              <a:spcAft>
                <a:spcPts val="0"/>
              </a:spcAft>
              <a:buSzPts val="1200"/>
              <a:buChar char="○"/>
              <a:defRPr sz="1600"/>
            </a:lvl5pPr>
            <a:lvl6pPr marL="3657509" lvl="5" indent="-406390" rtl="0">
              <a:spcBef>
                <a:spcPts val="2133"/>
              </a:spcBef>
              <a:spcAft>
                <a:spcPts val="0"/>
              </a:spcAft>
              <a:buSzPts val="1200"/>
              <a:buChar char="■"/>
              <a:defRPr sz="1600"/>
            </a:lvl6pPr>
            <a:lvl7pPr marL="4267093" lvl="6" indent="-406390" rtl="0">
              <a:spcBef>
                <a:spcPts val="2133"/>
              </a:spcBef>
              <a:spcAft>
                <a:spcPts val="0"/>
              </a:spcAft>
              <a:buSzPts val="1200"/>
              <a:buChar char="●"/>
              <a:defRPr sz="1600"/>
            </a:lvl7pPr>
            <a:lvl8pPr marL="4876678" lvl="7" indent="-406390" rtl="0">
              <a:spcBef>
                <a:spcPts val="2133"/>
              </a:spcBef>
              <a:spcAft>
                <a:spcPts val="0"/>
              </a:spcAft>
              <a:buSzPts val="1200"/>
              <a:buChar char="○"/>
              <a:defRPr sz="1600"/>
            </a:lvl8pPr>
            <a:lvl9pPr marL="5486263" lvl="8" indent="-406390" rtl="0">
              <a:spcBef>
                <a:spcPts val="2133"/>
              </a:spcBef>
              <a:spcAft>
                <a:spcPts val="2133"/>
              </a:spcAft>
              <a:buSzPts val="1200"/>
              <a:buChar char="■"/>
              <a:defRPr sz="1600"/>
            </a:lvl9pPr>
          </a:lstStyle>
          <a:p>
            <a:endParaRPr/>
          </a:p>
        </p:txBody>
      </p:sp>
      <p:sp>
        <p:nvSpPr>
          <p:cNvPr id="84" name="Google Shape;84;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8320968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5"/>
        <p:cNvGrpSpPr/>
        <p:nvPr/>
      </p:nvGrpSpPr>
      <p:grpSpPr>
        <a:xfrm>
          <a:off x="0" y="0"/>
          <a:ext cx="0" cy="0"/>
          <a:chOff x="0" y="0"/>
          <a:chExt cx="0" cy="0"/>
        </a:xfrm>
      </p:grpSpPr>
      <p:sp>
        <p:nvSpPr>
          <p:cNvPr id="86" name="Google Shape;86;p21"/>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87" name="Google Shape;87;p2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8222153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8"/>
        <p:cNvGrpSpPr/>
        <p:nvPr/>
      </p:nvGrpSpPr>
      <p:grpSpPr>
        <a:xfrm>
          <a:off x="0" y="0"/>
          <a:ext cx="0" cy="0"/>
          <a:chOff x="0" y="0"/>
          <a:chExt cx="0" cy="0"/>
        </a:xfrm>
      </p:grpSpPr>
      <p:sp>
        <p:nvSpPr>
          <p:cNvPr id="89" name="Google Shape;89;p22"/>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533"/>
          </a:p>
        </p:txBody>
      </p:sp>
      <p:sp>
        <p:nvSpPr>
          <p:cNvPr id="90" name="Google Shape;90;p22"/>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sp>
        <p:nvSpPr>
          <p:cNvPr id="91" name="Google Shape;91;p22"/>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92" name="Google Shape;92;p22"/>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93" name="Google Shape;93;p2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6021488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4"/>
        <p:cNvGrpSpPr/>
        <p:nvPr/>
      </p:nvGrpSpPr>
      <p:grpSpPr>
        <a:xfrm>
          <a:off x="0" y="0"/>
          <a:ext cx="0" cy="0"/>
          <a:chOff x="0" y="0"/>
          <a:chExt cx="0" cy="0"/>
        </a:xfrm>
      </p:grpSpPr>
      <p:sp>
        <p:nvSpPr>
          <p:cNvPr id="95" name="Google Shape;95;p23"/>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Autofit/>
          </a:bodyPr>
          <a:lstStyle>
            <a:lvl1pPr marL="609585" lvl="0" indent="-304792" rtl="0">
              <a:lnSpc>
                <a:spcPct val="100000"/>
              </a:lnSpc>
              <a:spcBef>
                <a:spcPts val="0"/>
              </a:spcBef>
              <a:spcAft>
                <a:spcPts val="0"/>
              </a:spcAft>
              <a:buSzPts val="1800"/>
              <a:buNone/>
              <a:defRPr/>
            </a:lvl1pPr>
          </a:lstStyle>
          <a:p>
            <a:endParaRPr/>
          </a:p>
        </p:txBody>
      </p:sp>
      <p:sp>
        <p:nvSpPr>
          <p:cNvPr id="96" name="Google Shape;96;p2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18704533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97"/>
        <p:cNvGrpSpPr/>
        <p:nvPr/>
      </p:nvGrpSpPr>
      <p:grpSpPr>
        <a:xfrm>
          <a:off x="0" y="0"/>
          <a:ext cx="0" cy="0"/>
          <a:chOff x="0" y="0"/>
          <a:chExt cx="0" cy="0"/>
        </a:xfrm>
      </p:grpSpPr>
      <p:sp>
        <p:nvSpPr>
          <p:cNvPr id="98" name="Google Shape;98;p24"/>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6000"/>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99" name="Google Shape;99;p24"/>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Autofit/>
          </a:bodyPr>
          <a:lstStyle>
            <a:lvl1pPr marL="609585" lvl="0" indent="-457189" algn="ctr" rtl="0">
              <a:spcBef>
                <a:spcPts val="0"/>
              </a:spcBef>
              <a:spcAft>
                <a:spcPts val="0"/>
              </a:spcAft>
              <a:buSzPts val="1800"/>
              <a:buChar char="●"/>
              <a:defRPr/>
            </a:lvl1pPr>
            <a:lvl2pPr marL="1219170" lvl="1" indent="-423323" algn="ctr" rtl="0">
              <a:spcBef>
                <a:spcPts val="2133"/>
              </a:spcBef>
              <a:spcAft>
                <a:spcPts val="0"/>
              </a:spcAft>
              <a:buSzPts val="1400"/>
              <a:buChar char="○"/>
              <a:defRPr/>
            </a:lvl2pPr>
            <a:lvl3pPr marL="1828754" lvl="2" indent="-423323" algn="ctr" rtl="0">
              <a:spcBef>
                <a:spcPts val="2133"/>
              </a:spcBef>
              <a:spcAft>
                <a:spcPts val="0"/>
              </a:spcAft>
              <a:buSzPts val="1400"/>
              <a:buChar char="■"/>
              <a:defRPr/>
            </a:lvl3pPr>
            <a:lvl4pPr marL="2438339" lvl="3" indent="-423323" algn="ctr" rtl="0">
              <a:spcBef>
                <a:spcPts val="2133"/>
              </a:spcBef>
              <a:spcAft>
                <a:spcPts val="0"/>
              </a:spcAft>
              <a:buSzPts val="1400"/>
              <a:buChar char="●"/>
              <a:defRPr/>
            </a:lvl4pPr>
            <a:lvl5pPr marL="3047924" lvl="4" indent="-423323" algn="ctr" rtl="0">
              <a:spcBef>
                <a:spcPts val="2133"/>
              </a:spcBef>
              <a:spcAft>
                <a:spcPts val="0"/>
              </a:spcAft>
              <a:buSzPts val="1400"/>
              <a:buChar char="○"/>
              <a:defRPr/>
            </a:lvl5pPr>
            <a:lvl6pPr marL="3657509" lvl="5" indent="-423323" algn="ctr" rtl="0">
              <a:spcBef>
                <a:spcPts val="2133"/>
              </a:spcBef>
              <a:spcAft>
                <a:spcPts val="0"/>
              </a:spcAft>
              <a:buSzPts val="1400"/>
              <a:buChar char="■"/>
              <a:defRPr/>
            </a:lvl6pPr>
            <a:lvl7pPr marL="4267093" lvl="6" indent="-423323" algn="ctr" rtl="0">
              <a:spcBef>
                <a:spcPts val="2133"/>
              </a:spcBef>
              <a:spcAft>
                <a:spcPts val="0"/>
              </a:spcAft>
              <a:buSzPts val="1400"/>
              <a:buChar char="●"/>
              <a:defRPr/>
            </a:lvl7pPr>
            <a:lvl8pPr marL="4876678" lvl="7" indent="-423323" algn="ctr" rtl="0">
              <a:spcBef>
                <a:spcPts val="2133"/>
              </a:spcBef>
              <a:spcAft>
                <a:spcPts val="0"/>
              </a:spcAft>
              <a:buSzPts val="1400"/>
              <a:buChar char="○"/>
              <a:defRPr/>
            </a:lvl8pPr>
            <a:lvl9pPr marL="5486263" lvl="8" indent="-423323" algn="ctr" rtl="0">
              <a:spcBef>
                <a:spcPts val="2133"/>
              </a:spcBef>
              <a:spcAft>
                <a:spcPts val="2133"/>
              </a:spcAft>
              <a:buSzPts val="1400"/>
              <a:buChar char="■"/>
              <a:defRPr/>
            </a:lvl9pPr>
          </a:lstStyle>
          <a:p>
            <a:endParaRPr/>
          </a:p>
        </p:txBody>
      </p:sp>
      <p:sp>
        <p:nvSpPr>
          <p:cNvPr id="100" name="Google Shape;100;p2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9498564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1"/>
        <p:cNvGrpSpPr/>
        <p:nvPr/>
      </p:nvGrpSpPr>
      <p:grpSpPr>
        <a:xfrm>
          <a:off x="0" y="0"/>
          <a:ext cx="0" cy="0"/>
          <a:chOff x="0" y="0"/>
          <a:chExt cx="0" cy="0"/>
        </a:xfrm>
      </p:grpSpPr>
      <p:sp>
        <p:nvSpPr>
          <p:cNvPr id="102" name="Google Shape;102;p2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3504290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a:p>
        </p:txBody>
      </p:sp>
    </p:spTree>
    <p:extLst>
      <p:ext uri="{BB962C8B-B14F-4D97-AF65-F5344CB8AC3E}">
        <p14:creationId xmlns:p14="http://schemas.microsoft.com/office/powerpoint/2010/main" val="2023632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934395444"/>
      </p:ext>
    </p:extLst>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B Garamond"/>
              <a:buNone/>
              <a:defRPr sz="2800" b="1">
                <a:solidFill>
                  <a:schemeClr val="dk1"/>
                </a:solidFill>
                <a:latin typeface="EB Garamond"/>
                <a:ea typeface="EB Garamond"/>
                <a:cs typeface="EB Garamond"/>
                <a:sym typeface="EB Garamon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60" name="Google Shape;60;p1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EB Garamond"/>
              <a:buChar char="●"/>
              <a:defRPr sz="1800">
                <a:solidFill>
                  <a:schemeClr val="dk2"/>
                </a:solidFill>
                <a:latin typeface="EB Garamond"/>
                <a:ea typeface="EB Garamond"/>
                <a:cs typeface="EB Garamond"/>
                <a:sym typeface="EB Garamond"/>
              </a:defRPr>
            </a:lvl1pPr>
            <a:lvl2pPr marL="914400" lvl="1"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2pPr>
            <a:lvl3pPr marL="1371600" lvl="2"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3pPr>
            <a:lvl4pPr marL="1828800" lvl="3"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4pPr>
            <a:lvl5pPr marL="2286000" lvl="4"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5pPr>
            <a:lvl6pPr marL="2743200" lvl="5"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6pPr>
            <a:lvl7pPr marL="3200400" lvl="6"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7pPr>
            <a:lvl8pPr marL="3657600" lvl="7" indent="-317500" rtl="0">
              <a:lnSpc>
                <a:spcPct val="115000"/>
              </a:lnSpc>
              <a:spcBef>
                <a:spcPts val="1600"/>
              </a:spcBef>
              <a:spcAft>
                <a:spcPts val="0"/>
              </a:spcAft>
              <a:buClr>
                <a:schemeClr val="dk2"/>
              </a:buClr>
              <a:buSzPts val="1400"/>
              <a:buFont typeface="EB Garamond"/>
              <a:buChar char="○"/>
              <a:defRPr>
                <a:solidFill>
                  <a:schemeClr val="dk2"/>
                </a:solidFill>
                <a:latin typeface="EB Garamond"/>
                <a:ea typeface="EB Garamond"/>
                <a:cs typeface="EB Garamond"/>
                <a:sym typeface="EB Garamond"/>
              </a:defRPr>
            </a:lvl8pPr>
            <a:lvl9pPr marL="4114800" lvl="8" indent="-317500" rtl="0">
              <a:lnSpc>
                <a:spcPct val="115000"/>
              </a:lnSpc>
              <a:spcBef>
                <a:spcPts val="1600"/>
              </a:spcBef>
              <a:spcAft>
                <a:spcPts val="1600"/>
              </a:spcAft>
              <a:buClr>
                <a:schemeClr val="dk2"/>
              </a:buClr>
              <a:buSzPts val="1400"/>
              <a:buFont typeface="EB Garamond"/>
              <a:buChar char="■"/>
              <a:defRPr>
                <a:solidFill>
                  <a:schemeClr val="dk2"/>
                </a:solidFill>
                <a:latin typeface="EB Garamond"/>
                <a:ea typeface="EB Garamond"/>
                <a:cs typeface="EB Garamond"/>
                <a:sym typeface="EB Garamond"/>
              </a:defRPr>
            </a:lvl9pPr>
          </a:lstStyle>
          <a:p>
            <a:endParaRPr/>
          </a:p>
        </p:txBody>
      </p:sp>
      <p:sp>
        <p:nvSpPr>
          <p:cNvPr id="61" name="Google Shape;61;p1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lgn="r" rtl="0">
              <a:buNone/>
              <a:defRPr sz="1333">
                <a:solidFill>
                  <a:schemeClr val="dk2"/>
                </a:solidFill>
              </a:defRPr>
            </a:lvl1pPr>
            <a:lvl2pPr lvl="1" algn="r" rtl="0">
              <a:buNone/>
              <a:defRPr sz="1333">
                <a:solidFill>
                  <a:schemeClr val="dk2"/>
                </a:solidFill>
              </a:defRPr>
            </a:lvl2pPr>
            <a:lvl3pPr lvl="2" algn="r" rtl="0">
              <a:buNone/>
              <a:defRPr sz="1333">
                <a:solidFill>
                  <a:schemeClr val="dk2"/>
                </a:solidFill>
              </a:defRPr>
            </a:lvl3pPr>
            <a:lvl4pPr lvl="3" algn="r" rtl="0">
              <a:buNone/>
              <a:defRPr sz="1333">
                <a:solidFill>
                  <a:schemeClr val="dk2"/>
                </a:solidFill>
              </a:defRPr>
            </a:lvl4pPr>
            <a:lvl5pPr lvl="4" algn="r" rtl="0">
              <a:buNone/>
              <a:defRPr sz="1333">
                <a:solidFill>
                  <a:schemeClr val="dk2"/>
                </a:solidFill>
              </a:defRPr>
            </a:lvl5pPr>
            <a:lvl6pPr lvl="5" algn="r" rtl="0">
              <a:buNone/>
              <a:defRPr sz="1333">
                <a:solidFill>
                  <a:schemeClr val="dk2"/>
                </a:solidFill>
              </a:defRPr>
            </a:lvl6pPr>
            <a:lvl7pPr lvl="6" algn="r" rtl="0">
              <a:buNone/>
              <a:defRPr sz="1333">
                <a:solidFill>
                  <a:schemeClr val="dk2"/>
                </a:solidFill>
              </a:defRPr>
            </a:lvl7pPr>
            <a:lvl8pPr lvl="7" algn="r" rtl="0">
              <a:buNone/>
              <a:defRPr sz="1333">
                <a:solidFill>
                  <a:schemeClr val="dk2"/>
                </a:solidFill>
              </a:defRPr>
            </a:lvl8pPr>
            <a:lvl9pPr lvl="8" algn="r" rtl="0">
              <a:buNone/>
              <a:defRPr sz="1333">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extLst>
      <p:ext uri="{BB962C8B-B14F-4D97-AF65-F5344CB8AC3E}">
        <p14:creationId xmlns:p14="http://schemas.microsoft.com/office/powerpoint/2010/main" val="2698529771"/>
      </p:ext>
    </p:extLst>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13.png"/><Relationship Id="rId4" Type="http://schemas.openxmlformats.org/officeDocument/2006/relationships/image" Target="../media/image12.jpeg"/></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5.jpe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1524003" y="1999615"/>
            <a:ext cx="9144000" cy="2764028"/>
          </a:xfrm>
        </p:spPr>
        <p:txBody>
          <a:bodyPr anchor="ctr">
            <a:normAutofit/>
          </a:bodyPr>
          <a:lstStyle/>
          <a:p>
            <a:pPr algn="ctr"/>
            <a:r>
              <a:rPr lang="en-US" sz="3900" b="1" dirty="0">
                <a:solidFill>
                  <a:srgbClr val="0070C0"/>
                </a:solidFill>
                <a:ea typeface="+mj-lt"/>
                <a:cs typeface="+mj-lt"/>
              </a:rPr>
              <a:t>Healthcare Natural Language Processing</a:t>
            </a:r>
            <a:br>
              <a:rPr lang="en-US" sz="3900" b="1" dirty="0">
                <a:solidFill>
                  <a:srgbClr val="0070C0"/>
                </a:solidFill>
                <a:ea typeface="+mj-lt"/>
                <a:cs typeface="+mj-lt"/>
              </a:rPr>
            </a:br>
            <a:endParaRPr lang="en-US" dirty="0">
              <a:solidFill>
                <a:srgbClr val="0070C0"/>
              </a:solidFill>
            </a:endParaRPr>
          </a:p>
          <a:p>
            <a:pPr algn="ctr"/>
            <a:r>
              <a:rPr lang="en-US" sz="3900" b="1" dirty="0">
                <a:solidFill>
                  <a:srgbClr val="0070C0"/>
                </a:solidFill>
                <a:ea typeface="+mj-lt"/>
                <a:cs typeface="+mj-lt"/>
              </a:rPr>
              <a:t>INTRODUCTION</a:t>
            </a:r>
            <a:endParaRPr lang="en-US" dirty="0">
              <a:solidFill>
                <a:srgbClr val="0070C0"/>
              </a:solidFill>
            </a:endParaRPr>
          </a:p>
          <a:p>
            <a:pPr algn="ctr"/>
            <a:endParaRPr lang="en-US" dirty="0"/>
          </a:p>
        </p:txBody>
      </p:sp>
      <p:sp>
        <p:nvSpPr>
          <p:cNvPr id="3" name="Subtitle 2">
            <a:extLst>
              <a:ext uri="{FF2B5EF4-FFF2-40B4-BE49-F238E27FC236}">
                <a16:creationId xmlns:a16="http://schemas.microsoft.com/office/drawing/2014/main" id="{0236A1B4-B8D1-4A72-8E20-0703F54BF1FE}"/>
              </a:ext>
            </a:extLst>
          </p:cNvPr>
          <p:cNvSpPr>
            <a:spLocks noGrp="1"/>
          </p:cNvSpPr>
          <p:nvPr>
            <p:ph type="subTitle" idx="1"/>
          </p:nvPr>
        </p:nvSpPr>
        <p:spPr>
          <a:xfrm>
            <a:off x="1966912" y="5645150"/>
            <a:ext cx="8258176" cy="631825"/>
          </a:xfrm>
        </p:spPr>
        <p:txBody>
          <a:bodyPr anchor="ctr">
            <a:normAutofit fontScale="92500"/>
          </a:bodyPr>
          <a:lstStyle/>
          <a:p>
            <a:pPr algn="ctr"/>
            <a:r>
              <a:rPr lang="en-US" sz="2800" dirty="0"/>
              <a:t>Barbara Di Eugenio (with thanks to Shweta Yadav, UIC)</a:t>
            </a:r>
            <a:endParaRPr lang="en-US" dirty="0"/>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Graphic 3">
            <a:extLst>
              <a:ext uri="{FF2B5EF4-FFF2-40B4-BE49-F238E27FC236}">
                <a16:creationId xmlns:a16="http://schemas.microsoft.com/office/drawing/2014/main" id="{04433D40-A7D3-E212-195F-5B48F10CA8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218" y="6186125"/>
            <a:ext cx="2102413" cy="577133"/>
          </a:xfrm>
          <a:prstGeom prst="rect">
            <a:avLst/>
          </a:prstGeom>
        </p:spPr>
      </p:pic>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13" name="Rectangle 12">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Tenorite"/>
              <a:ea typeface="+mn-ea"/>
              <a:cs typeface="+mn-cs"/>
            </a:endParaRPr>
          </a:p>
        </p:txBody>
      </p:sp>
      <p:grpSp>
        <p:nvGrpSpPr>
          <p:cNvPr id="15" name="Group 14">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16" name="Freeform: Shape 15">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17" name="Freeform: Shape 16">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18" name="Freeform: Shape 17">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19" name="Freeform: Shape 18">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grpSp>
      <p:grpSp>
        <p:nvGrpSpPr>
          <p:cNvPr id="21" name="Group 20">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22" name="Freeform: Shape 21">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23" name="Freeform: Shape 22">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24" name="Freeform: Shape 23">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grpSp>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4438637" y="160073"/>
            <a:ext cx="2929763" cy="483001"/>
          </a:xfrm>
        </p:spPr>
        <p:txBody>
          <a:bodyPr vert="horz" lIns="91440" tIns="45720" rIns="91440" bIns="45720" rtlCol="0" anchor="ctr">
            <a:normAutofit fontScale="90000"/>
          </a:bodyPr>
          <a:lstStyle/>
          <a:p>
            <a:r>
              <a:rPr lang="en-US" sz="4000" dirty="0">
                <a:solidFill>
                  <a:schemeClr val="tx2"/>
                </a:solidFill>
                <a:ea typeface="+mj-ea"/>
                <a:cs typeface="+mj-cs"/>
              </a:rPr>
              <a:t>Chi </a:t>
            </a:r>
            <a:r>
              <a:rPr lang="en-US" sz="4000" dirty="0" err="1">
                <a:solidFill>
                  <a:schemeClr val="tx2"/>
                </a:solidFill>
                <a:ea typeface="+mj-ea"/>
                <a:cs typeface="+mj-cs"/>
              </a:rPr>
              <a:t>sono</a:t>
            </a:r>
            <a:endParaRPr lang="en-US" dirty="0">
              <a:ea typeface="+mj-ea"/>
              <a:cs typeface="+mj-cs"/>
            </a:endParaRP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49DFD55-3C28-40EF-9E31-A92D2E4017FF}" type="slidenum">
              <a:rPr kumimoji="0" lang="en-US" sz="1200" b="0" i="0" u="none" strike="noStrike" kern="1200" cap="none" spc="0" normalizeH="0" baseline="0" noProof="0" smtClean="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Tenorite"/>
              <a:ea typeface="+mn-ea"/>
              <a:cs typeface="+mn-cs"/>
            </a:endParaRPr>
          </a:p>
        </p:txBody>
      </p:sp>
      <p:grpSp>
        <p:nvGrpSpPr>
          <p:cNvPr id="51" name="Group 50">
            <a:extLst>
              <a:ext uri="{FF2B5EF4-FFF2-40B4-BE49-F238E27FC236}">
                <a16:creationId xmlns:a16="http://schemas.microsoft.com/office/drawing/2014/main" id="{3008055B-2AE2-D60B-A178-0241C980D5F8}"/>
              </a:ext>
            </a:extLst>
          </p:cNvPr>
          <p:cNvGrpSpPr/>
          <p:nvPr/>
        </p:nvGrpSpPr>
        <p:grpSpPr>
          <a:xfrm>
            <a:off x="254862" y="2004019"/>
            <a:ext cx="3807331" cy="4091981"/>
            <a:chOff x="125076" y="798132"/>
            <a:chExt cx="3205826" cy="3250123"/>
          </a:xfrm>
        </p:grpSpPr>
        <p:pic>
          <p:nvPicPr>
            <p:cNvPr id="7" name="Picture 6">
              <a:extLst>
                <a:ext uri="{FF2B5EF4-FFF2-40B4-BE49-F238E27FC236}">
                  <a16:creationId xmlns:a16="http://schemas.microsoft.com/office/drawing/2014/main" id="{8674AAC6-142C-B38F-22E2-FEE2DF4C493F}"/>
                </a:ext>
              </a:extLst>
            </p:cNvPr>
            <p:cNvPicPr>
              <a:picLocks noChangeAspect="1"/>
            </p:cNvPicPr>
            <p:nvPr/>
          </p:nvPicPr>
          <p:blipFill>
            <a:blip r:embed="rId2"/>
            <a:stretch>
              <a:fillRect/>
            </a:stretch>
          </p:blipFill>
          <p:spPr>
            <a:xfrm>
              <a:off x="1984500" y="2028652"/>
              <a:ext cx="1346402" cy="2019603"/>
            </a:xfrm>
            <a:prstGeom prst="rect">
              <a:avLst/>
            </a:prstGeom>
          </p:spPr>
        </p:pic>
        <p:pic>
          <p:nvPicPr>
            <p:cNvPr id="9" name="Picture 8">
              <a:extLst>
                <a:ext uri="{FF2B5EF4-FFF2-40B4-BE49-F238E27FC236}">
                  <a16:creationId xmlns:a16="http://schemas.microsoft.com/office/drawing/2014/main" id="{A005723C-9B63-B154-D67A-0B5D21AC374C}"/>
                </a:ext>
              </a:extLst>
            </p:cNvPr>
            <p:cNvPicPr>
              <a:picLocks noChangeAspect="1"/>
            </p:cNvPicPr>
            <p:nvPr/>
          </p:nvPicPr>
          <p:blipFill>
            <a:blip r:embed="rId3"/>
            <a:stretch>
              <a:fillRect/>
            </a:stretch>
          </p:blipFill>
          <p:spPr>
            <a:xfrm>
              <a:off x="125076" y="798132"/>
              <a:ext cx="1837794" cy="1803184"/>
            </a:xfrm>
            <a:prstGeom prst="rect">
              <a:avLst/>
            </a:prstGeom>
          </p:spPr>
        </p:pic>
        <p:sp>
          <p:nvSpPr>
            <p:cNvPr id="10" name="TextBox 9">
              <a:extLst>
                <a:ext uri="{FF2B5EF4-FFF2-40B4-BE49-F238E27FC236}">
                  <a16:creationId xmlns:a16="http://schemas.microsoft.com/office/drawing/2014/main" id="{9020D4D4-B7DB-E0D6-8DFE-68F540C50E1B}"/>
                </a:ext>
              </a:extLst>
            </p:cNvPr>
            <p:cNvSpPr txBox="1"/>
            <p:nvPr/>
          </p:nvSpPr>
          <p:spPr>
            <a:xfrm>
              <a:off x="125076" y="2674935"/>
              <a:ext cx="168764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black"/>
                  </a:solidFill>
                  <a:effectLst/>
                  <a:uLnTx/>
                  <a:uFillTx/>
                  <a:latin typeface="Tenorite"/>
                  <a:ea typeface="+mn-ea"/>
                  <a:cs typeface="+mn-cs"/>
                </a:rPr>
                <a:t>Prof. Leonardo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black"/>
                  </a:solidFill>
                  <a:effectLst/>
                  <a:uLnTx/>
                  <a:uFillTx/>
                  <a:latin typeface="Tenorite"/>
                  <a:ea typeface="+mn-ea"/>
                  <a:cs typeface="+mn-cs"/>
                </a:rPr>
                <a:t>Lesmo</a:t>
              </a:r>
            </a:p>
          </p:txBody>
        </p:sp>
        <p:sp>
          <p:nvSpPr>
            <p:cNvPr id="12" name="TextBox 11">
              <a:extLst>
                <a:ext uri="{FF2B5EF4-FFF2-40B4-BE49-F238E27FC236}">
                  <a16:creationId xmlns:a16="http://schemas.microsoft.com/office/drawing/2014/main" id="{5B3C5AEA-9E1E-C2A0-CDA4-A5DCD7FC8163}"/>
                </a:ext>
              </a:extLst>
            </p:cNvPr>
            <p:cNvSpPr txBox="1"/>
            <p:nvPr/>
          </p:nvSpPr>
          <p:spPr>
            <a:xfrm>
              <a:off x="706634" y="3393438"/>
              <a:ext cx="137189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black"/>
                  </a:solidFill>
                  <a:effectLst/>
                  <a:uLnTx/>
                  <a:uFillTx/>
                  <a:latin typeface="Tenorite"/>
                  <a:ea typeface="+mn-ea"/>
                  <a:cs typeface="+mn-cs"/>
                </a:rPr>
                <a:t>Prof. Piero Torasso</a:t>
              </a:r>
            </a:p>
          </p:txBody>
        </p:sp>
      </p:grpSp>
      <p:grpSp>
        <p:nvGrpSpPr>
          <p:cNvPr id="52" name="Group 51">
            <a:extLst>
              <a:ext uri="{FF2B5EF4-FFF2-40B4-BE49-F238E27FC236}">
                <a16:creationId xmlns:a16="http://schemas.microsoft.com/office/drawing/2014/main" id="{C6EFB2D9-66A8-BE18-EFD0-1101CB08E970}"/>
              </a:ext>
            </a:extLst>
          </p:cNvPr>
          <p:cNvGrpSpPr/>
          <p:nvPr/>
        </p:nvGrpSpPr>
        <p:grpSpPr>
          <a:xfrm>
            <a:off x="7661752" y="1302645"/>
            <a:ext cx="4177248" cy="4522220"/>
            <a:chOff x="7661752" y="1288790"/>
            <a:chExt cx="4177248" cy="4522220"/>
          </a:xfrm>
        </p:grpSpPr>
        <p:pic>
          <p:nvPicPr>
            <p:cNvPr id="8" name="Picture 7">
              <a:extLst>
                <a:ext uri="{FF2B5EF4-FFF2-40B4-BE49-F238E27FC236}">
                  <a16:creationId xmlns:a16="http://schemas.microsoft.com/office/drawing/2014/main" id="{BF619D8B-0507-6645-10AC-BCA69924125B}"/>
                </a:ext>
              </a:extLst>
            </p:cNvPr>
            <p:cNvPicPr>
              <a:picLocks noChangeAspect="1"/>
            </p:cNvPicPr>
            <p:nvPr/>
          </p:nvPicPr>
          <p:blipFill>
            <a:blip r:embed="rId4"/>
            <a:stretch>
              <a:fillRect/>
            </a:stretch>
          </p:blipFill>
          <p:spPr>
            <a:xfrm>
              <a:off x="7661752" y="1288790"/>
              <a:ext cx="4014813" cy="4522220"/>
            </a:xfrm>
            <a:prstGeom prst="rect">
              <a:avLst/>
            </a:prstGeom>
          </p:spPr>
        </p:pic>
        <p:sp>
          <p:nvSpPr>
            <p:cNvPr id="25" name="TextBox 24">
              <a:extLst>
                <a:ext uri="{FF2B5EF4-FFF2-40B4-BE49-F238E27FC236}">
                  <a16:creationId xmlns:a16="http://schemas.microsoft.com/office/drawing/2014/main" id="{2D9B7724-F8D3-0D28-6007-12C288F92492}"/>
                </a:ext>
              </a:extLst>
            </p:cNvPr>
            <p:cNvSpPr txBox="1"/>
            <p:nvPr/>
          </p:nvSpPr>
          <p:spPr>
            <a:xfrm>
              <a:off x="9669159" y="1330392"/>
              <a:ext cx="15745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black"/>
                  </a:solidFill>
                  <a:effectLst/>
                  <a:uLnTx/>
                  <a:uFillTx/>
                  <a:latin typeface="Tenorite"/>
                  <a:ea typeface="+mn-ea"/>
                  <a:cs typeface="+mn-cs"/>
                </a:rPr>
                <a:t>Pennsylvania</a:t>
              </a:r>
            </a:p>
          </p:txBody>
        </p:sp>
        <p:sp>
          <p:nvSpPr>
            <p:cNvPr id="26" name="TextBox 25">
              <a:extLst>
                <a:ext uri="{FF2B5EF4-FFF2-40B4-BE49-F238E27FC236}">
                  <a16:creationId xmlns:a16="http://schemas.microsoft.com/office/drawing/2014/main" id="{97D02224-120A-092C-1CE9-FC632D3A163C}"/>
                </a:ext>
              </a:extLst>
            </p:cNvPr>
            <p:cNvSpPr txBox="1"/>
            <p:nvPr/>
          </p:nvSpPr>
          <p:spPr>
            <a:xfrm>
              <a:off x="8047260" y="5362259"/>
              <a:ext cx="98777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black"/>
                  </a:solidFill>
                  <a:effectLst/>
                  <a:uLnTx/>
                  <a:uFillTx/>
                  <a:latin typeface="Tenorite"/>
                  <a:ea typeface="+mn-ea"/>
                  <a:cs typeface="+mn-cs"/>
                </a:rPr>
                <a:t>Illinois</a:t>
              </a:r>
            </a:p>
          </p:txBody>
        </p:sp>
        <p:sp>
          <p:nvSpPr>
            <p:cNvPr id="27" name="TextBox 26">
              <a:extLst>
                <a:ext uri="{FF2B5EF4-FFF2-40B4-BE49-F238E27FC236}">
                  <a16:creationId xmlns:a16="http://schemas.microsoft.com/office/drawing/2014/main" id="{7F7FF72B-7C35-DF9A-65E4-3C809FDD2604}"/>
                </a:ext>
              </a:extLst>
            </p:cNvPr>
            <p:cNvSpPr txBox="1"/>
            <p:nvPr/>
          </p:nvSpPr>
          <p:spPr>
            <a:xfrm>
              <a:off x="10418418" y="2643760"/>
              <a:ext cx="14205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srgbClr val="00B0F0"/>
                  </a:solidFill>
                  <a:effectLst/>
                  <a:uLnTx/>
                  <a:uFillTx/>
                  <a:latin typeface="Tenorite"/>
                  <a:ea typeface="+mn-ea"/>
                  <a:cs typeface="+mn-cs"/>
                </a:rPr>
                <a:t>Philadelphia</a:t>
              </a:r>
            </a:p>
          </p:txBody>
        </p:sp>
        <p:sp>
          <p:nvSpPr>
            <p:cNvPr id="28" name="TextBox 27">
              <a:extLst>
                <a:ext uri="{FF2B5EF4-FFF2-40B4-BE49-F238E27FC236}">
                  <a16:creationId xmlns:a16="http://schemas.microsoft.com/office/drawing/2014/main" id="{0E78F983-3D3B-4392-30C1-E11631F24FB8}"/>
                </a:ext>
              </a:extLst>
            </p:cNvPr>
            <p:cNvSpPr txBox="1"/>
            <p:nvPr/>
          </p:nvSpPr>
          <p:spPr>
            <a:xfrm>
              <a:off x="9198905" y="2979297"/>
              <a:ext cx="12029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white"/>
                  </a:solidFill>
                  <a:effectLst/>
                  <a:uLnTx/>
                  <a:uFillTx/>
                  <a:latin typeface="Tenorite"/>
                  <a:ea typeface="+mn-ea"/>
                  <a:cs typeface="+mn-cs"/>
                </a:rPr>
                <a:t>Pittsburgh</a:t>
              </a:r>
            </a:p>
          </p:txBody>
        </p:sp>
        <p:sp>
          <p:nvSpPr>
            <p:cNvPr id="29" name="TextBox 28">
              <a:extLst>
                <a:ext uri="{FF2B5EF4-FFF2-40B4-BE49-F238E27FC236}">
                  <a16:creationId xmlns:a16="http://schemas.microsoft.com/office/drawing/2014/main" id="{2966189F-3BB1-836B-FCBE-E61DDD81791A}"/>
                </a:ext>
              </a:extLst>
            </p:cNvPr>
            <p:cNvSpPr txBox="1"/>
            <p:nvPr/>
          </p:nvSpPr>
          <p:spPr>
            <a:xfrm>
              <a:off x="7999046" y="2692071"/>
              <a:ext cx="98777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white"/>
                  </a:solidFill>
                  <a:effectLst/>
                  <a:uLnTx/>
                  <a:uFillTx/>
                  <a:latin typeface="Tenorite"/>
                  <a:ea typeface="+mn-ea"/>
                  <a:cs typeface="+mn-cs"/>
                </a:rPr>
                <a:t>Chicago</a:t>
              </a:r>
            </a:p>
          </p:txBody>
        </p:sp>
        <p:sp>
          <p:nvSpPr>
            <p:cNvPr id="30" name="Oval 29">
              <a:extLst>
                <a:ext uri="{FF2B5EF4-FFF2-40B4-BE49-F238E27FC236}">
                  <a16:creationId xmlns:a16="http://schemas.microsoft.com/office/drawing/2014/main" id="{B95C00B7-DB24-BB7B-3FB4-368868F96326}"/>
                </a:ext>
              </a:extLst>
            </p:cNvPr>
            <p:cNvSpPr/>
            <p:nvPr/>
          </p:nvSpPr>
          <p:spPr>
            <a:xfrm rot="21200346" flipH="1" flipV="1">
              <a:off x="8929141" y="2789121"/>
              <a:ext cx="120137" cy="1652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prstClr val="white"/>
                </a:solidFill>
                <a:effectLst/>
                <a:uLnTx/>
                <a:uFillTx/>
                <a:latin typeface="Tenorite"/>
                <a:ea typeface="+mn-ea"/>
                <a:cs typeface="+mn-cs"/>
              </a:endParaRPr>
            </a:p>
          </p:txBody>
        </p:sp>
        <p:sp>
          <p:nvSpPr>
            <p:cNvPr id="36" name="Oval 35">
              <a:extLst>
                <a:ext uri="{FF2B5EF4-FFF2-40B4-BE49-F238E27FC236}">
                  <a16:creationId xmlns:a16="http://schemas.microsoft.com/office/drawing/2014/main" id="{EED379F7-B9F3-3B6A-B206-23AAF5E7B059}"/>
                </a:ext>
              </a:extLst>
            </p:cNvPr>
            <p:cNvSpPr/>
            <p:nvPr/>
          </p:nvSpPr>
          <p:spPr>
            <a:xfrm rot="21200346" flipH="1" flipV="1">
              <a:off x="10063215" y="2885651"/>
              <a:ext cx="120137" cy="1652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prstClr val="white"/>
                </a:solidFill>
                <a:effectLst/>
                <a:uLnTx/>
                <a:uFillTx/>
                <a:latin typeface="Tenorite"/>
                <a:ea typeface="+mn-ea"/>
                <a:cs typeface="+mn-cs"/>
              </a:endParaRPr>
            </a:p>
          </p:txBody>
        </p:sp>
        <p:sp>
          <p:nvSpPr>
            <p:cNvPr id="39" name="Oval 38">
              <a:extLst>
                <a:ext uri="{FF2B5EF4-FFF2-40B4-BE49-F238E27FC236}">
                  <a16:creationId xmlns:a16="http://schemas.microsoft.com/office/drawing/2014/main" id="{67403DC5-76D9-6701-9404-FE21BAC219B0}"/>
                </a:ext>
              </a:extLst>
            </p:cNvPr>
            <p:cNvSpPr/>
            <p:nvPr/>
          </p:nvSpPr>
          <p:spPr>
            <a:xfrm rot="21200346" flipH="1" flipV="1">
              <a:off x="10685653" y="2928361"/>
              <a:ext cx="120137" cy="1652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a:ln>
                  <a:noFill/>
                </a:ln>
                <a:solidFill>
                  <a:prstClr val="white"/>
                </a:solidFill>
                <a:effectLst/>
                <a:uLnTx/>
                <a:uFillTx/>
                <a:latin typeface="Tenorite"/>
                <a:ea typeface="+mn-ea"/>
                <a:cs typeface="+mn-cs"/>
              </a:endParaRPr>
            </a:p>
          </p:txBody>
        </p:sp>
        <p:cxnSp>
          <p:nvCxnSpPr>
            <p:cNvPr id="45" name="Straight Arrow Connector 44">
              <a:extLst>
                <a:ext uri="{FF2B5EF4-FFF2-40B4-BE49-F238E27FC236}">
                  <a16:creationId xmlns:a16="http://schemas.microsoft.com/office/drawing/2014/main" id="{C04914E4-74EC-F64B-68C8-4494343D3CC6}"/>
                </a:ext>
              </a:extLst>
            </p:cNvPr>
            <p:cNvCxnSpPr>
              <a:cxnSpLocks/>
            </p:cNvCxnSpPr>
            <p:nvPr/>
          </p:nvCxnSpPr>
          <p:spPr>
            <a:xfrm flipH="1">
              <a:off x="8380811" y="3321266"/>
              <a:ext cx="459578" cy="2021713"/>
            </a:xfrm>
            <a:prstGeom prst="straightConnector1">
              <a:avLst/>
            </a:prstGeom>
            <a:ln w="19050">
              <a:headEnd type="stealth" w="lg" len="lg"/>
              <a:tailEnd type="non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4031E5CE-A2DD-E77A-A481-249C08551997}"/>
                </a:ext>
              </a:extLst>
            </p:cNvPr>
            <p:cNvCxnSpPr>
              <a:cxnSpLocks/>
            </p:cNvCxnSpPr>
            <p:nvPr/>
          </p:nvCxnSpPr>
          <p:spPr>
            <a:xfrm flipH="1">
              <a:off x="10325041" y="1687614"/>
              <a:ext cx="9183" cy="109509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53" name="TextBox 52">
            <a:extLst>
              <a:ext uri="{FF2B5EF4-FFF2-40B4-BE49-F238E27FC236}">
                <a16:creationId xmlns:a16="http://schemas.microsoft.com/office/drawing/2014/main" id="{3F9B7736-A9D1-E1D7-CDAC-E48EA26F858B}"/>
              </a:ext>
            </a:extLst>
          </p:cNvPr>
          <p:cNvSpPr txBox="1"/>
          <p:nvPr/>
        </p:nvSpPr>
        <p:spPr>
          <a:xfrm>
            <a:off x="179908" y="1141412"/>
            <a:ext cx="456285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2400" b="0" i="0" u="none" strike="noStrike" kern="1200" cap="none" spc="0" normalizeH="0" baseline="0" noProof="0" dirty="0">
                <a:ln>
                  <a:noFill/>
                </a:ln>
                <a:solidFill>
                  <a:prstClr val="black"/>
                </a:solidFill>
                <a:effectLst/>
                <a:uLnTx/>
                <a:uFillTx/>
                <a:latin typeface="Tenorite"/>
                <a:ea typeface="+mn-ea"/>
                <a:cs typeface="+mn-cs"/>
              </a:rPr>
              <a:t>Laurea Informatica, UniTo (1985)</a:t>
            </a:r>
          </a:p>
        </p:txBody>
      </p:sp>
      <p:grpSp>
        <p:nvGrpSpPr>
          <p:cNvPr id="55" name="Group 54">
            <a:extLst>
              <a:ext uri="{FF2B5EF4-FFF2-40B4-BE49-F238E27FC236}">
                <a16:creationId xmlns:a16="http://schemas.microsoft.com/office/drawing/2014/main" id="{F115DF86-4BD2-3308-2FED-9079FE3678A8}"/>
              </a:ext>
            </a:extLst>
          </p:cNvPr>
          <p:cNvGrpSpPr/>
          <p:nvPr/>
        </p:nvGrpSpPr>
        <p:grpSpPr>
          <a:xfrm>
            <a:off x="4271528" y="1818624"/>
            <a:ext cx="3129681" cy="2887381"/>
            <a:chOff x="4271528" y="1818624"/>
            <a:chExt cx="3129681" cy="2887381"/>
          </a:xfrm>
        </p:grpSpPr>
        <p:pic>
          <p:nvPicPr>
            <p:cNvPr id="4" name="Picture 3">
              <a:extLst>
                <a:ext uri="{FF2B5EF4-FFF2-40B4-BE49-F238E27FC236}">
                  <a16:creationId xmlns:a16="http://schemas.microsoft.com/office/drawing/2014/main" id="{7C9FE126-5ACB-0FEA-849D-EB9A3053A0FD}"/>
                </a:ext>
              </a:extLst>
            </p:cNvPr>
            <p:cNvPicPr>
              <a:picLocks noChangeAspect="1"/>
            </p:cNvPicPr>
            <p:nvPr/>
          </p:nvPicPr>
          <p:blipFill>
            <a:blip r:embed="rId5"/>
            <a:stretch>
              <a:fillRect/>
            </a:stretch>
          </p:blipFill>
          <p:spPr>
            <a:xfrm>
              <a:off x="4271528" y="1818624"/>
              <a:ext cx="3129681" cy="2019603"/>
            </a:xfrm>
            <a:prstGeom prst="rect">
              <a:avLst/>
            </a:prstGeom>
          </p:spPr>
        </p:pic>
        <p:sp>
          <p:nvSpPr>
            <p:cNvPr id="54" name="TextBox 53">
              <a:extLst>
                <a:ext uri="{FF2B5EF4-FFF2-40B4-BE49-F238E27FC236}">
                  <a16:creationId xmlns:a16="http://schemas.microsoft.com/office/drawing/2014/main" id="{5FAAEFA7-E042-7357-9B02-F2F41D001AD3}"/>
                </a:ext>
              </a:extLst>
            </p:cNvPr>
            <p:cNvSpPr txBox="1"/>
            <p:nvPr/>
          </p:nvSpPr>
          <p:spPr>
            <a:xfrm>
              <a:off x="4413881" y="4244340"/>
              <a:ext cx="279256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2400" b="0" i="0" u="none" strike="noStrike" kern="1200" cap="none" spc="0" normalizeH="0" baseline="0" noProof="0" dirty="0">
                  <a:ln>
                    <a:noFill/>
                  </a:ln>
                  <a:solidFill>
                    <a:prstClr val="black"/>
                  </a:solidFill>
                  <a:effectLst/>
                  <a:uLnTx/>
                  <a:uFillTx/>
                  <a:latin typeface="Tenorite"/>
                  <a:ea typeface="+mn-ea"/>
                  <a:cs typeface="+mn-cs"/>
                </a:rPr>
                <a:t>Negli USA dal 1987 </a:t>
              </a:r>
            </a:p>
          </p:txBody>
        </p:sp>
      </p:grpSp>
      <p:pic>
        <p:nvPicPr>
          <p:cNvPr id="3" name="Graphic 2">
            <a:extLst>
              <a:ext uri="{FF2B5EF4-FFF2-40B4-BE49-F238E27FC236}">
                <a16:creationId xmlns:a16="http://schemas.microsoft.com/office/drawing/2014/main" id="{C17ECFD2-8D0F-02AA-F88D-AF94366338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58714" y="5271570"/>
            <a:ext cx="2102413" cy="577133"/>
          </a:xfrm>
          <a:prstGeom prst="rect">
            <a:avLst/>
          </a:prstGeom>
        </p:spPr>
      </p:pic>
    </p:spTree>
    <p:extLst>
      <p:ext uri="{BB962C8B-B14F-4D97-AF65-F5344CB8AC3E}">
        <p14:creationId xmlns:p14="http://schemas.microsoft.com/office/powerpoint/2010/main" val="357151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31" name="Rectangle 30">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Tenorite"/>
              <a:ea typeface="+mn-ea"/>
              <a:cs typeface="+mn-cs"/>
            </a:endParaRPr>
          </a:p>
        </p:txBody>
      </p:sp>
      <p:grpSp>
        <p:nvGrpSpPr>
          <p:cNvPr id="33" name="Group 32">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34" name="Freeform: Shape 33">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35" name="Freeform: Shape 34">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36" name="Freeform: Shape 35">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37" name="Freeform: Shape 36">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grpSp>
      <p:grpSp>
        <p:nvGrpSpPr>
          <p:cNvPr id="39" name="Group 38">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40" name="Freeform: Shape 39">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41" name="Freeform: Shape 40">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42" name="Freeform: Shape 41">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grpSp>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2622904" y="93980"/>
            <a:ext cx="5760719" cy="801411"/>
          </a:xfrm>
        </p:spPr>
        <p:txBody>
          <a:bodyPr vert="horz" lIns="91440" tIns="45720" rIns="91440" bIns="45720" rtlCol="0" anchor="ctr">
            <a:normAutofit/>
          </a:bodyPr>
          <a:lstStyle/>
          <a:p>
            <a:r>
              <a:rPr lang="en-US" sz="3600" kern="1200" dirty="0">
                <a:solidFill>
                  <a:srgbClr val="00B0F0"/>
                </a:solidFill>
                <a:latin typeface="+mj-lt"/>
              </a:rPr>
              <a:t>NLP with a purpose</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49DFD55-3C28-40EF-9E31-A92D2E4017FF}" type="slidenum">
              <a:rPr kumimoji="0" lang="en-US" sz="1200" b="0" i="0" u="none" strike="noStrike" kern="1200" cap="none" spc="0" normalizeH="0" baseline="0" noProof="0" smtClean="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Tenorite"/>
              <a:ea typeface="+mn-ea"/>
              <a:cs typeface="+mn-cs"/>
            </a:endParaRPr>
          </a:p>
        </p:txBody>
      </p:sp>
      <p:sp>
        <p:nvSpPr>
          <p:cNvPr id="9" name="TextBox 8">
            <a:extLst>
              <a:ext uri="{FF2B5EF4-FFF2-40B4-BE49-F238E27FC236}">
                <a16:creationId xmlns:a16="http://schemas.microsoft.com/office/drawing/2014/main" id="{E97DF846-A8CA-86CD-3ABE-38B358E9DE99}"/>
              </a:ext>
            </a:extLst>
          </p:cNvPr>
          <p:cNvSpPr txBox="1"/>
          <p:nvPr/>
        </p:nvSpPr>
        <p:spPr>
          <a:xfrm>
            <a:off x="466162" y="856356"/>
            <a:ext cx="7308546"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Tenorite"/>
                <a:ea typeface="+mn-ea"/>
                <a:cs typeface="+mn-cs"/>
              </a:rPr>
              <a:t>Analyze </a:t>
            </a:r>
            <a:r>
              <a:rPr kumimoji="0" lang="en-US" sz="2400" b="0" i="0" u="none" strike="noStrike" kern="1200" cap="none" spc="0" normalizeH="0" baseline="0" noProof="0" dirty="0">
                <a:ln>
                  <a:noFill/>
                </a:ln>
                <a:solidFill>
                  <a:srgbClr val="00B050"/>
                </a:solidFill>
                <a:effectLst/>
                <a:uLnTx/>
                <a:uFillTx/>
                <a:latin typeface="Tenorite"/>
                <a:ea typeface="+mn-ea"/>
                <a:cs typeface="+mn-cs"/>
              </a:rPr>
              <a:t>naturally occurring data</a:t>
            </a:r>
            <a:r>
              <a:rPr kumimoji="0" lang="en-US" sz="2400" b="0" i="0" u="none" strike="noStrike" kern="1200" cap="none" spc="0" normalizeH="0" baseline="0" noProof="0" dirty="0">
                <a:ln>
                  <a:noFill/>
                </a:ln>
                <a:solidFill>
                  <a:prstClr val="black"/>
                </a:solidFill>
                <a:effectLst/>
                <a:uLnTx/>
                <a:uFillTx/>
                <a:latin typeface="Tenorite"/>
                <a:ea typeface="+mn-ea"/>
                <a:cs typeface="+mn-cs"/>
              </a:rPr>
              <a:t>: often, collect our own data and manually label it. </a:t>
            </a:r>
            <a:r>
              <a:rPr kumimoji="0" lang="en-US" sz="2400" b="0" i="0" u="none" strike="noStrike" kern="1200" cap="none" spc="0" normalizeH="0" baseline="0" noProof="0" dirty="0">
                <a:ln>
                  <a:noFill/>
                </a:ln>
                <a:solidFill>
                  <a:srgbClr val="00B050"/>
                </a:solidFill>
                <a:effectLst/>
                <a:uLnTx/>
                <a:uFillTx/>
                <a:latin typeface="Tenorite"/>
                <a:ea typeface="+mn-ea"/>
                <a:cs typeface="+mn-cs"/>
              </a:rPr>
              <a:t>It’s often, “small data”</a:t>
            </a:r>
          </a:p>
          <a:p>
            <a:pPr marL="0" marR="0" lvl="0" indent="0" algn="l" defTabSz="914400" rtl="0" eaLnBrk="1" fontAlgn="auto" latinLnBrk="0" hangingPunct="1">
              <a:lnSpc>
                <a:spcPct val="100000"/>
              </a:lnSpc>
              <a:spcBef>
                <a:spcPts val="0"/>
              </a:spcBef>
              <a:spcAft>
                <a:spcPts val="0"/>
              </a:spcAft>
              <a:buClrTx/>
              <a:buSzTx/>
              <a:tabLst/>
              <a:defRPr/>
            </a:pPr>
            <a:endParaRPr kumimoji="0" lang="en-US" sz="2400" b="0" i="0" u="none" strike="noStrike" kern="1200" cap="none" spc="0" normalizeH="0" baseline="0" noProof="0" dirty="0">
              <a:ln>
                <a:noFill/>
              </a:ln>
              <a:solidFill>
                <a:srgbClr val="00B050"/>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Tenorite"/>
                <a:ea typeface="+mn-ea"/>
                <a:cs typeface="+mn-cs"/>
              </a:rPr>
              <a:t>Relate to  external reality, virtual or physical (e.g. robotics)</a:t>
            </a:r>
          </a:p>
          <a:p>
            <a:pPr marL="0" marR="0" lvl="0" indent="0" algn="l" defTabSz="914400" rtl="0" eaLnBrk="1" fontAlgn="auto" latinLnBrk="0" hangingPunct="1">
              <a:lnSpc>
                <a:spcPct val="100000"/>
              </a:lnSpc>
              <a:spcBef>
                <a:spcPts val="0"/>
              </a:spcBef>
              <a:spcAft>
                <a:spcPts val="0"/>
              </a:spcAft>
              <a:buClrTx/>
              <a:buSzTx/>
              <a:tabLst/>
              <a:defRPr/>
            </a:pPr>
            <a:endParaRPr kumimoji="0" lang="en-US" sz="2400" b="0" i="0" u="none" strike="noStrike" kern="1200" cap="none" spc="0" normalizeH="0" baseline="0" noProof="0" dirty="0">
              <a:ln>
                <a:noFill/>
              </a:ln>
              <a:solidFill>
                <a:prstClr val="black"/>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Tenorite"/>
                <a:ea typeface="+mn-ea"/>
                <a:cs typeface="+mn-cs"/>
              </a:rPr>
              <a:t>Use machine learning / data mining,  but </a:t>
            </a:r>
            <a:r>
              <a:rPr kumimoji="0" lang="en-US" sz="2400" b="0" i="0" u="none" strike="noStrike" kern="1200" cap="none" spc="0" normalizeH="0" baseline="0" noProof="0" dirty="0">
                <a:ln>
                  <a:noFill/>
                </a:ln>
                <a:solidFill>
                  <a:srgbClr val="00B050"/>
                </a:solidFill>
                <a:effectLst/>
                <a:uLnTx/>
                <a:uFillTx/>
                <a:latin typeface="Tenorite"/>
                <a:ea typeface="+mn-ea"/>
                <a:cs typeface="+mn-cs"/>
              </a:rPr>
              <a:t>informed by </a:t>
            </a:r>
            <a:r>
              <a:rPr kumimoji="0" lang="en-US" sz="2400" b="0" i="0" u="none" strike="noStrike" kern="1200" cap="none" spc="0" normalizeH="0" baseline="0" noProof="0" dirty="0">
                <a:ln>
                  <a:noFill/>
                </a:ln>
                <a:solidFill>
                  <a:srgbClr val="00B050"/>
                </a:solidFill>
                <a:effectLst/>
                <a:uLnTx/>
                <a:uFillTx/>
                <a:latin typeface="Copperplate Gothic Bold"/>
                <a:ea typeface="+mn-ea"/>
                <a:cs typeface="Copperplate Gothic Bold"/>
              </a:rPr>
              <a:t>interdisciplinary  </a:t>
            </a:r>
            <a:r>
              <a:rPr kumimoji="0" lang="en-US" sz="2400" b="0" i="0" u="none" strike="noStrike" kern="1200" cap="none" spc="0" normalizeH="0" baseline="0" noProof="0" dirty="0">
                <a:ln>
                  <a:noFill/>
                </a:ln>
                <a:solidFill>
                  <a:srgbClr val="00B050"/>
                </a:solidFill>
                <a:effectLst/>
                <a:uLnTx/>
                <a:uFillTx/>
                <a:latin typeface="Tenorite"/>
                <a:ea typeface="+mn-ea"/>
                <a:cs typeface="+mn-cs"/>
              </a:rPr>
              <a:t>insight:</a:t>
            </a:r>
            <a:r>
              <a:rPr kumimoji="0" lang="en-US" sz="2400" b="0" i="0" u="none" strike="noStrike" kern="1200" cap="none" spc="0" normalizeH="0" baseline="0" noProof="0" dirty="0">
                <a:ln>
                  <a:noFill/>
                </a:ln>
                <a:solidFill>
                  <a:srgbClr val="F8C000"/>
                </a:solidFill>
                <a:effectLst/>
                <a:uLnTx/>
                <a:uFillTx/>
                <a:latin typeface="Tenorite"/>
                <a:ea typeface="+mn-ea"/>
                <a:cs typeface="+mn-cs"/>
              </a:rPr>
              <a:t> </a:t>
            </a:r>
            <a:r>
              <a:rPr kumimoji="0" lang="en-US" sz="2400" b="0" i="0" u="none" strike="noStrike" kern="1200" cap="none" spc="0" normalizeH="0" baseline="0" noProof="0" dirty="0">
                <a:ln>
                  <a:noFill/>
                </a:ln>
                <a:solidFill>
                  <a:prstClr val="black"/>
                </a:solidFill>
                <a:effectLst/>
                <a:uLnTx/>
                <a:uFillTx/>
                <a:latin typeface="Tenorite"/>
                <a:ea typeface="+mn-ea"/>
                <a:cs typeface="+mn-cs"/>
              </a:rPr>
              <a:t>linguistics, psychology, health sciences. Must be explanatory</a:t>
            </a:r>
          </a:p>
          <a:p>
            <a:pPr marL="0" marR="0" lvl="0" indent="0" algn="l" defTabSz="914400" rtl="0" eaLnBrk="1" fontAlgn="auto" latinLnBrk="0" hangingPunct="1">
              <a:lnSpc>
                <a:spcPct val="100000"/>
              </a:lnSpc>
              <a:spcBef>
                <a:spcPts val="0"/>
              </a:spcBef>
              <a:spcAft>
                <a:spcPts val="0"/>
              </a:spcAft>
              <a:buClrTx/>
              <a:buSzTx/>
              <a:buFont typeface="Arial"/>
              <a:buChar char="•"/>
              <a:tabLst/>
              <a:defRPr/>
            </a:pPr>
            <a:endParaRPr kumimoji="0" lang="en-US" sz="2400" b="0" i="0" u="none" strike="noStrike" kern="1200" cap="none" spc="0" normalizeH="0" baseline="0" noProof="0" dirty="0">
              <a:ln>
                <a:noFill/>
              </a:ln>
              <a:solidFill>
                <a:prstClr val="black"/>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Tenorite"/>
                <a:ea typeface="+mn-ea"/>
                <a:cs typeface="+mn-cs"/>
              </a:rPr>
              <a:t>Embed models into back-end system</a:t>
            </a:r>
          </a:p>
          <a:p>
            <a:pPr marL="0" marR="0" lvl="0" indent="0" algn="l" defTabSz="914400" rtl="0" eaLnBrk="1" fontAlgn="auto" latinLnBrk="0" hangingPunct="1">
              <a:lnSpc>
                <a:spcPct val="100000"/>
              </a:lnSpc>
              <a:spcBef>
                <a:spcPts val="0"/>
              </a:spcBef>
              <a:spcAft>
                <a:spcPts val="0"/>
              </a:spcAft>
              <a:buClrTx/>
              <a:buSzTx/>
              <a:tabLst/>
              <a:defRPr/>
            </a:pPr>
            <a:endParaRPr kumimoji="0" lang="en-US" sz="2400" b="0" i="0" u="none" strike="noStrike" kern="1200" cap="none" spc="0" normalizeH="0" baseline="0" noProof="0" dirty="0">
              <a:ln>
                <a:noFill/>
              </a:ln>
              <a:solidFill>
                <a:prstClr val="black"/>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Tenorite"/>
                <a:ea typeface="+mn-ea"/>
                <a:cs typeface="+mn-cs"/>
              </a:rPr>
              <a:t>Evaluation:</a:t>
            </a:r>
          </a:p>
          <a:p>
            <a:pPr marL="457200" marR="0" lvl="1" indent="0" algn="l" defTabSz="914400" rtl="0" eaLnBrk="1" fontAlgn="auto" latinLnBrk="0" hangingPunct="1">
              <a:lnSpc>
                <a:spcPct val="10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prstClr val="black"/>
                </a:solidFill>
                <a:effectLst/>
                <a:uLnTx/>
                <a:uFillTx/>
                <a:latin typeface="Tenorite"/>
                <a:ea typeface="+mn-ea"/>
                <a:cs typeface="+mn-cs"/>
              </a:rPr>
              <a:t> intrinsic for the algorithms</a:t>
            </a:r>
          </a:p>
          <a:p>
            <a:pPr marL="457200" marR="0" lvl="1" indent="0" algn="l" defTabSz="914400" rtl="0" eaLnBrk="1" fontAlgn="auto" latinLnBrk="0" hangingPunct="1">
              <a:lnSpc>
                <a:spcPct val="100000"/>
              </a:lnSpc>
              <a:spcBef>
                <a:spcPts val="0"/>
              </a:spcBef>
              <a:spcAft>
                <a:spcPts val="0"/>
              </a:spcAft>
              <a:buClrTx/>
              <a:buSzTx/>
              <a:buFont typeface="Wingdings" charset="2"/>
              <a:buChar char="v"/>
              <a:tabLst/>
              <a:defRPr/>
            </a:pPr>
            <a:r>
              <a:rPr kumimoji="0" lang="en-US" sz="2400" b="0" i="0" u="none" strike="noStrike" kern="1200" cap="none" spc="0" normalizeH="0" baseline="0" noProof="0" dirty="0">
                <a:ln>
                  <a:noFill/>
                </a:ln>
                <a:solidFill>
                  <a:srgbClr val="00B050"/>
                </a:solidFill>
                <a:effectLst/>
                <a:uLnTx/>
                <a:uFillTx/>
                <a:latin typeface="Tenorite"/>
                <a:ea typeface="+mn-ea"/>
                <a:cs typeface="+mn-cs"/>
              </a:rPr>
              <a:t>extrinsic, with actual users (HCI)</a:t>
            </a:r>
            <a:endParaRPr kumimoji="0" lang="en-IT" sz="2400" b="0" i="0" u="none" strike="noStrike" kern="1200" cap="none" spc="0" normalizeH="0" baseline="0" noProof="0" dirty="0">
              <a:ln>
                <a:noFill/>
              </a:ln>
              <a:solidFill>
                <a:srgbClr val="00B050"/>
              </a:solidFill>
              <a:effectLst/>
              <a:uLnTx/>
              <a:uFillTx/>
              <a:latin typeface="Tenorite"/>
              <a:ea typeface="+mn-ea"/>
              <a:cs typeface="+mn-cs"/>
            </a:endParaRPr>
          </a:p>
        </p:txBody>
      </p:sp>
      <p:pic>
        <p:nvPicPr>
          <p:cNvPr id="11" name="Picture 10">
            <a:extLst>
              <a:ext uri="{FF2B5EF4-FFF2-40B4-BE49-F238E27FC236}">
                <a16:creationId xmlns:a16="http://schemas.microsoft.com/office/drawing/2014/main" id="{DBC4E6C8-3E99-AB93-8BB2-1DD38044CD6B}"/>
              </a:ext>
            </a:extLst>
          </p:cNvPr>
          <p:cNvPicPr>
            <a:picLocks noChangeAspect="1"/>
          </p:cNvPicPr>
          <p:nvPr/>
        </p:nvPicPr>
        <p:blipFill>
          <a:blip r:embed="rId3"/>
          <a:stretch>
            <a:fillRect/>
          </a:stretch>
        </p:blipFill>
        <p:spPr>
          <a:xfrm>
            <a:off x="8350680" y="281290"/>
            <a:ext cx="3700334" cy="2462484"/>
          </a:xfrm>
          <a:prstGeom prst="rect">
            <a:avLst/>
          </a:prstGeom>
        </p:spPr>
      </p:pic>
      <p:pic>
        <p:nvPicPr>
          <p:cNvPr id="15" name="Picture 14">
            <a:extLst>
              <a:ext uri="{FF2B5EF4-FFF2-40B4-BE49-F238E27FC236}">
                <a16:creationId xmlns:a16="http://schemas.microsoft.com/office/drawing/2014/main" id="{4C50C15B-A5BD-C1E8-6BE7-DADE51935F09}"/>
              </a:ext>
            </a:extLst>
          </p:cNvPr>
          <p:cNvPicPr>
            <a:picLocks noChangeAspect="1"/>
          </p:cNvPicPr>
          <p:nvPr/>
        </p:nvPicPr>
        <p:blipFill>
          <a:blip r:embed="rId4"/>
          <a:srcRect/>
          <a:stretch/>
        </p:blipFill>
        <p:spPr>
          <a:xfrm>
            <a:off x="8094410" y="2943432"/>
            <a:ext cx="2347226" cy="3554937"/>
          </a:xfrm>
          <a:prstGeom prst="rect">
            <a:avLst/>
          </a:prstGeom>
        </p:spPr>
      </p:pic>
    </p:spTree>
    <p:extLst>
      <p:ext uri="{BB962C8B-B14F-4D97-AF65-F5344CB8AC3E}">
        <p14:creationId xmlns:p14="http://schemas.microsoft.com/office/powerpoint/2010/main" val="1058119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4F33B-8A31-2F31-3626-B25052EC4219}"/>
              </a:ext>
            </a:extLst>
          </p:cNvPr>
          <p:cNvSpPr>
            <a:spLocks noGrp="1"/>
          </p:cNvSpPr>
          <p:nvPr>
            <p:ph type="title"/>
          </p:nvPr>
        </p:nvSpPr>
        <p:spPr/>
        <p:txBody>
          <a:bodyPr/>
          <a:lstStyle/>
          <a:p>
            <a:r>
              <a:rPr lang="en-IT" dirty="0">
                <a:solidFill>
                  <a:schemeClr val="accent1">
                    <a:lumMod val="75000"/>
                  </a:schemeClr>
                </a:solidFill>
              </a:rPr>
              <a:t>Biomedical / healthcare NLP: non proprio una nuova idea …</a:t>
            </a:r>
          </a:p>
        </p:txBody>
      </p:sp>
      <p:sp>
        <p:nvSpPr>
          <p:cNvPr id="3" name="Text Placeholder 2">
            <a:extLst>
              <a:ext uri="{FF2B5EF4-FFF2-40B4-BE49-F238E27FC236}">
                <a16:creationId xmlns:a16="http://schemas.microsoft.com/office/drawing/2014/main" id="{45BF526B-AD0C-A8D8-20B5-F264F7BCCC42}"/>
              </a:ext>
            </a:extLst>
          </p:cNvPr>
          <p:cNvSpPr>
            <a:spLocks noGrp="1"/>
          </p:cNvSpPr>
          <p:nvPr>
            <p:ph type="body" idx="1"/>
          </p:nvPr>
        </p:nvSpPr>
        <p:spPr>
          <a:xfrm>
            <a:off x="415600" y="1536633"/>
            <a:ext cx="3790640" cy="1453993"/>
          </a:xfrm>
        </p:spPr>
        <p:txBody>
          <a:bodyPr>
            <a:normAutofit/>
          </a:bodyPr>
          <a:lstStyle/>
          <a:p>
            <a:pPr marL="152396" indent="0">
              <a:buNone/>
            </a:pPr>
            <a:r>
              <a:rPr lang="en-IT" sz="2800" dirty="0">
                <a:solidFill>
                  <a:srgbClr val="00B050"/>
                </a:solidFill>
              </a:rPr>
              <a:t>Eliza</a:t>
            </a:r>
          </a:p>
          <a:p>
            <a:pPr marL="152396" indent="0">
              <a:buNone/>
            </a:pPr>
            <a:r>
              <a:rPr lang="en-IT" sz="2800" dirty="0"/>
              <a:t>(Weizenbaum </a:t>
            </a:r>
            <a:r>
              <a:rPr lang="en-IT" sz="2800" u="sng" dirty="0"/>
              <a:t>1966</a:t>
            </a:r>
            <a:r>
              <a:rPr lang="en-IT" sz="2800" dirty="0"/>
              <a:t>)</a:t>
            </a:r>
          </a:p>
        </p:txBody>
      </p:sp>
      <p:pic>
        <p:nvPicPr>
          <p:cNvPr id="5" name="Picture 4">
            <a:extLst>
              <a:ext uri="{FF2B5EF4-FFF2-40B4-BE49-F238E27FC236}">
                <a16:creationId xmlns:a16="http://schemas.microsoft.com/office/drawing/2014/main" id="{F2D1118B-CDEC-F2AC-111A-E04651362D56}"/>
              </a:ext>
            </a:extLst>
          </p:cNvPr>
          <p:cNvPicPr>
            <a:picLocks noChangeAspect="1"/>
          </p:cNvPicPr>
          <p:nvPr/>
        </p:nvPicPr>
        <p:blipFill>
          <a:blip r:embed="rId3"/>
          <a:stretch>
            <a:fillRect/>
          </a:stretch>
        </p:blipFill>
        <p:spPr>
          <a:xfrm>
            <a:off x="4419600" y="1433830"/>
            <a:ext cx="7772400" cy="5040158"/>
          </a:xfrm>
          <a:prstGeom prst="rect">
            <a:avLst/>
          </a:prstGeom>
        </p:spPr>
      </p:pic>
    </p:spTree>
    <p:extLst>
      <p:ext uri="{BB962C8B-B14F-4D97-AF65-F5344CB8AC3E}">
        <p14:creationId xmlns:p14="http://schemas.microsoft.com/office/powerpoint/2010/main" val="4159249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2CD4-732A-43E4-BCB9-CBA2055E0AC6}"/>
              </a:ext>
            </a:extLst>
          </p:cNvPr>
          <p:cNvSpPr>
            <a:spLocks noGrp="1"/>
          </p:cNvSpPr>
          <p:nvPr>
            <p:ph type="title"/>
          </p:nvPr>
        </p:nvSpPr>
        <p:spPr/>
        <p:txBody>
          <a:bodyPr/>
          <a:lstStyle/>
          <a:p>
            <a:r>
              <a:rPr lang="en-US" b="1" dirty="0">
                <a:solidFill>
                  <a:srgbClr val="3C78D8"/>
                </a:solidFill>
                <a:latin typeface="Arial"/>
                <a:cs typeface="Arial"/>
              </a:rPr>
              <a:t>Why Biomedical NLP?</a:t>
            </a:r>
            <a:endParaRPr lang="en-US" dirty="0"/>
          </a:p>
          <a:p>
            <a:r>
              <a:rPr lang="en-US" dirty="0"/>
              <a:t>​</a:t>
            </a:r>
          </a:p>
        </p:txBody>
      </p:sp>
      <p:sp>
        <p:nvSpPr>
          <p:cNvPr id="6" name="Slide Number Placeholder 5">
            <a:extLst>
              <a:ext uri="{FF2B5EF4-FFF2-40B4-BE49-F238E27FC236}">
                <a16:creationId xmlns:a16="http://schemas.microsoft.com/office/drawing/2014/main" id="{F2A39FA3-9AE3-4689-A469-B7D2DFCCC2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FD55-3C28-40EF-9E31-A92D2E4017FF}" type="slidenum">
              <a:rPr kumimoji="0" lang="en-US" sz="900" b="0" i="0" u="none" strike="noStrike" kern="1200" cap="none" spc="0" normalizeH="0" baseline="0" noProof="0" smtClean="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prstClr val="black">
                  <a:tint val="75000"/>
                </a:prstClr>
              </a:solidFill>
              <a:effectLst/>
              <a:uLnTx/>
              <a:uFillTx/>
              <a:latin typeface="Tenorite"/>
              <a:ea typeface="+mn-ea"/>
              <a:cs typeface="+mn-cs"/>
            </a:endParaRPr>
          </a:p>
        </p:txBody>
      </p:sp>
      <p:pic>
        <p:nvPicPr>
          <p:cNvPr id="4" name="Google Shape;526;p82">
            <a:extLst>
              <a:ext uri="{FF2B5EF4-FFF2-40B4-BE49-F238E27FC236}">
                <a16:creationId xmlns:a16="http://schemas.microsoft.com/office/drawing/2014/main" id="{23ADC303-85A3-26B5-2FBD-2C8C03AF44BC}"/>
              </a:ext>
            </a:extLst>
          </p:cNvPr>
          <p:cNvPicPr preferRelativeResize="0"/>
          <p:nvPr/>
        </p:nvPicPr>
        <p:blipFill>
          <a:blip r:embed="rId3">
            <a:alphaModFix/>
          </a:blip>
          <a:stretch>
            <a:fillRect/>
          </a:stretch>
        </p:blipFill>
        <p:spPr>
          <a:xfrm>
            <a:off x="203200" y="2123534"/>
            <a:ext cx="2054168" cy="2905668"/>
          </a:xfrm>
          <a:prstGeom prst="rect">
            <a:avLst/>
          </a:prstGeom>
          <a:noFill/>
          <a:ln w="9525" cap="flat" cmpd="sng">
            <a:solidFill>
              <a:schemeClr val="dk2"/>
            </a:solidFill>
            <a:prstDash val="solid"/>
            <a:round/>
            <a:headEnd type="none" w="sm" len="sm"/>
            <a:tailEnd type="none" w="sm" len="sm"/>
          </a:ln>
        </p:spPr>
      </p:pic>
      <p:pic>
        <p:nvPicPr>
          <p:cNvPr id="7" name="Google Shape;527;p82" descr="A picture containing text, newspaper, screenshot&#10;&#10;Description automatically generated">
            <a:extLst>
              <a:ext uri="{FF2B5EF4-FFF2-40B4-BE49-F238E27FC236}">
                <a16:creationId xmlns:a16="http://schemas.microsoft.com/office/drawing/2014/main" id="{1789B0FF-6D9F-B6FF-4235-7460E39DAD41}"/>
              </a:ext>
            </a:extLst>
          </p:cNvPr>
          <p:cNvPicPr preferRelativeResize="0"/>
          <p:nvPr/>
        </p:nvPicPr>
        <p:blipFill>
          <a:blip r:embed="rId4">
            <a:alphaModFix/>
          </a:blip>
          <a:stretch>
            <a:fillRect/>
          </a:stretch>
        </p:blipFill>
        <p:spPr>
          <a:xfrm>
            <a:off x="692134" y="1994133"/>
            <a:ext cx="2180729" cy="2905667"/>
          </a:xfrm>
          <a:prstGeom prst="rect">
            <a:avLst/>
          </a:prstGeom>
          <a:noFill/>
          <a:ln w="9525" cap="flat" cmpd="sng">
            <a:solidFill>
              <a:schemeClr val="dk2"/>
            </a:solidFill>
            <a:prstDash val="solid"/>
            <a:round/>
            <a:headEnd type="none" w="sm" len="sm"/>
            <a:tailEnd type="none" w="sm" len="sm"/>
          </a:ln>
        </p:spPr>
      </p:pic>
      <p:pic>
        <p:nvPicPr>
          <p:cNvPr id="9" name="Google Shape;528;p82">
            <a:extLst>
              <a:ext uri="{FF2B5EF4-FFF2-40B4-BE49-F238E27FC236}">
                <a16:creationId xmlns:a16="http://schemas.microsoft.com/office/drawing/2014/main" id="{0F440F80-D8F2-5C5D-5C3D-A7F9D4C57028}"/>
              </a:ext>
            </a:extLst>
          </p:cNvPr>
          <p:cNvPicPr preferRelativeResize="0"/>
          <p:nvPr/>
        </p:nvPicPr>
        <p:blipFill>
          <a:blip r:embed="rId5">
            <a:alphaModFix/>
          </a:blip>
          <a:stretch>
            <a:fillRect/>
          </a:stretch>
        </p:blipFill>
        <p:spPr>
          <a:xfrm>
            <a:off x="1323033" y="1701801"/>
            <a:ext cx="2354152" cy="3096401"/>
          </a:xfrm>
          <a:prstGeom prst="rect">
            <a:avLst/>
          </a:prstGeom>
          <a:noFill/>
          <a:ln w="9525" cap="flat" cmpd="sng">
            <a:solidFill>
              <a:schemeClr val="dk2"/>
            </a:solidFill>
            <a:prstDash val="solid"/>
            <a:round/>
            <a:headEnd type="none" w="sm" len="sm"/>
            <a:tailEnd type="none" w="sm" len="sm"/>
          </a:ln>
        </p:spPr>
      </p:pic>
      <p:sp>
        <p:nvSpPr>
          <p:cNvPr id="11" name="Google Shape;529;p82">
            <a:extLst>
              <a:ext uri="{FF2B5EF4-FFF2-40B4-BE49-F238E27FC236}">
                <a16:creationId xmlns:a16="http://schemas.microsoft.com/office/drawing/2014/main" id="{81BA172A-F5D6-C384-60B0-055BAE2E0EEC}"/>
              </a:ext>
            </a:extLst>
          </p:cNvPr>
          <p:cNvSpPr txBox="1"/>
          <p:nvPr/>
        </p:nvSpPr>
        <p:spPr>
          <a:xfrm>
            <a:off x="1232668" y="1115377"/>
            <a:ext cx="2354000" cy="574412"/>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00" b="1" i="0" u="none" strike="noStrike" kern="1200" cap="none" spc="0" normalizeH="0" baseline="0" noProof="0">
                <a:ln>
                  <a:noFill/>
                </a:ln>
                <a:solidFill>
                  <a:prstClr val="black"/>
                </a:solidFill>
                <a:effectLst/>
                <a:uLnTx/>
                <a:uFillTx/>
                <a:latin typeface="Tenorite"/>
                <a:ea typeface="+mn-ea"/>
                <a:cs typeface="+mn-cs"/>
              </a:rPr>
              <a:t>PubMed</a:t>
            </a:r>
            <a:endParaRPr kumimoji="0" sz="2133" b="1" i="0" u="none" strike="noStrike" kern="1200" cap="none" spc="0" normalizeH="0" baseline="0" noProof="0">
              <a:ln>
                <a:noFill/>
              </a:ln>
              <a:solidFill>
                <a:prstClr val="black"/>
              </a:solidFill>
              <a:effectLst/>
              <a:uLnTx/>
              <a:uFillTx/>
              <a:latin typeface="Tenorite"/>
              <a:ea typeface="+mn-ea"/>
              <a:cs typeface="+mn-cs"/>
            </a:endParaRPr>
          </a:p>
        </p:txBody>
      </p:sp>
      <p:pic>
        <p:nvPicPr>
          <p:cNvPr id="13" name="Google Shape;530;p82" descr="Table&#10;&#10;Description automatically generated">
            <a:extLst>
              <a:ext uri="{FF2B5EF4-FFF2-40B4-BE49-F238E27FC236}">
                <a16:creationId xmlns:a16="http://schemas.microsoft.com/office/drawing/2014/main" id="{92F3DCD0-0EBA-A4C5-FB6D-2E6CF4060BA6}"/>
              </a:ext>
            </a:extLst>
          </p:cNvPr>
          <p:cNvPicPr preferRelativeResize="0"/>
          <p:nvPr/>
        </p:nvPicPr>
        <p:blipFill>
          <a:blip r:embed="rId6">
            <a:alphaModFix/>
          </a:blip>
          <a:stretch>
            <a:fillRect/>
          </a:stretch>
        </p:blipFill>
        <p:spPr>
          <a:xfrm>
            <a:off x="4218567" y="4683034"/>
            <a:ext cx="3257765" cy="2034901"/>
          </a:xfrm>
          <a:prstGeom prst="rect">
            <a:avLst/>
          </a:prstGeom>
          <a:noFill/>
          <a:ln w="9525" cap="flat" cmpd="sng">
            <a:solidFill>
              <a:schemeClr val="dk2"/>
            </a:solidFill>
            <a:prstDash val="solid"/>
            <a:round/>
            <a:headEnd type="none" w="sm" len="sm"/>
            <a:tailEnd type="none" w="sm" len="sm"/>
          </a:ln>
        </p:spPr>
      </p:pic>
      <p:sp>
        <p:nvSpPr>
          <p:cNvPr id="15" name="Google Shape;531;p82">
            <a:extLst>
              <a:ext uri="{FF2B5EF4-FFF2-40B4-BE49-F238E27FC236}">
                <a16:creationId xmlns:a16="http://schemas.microsoft.com/office/drawing/2014/main" id="{E32D700B-4428-B0F6-FE17-4D8C4A912DC5}"/>
              </a:ext>
            </a:extLst>
          </p:cNvPr>
          <p:cNvSpPr txBox="1"/>
          <p:nvPr/>
        </p:nvSpPr>
        <p:spPr>
          <a:xfrm>
            <a:off x="790867" y="5682867"/>
            <a:ext cx="3033600" cy="574412"/>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33" b="1" i="0" u="none" strike="noStrike" kern="1200" cap="none" spc="0" normalizeH="0" baseline="0" noProof="0">
                <a:ln>
                  <a:noFill/>
                </a:ln>
                <a:solidFill>
                  <a:prstClr val="black"/>
                </a:solidFill>
                <a:effectLst/>
                <a:uLnTx/>
                <a:uFillTx/>
                <a:latin typeface="Tenorite"/>
                <a:ea typeface="+mn-ea"/>
                <a:cs typeface="+mn-cs"/>
              </a:rPr>
              <a:t>Experimental Results</a:t>
            </a:r>
            <a:endParaRPr kumimoji="0" sz="2133" b="1" i="0" u="none" strike="noStrike" kern="1200" cap="none" spc="0" normalizeH="0" baseline="0" noProof="0">
              <a:ln>
                <a:noFill/>
              </a:ln>
              <a:solidFill>
                <a:prstClr val="black"/>
              </a:solidFill>
              <a:effectLst/>
              <a:uLnTx/>
              <a:uFillTx/>
              <a:latin typeface="Tenorite"/>
              <a:ea typeface="+mn-ea"/>
              <a:cs typeface="+mn-cs"/>
            </a:endParaRPr>
          </a:p>
        </p:txBody>
      </p:sp>
      <p:cxnSp>
        <p:nvCxnSpPr>
          <p:cNvPr id="17" name="Google Shape;532;p82">
            <a:extLst>
              <a:ext uri="{FF2B5EF4-FFF2-40B4-BE49-F238E27FC236}">
                <a16:creationId xmlns:a16="http://schemas.microsoft.com/office/drawing/2014/main" id="{8BFBB96E-BBCE-CB7A-D539-990E0A247BB6}"/>
              </a:ext>
            </a:extLst>
          </p:cNvPr>
          <p:cNvCxnSpPr/>
          <p:nvPr/>
        </p:nvCxnSpPr>
        <p:spPr>
          <a:xfrm rot="16200000" flipH="1">
            <a:off x="2908109" y="4390201"/>
            <a:ext cx="902400" cy="1718400"/>
          </a:xfrm>
          <a:prstGeom prst="bentConnector2">
            <a:avLst/>
          </a:prstGeom>
          <a:noFill/>
          <a:ln w="19050" cap="flat" cmpd="sng">
            <a:solidFill>
              <a:schemeClr val="dk2"/>
            </a:solidFill>
            <a:prstDash val="solid"/>
            <a:round/>
            <a:headEnd type="stealth" w="med" len="med"/>
            <a:tailEnd type="none" w="med" len="med"/>
          </a:ln>
        </p:spPr>
      </p:cxnSp>
      <p:pic>
        <p:nvPicPr>
          <p:cNvPr id="19" name="Google Shape;533;p82" descr="Diagram&#10;&#10;Description automatically generated">
            <a:extLst>
              <a:ext uri="{FF2B5EF4-FFF2-40B4-BE49-F238E27FC236}">
                <a16:creationId xmlns:a16="http://schemas.microsoft.com/office/drawing/2014/main" id="{33AA08F5-ADCE-B88D-42BD-DB6F4FEB01D2}"/>
              </a:ext>
            </a:extLst>
          </p:cNvPr>
          <p:cNvPicPr preferRelativeResize="0"/>
          <p:nvPr/>
        </p:nvPicPr>
        <p:blipFill>
          <a:blip r:embed="rId7">
            <a:alphaModFix/>
          </a:blip>
          <a:stretch>
            <a:fillRect/>
          </a:stretch>
        </p:blipFill>
        <p:spPr>
          <a:xfrm>
            <a:off x="4829300" y="1597501"/>
            <a:ext cx="3679171" cy="2396500"/>
          </a:xfrm>
          <a:prstGeom prst="rect">
            <a:avLst/>
          </a:prstGeom>
          <a:noFill/>
          <a:ln>
            <a:noFill/>
          </a:ln>
        </p:spPr>
      </p:pic>
      <p:sp>
        <p:nvSpPr>
          <p:cNvPr id="21" name="Google Shape;534;p82">
            <a:extLst>
              <a:ext uri="{FF2B5EF4-FFF2-40B4-BE49-F238E27FC236}">
                <a16:creationId xmlns:a16="http://schemas.microsoft.com/office/drawing/2014/main" id="{2ACEC353-08B0-0E60-298C-DC857AD74984}"/>
              </a:ext>
            </a:extLst>
          </p:cNvPr>
          <p:cNvSpPr txBox="1"/>
          <p:nvPr/>
        </p:nvSpPr>
        <p:spPr>
          <a:xfrm>
            <a:off x="5803767" y="3850233"/>
            <a:ext cx="2544800" cy="635968"/>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0" i="0" u="none" strike="noStrike" kern="1200" cap="none" spc="0" normalizeH="0" baseline="0" noProof="0">
                <a:ln>
                  <a:noFill/>
                </a:ln>
                <a:solidFill>
                  <a:prstClr val="black"/>
                </a:solidFill>
                <a:effectLst/>
                <a:uLnTx/>
                <a:uFillTx/>
                <a:latin typeface="Tenorite"/>
                <a:ea typeface="+mn-ea"/>
                <a:cs typeface="+mn-cs"/>
              </a:rPr>
              <a:t>Expert Curation</a:t>
            </a:r>
            <a:endParaRPr kumimoji="0" sz="2533" b="0" i="0" u="none" strike="noStrike" kern="1200" cap="none" spc="0" normalizeH="0" baseline="0" noProof="0">
              <a:ln>
                <a:noFill/>
              </a:ln>
              <a:solidFill>
                <a:prstClr val="black"/>
              </a:solidFill>
              <a:effectLst/>
              <a:uLnTx/>
              <a:uFillTx/>
              <a:latin typeface="Tenorite"/>
              <a:ea typeface="+mn-ea"/>
              <a:cs typeface="+mn-cs"/>
            </a:endParaRPr>
          </a:p>
        </p:txBody>
      </p:sp>
      <p:sp>
        <p:nvSpPr>
          <p:cNvPr id="23" name="Google Shape;535;p82">
            <a:extLst>
              <a:ext uri="{FF2B5EF4-FFF2-40B4-BE49-F238E27FC236}">
                <a16:creationId xmlns:a16="http://schemas.microsoft.com/office/drawing/2014/main" id="{28882670-D407-595C-43F5-C1BDBD8C420B}"/>
              </a:ext>
            </a:extLst>
          </p:cNvPr>
          <p:cNvSpPr txBox="1"/>
          <p:nvPr/>
        </p:nvSpPr>
        <p:spPr>
          <a:xfrm>
            <a:off x="5794370" y="1084485"/>
            <a:ext cx="2354000" cy="574412"/>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33" b="1" i="0" u="none" strike="noStrike" kern="1200" cap="none" spc="0" normalizeH="0" baseline="0" noProof="0">
                <a:ln>
                  <a:noFill/>
                </a:ln>
                <a:solidFill>
                  <a:prstClr val="black"/>
                </a:solidFill>
                <a:effectLst/>
                <a:uLnTx/>
                <a:uFillTx/>
                <a:latin typeface="Tenorite"/>
                <a:ea typeface="+mn-ea"/>
                <a:cs typeface="+mn-cs"/>
              </a:rPr>
              <a:t>Ontologies</a:t>
            </a:r>
            <a:endParaRPr kumimoji="0" sz="2133" b="1" i="0" u="none" strike="noStrike" kern="1200" cap="none" spc="0" normalizeH="0" baseline="0" noProof="0">
              <a:ln>
                <a:noFill/>
              </a:ln>
              <a:solidFill>
                <a:prstClr val="black"/>
              </a:solidFill>
              <a:effectLst/>
              <a:uLnTx/>
              <a:uFillTx/>
              <a:latin typeface="Tenorite"/>
              <a:ea typeface="+mn-ea"/>
              <a:cs typeface="+mn-cs"/>
            </a:endParaRPr>
          </a:p>
        </p:txBody>
      </p:sp>
      <p:pic>
        <p:nvPicPr>
          <p:cNvPr id="25" name="Google Shape;536;p82" descr="A picture containing clipart&#10;&#10;Description automatically generated">
            <a:extLst>
              <a:ext uri="{FF2B5EF4-FFF2-40B4-BE49-F238E27FC236}">
                <a16:creationId xmlns:a16="http://schemas.microsoft.com/office/drawing/2014/main" id="{D9280D5A-C3D1-4BE2-B0CA-2183704FC4FF}"/>
              </a:ext>
            </a:extLst>
          </p:cNvPr>
          <p:cNvPicPr preferRelativeResize="0"/>
          <p:nvPr/>
        </p:nvPicPr>
        <p:blipFill>
          <a:blip r:embed="rId8">
            <a:alphaModFix/>
          </a:blip>
          <a:stretch>
            <a:fillRect/>
          </a:stretch>
        </p:blipFill>
        <p:spPr>
          <a:xfrm>
            <a:off x="9054801" y="2080634"/>
            <a:ext cx="1227033" cy="1227033"/>
          </a:xfrm>
          <a:prstGeom prst="rect">
            <a:avLst/>
          </a:prstGeom>
          <a:noFill/>
          <a:ln>
            <a:noFill/>
          </a:ln>
        </p:spPr>
      </p:pic>
      <p:sp>
        <p:nvSpPr>
          <p:cNvPr id="27" name="Google Shape;537;p82">
            <a:extLst>
              <a:ext uri="{FF2B5EF4-FFF2-40B4-BE49-F238E27FC236}">
                <a16:creationId xmlns:a16="http://schemas.microsoft.com/office/drawing/2014/main" id="{0F5A80DF-30B9-386C-0B81-1243F476191A}"/>
              </a:ext>
            </a:extLst>
          </p:cNvPr>
          <p:cNvSpPr txBox="1"/>
          <p:nvPr/>
        </p:nvSpPr>
        <p:spPr>
          <a:xfrm>
            <a:off x="10281833" y="2080634"/>
            <a:ext cx="1718400" cy="1415540"/>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1" i="0" u="none" strike="noStrike" kern="1200" cap="none" spc="0" normalizeH="0" baseline="0" noProof="0" dirty="0" err="1">
                <a:ln>
                  <a:noFill/>
                </a:ln>
                <a:solidFill>
                  <a:prstClr val="black"/>
                </a:solidFill>
                <a:effectLst/>
                <a:uLnTx/>
                <a:uFillTx/>
                <a:latin typeface="Tenorite"/>
                <a:ea typeface="+mn-ea"/>
                <a:cs typeface="+mn-cs"/>
              </a:rPr>
              <a:t>UniProt</a:t>
            </a:r>
            <a:endParaRPr kumimoji="0" sz="2533" b="1" i="0" u="none" strike="noStrike" kern="1200" cap="none" spc="0" normalizeH="0" baseline="0" noProof="0" dirty="0">
              <a:ln>
                <a:noFill/>
              </a:ln>
              <a:solidFill>
                <a:prstClr val="black"/>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1" i="0" u="none" strike="noStrike" kern="1200" cap="none" spc="0" normalizeH="0" baseline="0" noProof="0" dirty="0">
                <a:ln>
                  <a:noFill/>
                </a:ln>
                <a:solidFill>
                  <a:prstClr val="black"/>
                </a:solidFill>
                <a:effectLst/>
                <a:uLnTx/>
                <a:uFillTx/>
                <a:latin typeface="Tenorite"/>
                <a:ea typeface="+mn-ea"/>
                <a:cs typeface="+mn-cs"/>
              </a:rPr>
              <a:t>GenBank</a:t>
            </a:r>
            <a:endParaRPr kumimoji="0" sz="2533" b="1" i="0" u="none" strike="noStrike" kern="1200" cap="none" spc="0" normalizeH="0" baseline="0" noProof="0" dirty="0">
              <a:ln>
                <a:noFill/>
              </a:ln>
              <a:solidFill>
                <a:prstClr val="black"/>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1" i="0" u="none" strike="noStrike" kern="1200" cap="none" spc="0" normalizeH="0" baseline="0" noProof="0" dirty="0">
                <a:ln>
                  <a:noFill/>
                </a:ln>
                <a:solidFill>
                  <a:prstClr val="black"/>
                </a:solidFill>
                <a:effectLst/>
                <a:uLnTx/>
                <a:uFillTx/>
                <a:latin typeface="Tenorite"/>
                <a:ea typeface="+mn-ea"/>
                <a:cs typeface="+mn-cs"/>
              </a:rPr>
              <a:t>Protein DB</a:t>
            </a:r>
            <a:endParaRPr kumimoji="0" sz="2533" b="1" i="0" u="none" strike="noStrike" kern="1200" cap="none" spc="0" normalizeH="0" baseline="0" noProof="0" dirty="0">
              <a:ln>
                <a:noFill/>
              </a:ln>
              <a:solidFill>
                <a:prstClr val="black"/>
              </a:solidFill>
              <a:effectLst/>
              <a:uLnTx/>
              <a:uFillTx/>
              <a:latin typeface="Tenorite"/>
              <a:ea typeface="+mn-ea"/>
              <a:cs typeface="+mn-cs"/>
            </a:endParaRPr>
          </a:p>
        </p:txBody>
      </p:sp>
      <p:sp>
        <p:nvSpPr>
          <p:cNvPr id="29" name="Google Shape;538;p82">
            <a:extLst>
              <a:ext uri="{FF2B5EF4-FFF2-40B4-BE49-F238E27FC236}">
                <a16:creationId xmlns:a16="http://schemas.microsoft.com/office/drawing/2014/main" id="{A91EF2A1-B252-6523-35DB-9C857C4F6AAC}"/>
              </a:ext>
            </a:extLst>
          </p:cNvPr>
          <p:cNvSpPr txBox="1"/>
          <p:nvPr/>
        </p:nvSpPr>
        <p:spPr>
          <a:xfrm>
            <a:off x="9178667" y="1419334"/>
            <a:ext cx="2354000" cy="574412"/>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33" b="1" i="0" u="none" strike="noStrike" kern="1200" cap="none" spc="0" normalizeH="0" baseline="0" noProof="0">
                <a:ln>
                  <a:noFill/>
                </a:ln>
                <a:solidFill>
                  <a:prstClr val="black"/>
                </a:solidFill>
                <a:effectLst/>
                <a:uLnTx/>
                <a:uFillTx/>
                <a:latin typeface="Tenorite"/>
                <a:ea typeface="+mn-ea"/>
                <a:cs typeface="+mn-cs"/>
              </a:rPr>
              <a:t>Database</a:t>
            </a:r>
            <a:endParaRPr kumimoji="0" sz="2133" b="1" i="0" u="none" strike="noStrike" kern="1200" cap="none" spc="0" normalizeH="0" baseline="0" noProof="0">
              <a:ln>
                <a:noFill/>
              </a:ln>
              <a:solidFill>
                <a:prstClr val="black"/>
              </a:solidFill>
              <a:effectLst/>
              <a:uLnTx/>
              <a:uFillTx/>
              <a:latin typeface="Tenorite"/>
              <a:ea typeface="+mn-ea"/>
              <a:cs typeface="+mn-cs"/>
            </a:endParaRPr>
          </a:p>
        </p:txBody>
      </p:sp>
      <p:cxnSp>
        <p:nvCxnSpPr>
          <p:cNvPr id="31" name="Google Shape;539;p82">
            <a:extLst>
              <a:ext uri="{FF2B5EF4-FFF2-40B4-BE49-F238E27FC236}">
                <a16:creationId xmlns:a16="http://schemas.microsoft.com/office/drawing/2014/main" id="{EA823F22-B1B2-635C-1FC9-C693BC4650D9}"/>
              </a:ext>
            </a:extLst>
          </p:cNvPr>
          <p:cNvCxnSpPr/>
          <p:nvPr/>
        </p:nvCxnSpPr>
        <p:spPr>
          <a:xfrm rot="10800000" flipH="1">
            <a:off x="3709300" y="2795751"/>
            <a:ext cx="1120000" cy="8800"/>
          </a:xfrm>
          <a:prstGeom prst="straightConnector1">
            <a:avLst/>
          </a:prstGeom>
          <a:noFill/>
          <a:ln w="19050" cap="flat" cmpd="sng">
            <a:solidFill>
              <a:schemeClr val="dk2"/>
            </a:solidFill>
            <a:prstDash val="solid"/>
            <a:round/>
            <a:headEnd type="none" w="med" len="med"/>
            <a:tailEnd type="triangle" w="med" len="med"/>
          </a:ln>
        </p:spPr>
      </p:cxnSp>
      <p:cxnSp>
        <p:nvCxnSpPr>
          <p:cNvPr id="33" name="Google Shape;540;p82">
            <a:extLst>
              <a:ext uri="{FF2B5EF4-FFF2-40B4-BE49-F238E27FC236}">
                <a16:creationId xmlns:a16="http://schemas.microsoft.com/office/drawing/2014/main" id="{271356BD-D1F3-2841-675C-55A132F911ED}"/>
              </a:ext>
            </a:extLst>
          </p:cNvPr>
          <p:cNvCxnSpPr/>
          <p:nvPr/>
        </p:nvCxnSpPr>
        <p:spPr>
          <a:xfrm>
            <a:off x="8508471" y="2795751"/>
            <a:ext cx="588000" cy="0"/>
          </a:xfrm>
          <a:prstGeom prst="straightConnector1">
            <a:avLst/>
          </a:prstGeom>
          <a:noFill/>
          <a:ln w="19050" cap="flat" cmpd="sng">
            <a:solidFill>
              <a:schemeClr val="dk2"/>
            </a:solidFill>
            <a:prstDash val="solid"/>
            <a:round/>
            <a:headEnd type="none" w="med" len="med"/>
            <a:tailEnd type="triangle" w="med" len="med"/>
          </a:ln>
        </p:spPr>
      </p:cxnSp>
      <p:sp>
        <p:nvSpPr>
          <p:cNvPr id="35" name="Google Shape;541;p82">
            <a:extLst>
              <a:ext uri="{FF2B5EF4-FFF2-40B4-BE49-F238E27FC236}">
                <a16:creationId xmlns:a16="http://schemas.microsoft.com/office/drawing/2014/main" id="{D6E72219-2C44-90B5-A354-42B25294E4E2}"/>
              </a:ext>
            </a:extLst>
          </p:cNvPr>
          <p:cNvSpPr txBox="1"/>
          <p:nvPr/>
        </p:nvSpPr>
        <p:spPr>
          <a:xfrm>
            <a:off x="7861867" y="4722301"/>
            <a:ext cx="4539600" cy="2092840"/>
          </a:xfrm>
          <a:prstGeom prst="rect">
            <a:avLst/>
          </a:prstGeom>
          <a:noFill/>
          <a:ln>
            <a:noFill/>
          </a:ln>
        </p:spPr>
        <p:txBody>
          <a:bodyPr spcFirstLastPara="1" wrap="square" lIns="121900" tIns="121900" rIns="121900" bIns="121900" anchor="t" anchorCtr="0">
            <a:spAutoFit/>
          </a:bodyPr>
          <a:lstStyle/>
          <a:p>
            <a:pPr marL="609585" marR="0" lvl="0" indent="-431789" algn="l" defTabSz="914400" rtl="0" eaLnBrk="1" fontAlgn="auto" latinLnBrk="0" hangingPunct="1">
              <a:lnSpc>
                <a:spcPct val="100000"/>
              </a:lnSpc>
              <a:spcBef>
                <a:spcPts val="0"/>
              </a:spcBef>
              <a:spcAft>
                <a:spcPts val="0"/>
              </a:spcAft>
              <a:buClrTx/>
              <a:buSzPts val="1500"/>
              <a:buFontTx/>
              <a:buChar char="●"/>
              <a:tabLst/>
              <a:defRPr/>
            </a:pPr>
            <a:r>
              <a:rPr kumimoji="0" lang="en" sz="2000" b="1" i="0" u="none" strike="noStrike" kern="1200" cap="none" spc="0" normalizeH="0" baseline="0" noProof="0">
                <a:ln>
                  <a:noFill/>
                </a:ln>
                <a:solidFill>
                  <a:prstClr val="black"/>
                </a:solidFill>
                <a:effectLst/>
                <a:uLnTx/>
                <a:uFillTx/>
                <a:latin typeface="Tenorite"/>
                <a:ea typeface="+mn-ea"/>
                <a:cs typeface="+mn-cs"/>
              </a:rPr>
              <a:t>Protein-protein Interactions</a:t>
            </a:r>
            <a:endParaRPr kumimoji="0" sz="2000" b="1" i="0" u="none" strike="noStrike" kern="1200" cap="none" spc="0" normalizeH="0" baseline="0" noProof="0">
              <a:ln>
                <a:noFill/>
              </a:ln>
              <a:solidFill>
                <a:prstClr val="black"/>
              </a:solidFill>
              <a:effectLst/>
              <a:uLnTx/>
              <a:uFillTx/>
              <a:latin typeface="Tenorite"/>
              <a:ea typeface="+mn-ea"/>
              <a:cs typeface="+mn-cs"/>
            </a:endParaRPr>
          </a:p>
          <a:p>
            <a:pPr marL="609585" marR="0" lvl="0" indent="-431789" algn="l" defTabSz="914400" rtl="0" eaLnBrk="1" fontAlgn="auto" latinLnBrk="0" hangingPunct="1">
              <a:lnSpc>
                <a:spcPct val="100000"/>
              </a:lnSpc>
              <a:spcBef>
                <a:spcPts val="0"/>
              </a:spcBef>
              <a:spcAft>
                <a:spcPts val="0"/>
              </a:spcAft>
              <a:buClr>
                <a:prstClr val="black"/>
              </a:buClr>
              <a:buSzPts val="1500"/>
              <a:buFontTx/>
              <a:buChar char="●"/>
              <a:tabLst/>
              <a:defRPr/>
            </a:pPr>
            <a:r>
              <a:rPr kumimoji="0" lang="en" sz="2000" b="1" i="0" u="none" strike="noStrike" kern="1200" cap="none" spc="0" normalizeH="0" baseline="0" noProof="0">
                <a:ln>
                  <a:noFill/>
                </a:ln>
                <a:solidFill>
                  <a:prstClr val="black"/>
                </a:solidFill>
                <a:effectLst/>
                <a:highlight>
                  <a:srgbClr val="FFFFFF"/>
                </a:highlight>
                <a:uLnTx/>
                <a:uFillTx/>
                <a:latin typeface="Tenorite"/>
                <a:ea typeface="+mn-ea"/>
                <a:cs typeface="+mn-cs"/>
              </a:rPr>
              <a:t>Gene-disease Associations</a:t>
            </a:r>
            <a:endParaRPr kumimoji="0" sz="2000" b="1" i="0" u="none" strike="noStrike" kern="1200" cap="none" spc="0" normalizeH="0" baseline="0" noProof="0">
              <a:ln>
                <a:noFill/>
              </a:ln>
              <a:solidFill>
                <a:prstClr val="black"/>
              </a:solidFill>
              <a:effectLst/>
              <a:highlight>
                <a:srgbClr val="FFFFFF"/>
              </a:highlight>
              <a:uLnTx/>
              <a:uFillTx/>
              <a:latin typeface="Tenorite"/>
              <a:ea typeface="+mn-ea"/>
              <a:cs typeface="+mn-cs"/>
            </a:endParaRPr>
          </a:p>
          <a:p>
            <a:pPr marL="609585" marR="0" lvl="0" indent="-431789" algn="l" defTabSz="914400" rtl="0" eaLnBrk="1" fontAlgn="auto" latinLnBrk="0" hangingPunct="1">
              <a:lnSpc>
                <a:spcPct val="100000"/>
              </a:lnSpc>
              <a:spcBef>
                <a:spcPts val="0"/>
              </a:spcBef>
              <a:spcAft>
                <a:spcPts val="0"/>
              </a:spcAft>
              <a:buClr>
                <a:prstClr val="black"/>
              </a:buClr>
              <a:buSzPts val="1500"/>
              <a:buFontTx/>
              <a:buChar char="●"/>
              <a:tabLst/>
              <a:defRPr/>
            </a:pPr>
            <a:r>
              <a:rPr kumimoji="0" lang="en" sz="2000" b="1" i="0" u="none" strike="noStrike" kern="1200" cap="none" spc="0" normalizeH="0" baseline="0" noProof="0">
                <a:ln>
                  <a:noFill/>
                </a:ln>
                <a:solidFill>
                  <a:prstClr val="black"/>
                </a:solidFill>
                <a:effectLst/>
                <a:highlight>
                  <a:srgbClr val="FFFFFF"/>
                </a:highlight>
                <a:uLnTx/>
                <a:uFillTx/>
                <a:latin typeface="Tenorite"/>
                <a:ea typeface="+mn-ea"/>
                <a:cs typeface="+mn-cs"/>
              </a:rPr>
              <a:t>Protein-disease Associations</a:t>
            </a:r>
            <a:endParaRPr kumimoji="0" sz="2000" b="1" i="0" u="none" strike="noStrike" kern="1200" cap="none" spc="0" normalizeH="0" baseline="0" noProof="0">
              <a:ln>
                <a:noFill/>
              </a:ln>
              <a:solidFill>
                <a:prstClr val="black"/>
              </a:solidFill>
              <a:effectLst/>
              <a:highlight>
                <a:srgbClr val="FFFFFF"/>
              </a:highlight>
              <a:uLnTx/>
              <a:uFillTx/>
              <a:latin typeface="Tenorite"/>
              <a:ea typeface="+mn-ea"/>
              <a:cs typeface="+mn-cs"/>
            </a:endParaRPr>
          </a:p>
          <a:p>
            <a:pPr marL="609585" marR="0" lvl="0" indent="-431789" algn="l" defTabSz="914400" rtl="0" eaLnBrk="1" fontAlgn="auto" latinLnBrk="0" hangingPunct="1">
              <a:lnSpc>
                <a:spcPct val="100000"/>
              </a:lnSpc>
              <a:spcBef>
                <a:spcPts val="0"/>
              </a:spcBef>
              <a:spcAft>
                <a:spcPts val="0"/>
              </a:spcAft>
              <a:buClrTx/>
              <a:buSzPts val="1500"/>
              <a:buFontTx/>
              <a:buChar char="●"/>
              <a:tabLst/>
              <a:defRPr/>
            </a:pPr>
            <a:r>
              <a:rPr kumimoji="0" lang="en" sz="2000" b="1" i="0" u="none" strike="noStrike" kern="1200" cap="none" spc="0" normalizeH="0" baseline="0" noProof="0">
                <a:ln>
                  <a:noFill/>
                </a:ln>
                <a:solidFill>
                  <a:prstClr val="black"/>
                </a:solidFill>
                <a:effectLst/>
                <a:uLnTx/>
                <a:uFillTx/>
                <a:latin typeface="Tenorite"/>
                <a:ea typeface="+mn-ea"/>
                <a:cs typeface="+mn-cs"/>
              </a:rPr>
              <a:t>Drug-drug Interactions</a:t>
            </a:r>
            <a:endParaRPr kumimoji="0" sz="2000" b="1" i="0" u="none" strike="noStrike" kern="1200" cap="none" spc="0" normalizeH="0" baseline="0" noProof="0">
              <a:ln>
                <a:noFill/>
              </a:ln>
              <a:solidFill>
                <a:prstClr val="black"/>
              </a:solidFill>
              <a:effectLst/>
              <a:uLnTx/>
              <a:uFillTx/>
              <a:latin typeface="Tenorite"/>
              <a:ea typeface="+mn-ea"/>
              <a:cs typeface="+mn-cs"/>
            </a:endParaRPr>
          </a:p>
          <a:p>
            <a:pPr marL="609585" marR="0" lvl="0" indent="-431789" algn="l" defTabSz="914400" rtl="0" eaLnBrk="1" fontAlgn="auto" latinLnBrk="0" hangingPunct="1">
              <a:lnSpc>
                <a:spcPct val="100000"/>
              </a:lnSpc>
              <a:spcBef>
                <a:spcPts val="0"/>
              </a:spcBef>
              <a:spcAft>
                <a:spcPts val="0"/>
              </a:spcAft>
              <a:buClrTx/>
              <a:buSzPts val="1500"/>
              <a:buFontTx/>
              <a:buChar char="●"/>
              <a:tabLst/>
              <a:defRPr/>
            </a:pPr>
            <a:r>
              <a:rPr kumimoji="0" lang="en" sz="2000" b="1" i="0" u="none" strike="noStrike" kern="1200" cap="none" spc="0" normalizeH="0" baseline="0" noProof="0">
                <a:ln>
                  <a:noFill/>
                </a:ln>
                <a:solidFill>
                  <a:prstClr val="black"/>
                </a:solidFill>
                <a:effectLst/>
                <a:uLnTx/>
                <a:uFillTx/>
                <a:latin typeface="Tenorite"/>
                <a:ea typeface="+mn-ea"/>
                <a:cs typeface="+mn-cs"/>
              </a:rPr>
              <a:t>Drug Discovery</a:t>
            </a:r>
            <a:endParaRPr kumimoji="0" sz="2000" b="1" i="0" u="none" strike="noStrike" kern="1200" cap="none" spc="0" normalizeH="0" baseline="0" noProof="0">
              <a:ln>
                <a:noFill/>
              </a:ln>
              <a:solidFill>
                <a:prstClr val="black"/>
              </a:solidFill>
              <a:effectLst/>
              <a:uLnTx/>
              <a:uFillTx/>
              <a:latin typeface="Tenorite"/>
              <a:ea typeface="+mn-ea"/>
              <a:cs typeface="+mn-cs"/>
            </a:endParaRPr>
          </a:p>
          <a:p>
            <a:pPr marL="609585" marR="0" lvl="0" indent="0" algn="l" defTabSz="914400" rtl="0" eaLnBrk="1" fontAlgn="auto" latinLnBrk="0" hangingPunct="1">
              <a:lnSpc>
                <a:spcPct val="100000"/>
              </a:lnSpc>
              <a:spcBef>
                <a:spcPts val="0"/>
              </a:spcBef>
              <a:spcAft>
                <a:spcPts val="0"/>
              </a:spcAft>
              <a:buClrTx/>
              <a:buSzTx/>
              <a:buFontTx/>
              <a:buNone/>
              <a:tabLst/>
              <a:defRPr/>
            </a:pPr>
            <a:endParaRPr kumimoji="0" sz="2000" b="1"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744379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fade">
                                      <p:cBhvr>
                                        <p:cTn id="6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1" grpId="0"/>
      <p:bldP spid="23" grpId="0"/>
      <p:bldP spid="27" grpId="0"/>
      <p:bldP spid="29"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2" name="Title 1">
            <a:extLst>
              <a:ext uri="{FF2B5EF4-FFF2-40B4-BE49-F238E27FC236}">
                <a16:creationId xmlns:a16="http://schemas.microsoft.com/office/drawing/2014/main" id="{439024A7-6722-6AD9-40F7-17B6D78F98AF}"/>
              </a:ext>
            </a:extLst>
          </p:cNvPr>
          <p:cNvSpPr>
            <a:spLocks noGrp="1"/>
          </p:cNvSpPr>
          <p:nvPr>
            <p:ph type="title"/>
          </p:nvPr>
        </p:nvSpPr>
        <p:spPr>
          <a:xfrm>
            <a:off x="638881" y="4501453"/>
            <a:ext cx="10909640" cy="1065836"/>
          </a:xfrm>
        </p:spPr>
        <p:txBody>
          <a:bodyPr vert="horz" lIns="91440" tIns="45720" rIns="91440" bIns="45720" rtlCol="0" anchor="ctr">
            <a:normAutofit fontScale="90000"/>
          </a:bodyPr>
          <a:lstStyle/>
          <a:p>
            <a:pPr marL="0" lvl="0" indent="0">
              <a:spcAft>
                <a:spcPts val="0"/>
              </a:spcAft>
            </a:pPr>
            <a:r>
              <a:rPr lang="en-US" sz="2100" dirty="0"/>
              <a:t>PubMed: </a:t>
            </a:r>
            <a:br>
              <a:rPr lang="en-US" sz="2100" dirty="0"/>
            </a:br>
            <a:r>
              <a:rPr lang="en-US" sz="2100" dirty="0"/>
              <a:t>Everyday ~ 4000 new articles are added</a:t>
            </a:r>
          </a:p>
          <a:p>
            <a:pPr marL="0" lvl="0" indent="0">
              <a:spcAft>
                <a:spcPts val="0"/>
              </a:spcAft>
            </a:pPr>
            <a:endParaRPr lang="en-US" sz="2100" dirty="0"/>
          </a:p>
          <a:p>
            <a:pPr marL="0" lvl="0" indent="0">
              <a:spcAft>
                <a:spcPts val="0"/>
              </a:spcAft>
            </a:pPr>
            <a:r>
              <a:rPr lang="en-US" sz="2100" dirty="0"/>
              <a:t>Expert can curate ~ 4 per day</a:t>
            </a:r>
          </a:p>
        </p:txBody>
      </p:sp>
      <p:pic>
        <p:nvPicPr>
          <p:cNvPr id="18" name="Google Shape;547;p83">
            <a:extLst>
              <a:ext uri="{FF2B5EF4-FFF2-40B4-BE49-F238E27FC236}">
                <a16:creationId xmlns:a16="http://schemas.microsoft.com/office/drawing/2014/main" id="{6B7F5CE5-34A0-528E-5709-D09C9AB6AECC}"/>
              </a:ext>
            </a:extLst>
          </p:cNvPr>
          <p:cNvPicPr preferRelativeResize="0"/>
          <p:nvPr/>
        </p:nvPicPr>
        <p:blipFill>
          <a:blip r:embed="rId3"/>
          <a:stretch>
            <a:fillRect/>
          </a:stretch>
        </p:blipFill>
        <p:spPr>
          <a:xfrm>
            <a:off x="1055256" y="320040"/>
            <a:ext cx="4143983" cy="3895344"/>
          </a:xfrm>
          <a:prstGeom prst="rect">
            <a:avLst/>
          </a:prstGeom>
          <a:noFill/>
        </p:spPr>
      </p:pic>
      <p:pic>
        <p:nvPicPr>
          <p:cNvPr id="19" name="Google Shape;548;p83">
            <a:extLst>
              <a:ext uri="{FF2B5EF4-FFF2-40B4-BE49-F238E27FC236}">
                <a16:creationId xmlns:a16="http://schemas.microsoft.com/office/drawing/2014/main" id="{2F29D7E2-A372-CBC2-AF44-F8F2BF006993}"/>
              </a:ext>
            </a:extLst>
          </p:cNvPr>
          <p:cNvPicPr preferRelativeResize="0"/>
          <p:nvPr/>
        </p:nvPicPr>
        <p:blipFill>
          <a:blip r:embed="rId4"/>
          <a:stretch>
            <a:fillRect/>
          </a:stretch>
        </p:blipFill>
        <p:spPr>
          <a:xfrm>
            <a:off x="6693714" y="320040"/>
            <a:ext cx="4735980" cy="3895344"/>
          </a:xfrm>
          <a:prstGeom prst="rect">
            <a:avLst/>
          </a:prstGeom>
          <a:noFill/>
        </p:spPr>
      </p:pic>
      <p:sp>
        <p:nvSpPr>
          <p:cNvPr id="2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Tree>
    <p:extLst>
      <p:ext uri="{BB962C8B-B14F-4D97-AF65-F5344CB8AC3E}">
        <p14:creationId xmlns:p14="http://schemas.microsoft.com/office/powerpoint/2010/main" val="3146857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2">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enorite"/>
              <a:ea typeface="+mn-ea"/>
              <a:cs typeface="+mn-cs"/>
            </a:endParaRPr>
          </a:p>
        </p:txBody>
      </p:sp>
      <p:sp>
        <p:nvSpPr>
          <p:cNvPr id="2" name="Title 1">
            <a:extLst>
              <a:ext uri="{FF2B5EF4-FFF2-40B4-BE49-F238E27FC236}">
                <a16:creationId xmlns:a16="http://schemas.microsoft.com/office/drawing/2014/main" id="{6E5FF5F5-A734-8746-2CB2-148ABCA727F7}"/>
              </a:ext>
            </a:extLst>
          </p:cNvPr>
          <p:cNvSpPr>
            <a:spLocks noGrp="1"/>
          </p:cNvSpPr>
          <p:nvPr>
            <p:ph type="title"/>
          </p:nvPr>
        </p:nvSpPr>
        <p:spPr>
          <a:xfrm>
            <a:off x="841248" y="334644"/>
            <a:ext cx="10509504" cy="1076914"/>
          </a:xfrm>
        </p:spPr>
        <p:txBody>
          <a:bodyPr vert="horz" lIns="91440" tIns="45720" rIns="91440" bIns="45720" rtlCol="0" anchor="ctr">
            <a:normAutofit/>
          </a:bodyPr>
          <a:lstStyle/>
          <a:p>
            <a:pPr algn="l"/>
            <a:r>
              <a:rPr lang="en-US" sz="4000" b="1" kern="1200">
                <a:solidFill>
                  <a:srgbClr val="0070C0"/>
                </a:solidFill>
                <a:latin typeface="+mj-lt"/>
                <a:ea typeface="+mj-ea"/>
                <a:cs typeface="+mj-cs"/>
              </a:rPr>
              <a:t>Why Healthcare NLP?</a:t>
            </a:r>
            <a:endParaRPr lang="en-US" sz="4000" kern="1200">
              <a:solidFill>
                <a:srgbClr val="0070C0"/>
              </a:solidFill>
              <a:latin typeface="+mj-lt"/>
            </a:endParaRPr>
          </a:p>
          <a:p>
            <a:pPr algn="l"/>
            <a:endParaRPr lang="en-US" sz="4000" kern="1200">
              <a:solidFill>
                <a:schemeClr val="tx1"/>
              </a:solidFill>
              <a:latin typeface="+mj-lt"/>
              <a:ea typeface="+mj-ea"/>
              <a:cs typeface="+mj-cs"/>
            </a:endParaRPr>
          </a:p>
        </p:txBody>
      </p:sp>
      <p:sp>
        <p:nvSpPr>
          <p:cNvPr id="24" name="Rectangle 14">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1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FFA88571-5D6A-5EA7-E059-88F189D24025}"/>
              </a:ext>
            </a:extLst>
          </p:cNvPr>
          <p:cNvSpPr>
            <a:spLocks noGrp="1"/>
          </p:cNvSpPr>
          <p:nvPr>
            <p:ph type="sldNum" sz="quarter" idx="12"/>
          </p:nvPr>
        </p:nvSpPr>
        <p:spPr>
          <a:xfrm>
            <a:off x="8304482" y="5990005"/>
            <a:ext cx="2124531" cy="282779"/>
          </a:xfrm>
        </p:spPr>
        <p:txBody>
          <a:bodyPr/>
          <a:lstStyle/>
          <a:p>
            <a:pPr marL="0" marR="0" lvl="0" indent="0" algn="r" defTabSz="704088" rtl="0" eaLnBrk="1" fontAlgn="auto" latinLnBrk="0" hangingPunct="1">
              <a:lnSpc>
                <a:spcPct val="100000"/>
              </a:lnSpc>
              <a:spcBef>
                <a:spcPts val="0"/>
              </a:spcBef>
              <a:spcAft>
                <a:spcPts val="600"/>
              </a:spcAft>
              <a:buClrTx/>
              <a:buSzTx/>
              <a:buFontTx/>
              <a:buNone/>
              <a:tabLst/>
              <a:defRPr/>
            </a:pPr>
            <a:fld id="{A49DFD55-3C28-40EF-9E31-A92D2E4017FF}" type="slidenum">
              <a:rPr kumimoji="0" lang="en-US" sz="693" b="0" i="0" u="none" strike="noStrike" kern="1200" cap="none" spc="0" normalizeH="0" baseline="0" noProof="0">
                <a:ln>
                  <a:noFill/>
                </a:ln>
                <a:solidFill>
                  <a:prstClr val="black">
                    <a:tint val="75000"/>
                  </a:prstClr>
                </a:solidFill>
                <a:effectLst/>
                <a:uLnTx/>
                <a:uFillTx/>
                <a:latin typeface="Tenorite"/>
                <a:ea typeface="+mn-ea"/>
                <a:cs typeface="+mn-cs"/>
              </a:rPr>
              <a:pPr marL="0" marR="0" lvl="0" indent="0" algn="r" defTabSz="704088" rtl="0" eaLnBrk="1" fontAlgn="auto" latinLnBrk="0" hangingPunct="1">
                <a:lnSpc>
                  <a:spcPct val="100000"/>
                </a:lnSpc>
                <a:spcBef>
                  <a:spcPts val="0"/>
                </a:spcBef>
                <a:spcAft>
                  <a:spcPts val="600"/>
                </a:spcAft>
                <a:buClrTx/>
                <a:buSzTx/>
                <a:buFontTx/>
                <a:buNone/>
                <a:tabLst/>
                <a:defRPr/>
              </a:pPr>
              <a:t>7</a:t>
            </a:fld>
            <a:endParaRPr kumimoji="0" lang="en-US" sz="900" b="0" i="0" u="none" strike="noStrike" kern="1200" cap="none" spc="0" normalizeH="0" baseline="0" noProof="0">
              <a:ln>
                <a:noFill/>
              </a:ln>
              <a:solidFill>
                <a:prstClr val="black">
                  <a:tint val="75000"/>
                </a:prstClr>
              </a:solidFill>
              <a:effectLst/>
              <a:uLnTx/>
              <a:uFillTx/>
              <a:latin typeface="Tenorite"/>
              <a:ea typeface="+mn-ea"/>
              <a:cs typeface="+mn-cs"/>
            </a:endParaRPr>
          </a:p>
        </p:txBody>
      </p:sp>
      <p:pic>
        <p:nvPicPr>
          <p:cNvPr id="6" name="Google Shape;556;p84">
            <a:extLst>
              <a:ext uri="{FF2B5EF4-FFF2-40B4-BE49-F238E27FC236}">
                <a16:creationId xmlns:a16="http://schemas.microsoft.com/office/drawing/2014/main" id="{5AB2BBD9-759F-2E21-E2EE-C0C2EF634977}"/>
              </a:ext>
            </a:extLst>
          </p:cNvPr>
          <p:cNvPicPr preferRelativeResize="0"/>
          <p:nvPr/>
        </p:nvPicPr>
        <p:blipFill>
          <a:blip r:embed="rId2">
            <a:alphaModFix/>
          </a:blip>
          <a:stretch>
            <a:fillRect/>
          </a:stretch>
        </p:blipFill>
        <p:spPr>
          <a:xfrm>
            <a:off x="1753843" y="1722564"/>
            <a:ext cx="8606452" cy="2721545"/>
          </a:xfrm>
          <a:prstGeom prst="rect">
            <a:avLst/>
          </a:prstGeom>
          <a:noFill/>
          <a:ln>
            <a:noFill/>
          </a:ln>
        </p:spPr>
      </p:pic>
      <p:sp>
        <p:nvSpPr>
          <p:cNvPr id="7" name="Google Shape;557;p84">
            <a:extLst>
              <a:ext uri="{FF2B5EF4-FFF2-40B4-BE49-F238E27FC236}">
                <a16:creationId xmlns:a16="http://schemas.microsoft.com/office/drawing/2014/main" id="{CACF430D-43D8-83B1-92DB-5A29D7B676D6}"/>
              </a:ext>
            </a:extLst>
          </p:cNvPr>
          <p:cNvSpPr txBox="1"/>
          <p:nvPr/>
        </p:nvSpPr>
        <p:spPr>
          <a:xfrm>
            <a:off x="4834448" y="4548342"/>
            <a:ext cx="4643114" cy="883545"/>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704088" rtl="0" eaLnBrk="1" fontAlgn="auto" latinLnBrk="0" hangingPunct="1">
              <a:lnSpc>
                <a:spcPct val="100000"/>
              </a:lnSpc>
              <a:spcBef>
                <a:spcPts val="0"/>
              </a:spcBef>
              <a:spcAft>
                <a:spcPts val="600"/>
              </a:spcAft>
              <a:buClr>
                <a:srgbClr val="000000"/>
              </a:buClr>
              <a:buSzTx/>
              <a:buFont typeface="Arial"/>
              <a:buNone/>
              <a:tabLst/>
              <a:defRPr/>
            </a:pPr>
            <a:r>
              <a:rPr kumimoji="0" lang="en-US" sz="1463" b="1" i="0" u="none" strike="noStrike" kern="1200" cap="none" spc="0" normalizeH="0" baseline="0" noProof="0">
                <a:ln>
                  <a:noFill/>
                </a:ln>
                <a:solidFill>
                  <a:srgbClr val="000000"/>
                </a:solidFill>
                <a:effectLst/>
                <a:uLnTx/>
                <a:uFillTx/>
                <a:latin typeface="Arial"/>
                <a:ea typeface="Arial"/>
                <a:cs typeface="Arial"/>
                <a:sym typeface="Arial"/>
              </a:rPr>
              <a:t>  </a:t>
            </a:r>
            <a:r>
              <a:rPr kumimoji="0" lang="en-US" sz="1771" b="1" i="0" u="none" strike="noStrike" kern="1200" cap="none" spc="0" normalizeH="0" baseline="0" noProof="0">
                <a:ln>
                  <a:noFill/>
                </a:ln>
                <a:solidFill>
                  <a:srgbClr val="000000"/>
                </a:solidFill>
                <a:effectLst/>
                <a:uLnTx/>
                <a:uFillTx/>
                <a:latin typeface="Arial"/>
                <a:ea typeface="Arial"/>
                <a:cs typeface="Arial"/>
                <a:sym typeface="Arial"/>
              </a:rPr>
              <a:t>  Current Medicine</a:t>
            </a:r>
          </a:p>
          <a:p>
            <a:pPr marL="0" marR="0" lvl="0" indent="0" algn="l" defTabSz="704088" rtl="0" eaLnBrk="1" fontAlgn="auto" latinLnBrk="0" hangingPunct="1">
              <a:lnSpc>
                <a:spcPct val="100000"/>
              </a:lnSpc>
              <a:spcBef>
                <a:spcPts val="0"/>
              </a:spcBef>
              <a:spcAft>
                <a:spcPts val="600"/>
              </a:spcAft>
              <a:buClr>
                <a:srgbClr val="000000"/>
              </a:buClr>
              <a:buSzTx/>
              <a:buFont typeface="Arial"/>
              <a:buNone/>
              <a:tabLst/>
              <a:defRPr/>
            </a:pPr>
            <a:r>
              <a:rPr kumimoji="0" lang="en-US" sz="1771" b="1" i="0" u="none" strike="noStrike" kern="1200" cap="none" spc="0" normalizeH="0" baseline="0" noProof="0">
                <a:ln>
                  <a:noFill/>
                </a:ln>
                <a:solidFill>
                  <a:srgbClr val="000000"/>
                </a:solidFill>
                <a:effectLst/>
                <a:uLnTx/>
                <a:uFillTx/>
                <a:latin typeface="Arial"/>
                <a:ea typeface="Arial"/>
                <a:cs typeface="Arial"/>
                <a:sym typeface="Arial"/>
              </a:rPr>
              <a:t>One Treatment Fits All</a:t>
            </a:r>
            <a:endParaRPr kumimoji="0" lang="en-US" sz="2300" b="1" i="0" u="none" strike="noStrike" kern="1200" cap="none" spc="0" normalizeH="0" baseline="0" noProof="0">
              <a:ln>
                <a:noFill/>
              </a:ln>
              <a:solidFill>
                <a:srgbClr val="000000"/>
              </a:solidFill>
              <a:effectLst/>
              <a:uLnTx/>
              <a:uFillTx/>
              <a:latin typeface="Arial"/>
              <a:cs typeface="Arial"/>
              <a:sym typeface="Arial"/>
            </a:endParaRPr>
          </a:p>
        </p:txBody>
      </p:sp>
      <p:sp>
        <p:nvSpPr>
          <p:cNvPr id="8" name="Google Shape;558;p84">
            <a:extLst>
              <a:ext uri="{FF2B5EF4-FFF2-40B4-BE49-F238E27FC236}">
                <a16:creationId xmlns:a16="http://schemas.microsoft.com/office/drawing/2014/main" id="{A5DBBCFD-5510-1837-A260-7446BC1E1F8C}"/>
              </a:ext>
            </a:extLst>
          </p:cNvPr>
          <p:cNvSpPr txBox="1"/>
          <p:nvPr/>
        </p:nvSpPr>
        <p:spPr>
          <a:xfrm>
            <a:off x="5231254" y="6130998"/>
            <a:ext cx="6377846" cy="53857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704088" rtl="0" eaLnBrk="1" fontAlgn="auto" latinLnBrk="0" hangingPunct="1">
              <a:lnSpc>
                <a:spcPct val="100000"/>
              </a:lnSpc>
              <a:spcBef>
                <a:spcPts val="0"/>
              </a:spcBef>
              <a:spcAft>
                <a:spcPts val="600"/>
              </a:spcAft>
              <a:buClr>
                <a:srgbClr val="000000"/>
              </a:buClr>
              <a:buSzTx/>
              <a:buFont typeface="Arial"/>
              <a:buNone/>
              <a:tabLst/>
              <a:defRPr/>
            </a:pPr>
            <a:r>
              <a:rPr kumimoji="0" lang="en-US" sz="1800" b="0" i="0" u="none" strike="noStrike" kern="1200" cap="none" spc="0" normalizeH="0" baseline="0" noProof="0">
                <a:ln>
                  <a:noFill/>
                </a:ln>
                <a:solidFill>
                  <a:srgbClr val="000000"/>
                </a:solidFill>
                <a:effectLst/>
                <a:uLnTx/>
                <a:uFillTx/>
                <a:latin typeface="Arial"/>
                <a:ea typeface="Arial"/>
                <a:cs typeface="Arial"/>
                <a:sym typeface="Arial"/>
              </a:rPr>
              <a:t>Image Credit: https://pubmed.ncbi.nlm.nih.gov/27807747/</a:t>
            </a:r>
            <a:endParaRPr kumimoji="0" lang="en-US" sz="18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90860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A10E3-E5A0-17F1-CD01-94FBABEDB0A9}"/>
              </a:ext>
            </a:extLst>
          </p:cNvPr>
          <p:cNvSpPr>
            <a:spLocks noGrp="1"/>
          </p:cNvSpPr>
          <p:nvPr>
            <p:ph type="title"/>
          </p:nvPr>
        </p:nvSpPr>
        <p:spPr/>
        <p:txBody>
          <a:bodyPr>
            <a:normAutofit fontScale="90000"/>
          </a:bodyPr>
          <a:lstStyle/>
          <a:p>
            <a:r>
              <a:rPr lang="en-US" sz="3300" b="1" dirty="0">
                <a:solidFill>
                  <a:schemeClr val="accent5">
                    <a:lumMod val="75000"/>
                  </a:schemeClr>
                </a:solidFill>
                <a:ea typeface="+mj-lt"/>
                <a:cs typeface="+mj-lt"/>
              </a:rPr>
              <a:t>Current Spending Trend in Healthcare Sector</a:t>
            </a:r>
            <a:endParaRPr lang="en-US" b="1" dirty="0">
              <a:solidFill>
                <a:schemeClr val="accent5">
                  <a:lumMod val="75000"/>
                </a:schemeClr>
              </a:solidFill>
            </a:endParaRPr>
          </a:p>
          <a:p>
            <a:br>
              <a:rPr lang="en-US" dirty="0"/>
            </a:br>
            <a:endParaRPr lang="en-US" b="1" dirty="0">
              <a:solidFill>
                <a:schemeClr val="accent5">
                  <a:lumMod val="75000"/>
                </a:schemeClr>
              </a:solidFill>
            </a:endParaRPr>
          </a:p>
        </p:txBody>
      </p:sp>
      <p:sp>
        <p:nvSpPr>
          <p:cNvPr id="5" name="Slide Number Placeholder 4">
            <a:extLst>
              <a:ext uri="{FF2B5EF4-FFF2-40B4-BE49-F238E27FC236}">
                <a16:creationId xmlns:a16="http://schemas.microsoft.com/office/drawing/2014/main" id="{2DD67E98-1A34-98BA-879C-14A945F0F73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FD55-3C28-40EF-9E31-A92D2E4017FF}" type="slidenum">
              <a:rPr kumimoji="0" lang="en-US" sz="900" b="0" i="0" u="none" strike="noStrike" kern="1200" cap="none" spc="0" normalizeH="0" baseline="0" noProof="0" smtClean="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prstClr val="black">
                  <a:tint val="75000"/>
                </a:prstClr>
              </a:solidFill>
              <a:effectLst/>
              <a:uLnTx/>
              <a:uFillTx/>
              <a:latin typeface="Tenorite"/>
              <a:ea typeface="+mn-ea"/>
              <a:cs typeface="+mn-cs"/>
            </a:endParaRPr>
          </a:p>
        </p:txBody>
      </p:sp>
      <p:pic>
        <p:nvPicPr>
          <p:cNvPr id="6" name="Picture 5" descr="A pie chart with numbers and text&#10;&#10;Description automatically generated">
            <a:extLst>
              <a:ext uri="{FF2B5EF4-FFF2-40B4-BE49-F238E27FC236}">
                <a16:creationId xmlns:a16="http://schemas.microsoft.com/office/drawing/2014/main" id="{67E129BC-D927-65C7-4341-201C82616550}"/>
              </a:ext>
            </a:extLst>
          </p:cNvPr>
          <p:cNvPicPr>
            <a:picLocks noChangeAspect="1"/>
          </p:cNvPicPr>
          <p:nvPr/>
        </p:nvPicPr>
        <p:blipFill>
          <a:blip r:embed="rId2"/>
          <a:stretch>
            <a:fillRect/>
          </a:stretch>
        </p:blipFill>
        <p:spPr>
          <a:xfrm>
            <a:off x="6159851" y="1523597"/>
            <a:ext cx="5725737" cy="4030038"/>
          </a:xfrm>
          <a:prstGeom prst="rect">
            <a:avLst/>
          </a:prstGeom>
        </p:spPr>
      </p:pic>
      <p:pic>
        <p:nvPicPr>
          <p:cNvPr id="8" name="Picture 7">
            <a:extLst>
              <a:ext uri="{FF2B5EF4-FFF2-40B4-BE49-F238E27FC236}">
                <a16:creationId xmlns:a16="http://schemas.microsoft.com/office/drawing/2014/main" id="{DDF411B9-A509-3740-C24D-67DE1F621661}"/>
              </a:ext>
            </a:extLst>
          </p:cNvPr>
          <p:cNvPicPr>
            <a:picLocks noChangeAspect="1"/>
          </p:cNvPicPr>
          <p:nvPr/>
        </p:nvPicPr>
        <p:blipFill>
          <a:blip r:embed="rId3"/>
          <a:srcRect/>
          <a:stretch/>
        </p:blipFill>
        <p:spPr>
          <a:xfrm>
            <a:off x="444632" y="2049694"/>
            <a:ext cx="5348134" cy="3921965"/>
          </a:xfrm>
          <a:prstGeom prst="rect">
            <a:avLst/>
          </a:prstGeom>
        </p:spPr>
      </p:pic>
      <p:sp>
        <p:nvSpPr>
          <p:cNvPr id="4" name="TextBox 3">
            <a:extLst>
              <a:ext uri="{FF2B5EF4-FFF2-40B4-BE49-F238E27FC236}">
                <a16:creationId xmlns:a16="http://schemas.microsoft.com/office/drawing/2014/main" id="{8C72DF06-9AEF-3B32-4785-A182CC62F480}"/>
              </a:ext>
            </a:extLst>
          </p:cNvPr>
          <p:cNvSpPr txBox="1"/>
          <p:nvPr/>
        </p:nvSpPr>
        <p:spPr>
          <a:xfrm>
            <a:off x="444632" y="1034901"/>
            <a:ext cx="5251552" cy="1231106"/>
          </a:xfrm>
          <a:prstGeom prst="rect">
            <a:avLst/>
          </a:prstGeom>
          <a:noFill/>
        </p:spPr>
        <p:txBody>
          <a:bodyPr wrap="square" rtlCol="0">
            <a:spAutoFit/>
          </a:bodyPr>
          <a:lstStyle/>
          <a:p>
            <a:pPr lvl="0"/>
            <a:r>
              <a:rPr lang="en-GB" sz="2800" dirty="0">
                <a:solidFill>
                  <a:prstClr val="black"/>
                </a:solidFill>
              </a:rPr>
              <a:t>2024 s</a:t>
            </a:r>
            <a:r>
              <a:rPr lang="en-IT" sz="2800" dirty="0">
                <a:solidFill>
                  <a:prstClr val="black"/>
                </a:solidFill>
              </a:rPr>
              <a:t>pesa per salute in USA </a:t>
            </a:r>
            <a:r>
              <a:rPr kumimoji="0" lang="en-IT" sz="2800" b="1" i="0" u="none" strike="noStrike" kern="1200" cap="none" spc="0" normalizeH="0" baseline="0" noProof="0" dirty="0">
                <a:ln>
                  <a:noFill/>
                </a:ln>
                <a:solidFill>
                  <a:prstClr val="black"/>
                </a:solidFill>
                <a:effectLst/>
                <a:uLnTx/>
                <a:uFillTx/>
                <a:latin typeface="Tenorite"/>
                <a:ea typeface="+mn-ea"/>
                <a:cs typeface="+mn-cs"/>
              </a:rPr>
              <a:t>$5.28 trillion </a:t>
            </a:r>
            <a:r>
              <a:rPr kumimoji="0" lang="en-IT" sz="1800" b="0" i="0" u="none" strike="noStrike" kern="1200" cap="none" spc="0" normalizeH="0" baseline="0" noProof="0" dirty="0">
                <a:ln>
                  <a:noFill/>
                </a:ln>
                <a:solidFill>
                  <a:prstClr val="black"/>
                </a:solidFill>
                <a:effectLst/>
                <a:uLnTx/>
                <a:uFillTx/>
                <a:latin typeface="Tenorite"/>
                <a:ea typeface="+mn-ea"/>
                <a:cs typeface="+mn-cs"/>
              </a:rPr>
              <a:t>(migliaia di miliardi 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dirty="0">
              <a:ln>
                <a:noFill/>
              </a:ln>
              <a:solidFill>
                <a:prstClr val="black"/>
              </a:solidFill>
              <a:effectLst/>
              <a:uLnTx/>
              <a:uFillTx/>
              <a:latin typeface="Tenorite"/>
              <a:ea typeface="+mn-ea"/>
              <a:cs typeface="+mn-cs"/>
            </a:endParaRPr>
          </a:p>
        </p:txBody>
      </p:sp>
      <p:grpSp>
        <p:nvGrpSpPr>
          <p:cNvPr id="9" name="Group 8">
            <a:extLst>
              <a:ext uri="{FF2B5EF4-FFF2-40B4-BE49-F238E27FC236}">
                <a16:creationId xmlns:a16="http://schemas.microsoft.com/office/drawing/2014/main" id="{23D36013-F3F5-BAEA-AD30-7BE6CE0C2F6F}"/>
              </a:ext>
            </a:extLst>
          </p:cNvPr>
          <p:cNvGrpSpPr/>
          <p:nvPr/>
        </p:nvGrpSpPr>
        <p:grpSpPr>
          <a:xfrm>
            <a:off x="3407888" y="3838853"/>
            <a:ext cx="2260547" cy="1368692"/>
            <a:chOff x="3407888" y="3838853"/>
            <a:chExt cx="2260547" cy="1368692"/>
          </a:xfrm>
        </p:grpSpPr>
        <p:sp>
          <p:nvSpPr>
            <p:cNvPr id="3" name="TextBox 2">
              <a:extLst>
                <a:ext uri="{FF2B5EF4-FFF2-40B4-BE49-F238E27FC236}">
                  <a16:creationId xmlns:a16="http://schemas.microsoft.com/office/drawing/2014/main" id="{9DFEABC0-E4F2-46AE-5E18-19EB9318DCEC}"/>
                </a:ext>
              </a:extLst>
            </p:cNvPr>
            <p:cNvSpPr txBox="1"/>
            <p:nvPr/>
          </p:nvSpPr>
          <p:spPr>
            <a:xfrm>
              <a:off x="4202777" y="3838853"/>
              <a:ext cx="14656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1800" b="0" i="0" u="none" strike="noStrike" kern="1200" cap="none" spc="0" normalizeH="0" baseline="0" noProof="0" dirty="0">
                  <a:ln>
                    <a:noFill/>
                  </a:ln>
                  <a:solidFill>
                    <a:prstClr val="black"/>
                  </a:solidFill>
                  <a:effectLst/>
                  <a:uLnTx/>
                  <a:uFillTx/>
                  <a:latin typeface="Tenorite"/>
                  <a:ea typeface="+mn-ea"/>
                  <a:cs typeface="+mn-cs"/>
                </a:rPr>
                <a:t>Italia $5,164 </a:t>
              </a:r>
            </a:p>
          </p:txBody>
        </p:sp>
        <p:cxnSp>
          <p:nvCxnSpPr>
            <p:cNvPr id="10" name="Curved Connector 9">
              <a:extLst>
                <a:ext uri="{FF2B5EF4-FFF2-40B4-BE49-F238E27FC236}">
                  <a16:creationId xmlns:a16="http://schemas.microsoft.com/office/drawing/2014/main" id="{41B1B76F-771C-13AC-CB3D-7E779E6B436B}"/>
                </a:ext>
              </a:extLst>
            </p:cNvPr>
            <p:cNvCxnSpPr>
              <a:cxnSpLocks/>
            </p:cNvCxnSpPr>
            <p:nvPr/>
          </p:nvCxnSpPr>
          <p:spPr>
            <a:xfrm rot="10800000" flipV="1">
              <a:off x="3407888" y="4208185"/>
              <a:ext cx="1341116" cy="999360"/>
            </a:xfrm>
            <a:prstGeom prst="curvedConnector3">
              <a:avLst>
                <a:gd name="adj1" fmla="val -2727"/>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429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8E6A9-4C3D-E92E-8072-832FED068321}"/>
              </a:ext>
            </a:extLst>
          </p:cNvPr>
          <p:cNvSpPr>
            <a:spLocks noGrp="1"/>
          </p:cNvSpPr>
          <p:nvPr>
            <p:ph type="title"/>
          </p:nvPr>
        </p:nvSpPr>
        <p:spPr/>
        <p:txBody>
          <a:bodyPr/>
          <a:lstStyle/>
          <a:p>
            <a:br>
              <a:rPr lang="en-US" dirty="0"/>
            </a:br>
            <a:endParaRPr lang="en-US" b="1" dirty="0">
              <a:solidFill>
                <a:schemeClr val="accent5">
                  <a:lumMod val="75000"/>
                </a:schemeClr>
              </a:solidFill>
            </a:endParaRPr>
          </a:p>
        </p:txBody>
      </p:sp>
      <p:sp>
        <p:nvSpPr>
          <p:cNvPr id="4" name="Footer Placeholder 3">
            <a:extLst>
              <a:ext uri="{FF2B5EF4-FFF2-40B4-BE49-F238E27FC236}">
                <a16:creationId xmlns:a16="http://schemas.microsoft.com/office/drawing/2014/main" id="{89F87ECF-A7C2-3BED-A763-4845E2E8227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Tenorite"/>
                <a:ea typeface="+mn-ea"/>
                <a:cs typeface="+mn-cs"/>
              </a:rPr>
              <a:t>PRESENTATION TITLE</a:t>
            </a:r>
          </a:p>
        </p:txBody>
      </p:sp>
      <p:sp>
        <p:nvSpPr>
          <p:cNvPr id="5" name="Slide Number Placeholder 4">
            <a:extLst>
              <a:ext uri="{FF2B5EF4-FFF2-40B4-BE49-F238E27FC236}">
                <a16:creationId xmlns:a16="http://schemas.microsoft.com/office/drawing/2014/main" id="{81333F66-A059-3356-1D71-E5E8C64343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FD55-3C28-40EF-9E31-A92D2E4017FF}" type="slidenum">
              <a:rPr kumimoji="0" lang="en-US" sz="900" b="0" i="0" u="none" strike="noStrike" kern="1200" cap="none" spc="0" normalizeH="0" baseline="0" noProof="0" smtClean="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prstClr val="black">
                  <a:tint val="75000"/>
                </a:prstClr>
              </a:solidFill>
              <a:effectLst/>
              <a:uLnTx/>
              <a:uFillTx/>
              <a:latin typeface="Tenorite"/>
              <a:ea typeface="+mn-ea"/>
              <a:cs typeface="+mn-cs"/>
            </a:endParaRPr>
          </a:p>
        </p:txBody>
      </p:sp>
      <p:pic>
        <p:nvPicPr>
          <p:cNvPr id="7" name="Picture 6">
            <a:extLst>
              <a:ext uri="{FF2B5EF4-FFF2-40B4-BE49-F238E27FC236}">
                <a16:creationId xmlns:a16="http://schemas.microsoft.com/office/drawing/2014/main" id="{31DFFF4A-4E5D-A4F8-C0FC-FF240BBDB96A}"/>
              </a:ext>
            </a:extLst>
          </p:cNvPr>
          <p:cNvPicPr>
            <a:picLocks noChangeAspect="1"/>
          </p:cNvPicPr>
          <p:nvPr/>
        </p:nvPicPr>
        <p:blipFill>
          <a:blip r:embed="rId3"/>
          <a:srcRect/>
          <a:stretch/>
        </p:blipFill>
        <p:spPr>
          <a:xfrm>
            <a:off x="3053607" y="279765"/>
            <a:ext cx="7480281" cy="6298470"/>
          </a:xfrm>
          <a:prstGeom prst="rect">
            <a:avLst/>
          </a:prstGeom>
        </p:spPr>
      </p:pic>
      <p:sp>
        <p:nvSpPr>
          <p:cNvPr id="8" name="TextBox 7">
            <a:extLst>
              <a:ext uri="{FF2B5EF4-FFF2-40B4-BE49-F238E27FC236}">
                <a16:creationId xmlns:a16="http://schemas.microsoft.com/office/drawing/2014/main" id="{91274538-2EB3-77F7-B1C0-59971015DDA2}"/>
              </a:ext>
            </a:extLst>
          </p:cNvPr>
          <p:cNvSpPr txBox="1"/>
          <p:nvPr/>
        </p:nvSpPr>
        <p:spPr>
          <a:xfrm>
            <a:off x="632013" y="1920895"/>
            <a:ext cx="2164054" cy="150810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2800" b="0" i="0" u="none" strike="noStrike" kern="1200" cap="none" spc="0" normalizeH="0" baseline="0" noProof="0" dirty="0">
                <a:ln>
                  <a:noFill/>
                </a:ln>
                <a:solidFill>
                  <a:prstClr val="black"/>
                </a:solidFill>
                <a:effectLst/>
                <a:uLnTx/>
                <a:uFillTx/>
                <a:latin typeface="Tenorite"/>
                <a:ea typeface="+mn-ea"/>
                <a:cs typeface="+mn-cs"/>
              </a:rPr>
              <a:t>Italia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T" sz="2800" b="0" i="0" u="none" strike="noStrike" kern="1200" cap="none" spc="0" normalizeH="0" baseline="0" noProof="0" dirty="0">
                <a:ln>
                  <a:noFill/>
                </a:ln>
                <a:solidFill>
                  <a:prstClr val="black"/>
                </a:solidFill>
                <a:effectLst/>
                <a:uLnTx/>
                <a:uFillTx/>
                <a:latin typeface="Tenorite"/>
                <a:ea typeface="+mn-ea"/>
                <a:cs typeface="+mn-cs"/>
              </a:rPr>
              <a:t>e risk factors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dirty="0">
              <a:ln>
                <a:noFill/>
              </a:ln>
              <a:solidFill>
                <a:prstClr val="black"/>
              </a:solidFill>
              <a:effectLst/>
              <a:uLnTx/>
              <a:uFillTx/>
              <a:latin typeface="Tenorite"/>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T" sz="1800" b="0" i="0" u="none" strike="noStrike" kern="1200" cap="none" spc="0" normalizeH="0" baseline="0" noProof="0" dirty="0">
              <a:ln>
                <a:noFill/>
              </a:ln>
              <a:solidFill>
                <a:prstClr val="black"/>
              </a:solidFill>
              <a:effectLst/>
              <a:uLnTx/>
              <a:uFillTx/>
              <a:latin typeface="Tenorite"/>
              <a:ea typeface="+mn-ea"/>
              <a:cs typeface="+mn-cs"/>
            </a:endParaRPr>
          </a:p>
        </p:txBody>
      </p:sp>
      <p:sp>
        <p:nvSpPr>
          <p:cNvPr id="6" name="Oval 5">
            <a:extLst>
              <a:ext uri="{FF2B5EF4-FFF2-40B4-BE49-F238E27FC236}">
                <a16:creationId xmlns:a16="http://schemas.microsoft.com/office/drawing/2014/main" id="{A4284185-4E0F-7C86-9F02-CBCDE97886E2}"/>
              </a:ext>
            </a:extLst>
          </p:cNvPr>
          <p:cNvSpPr/>
          <p:nvPr/>
        </p:nvSpPr>
        <p:spPr>
          <a:xfrm>
            <a:off x="8458200" y="5390216"/>
            <a:ext cx="632012" cy="459255"/>
          </a:xfrm>
          <a:prstGeom prst="ellipse">
            <a:avLst/>
          </a:prstGeom>
          <a:solidFill>
            <a:schemeClr val="accent1">
              <a:alpha val="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cxnSp>
        <p:nvCxnSpPr>
          <p:cNvPr id="14" name="Curved Connector 13">
            <a:extLst>
              <a:ext uri="{FF2B5EF4-FFF2-40B4-BE49-F238E27FC236}">
                <a16:creationId xmlns:a16="http://schemas.microsoft.com/office/drawing/2014/main" id="{6613773D-C59E-E1ED-723E-AC63848C3438}"/>
              </a:ext>
            </a:extLst>
          </p:cNvPr>
          <p:cNvCxnSpPr>
            <a:cxnSpLocks/>
          </p:cNvCxnSpPr>
          <p:nvPr/>
        </p:nvCxnSpPr>
        <p:spPr>
          <a:xfrm>
            <a:off x="632013" y="2253038"/>
            <a:ext cx="7911352" cy="3540962"/>
          </a:xfrm>
          <a:prstGeom prst="curvedConnector3">
            <a:avLst>
              <a:gd name="adj1" fmla="val -490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240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F5F5-A734-8746-2CB2-148ABCA727F7}"/>
              </a:ext>
            </a:extLst>
          </p:cNvPr>
          <p:cNvSpPr>
            <a:spLocks noGrp="1"/>
          </p:cNvSpPr>
          <p:nvPr>
            <p:ph type="title"/>
          </p:nvPr>
        </p:nvSpPr>
        <p:spPr>
          <a:xfrm>
            <a:off x="638334" y="639520"/>
            <a:ext cx="3821097" cy="1719072"/>
          </a:xfrm>
        </p:spPr>
        <p:txBody>
          <a:bodyPr vert="horz" lIns="91440" tIns="45720" rIns="91440" bIns="45720" rtlCol="0" anchor="b">
            <a:normAutofit/>
          </a:bodyPr>
          <a:lstStyle/>
          <a:p>
            <a:pPr algn="l"/>
            <a:r>
              <a:rPr lang="en-US" sz="3800" b="1">
                <a:solidFill>
                  <a:srgbClr val="0070C0"/>
                </a:solidFill>
              </a:rPr>
              <a:t>Precision Medicine</a:t>
            </a:r>
            <a:endParaRPr lang="en-US"/>
          </a:p>
          <a:p>
            <a:pPr algn="l"/>
            <a:endParaRPr lang="en-US" sz="3800" kern="1200">
              <a:solidFill>
                <a:schemeClr val="tx1"/>
              </a:solidFill>
              <a:latin typeface="+mj-lt"/>
              <a:ea typeface="+mj-ea"/>
              <a:cs typeface="+mj-cs"/>
            </a:endParaRPr>
          </a:p>
        </p:txBody>
      </p:sp>
      <p:sp>
        <p:nvSpPr>
          <p:cNvPr id="10" name="Google Shape;565;p85">
            <a:extLst>
              <a:ext uri="{FF2B5EF4-FFF2-40B4-BE49-F238E27FC236}">
                <a16:creationId xmlns:a16="http://schemas.microsoft.com/office/drawing/2014/main" id="{666CCCB4-BCC8-B944-CD6B-77D975AA41C8}"/>
              </a:ext>
            </a:extLst>
          </p:cNvPr>
          <p:cNvSpPr txBox="1"/>
          <p:nvPr/>
        </p:nvSpPr>
        <p:spPr>
          <a:xfrm>
            <a:off x="630936" y="2807208"/>
            <a:ext cx="3429000" cy="3410712"/>
          </a:xfrm>
          <a:prstGeom prst="rect">
            <a:avLst/>
          </a:prstGeom>
        </p:spPr>
        <p:txBody>
          <a:bodyPr spcFirstLastPara="1" vert="horz" lIns="91440" tIns="45720" rIns="91440" bIns="45720" rtlCol="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228600" algn="l" defTabSz="914400" rtl="0" eaLnBrk="1" fontAlgn="auto" latinLnBrk="0" hangingPunct="1">
              <a:lnSpc>
                <a:spcPct val="90000"/>
              </a:lnSpc>
              <a:spcBef>
                <a:spcPts val="0"/>
              </a:spcBef>
              <a:spcAft>
                <a:spcPts val="600"/>
              </a:spcAft>
              <a:buClr>
                <a:srgbClr val="000000"/>
              </a:buClr>
              <a:buSzTx/>
              <a:buFont typeface="Arial" panose="020B0604020202020204" pitchFamily="34" charset="0"/>
              <a:buChar char="•"/>
              <a:tabLst/>
              <a:defRPr/>
            </a:pPr>
            <a:r>
              <a:rPr kumimoji="0" lang="en-US" sz="2200" b="1" i="0" u="none" strike="noStrike" kern="1200" cap="none" spc="0" normalizeH="0" baseline="0" noProof="0">
                <a:ln>
                  <a:noFill/>
                </a:ln>
                <a:solidFill>
                  <a:prstClr val="black"/>
                </a:solidFill>
                <a:effectLst/>
                <a:uLnTx/>
                <a:uFillTx/>
                <a:latin typeface="Tenorite"/>
                <a:ea typeface="+mn-ea"/>
                <a:cs typeface="Arial"/>
                <a:sym typeface="Arial"/>
              </a:rPr>
              <a:t>Loss of $1 Trillion Per Year</a:t>
            </a:r>
          </a:p>
          <a:p>
            <a:pPr marL="0" marR="0" lvl="0" indent="-228600" algn="l" defTabSz="914400" rtl="0" eaLnBrk="1" fontAlgn="auto" latinLnBrk="0" hangingPunct="1">
              <a:lnSpc>
                <a:spcPct val="90000"/>
              </a:lnSpc>
              <a:spcBef>
                <a:spcPts val="0"/>
              </a:spcBef>
              <a:spcAft>
                <a:spcPts val="600"/>
              </a:spcAft>
              <a:buClr>
                <a:srgbClr val="000000"/>
              </a:buClr>
              <a:buSzTx/>
              <a:buFont typeface="Arial" panose="020B0604020202020204" pitchFamily="34" charset="0"/>
              <a:buChar char="•"/>
              <a:tabLst/>
              <a:defRPr/>
            </a:pPr>
            <a:endParaRPr kumimoji="0" lang="en-US" sz="2200" b="1" i="0" u="none" strike="noStrike" kern="1200" cap="none" spc="0" normalizeH="0" baseline="0" noProof="0">
              <a:ln>
                <a:noFill/>
              </a:ln>
              <a:solidFill>
                <a:prstClr val="black"/>
              </a:solidFill>
              <a:effectLst/>
              <a:uLnTx/>
              <a:uFillTx/>
              <a:latin typeface="Tenorite"/>
              <a:ea typeface="+mn-ea"/>
              <a:cs typeface="Arial"/>
              <a:sym typeface="Arial"/>
            </a:endParaRPr>
          </a:p>
          <a:p>
            <a:pPr marL="0" marR="0" lvl="0" indent="-228600" algn="l" defTabSz="914400" rtl="0" eaLnBrk="1" fontAlgn="auto" latinLnBrk="0" hangingPunct="1">
              <a:lnSpc>
                <a:spcPct val="90000"/>
              </a:lnSpc>
              <a:spcBef>
                <a:spcPts val="0"/>
              </a:spcBef>
              <a:spcAft>
                <a:spcPts val="600"/>
              </a:spcAft>
              <a:buClr>
                <a:srgbClr val="000000"/>
              </a:buClr>
              <a:buSzTx/>
              <a:buFont typeface="Arial" panose="020B0604020202020204" pitchFamily="34" charset="0"/>
              <a:buChar char="•"/>
              <a:tabLst/>
              <a:defRPr/>
            </a:pPr>
            <a:r>
              <a:rPr kumimoji="0" lang="en-US" sz="2200" b="1" i="0" u="none" strike="noStrike" kern="1200" cap="none" spc="0" normalizeH="0" baseline="0" noProof="0">
                <a:ln>
                  <a:noFill/>
                </a:ln>
                <a:solidFill>
                  <a:prstClr val="black"/>
                </a:solidFill>
                <a:effectLst/>
                <a:uLnTx/>
                <a:uFillTx/>
                <a:latin typeface="Tenorite"/>
                <a:ea typeface="+mn-ea"/>
                <a:cs typeface="Arial"/>
                <a:sym typeface="Arial"/>
              </a:rPr>
              <a:t>Contributes to the ⅓ health spending</a:t>
            </a:r>
          </a:p>
        </p:txBody>
      </p:sp>
      <p:pic>
        <p:nvPicPr>
          <p:cNvPr id="4" name="Google Shape;564;p85" descr="Chart&#10;&#10;Description automatically generated">
            <a:extLst>
              <a:ext uri="{FF2B5EF4-FFF2-40B4-BE49-F238E27FC236}">
                <a16:creationId xmlns:a16="http://schemas.microsoft.com/office/drawing/2014/main" id="{3CFB31EA-9536-79B0-908B-F07F9B01D554}"/>
              </a:ext>
            </a:extLst>
          </p:cNvPr>
          <p:cNvPicPr preferRelativeResize="0"/>
          <p:nvPr/>
        </p:nvPicPr>
        <p:blipFill>
          <a:blip r:embed="rId2"/>
          <a:stretch>
            <a:fillRect/>
          </a:stretch>
        </p:blipFill>
        <p:spPr>
          <a:xfrm>
            <a:off x="5165819" y="640080"/>
            <a:ext cx="5066888" cy="5858966"/>
          </a:xfrm>
          <a:prstGeom prst="rect">
            <a:avLst/>
          </a:prstGeom>
          <a:noFill/>
        </p:spPr>
      </p:pic>
      <p:sp>
        <p:nvSpPr>
          <p:cNvPr id="5" name="Slide Number Placeholder 4">
            <a:extLst>
              <a:ext uri="{FF2B5EF4-FFF2-40B4-BE49-F238E27FC236}">
                <a16:creationId xmlns:a16="http://schemas.microsoft.com/office/drawing/2014/main" id="{FFA88571-5D6A-5EA7-E059-88F189D2402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49DFD55-3C28-40EF-9E31-A92D2E4017FF}" type="slidenum">
              <a:rPr kumimoji="0" lang="en-US" sz="1200" b="0" i="0" u="none" strike="noStrike" kern="1200" cap="none" spc="0" normalizeH="0" baseline="0" noProof="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Tenorite"/>
              <a:ea typeface="+mn-ea"/>
              <a:cs typeface="+mn-cs"/>
            </a:endParaRPr>
          </a:p>
        </p:txBody>
      </p:sp>
    </p:spTree>
    <p:extLst>
      <p:ext uri="{BB962C8B-B14F-4D97-AF65-F5344CB8AC3E}">
        <p14:creationId xmlns:p14="http://schemas.microsoft.com/office/powerpoint/2010/main" val="4046359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0F19E-783E-6B59-016C-6619C93137CB}"/>
              </a:ext>
            </a:extLst>
          </p:cNvPr>
          <p:cNvSpPr>
            <a:spLocks noGrp="1"/>
          </p:cNvSpPr>
          <p:nvPr>
            <p:ph type="title"/>
          </p:nvPr>
        </p:nvSpPr>
        <p:spPr/>
        <p:txBody>
          <a:bodyPr>
            <a:normAutofit fontScale="90000"/>
          </a:bodyPr>
          <a:lstStyle/>
          <a:p>
            <a:r>
              <a:rPr lang="en-US" sz="3300" b="1">
                <a:solidFill>
                  <a:schemeClr val="accent5">
                    <a:lumMod val="75000"/>
                  </a:schemeClr>
                </a:solidFill>
                <a:ea typeface="+mj-lt"/>
                <a:cs typeface="+mj-lt"/>
              </a:rPr>
              <a:t>Medical Diagnostic Errors in the United States</a:t>
            </a:r>
            <a:endParaRPr lang="en-US" b="1">
              <a:solidFill>
                <a:schemeClr val="accent5">
                  <a:lumMod val="75000"/>
                </a:schemeClr>
              </a:solidFill>
            </a:endParaRPr>
          </a:p>
          <a:p>
            <a:br>
              <a:rPr lang="en-US"/>
            </a:br>
            <a:endParaRPr lang="en-US" b="1">
              <a:solidFill>
                <a:schemeClr val="accent5">
                  <a:lumMod val="75000"/>
                </a:schemeClr>
              </a:solidFill>
            </a:endParaRPr>
          </a:p>
        </p:txBody>
      </p:sp>
      <p:sp>
        <p:nvSpPr>
          <p:cNvPr id="5" name="Slide Number Placeholder 4">
            <a:extLst>
              <a:ext uri="{FF2B5EF4-FFF2-40B4-BE49-F238E27FC236}">
                <a16:creationId xmlns:a16="http://schemas.microsoft.com/office/drawing/2014/main" id="{1B970051-E6C3-DD72-29E9-D0D670CFB2E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9DFD55-3C28-40EF-9E31-A92D2E4017FF}" type="slidenum">
              <a:rPr kumimoji="0" lang="en-US" sz="900" b="0" i="0" u="none" strike="noStrike" kern="1200" cap="none" spc="0" normalizeH="0" baseline="0" noProof="0" smtClean="0">
                <a:ln>
                  <a:noFill/>
                </a:ln>
                <a:solidFill>
                  <a:prstClr val="black">
                    <a:tint val="75000"/>
                  </a:prstClr>
                </a:solidFill>
                <a:effectLst/>
                <a:uLnTx/>
                <a:uFillTx/>
                <a:latin typeface="Tenorit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prstClr val="black">
                  <a:tint val="75000"/>
                </a:prstClr>
              </a:solidFill>
              <a:effectLst/>
              <a:uLnTx/>
              <a:uFillTx/>
              <a:latin typeface="Tenorite"/>
              <a:ea typeface="+mn-ea"/>
              <a:cs typeface="+mn-cs"/>
            </a:endParaRPr>
          </a:p>
        </p:txBody>
      </p:sp>
      <p:pic>
        <p:nvPicPr>
          <p:cNvPr id="6" name="Picture 5" descr="A person and person standing next to each other&#10;&#10;Description automatically generated">
            <a:extLst>
              <a:ext uri="{FF2B5EF4-FFF2-40B4-BE49-F238E27FC236}">
                <a16:creationId xmlns:a16="http://schemas.microsoft.com/office/drawing/2014/main" id="{C124B580-5A95-7D7B-803B-7CE11C7981C8}"/>
              </a:ext>
            </a:extLst>
          </p:cNvPr>
          <p:cNvPicPr>
            <a:picLocks noChangeAspect="1"/>
          </p:cNvPicPr>
          <p:nvPr/>
        </p:nvPicPr>
        <p:blipFill>
          <a:blip r:embed="rId3"/>
          <a:stretch>
            <a:fillRect/>
          </a:stretch>
        </p:blipFill>
        <p:spPr>
          <a:xfrm>
            <a:off x="1676400" y="1428750"/>
            <a:ext cx="8839200" cy="4000500"/>
          </a:xfrm>
          <a:prstGeom prst="rect">
            <a:avLst/>
          </a:prstGeom>
        </p:spPr>
      </p:pic>
      <p:sp>
        <p:nvSpPr>
          <p:cNvPr id="7" name="TextBox 6">
            <a:extLst>
              <a:ext uri="{FF2B5EF4-FFF2-40B4-BE49-F238E27FC236}">
                <a16:creationId xmlns:a16="http://schemas.microsoft.com/office/drawing/2014/main" id="{BEDA1908-5514-2947-A213-AB68D7661F9B}"/>
              </a:ext>
            </a:extLst>
          </p:cNvPr>
          <p:cNvSpPr txBox="1"/>
          <p:nvPr/>
        </p:nvSpPr>
        <p:spPr>
          <a:xfrm>
            <a:off x="1676400" y="1431471"/>
            <a:ext cx="2743200" cy="369332"/>
          </a:xfrm>
          <a:prstGeom prst="rect">
            <a:avLst/>
          </a:prstGeom>
          <a:solidFill>
            <a:schemeClr val="accent6">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enorite"/>
              <a:ea typeface="+mn-ea"/>
              <a:cs typeface="+mn-cs"/>
            </a:endParaRPr>
          </a:p>
        </p:txBody>
      </p:sp>
      <p:sp>
        <p:nvSpPr>
          <p:cNvPr id="8" name="TextBox 7">
            <a:extLst>
              <a:ext uri="{FF2B5EF4-FFF2-40B4-BE49-F238E27FC236}">
                <a16:creationId xmlns:a16="http://schemas.microsoft.com/office/drawing/2014/main" id="{D450CCE3-1C86-EB2B-1DBE-779C95423C19}"/>
              </a:ext>
            </a:extLst>
          </p:cNvPr>
          <p:cNvSpPr txBox="1"/>
          <p:nvPr/>
        </p:nvSpPr>
        <p:spPr>
          <a:xfrm>
            <a:off x="1778454" y="4894489"/>
            <a:ext cx="2743200" cy="369332"/>
          </a:xfrm>
          <a:prstGeom prst="rect">
            <a:avLst/>
          </a:prstGeom>
          <a:solidFill>
            <a:schemeClr val="accent6">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203880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90"/>
          <p:cNvSpPr txBox="1">
            <a:spLocks noGrp="1"/>
          </p:cNvSpPr>
          <p:nvPr>
            <p:ph type="title"/>
          </p:nvPr>
        </p:nvSpPr>
        <p:spPr>
          <a:xfrm>
            <a:off x="4027549" y="353097"/>
            <a:ext cx="3094400" cy="763600"/>
          </a:xfrm>
          <a:prstGeom prst="rect">
            <a:avLst/>
          </a:prstGeom>
        </p:spPr>
        <p:txBody>
          <a:bodyPr spcFirstLastPara="1" wrap="square" lIns="121900" tIns="121900" rIns="121900" bIns="121900" anchor="t" anchorCtr="0">
            <a:normAutofit/>
          </a:bodyPr>
          <a:lstStyle/>
          <a:p>
            <a:r>
              <a:rPr lang="en" sz="3200" b="1">
                <a:solidFill>
                  <a:srgbClr val="3C78D8"/>
                </a:solidFill>
              </a:rPr>
              <a:t>Applications</a:t>
            </a:r>
            <a:endParaRPr lang="en-US" sz="3200" b="1">
              <a:solidFill>
                <a:srgbClr val="3C78D8"/>
              </a:solidFill>
            </a:endParaRPr>
          </a:p>
        </p:txBody>
      </p:sp>
      <p:grpSp>
        <p:nvGrpSpPr>
          <p:cNvPr id="594" name="Google Shape;594;p90"/>
          <p:cNvGrpSpPr/>
          <p:nvPr/>
        </p:nvGrpSpPr>
        <p:grpSpPr>
          <a:xfrm>
            <a:off x="3975755" y="1945865"/>
            <a:ext cx="3174624" cy="4248803"/>
            <a:chOff x="3071457" y="2013875"/>
            <a:chExt cx="1944600" cy="1569600"/>
          </a:xfrm>
        </p:grpSpPr>
        <p:sp>
          <p:nvSpPr>
            <p:cNvPr id="595" name="Google Shape;595;p90"/>
            <p:cNvSpPr/>
            <p:nvPr/>
          </p:nvSpPr>
          <p:spPr>
            <a:xfrm rot="10800000" flipH="1">
              <a:off x="3071457" y="2013875"/>
              <a:ext cx="1944600" cy="1569600"/>
            </a:xfrm>
            <a:prstGeom prst="round2DiagRect">
              <a:avLst>
                <a:gd name="adj1" fmla="val 0"/>
                <a:gd name="adj2" fmla="val 17764"/>
              </a:avLst>
            </a:prstGeom>
            <a:solidFill>
              <a:srgbClr val="3C78D8"/>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596" name="Google Shape;596;p90"/>
            <p:cNvSpPr txBox="1"/>
            <p:nvPr/>
          </p:nvSpPr>
          <p:spPr>
            <a:xfrm>
              <a:off x="3202033" y="2143789"/>
              <a:ext cx="1766100" cy="459900"/>
            </a:xfrm>
            <a:prstGeom prst="rect">
              <a:avLst/>
            </a:prstGeom>
            <a:solidFill>
              <a:srgbClr val="3C78D8"/>
            </a:solid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Tx/>
                <a:buNone/>
                <a:tabLst/>
                <a:defRPr/>
              </a:pPr>
              <a:r>
                <a:rPr kumimoji="0" lang="en" sz="2133" b="1" i="0" u="none" strike="noStrike" kern="1200" cap="none" spc="0" normalizeH="0" baseline="0" noProof="0">
                  <a:ln>
                    <a:noFill/>
                  </a:ln>
                  <a:solidFill>
                    <a:srgbClr val="FFFFFF"/>
                  </a:solidFill>
                  <a:effectLst/>
                  <a:uLnTx/>
                  <a:uFillTx/>
                  <a:latin typeface="Roboto"/>
                  <a:ea typeface="Roboto"/>
                  <a:cs typeface="Roboto"/>
                  <a:sym typeface="Roboto"/>
                </a:rPr>
                <a:t>Medical Imaging and Diagnostic</a:t>
              </a:r>
              <a:endParaRPr kumimoji="0" sz="2133" b="1" i="0" u="none" strike="noStrike" kern="1200" cap="none" spc="0" normalizeH="0" baseline="0" noProof="0">
                <a:ln>
                  <a:noFill/>
                </a:ln>
                <a:solidFill>
                  <a:srgbClr val="FFFFFF"/>
                </a:solidFill>
                <a:effectLst/>
                <a:uLnTx/>
                <a:uFillTx/>
                <a:latin typeface="Roboto"/>
                <a:ea typeface="Roboto"/>
                <a:cs typeface="Roboto"/>
                <a:sym typeface="Roboto"/>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kumimoji="0" sz="1467" b="1" i="0" u="none" strike="noStrike" kern="1200" cap="none" spc="0" normalizeH="0" baseline="0" noProof="0">
                <a:ln>
                  <a:noFill/>
                </a:ln>
                <a:solidFill>
                  <a:srgbClr val="FFFFFF"/>
                </a:solidFill>
                <a:effectLst/>
                <a:uLnTx/>
                <a:uFillTx/>
                <a:latin typeface="Roboto"/>
                <a:ea typeface="Roboto"/>
                <a:cs typeface="Roboto"/>
                <a:sym typeface="Robot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67" b="1"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597" name="Google Shape;597;p90"/>
            <p:cNvSpPr txBox="1"/>
            <p:nvPr/>
          </p:nvSpPr>
          <p:spPr>
            <a:xfrm>
              <a:off x="3125854" y="2561777"/>
              <a:ext cx="1842300" cy="666900"/>
            </a:xfrm>
            <a:prstGeom prst="rect">
              <a:avLst/>
            </a:prstGeom>
            <a:solidFill>
              <a:srgbClr val="3C78D8"/>
            </a:solidFill>
            <a:ln>
              <a:noFill/>
            </a:ln>
          </p:spPr>
          <p:txBody>
            <a:bodyPr spcFirstLastPara="1" wrap="square" lIns="121900" tIns="121900" rIns="121900" bIns="121900" anchor="t" anchorCtr="0">
              <a:noAutofit/>
            </a:bodyPr>
            <a:lstStyle/>
            <a:p>
              <a:pPr marL="609585" marR="0" lvl="0" indent="-397923"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67" b="0" i="0" u="none" strike="noStrike" kern="1200" cap="none" spc="0" normalizeH="0" baseline="0" noProof="0">
                  <a:ln>
                    <a:noFill/>
                  </a:ln>
                  <a:solidFill>
                    <a:srgbClr val="FFFFFF"/>
                  </a:solidFill>
                  <a:effectLst/>
                  <a:uLnTx/>
                  <a:uFillTx/>
                  <a:latin typeface="Roboto"/>
                  <a:ea typeface="Roboto"/>
                  <a:cs typeface="Roboto"/>
                  <a:sym typeface="Roboto"/>
                </a:rPr>
                <a:t>Diagnostic error prevention</a:t>
              </a:r>
              <a:endParaRPr kumimoji="0" sz="1467" b="0" i="0" u="none" strike="noStrike" kern="1200" cap="none" spc="0" normalizeH="0" baseline="0" noProof="0">
                <a:ln>
                  <a:noFill/>
                </a:ln>
                <a:solidFill>
                  <a:srgbClr val="FFFFFF"/>
                </a:solidFill>
                <a:effectLst/>
                <a:uLnTx/>
                <a:uFillTx/>
                <a:latin typeface="Roboto"/>
                <a:ea typeface="Roboto"/>
                <a:cs typeface="Roboto"/>
                <a:sym typeface="Roboto"/>
              </a:endParaRPr>
            </a:p>
            <a:p>
              <a:pPr marL="609585" marR="0" lvl="0" indent="-397923"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67" b="0" i="0" u="none" strike="noStrike" kern="1200" cap="none" spc="0" normalizeH="0" baseline="0" noProof="0">
                  <a:ln>
                    <a:noFill/>
                  </a:ln>
                  <a:solidFill>
                    <a:srgbClr val="FFFFFF"/>
                  </a:solidFill>
                  <a:effectLst/>
                  <a:uLnTx/>
                  <a:uFillTx/>
                  <a:latin typeface="Roboto"/>
                  <a:ea typeface="Roboto"/>
                  <a:cs typeface="Roboto"/>
                  <a:sym typeface="Roboto"/>
                </a:rPr>
                <a:t>Medical imaging</a:t>
              </a:r>
              <a:endParaRPr kumimoji="0" sz="1467" b="0" i="0" u="none" strike="noStrike" kern="1200" cap="none" spc="0" normalizeH="0" baseline="0" noProof="0">
                <a:ln>
                  <a:noFill/>
                </a:ln>
                <a:solidFill>
                  <a:srgbClr val="FFFFFF"/>
                </a:solidFill>
                <a:effectLst/>
                <a:uLnTx/>
                <a:uFillTx/>
                <a:latin typeface="Roboto"/>
                <a:ea typeface="Roboto"/>
                <a:cs typeface="Roboto"/>
                <a:sym typeface="Roboto"/>
              </a:endParaRPr>
            </a:p>
            <a:p>
              <a:pPr marL="609585" marR="0" lvl="0" indent="-397923"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67" b="0" i="0" u="none" strike="noStrike" kern="1200" cap="none" spc="0" normalizeH="0" baseline="0" noProof="0">
                  <a:ln>
                    <a:noFill/>
                  </a:ln>
                  <a:solidFill>
                    <a:srgbClr val="FFFFFF"/>
                  </a:solidFill>
                  <a:effectLst/>
                  <a:uLnTx/>
                  <a:uFillTx/>
                  <a:latin typeface="Roboto"/>
                  <a:ea typeface="Roboto"/>
                  <a:cs typeface="Roboto"/>
                  <a:sym typeface="Roboto"/>
                </a:rPr>
                <a:t>Early diagnostic</a:t>
              </a:r>
              <a:endParaRPr kumimoji="0" sz="1467" b="0" i="0" u="none" strike="noStrike" kern="1200" cap="none" spc="0" normalizeH="0" baseline="0" noProof="0">
                <a:ln>
                  <a:noFill/>
                </a:ln>
                <a:solidFill>
                  <a:srgbClr val="FFFFFF"/>
                </a:solidFill>
                <a:effectLst/>
                <a:uLnTx/>
                <a:uFillTx/>
                <a:latin typeface="Roboto"/>
                <a:ea typeface="Roboto"/>
                <a:cs typeface="Roboto"/>
                <a:sym typeface="Roboto"/>
              </a:endParaRPr>
            </a:p>
          </p:txBody>
        </p:sp>
      </p:grpSp>
      <p:grpSp>
        <p:nvGrpSpPr>
          <p:cNvPr id="598" name="Google Shape;598;p90"/>
          <p:cNvGrpSpPr/>
          <p:nvPr/>
        </p:nvGrpSpPr>
        <p:grpSpPr>
          <a:xfrm>
            <a:off x="418969" y="1945867"/>
            <a:ext cx="3509106" cy="4244401"/>
            <a:chOff x="909306" y="2013875"/>
            <a:chExt cx="2162100" cy="1592700"/>
          </a:xfrm>
        </p:grpSpPr>
        <p:sp>
          <p:nvSpPr>
            <p:cNvPr id="599" name="Google Shape;599;p90"/>
            <p:cNvSpPr/>
            <p:nvPr/>
          </p:nvSpPr>
          <p:spPr>
            <a:xfrm>
              <a:off x="909306" y="2013875"/>
              <a:ext cx="2162100" cy="1592700"/>
            </a:xfrm>
            <a:prstGeom prst="round2DiagRect">
              <a:avLst>
                <a:gd name="adj1" fmla="val 0"/>
                <a:gd name="adj2" fmla="val 17764"/>
              </a:avLst>
            </a:prstGeom>
            <a:solidFill>
              <a:srgbClr val="93C47D"/>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00" name="Google Shape;600;p90"/>
            <p:cNvSpPr txBox="1"/>
            <p:nvPr/>
          </p:nvSpPr>
          <p:spPr>
            <a:xfrm>
              <a:off x="1270055" y="2181322"/>
              <a:ext cx="1595400" cy="459900"/>
            </a:xfrm>
            <a:prstGeom prst="rect">
              <a:avLst/>
            </a:prstGeom>
            <a:solidFill>
              <a:srgbClr val="93C47D"/>
            </a:solid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1" i="0" u="none" strike="noStrike" kern="1200" cap="none" spc="0" normalizeH="0" baseline="0" noProof="0">
                  <a:ln>
                    <a:noFill/>
                  </a:ln>
                  <a:solidFill>
                    <a:srgbClr val="FFFFFF"/>
                  </a:solidFill>
                  <a:effectLst/>
                  <a:uLnTx/>
                  <a:uFillTx/>
                  <a:latin typeface="Roboto"/>
                  <a:ea typeface="Roboto"/>
                  <a:cs typeface="Roboto"/>
                  <a:sym typeface="Roboto"/>
                </a:rPr>
                <a:t>Patient Care</a:t>
              </a:r>
              <a:endParaRPr kumimoji="0" sz="2533"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601" name="Google Shape;601;p90"/>
            <p:cNvSpPr txBox="1"/>
            <p:nvPr/>
          </p:nvSpPr>
          <p:spPr>
            <a:xfrm>
              <a:off x="910103" y="2524129"/>
              <a:ext cx="2118767" cy="708288"/>
            </a:xfrm>
            <a:prstGeom prst="rect">
              <a:avLst/>
            </a:prstGeom>
            <a:solidFill>
              <a:srgbClr val="93C47D"/>
            </a:solidFill>
            <a:ln>
              <a:noFill/>
            </a:ln>
          </p:spPr>
          <p:txBody>
            <a:bodyPr spcFirstLastPara="1" wrap="square" lIns="121900" tIns="121900" rIns="121900" bIns="121900" anchor="t" anchorCtr="0">
              <a:noAutofit/>
            </a:bodyPr>
            <a:lstStyle/>
            <a:p>
              <a:pPr marL="608965" marR="0" lvl="0" indent="-397510"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50" b="0" i="0" u="none" strike="noStrike" kern="1200" cap="none" spc="0" normalizeH="0" baseline="0" noProof="0">
                  <a:ln>
                    <a:noFill/>
                  </a:ln>
                  <a:solidFill>
                    <a:srgbClr val="FFFFFF"/>
                  </a:solidFill>
                  <a:effectLst/>
                  <a:uLnTx/>
                  <a:uFillTx/>
                  <a:latin typeface="Roboto"/>
                  <a:ea typeface="Roboto"/>
                  <a:cs typeface="Roboto"/>
                  <a:sym typeface="Roboto"/>
                </a:rPr>
                <a:t>Assisted and automated diagnosis and prescription</a:t>
              </a:r>
              <a:endParaRPr kumimoji="0" lang="en-US" sz="1450" b="0" i="0" u="none" strike="noStrike" kern="1200" cap="none" spc="0" normalizeH="0" baseline="0" noProof="0">
                <a:ln>
                  <a:noFill/>
                </a:ln>
                <a:solidFill>
                  <a:srgbClr val="FFFFFF"/>
                </a:solidFill>
                <a:effectLst/>
                <a:uLnTx/>
                <a:uFillTx/>
                <a:latin typeface="Roboto"/>
                <a:ea typeface="Roboto"/>
                <a:cs typeface="Roboto"/>
              </a:endParaRPr>
            </a:p>
            <a:p>
              <a:pPr marL="608965" marR="0" lvl="0" indent="-397510"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50" b="0" i="0" u="none" strike="noStrike" kern="1200" cap="none" spc="0" normalizeH="0" baseline="0" noProof="0">
                  <a:ln>
                    <a:noFill/>
                  </a:ln>
                  <a:solidFill>
                    <a:srgbClr val="FFFFFF"/>
                  </a:solidFill>
                  <a:effectLst/>
                  <a:uLnTx/>
                  <a:uFillTx/>
                  <a:latin typeface="Roboto"/>
                  <a:ea typeface="Roboto"/>
                  <a:cs typeface="Roboto"/>
                  <a:sym typeface="Roboto"/>
                </a:rPr>
                <a:t>Real time case prioritization</a:t>
              </a:r>
              <a:endParaRPr kumimoji="0" sz="1450" b="0" i="0" u="none" strike="noStrike" kern="1200" cap="none" spc="0" normalizeH="0" baseline="0" noProof="0">
                <a:ln>
                  <a:noFill/>
                </a:ln>
                <a:solidFill>
                  <a:srgbClr val="FFFFFF"/>
                </a:solidFill>
                <a:effectLst/>
                <a:uLnTx/>
                <a:uFillTx/>
                <a:latin typeface="Roboto"/>
                <a:ea typeface="Roboto"/>
                <a:cs typeface="Roboto"/>
              </a:endParaRPr>
            </a:p>
            <a:p>
              <a:pPr marL="608965" marR="0" lvl="0" indent="-397510"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50" b="0" i="0" u="none" strike="noStrike" kern="1200" cap="none" spc="0" normalizeH="0" baseline="0" noProof="0">
                  <a:ln>
                    <a:noFill/>
                  </a:ln>
                  <a:solidFill>
                    <a:srgbClr val="FFFFFF"/>
                  </a:solidFill>
                  <a:effectLst/>
                  <a:uLnTx/>
                  <a:uFillTx/>
                  <a:latin typeface="Roboto"/>
                  <a:ea typeface="Roboto"/>
                  <a:cs typeface="Roboto"/>
                  <a:sym typeface="Roboto"/>
                </a:rPr>
                <a:t>Personalized medication and care</a:t>
              </a:r>
              <a:endParaRPr kumimoji="0" sz="1450" b="0" i="0" u="none" strike="noStrike" kern="1200" cap="none" spc="0" normalizeH="0" baseline="0" noProof="0">
                <a:ln>
                  <a:noFill/>
                </a:ln>
                <a:solidFill>
                  <a:srgbClr val="FFFFFF"/>
                </a:solidFill>
                <a:effectLst/>
                <a:uLnTx/>
                <a:uFillTx/>
                <a:latin typeface="Roboto"/>
                <a:ea typeface="Roboto"/>
                <a:cs typeface="Roboto"/>
              </a:endParaRPr>
            </a:p>
            <a:p>
              <a:pPr marL="608965" marR="0" lvl="0" indent="-397510"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50" b="0" i="0" u="none" strike="noStrike" kern="1200" cap="none" spc="0" normalizeH="0" baseline="0" noProof="0">
                  <a:ln>
                    <a:noFill/>
                  </a:ln>
                  <a:solidFill>
                    <a:srgbClr val="FFFFFF"/>
                  </a:solidFill>
                  <a:effectLst/>
                  <a:uLnTx/>
                  <a:uFillTx/>
                  <a:latin typeface="Roboto"/>
                  <a:ea typeface="Roboto"/>
                  <a:cs typeface="Roboto"/>
                  <a:sym typeface="Roboto"/>
                </a:rPr>
                <a:t>Mental Health Management</a:t>
              </a:r>
              <a:endParaRPr kumimoji="0" sz="1467" b="0" i="0" u="none" strike="noStrike" kern="1200" cap="none" spc="0" normalizeH="0" baseline="0" noProof="0">
                <a:ln>
                  <a:noFill/>
                </a:ln>
                <a:solidFill>
                  <a:srgbClr val="FFFFFF"/>
                </a:solidFill>
                <a:effectLst/>
                <a:uLnTx/>
                <a:uFillTx/>
                <a:latin typeface="Roboto"/>
                <a:ea typeface="Roboto"/>
                <a:cs typeface="Roboto"/>
              </a:endParaRPr>
            </a:p>
          </p:txBody>
        </p:sp>
      </p:grpSp>
      <p:grpSp>
        <p:nvGrpSpPr>
          <p:cNvPr id="602" name="Google Shape;602;p90"/>
          <p:cNvGrpSpPr/>
          <p:nvPr/>
        </p:nvGrpSpPr>
        <p:grpSpPr>
          <a:xfrm>
            <a:off x="7177458" y="1987058"/>
            <a:ext cx="3985436" cy="4202466"/>
            <a:chOff x="5015938" y="2013875"/>
            <a:chExt cx="3001200" cy="1569600"/>
          </a:xfrm>
        </p:grpSpPr>
        <p:sp>
          <p:nvSpPr>
            <p:cNvPr id="603" name="Google Shape;603;p90"/>
            <p:cNvSpPr/>
            <p:nvPr/>
          </p:nvSpPr>
          <p:spPr>
            <a:xfrm>
              <a:off x="5015938" y="2013875"/>
              <a:ext cx="3001200" cy="1569600"/>
            </a:xfrm>
            <a:prstGeom prst="round2DiagRect">
              <a:avLst>
                <a:gd name="adj1" fmla="val 0"/>
                <a:gd name="adj2" fmla="val 17764"/>
              </a:avLst>
            </a:prstGeom>
            <a:solidFill>
              <a:srgbClr val="76A5AF"/>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04" name="Google Shape;604;p90"/>
            <p:cNvSpPr txBox="1"/>
            <p:nvPr/>
          </p:nvSpPr>
          <p:spPr>
            <a:xfrm>
              <a:off x="5213183" y="2181320"/>
              <a:ext cx="2697900" cy="459900"/>
            </a:xfrm>
            <a:prstGeom prst="rect">
              <a:avLst/>
            </a:prstGeom>
            <a:solidFill>
              <a:srgbClr val="76A5AF"/>
            </a:solid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33" b="1" i="0" u="none" strike="noStrike" kern="1200" cap="none" spc="0" normalizeH="0" baseline="0" noProof="0">
                  <a:ln>
                    <a:noFill/>
                  </a:ln>
                  <a:solidFill>
                    <a:srgbClr val="FFFFFF"/>
                  </a:solidFill>
                  <a:effectLst/>
                  <a:uLnTx/>
                  <a:uFillTx/>
                  <a:latin typeface="Roboto"/>
                  <a:ea typeface="Roboto"/>
                  <a:cs typeface="Roboto"/>
                  <a:sym typeface="Roboto"/>
                </a:rPr>
                <a:t>Research and Development</a:t>
              </a:r>
              <a:endParaRPr kumimoji="0" sz="2133" b="0" i="0" u="none" strike="noStrike" kern="1200" cap="none" spc="0" normalizeH="0" baseline="0" noProof="0">
                <a:ln>
                  <a:noFill/>
                </a:ln>
                <a:solidFill>
                  <a:srgbClr val="FFFFFF"/>
                </a:solidFill>
                <a:effectLst/>
                <a:uLnTx/>
                <a:uFillTx/>
                <a:latin typeface="Roboto"/>
                <a:ea typeface="Roboto"/>
                <a:cs typeface="Roboto"/>
                <a:sym typeface="Roboto"/>
              </a:endParaRPr>
            </a:p>
          </p:txBody>
        </p:sp>
        <p:sp>
          <p:nvSpPr>
            <p:cNvPr id="605" name="Google Shape;605;p90"/>
            <p:cNvSpPr txBox="1"/>
            <p:nvPr/>
          </p:nvSpPr>
          <p:spPr>
            <a:xfrm>
              <a:off x="5360225" y="2566220"/>
              <a:ext cx="2417100" cy="512400"/>
            </a:xfrm>
            <a:prstGeom prst="rect">
              <a:avLst/>
            </a:prstGeom>
            <a:solidFill>
              <a:srgbClr val="76A5AF"/>
            </a:solidFill>
            <a:ln>
              <a:noFill/>
            </a:ln>
          </p:spPr>
          <p:txBody>
            <a:bodyPr spcFirstLastPara="1" wrap="square" lIns="121900" tIns="121900" rIns="121900" bIns="121900" anchor="t" anchorCtr="0">
              <a:noAutofit/>
            </a:bodyPr>
            <a:lstStyle/>
            <a:p>
              <a:pPr marL="609585" marR="0" lvl="0" indent="-397923"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67" b="0" i="0" u="none" strike="noStrike" kern="1200" cap="none" spc="0" normalizeH="0" baseline="0" noProof="0" dirty="0">
                  <a:ln>
                    <a:noFill/>
                  </a:ln>
                  <a:solidFill>
                    <a:srgbClr val="FFFFFF"/>
                  </a:solidFill>
                  <a:effectLst/>
                  <a:uLnTx/>
                  <a:uFillTx/>
                  <a:latin typeface="Roboto"/>
                  <a:ea typeface="Roboto"/>
                  <a:cs typeface="Roboto"/>
                  <a:sym typeface="Roboto"/>
                </a:rPr>
                <a:t>Drug Discovery</a:t>
              </a:r>
              <a:endParaRPr kumimoji="0" sz="1467" b="0" i="0" u="none" strike="noStrike" kern="1200" cap="none" spc="0" normalizeH="0" baseline="0" noProof="0" dirty="0">
                <a:ln>
                  <a:noFill/>
                </a:ln>
                <a:solidFill>
                  <a:srgbClr val="FFFFFF"/>
                </a:solidFill>
                <a:effectLst/>
                <a:uLnTx/>
                <a:uFillTx/>
                <a:latin typeface="Roboto"/>
                <a:ea typeface="Roboto"/>
                <a:cs typeface="Roboto"/>
                <a:sym typeface="Roboto"/>
              </a:endParaRPr>
            </a:p>
            <a:p>
              <a:pPr marL="609585" marR="0" lvl="0" indent="-397923"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67" b="0" i="0" u="none" strike="noStrike" kern="1200" cap="none" spc="0" normalizeH="0" baseline="0" noProof="0" dirty="0">
                  <a:ln>
                    <a:noFill/>
                  </a:ln>
                  <a:solidFill>
                    <a:srgbClr val="FFFFFF"/>
                  </a:solidFill>
                  <a:effectLst/>
                  <a:uLnTx/>
                  <a:uFillTx/>
                  <a:latin typeface="Roboto"/>
                  <a:ea typeface="Roboto"/>
                  <a:cs typeface="Roboto"/>
                  <a:sym typeface="Roboto"/>
                </a:rPr>
                <a:t>Pharmacovigilance Mining</a:t>
              </a:r>
              <a:endParaRPr kumimoji="0" sz="1467" b="0" i="0" u="none" strike="noStrike" kern="1200" cap="none" spc="0" normalizeH="0" baseline="0" noProof="0" dirty="0">
                <a:ln>
                  <a:noFill/>
                </a:ln>
                <a:solidFill>
                  <a:srgbClr val="FFFFFF"/>
                </a:solidFill>
                <a:effectLst/>
                <a:uLnTx/>
                <a:uFillTx/>
                <a:latin typeface="Roboto"/>
                <a:ea typeface="Roboto"/>
                <a:cs typeface="Roboto"/>
                <a:sym typeface="Roboto"/>
              </a:endParaRPr>
            </a:p>
            <a:p>
              <a:pPr marL="609585" marR="0" lvl="0" indent="-397923" algn="l" defTabSz="914400" rtl="0" eaLnBrk="1" fontAlgn="auto" latinLnBrk="0" hangingPunct="1">
                <a:lnSpc>
                  <a:spcPct val="115000"/>
                </a:lnSpc>
                <a:spcBef>
                  <a:spcPts val="0"/>
                </a:spcBef>
                <a:spcAft>
                  <a:spcPts val="0"/>
                </a:spcAft>
                <a:buClr>
                  <a:srgbClr val="FFFFFF"/>
                </a:buClr>
                <a:buSzPts val="1100"/>
                <a:buFont typeface="Roboto"/>
                <a:buChar char="●"/>
                <a:tabLst/>
                <a:defRPr/>
              </a:pPr>
              <a:r>
                <a:rPr kumimoji="0" lang="en" sz="1467" b="0" i="0" u="none" strike="noStrike" kern="1200" cap="none" spc="0" normalizeH="0" baseline="0" noProof="0" dirty="0">
                  <a:ln>
                    <a:noFill/>
                  </a:ln>
                  <a:solidFill>
                    <a:srgbClr val="FFFFFF"/>
                  </a:solidFill>
                  <a:effectLst/>
                  <a:uLnTx/>
                  <a:uFillTx/>
                  <a:latin typeface="Roboto"/>
                  <a:ea typeface="Roboto"/>
                  <a:cs typeface="Roboto"/>
                  <a:sym typeface="Roboto"/>
                </a:rPr>
                <a:t>Healthcare Analytics</a:t>
              </a:r>
              <a:endParaRPr kumimoji="0" sz="1467" b="0" i="0" u="none" strike="noStrike" kern="1200" cap="none" spc="0" normalizeH="0" baseline="0" noProof="0" dirty="0">
                <a:ln>
                  <a:noFill/>
                </a:ln>
                <a:solidFill>
                  <a:srgbClr val="FFFFFF"/>
                </a:solidFill>
                <a:effectLst/>
                <a:uLnTx/>
                <a:uFillTx/>
                <a:latin typeface="Roboto"/>
                <a:ea typeface="Roboto"/>
                <a:cs typeface="Roboto"/>
                <a:sym typeface="Roboto"/>
              </a:endParaRPr>
            </a:p>
          </p:txBody>
        </p:sp>
      </p:grpSp>
    </p:spTree>
    <p:extLst>
      <p:ext uri="{BB962C8B-B14F-4D97-AF65-F5344CB8AC3E}">
        <p14:creationId xmlns:p14="http://schemas.microsoft.com/office/powerpoint/2010/main" val="148337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8"/>
                                        </p:tgtEl>
                                        <p:attrNameLst>
                                          <p:attrName>style.visibility</p:attrName>
                                        </p:attrNameLst>
                                      </p:cBhvr>
                                      <p:to>
                                        <p:strVal val="visible"/>
                                      </p:to>
                                    </p:set>
                                    <p:animEffect transition="in" filter="fade">
                                      <p:cBhvr>
                                        <p:cTn id="7" dur="500"/>
                                        <p:tgtEl>
                                          <p:spTgt spid="5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94"/>
                                        </p:tgtEl>
                                        <p:attrNameLst>
                                          <p:attrName>style.visibility</p:attrName>
                                        </p:attrNameLst>
                                      </p:cBhvr>
                                      <p:to>
                                        <p:strVal val="visible"/>
                                      </p:to>
                                    </p:set>
                                    <p:animEffect transition="in" filter="fade">
                                      <p:cBhvr>
                                        <p:cTn id="12" dur="500"/>
                                        <p:tgtEl>
                                          <p:spTgt spid="5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2"/>
                                        </p:tgtEl>
                                        <p:attrNameLst>
                                          <p:attrName>style.visibility</p:attrName>
                                        </p:attrNameLst>
                                      </p:cBhvr>
                                      <p:to>
                                        <p:strVal val="visible"/>
                                      </p:to>
                                    </p:set>
                                    <p:animEffect transition="in" filter="fade">
                                      <p:cBhvr>
                                        <p:cTn id="17" dur="500"/>
                                        <p:tgtEl>
                                          <p:spTgt spid="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48"/>
        <p:cNvGrpSpPr/>
        <p:nvPr/>
      </p:nvGrpSpPr>
      <p:grpSpPr>
        <a:xfrm>
          <a:off x="0" y="0"/>
          <a:ext cx="0" cy="0"/>
          <a:chOff x="0" y="0"/>
          <a:chExt cx="0" cy="0"/>
        </a:xfrm>
      </p:grpSpPr>
      <p:sp>
        <p:nvSpPr>
          <p:cNvPr id="649" name="Google Shape;649;p94"/>
          <p:cNvSpPr txBox="1"/>
          <p:nvPr/>
        </p:nvSpPr>
        <p:spPr>
          <a:xfrm>
            <a:off x="84200" y="89633"/>
            <a:ext cx="12023600" cy="104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Roboto Condensed"/>
              <a:ea typeface="Roboto Condensed"/>
              <a:cs typeface="Roboto Condensed"/>
              <a:sym typeface="Roboto Condensed"/>
            </a:endParaRPr>
          </a:p>
        </p:txBody>
      </p:sp>
      <p:sp>
        <p:nvSpPr>
          <p:cNvPr id="650" name="Google Shape;650;p94"/>
          <p:cNvSpPr txBox="1"/>
          <p:nvPr/>
        </p:nvSpPr>
        <p:spPr>
          <a:xfrm>
            <a:off x="260567" y="107567"/>
            <a:ext cx="11572400" cy="5380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3600" b="1" i="0" u="none" strike="noStrike" kern="1200" cap="none" spc="0" normalizeH="0" baseline="0" noProof="0">
                <a:ln>
                  <a:noFill/>
                </a:ln>
                <a:solidFill>
                  <a:srgbClr val="0070C0"/>
                </a:solidFill>
                <a:effectLst/>
                <a:uLnTx/>
                <a:uFillTx/>
                <a:latin typeface="Roboto Condensed"/>
                <a:ea typeface="Roboto Condensed"/>
                <a:cs typeface="Roboto Condensed"/>
                <a:sym typeface="Roboto Condensed"/>
              </a:rPr>
              <a:t> Application: Consumer Healthcare Question Answering</a:t>
            </a:r>
            <a:endParaRPr kumimoji="0" lang="en-US" sz="3600" b="1" i="0" u="none" strike="noStrike" kern="1200" cap="none" spc="0" normalizeH="0" baseline="0" noProof="0">
              <a:ln>
                <a:noFill/>
              </a:ln>
              <a:solidFill>
                <a:srgbClr val="0070C0"/>
              </a:solidFill>
              <a:effectLst/>
              <a:uLnTx/>
              <a:uFillTx/>
              <a:latin typeface="Roboto Condensed"/>
              <a:ea typeface="Roboto Condensed"/>
              <a:cs typeface="Roboto Condensed"/>
            </a:endParaRPr>
          </a:p>
        </p:txBody>
      </p:sp>
      <p:sp>
        <p:nvSpPr>
          <p:cNvPr id="651" name="Google Shape;651;p94"/>
          <p:cNvSpPr txBox="1"/>
          <p:nvPr/>
        </p:nvSpPr>
        <p:spPr>
          <a:xfrm>
            <a:off x="203200" y="1255533"/>
            <a:ext cx="1668400" cy="635968"/>
          </a:xfrm>
          <a:prstGeom prst="rect">
            <a:avLst/>
          </a:prstGeom>
          <a:solidFill>
            <a:schemeClr val="lt1"/>
          </a:solid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52" name="Google Shape;652;p94"/>
          <p:cNvSpPr txBox="1"/>
          <p:nvPr/>
        </p:nvSpPr>
        <p:spPr>
          <a:xfrm>
            <a:off x="260567" y="1400733"/>
            <a:ext cx="11847600" cy="3979639"/>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I an </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autoimmune disease</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 and suffer with </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Multiple Chemical Sensitivity (MCS)</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 Recently I purchased a new combustion heater and went away for the first week while my friend burned it daily to allow the paint to cure. However when I returned, each time I lit it, after 1/2 a hour this pungent toxic burning plastic smell filles the house causing my </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mouth to burn, a rash on my face, a whooshing sound in my ears. </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I couldn't make a decision, had an urgency to defecate and then fight and flight panic affected so badly I had to leave my home. I had the manufactures come to my home but the didn't wait long enough for the smell to start, there were more concerned with the function of the unit, no the toxic smell. The </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did admit that the flu had not been correctly installed </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and they are going to rectify that however they assured me that the smell I described would not be coming from the fire. So I tried it again and the smell reoccurred, this time I got a friend to come and help. He suggested it might be the new vinyl flooring of gassing as the house heated up. ( I had recently had a reno done. </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My issue is that I need to identify what is making me ill</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 so I can avoid it. If it proves to be the floor I will get rid of it. I cant live in my home under these conditions as this c</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hemical effects me so much it makes me literally crazy</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 I </a:t>
            </a:r>
            <a:r>
              <a:rPr kumimoji="0" lang="en" sz="1733" b="1"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cant talk, I get confused, I cry then I panic and run.</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 This week the chemical messed with my head so badly I drove in the path of a truck? Lucky he has just started up and missed me. I just sat in the car and cried. </a:t>
            </a:r>
            <a:r>
              <a:rPr kumimoji="0" lang="en" sz="1733" b="1" i="0" u="none" strike="noStrike" kern="1200" cap="none" spc="0" normalizeH="0" baseline="0" noProof="0">
                <a:ln>
                  <a:noFill/>
                </a:ln>
                <a:solidFill>
                  <a:srgbClr val="A61C00"/>
                </a:solidFill>
                <a:effectLst/>
                <a:highlight>
                  <a:srgbClr val="FFFFFF"/>
                </a:highlight>
                <a:uLnTx/>
                <a:uFillTx/>
                <a:latin typeface="Roboto"/>
                <a:ea typeface="Roboto"/>
                <a:cs typeface="Roboto"/>
                <a:sym typeface="Roboto"/>
              </a:rPr>
              <a:t>I really really need the help of a specialist.</a:t>
            </a:r>
            <a:r>
              <a:rPr kumimoji="0" lang="en" sz="1733" b="0" i="0" u="none" strike="noStrike" kern="1200" cap="none" spc="0" normalizeH="0" baseline="0" noProof="0">
                <a:ln>
                  <a:noFill/>
                </a:ln>
                <a:solidFill>
                  <a:srgbClr val="000000"/>
                </a:solidFill>
                <a:effectLst/>
                <a:highlight>
                  <a:srgbClr val="FFFFFF"/>
                </a:highlight>
                <a:uLnTx/>
                <a:uFillTx/>
                <a:latin typeface="Roboto"/>
                <a:ea typeface="Roboto"/>
                <a:cs typeface="Roboto"/>
                <a:sym typeface="Roboto"/>
              </a:rPr>
              <a:t> Where do I go from here? Kindest regards</a:t>
            </a:r>
            <a:endParaRPr kumimoji="0" sz="1467"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48279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56"/>
        <p:cNvGrpSpPr/>
        <p:nvPr/>
      </p:nvGrpSpPr>
      <p:grpSpPr>
        <a:xfrm>
          <a:off x="0" y="0"/>
          <a:ext cx="0" cy="0"/>
          <a:chOff x="0" y="0"/>
          <a:chExt cx="0" cy="0"/>
        </a:xfrm>
      </p:grpSpPr>
      <p:sp>
        <p:nvSpPr>
          <p:cNvPr id="657" name="Google Shape;657;p95"/>
          <p:cNvSpPr txBox="1"/>
          <p:nvPr/>
        </p:nvSpPr>
        <p:spPr>
          <a:xfrm>
            <a:off x="84200" y="89633"/>
            <a:ext cx="12023600" cy="104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Roboto Condensed"/>
              <a:ea typeface="Roboto Condensed"/>
              <a:cs typeface="Roboto Condensed"/>
              <a:sym typeface="Roboto Condensed"/>
            </a:endParaRPr>
          </a:p>
        </p:txBody>
      </p:sp>
      <p:sp>
        <p:nvSpPr>
          <p:cNvPr id="658" name="Google Shape;658;p95"/>
          <p:cNvSpPr txBox="1"/>
          <p:nvPr/>
        </p:nvSpPr>
        <p:spPr>
          <a:xfrm>
            <a:off x="260567" y="107567"/>
            <a:ext cx="11572400" cy="5380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3600" b="1" i="0" u="none" strike="noStrike" kern="1200" cap="none" spc="0" normalizeH="0" baseline="0" noProof="0">
                <a:ln>
                  <a:noFill/>
                </a:ln>
                <a:solidFill>
                  <a:srgbClr val="0070C0"/>
                </a:solidFill>
                <a:effectLst/>
                <a:uLnTx/>
                <a:uFillTx/>
                <a:latin typeface="Arial"/>
                <a:ea typeface="+mn-lt"/>
                <a:cs typeface="Arial"/>
                <a:sym typeface="Roboto Condensed"/>
              </a:rPr>
              <a:t>Application: </a:t>
            </a:r>
            <a:r>
              <a:rPr kumimoji="0" lang="en" sz="3600" b="1" i="0" u="none" strike="noStrike" kern="1200" cap="none" spc="0" normalizeH="0" baseline="0" noProof="0">
                <a:ln>
                  <a:noFill/>
                </a:ln>
                <a:solidFill>
                  <a:srgbClr val="0070C0"/>
                </a:solidFill>
                <a:effectLst/>
                <a:uLnTx/>
                <a:uFillTx/>
                <a:latin typeface="Roboto Condensed"/>
                <a:ea typeface="Roboto Condensed"/>
                <a:cs typeface="Roboto Condensed"/>
                <a:sym typeface="Roboto Condensed"/>
              </a:rPr>
              <a:t>Consumer Health Question Summarization</a:t>
            </a:r>
            <a:endParaRPr kumimoji="0" lang="en-US" sz="3600" b="1" i="0" u="none" strike="noStrike" kern="1200" cap="none" spc="0" normalizeH="0" baseline="0" noProof="0">
              <a:ln>
                <a:noFill/>
              </a:ln>
              <a:solidFill>
                <a:srgbClr val="0070C0"/>
              </a:solidFill>
              <a:effectLst/>
              <a:uLnTx/>
              <a:uFillTx/>
              <a:latin typeface="Roboto Condensed"/>
              <a:ea typeface="Roboto Condensed"/>
              <a:cs typeface="Roboto Condensed"/>
            </a:endParaRPr>
          </a:p>
        </p:txBody>
      </p:sp>
      <p:sp>
        <p:nvSpPr>
          <p:cNvPr id="659" name="Google Shape;659;p95"/>
          <p:cNvSpPr txBox="1"/>
          <p:nvPr/>
        </p:nvSpPr>
        <p:spPr>
          <a:xfrm>
            <a:off x="203200" y="1255533"/>
            <a:ext cx="1668400" cy="635968"/>
          </a:xfrm>
          <a:prstGeom prst="rect">
            <a:avLst/>
          </a:prstGeom>
          <a:solidFill>
            <a:schemeClr val="lt1"/>
          </a:solid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60" name="Google Shape;660;p95"/>
          <p:cNvSpPr txBox="1"/>
          <p:nvPr/>
        </p:nvSpPr>
        <p:spPr>
          <a:xfrm>
            <a:off x="354233" y="1180567"/>
            <a:ext cx="11307200" cy="574412"/>
          </a:xfrm>
          <a:prstGeom prst="rect">
            <a:avLst/>
          </a:prstGeom>
          <a:noFill/>
          <a:ln>
            <a:noFill/>
          </a:ln>
        </p:spPr>
        <p:txBody>
          <a:bodyPr spcFirstLastPara="1" wrap="square" lIns="121900" tIns="121900" rIns="121900" bIns="121900" anchor="t" anchorCtr="0">
            <a:spAutoFit/>
          </a:bodyPr>
          <a:lstStyle/>
          <a:p>
            <a:pPr marL="609585" marR="0" lvl="0" indent="-440256" algn="l" defTabSz="914400" rtl="0" eaLnBrk="1" fontAlgn="auto" latinLnBrk="0" hangingPunct="1">
              <a:lnSpc>
                <a:spcPct val="100000"/>
              </a:lnSpc>
              <a:spcBef>
                <a:spcPts val="0"/>
              </a:spcBef>
              <a:spcAft>
                <a:spcPts val="0"/>
              </a:spcAft>
              <a:buClrTx/>
              <a:buSzPts val="1600"/>
              <a:buFontTx/>
              <a:buChar char="●"/>
              <a:tabLst/>
              <a:defRPr/>
            </a:pPr>
            <a:r>
              <a:rPr kumimoji="0" lang="en" sz="2133" b="0" i="0" u="none" strike="noStrike" kern="1200" cap="none" spc="0" normalizeH="0" baseline="0" noProof="0">
                <a:ln>
                  <a:noFill/>
                </a:ln>
                <a:solidFill>
                  <a:srgbClr val="000000"/>
                </a:solidFill>
                <a:effectLst/>
                <a:uLnTx/>
                <a:uFillTx/>
                <a:latin typeface="Arial"/>
                <a:ea typeface="+mn-ea"/>
                <a:cs typeface="+mn-cs"/>
              </a:rPr>
              <a:t>Tackling the complexity of consumer questions by automatic summarization</a:t>
            </a:r>
            <a:endParaRPr kumimoji="0" sz="2133" b="0" i="0" u="none" strike="noStrike" kern="1200" cap="none" spc="0" normalizeH="0" baseline="0" noProof="0">
              <a:ln>
                <a:noFill/>
              </a:ln>
              <a:solidFill>
                <a:srgbClr val="000000"/>
              </a:solidFill>
              <a:effectLst/>
              <a:uLnTx/>
              <a:uFillTx/>
              <a:latin typeface="Arial"/>
              <a:ea typeface="+mn-ea"/>
              <a:cs typeface="+mn-cs"/>
            </a:endParaRPr>
          </a:p>
        </p:txBody>
      </p:sp>
      <p:sp>
        <p:nvSpPr>
          <p:cNvPr id="661" name="Google Shape;661;p95"/>
          <p:cNvSpPr txBox="1"/>
          <p:nvPr/>
        </p:nvSpPr>
        <p:spPr>
          <a:xfrm>
            <a:off x="247800" y="2451301"/>
            <a:ext cx="5363200" cy="4083834"/>
          </a:xfrm>
          <a:prstGeom prst="rect">
            <a:avLst/>
          </a:prstGeom>
          <a:noFill/>
          <a:ln w="9525" cap="flat" cmpd="sng">
            <a:solidFill>
              <a:srgbClr val="3C78D8"/>
            </a:solidFill>
            <a:prstDash val="solid"/>
            <a:round/>
            <a:headEnd type="none" w="sm" len="sm"/>
            <a:tailEnd type="none" w="sm" len="sm"/>
          </a:ln>
        </p:spPr>
        <p:txBody>
          <a:bodyPr spcFirstLastPara="1" wrap="square" lIns="121900" tIns="121900" rIns="121900" bIns="121900"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2267" b="1" i="0" u="none" strike="noStrike" kern="1200" cap="none" spc="0" normalizeH="0" baseline="0" noProof="0">
                <a:ln>
                  <a:noFill/>
                </a:ln>
                <a:solidFill>
                  <a:srgbClr val="000000"/>
                </a:solidFill>
                <a:effectLst/>
                <a:uLnTx/>
                <a:uFillTx/>
                <a:latin typeface="Arial"/>
                <a:ea typeface="+mn-ea"/>
                <a:cs typeface="+mn-cs"/>
              </a:rPr>
              <a:t>Question: </a:t>
            </a:r>
            <a:r>
              <a:rPr kumimoji="0" lang="en" sz="2267" b="0" i="0" u="none" strike="noStrike" kern="1200" cap="none" spc="0" normalizeH="0" baseline="0" noProof="0">
                <a:ln>
                  <a:noFill/>
                </a:ln>
                <a:solidFill>
                  <a:srgbClr val="000000"/>
                </a:solidFill>
                <a:effectLst/>
                <a:uLnTx/>
                <a:uFillTx/>
                <a:latin typeface="Arial"/>
                <a:ea typeface="+mn-ea"/>
                <a:cs typeface="+mn-cs"/>
              </a:rPr>
              <a:t>polymicrogyria. My 16 month old son has this. Does not sit up our crawl yet but still trying and is improving in grabbing things etc etc. Have read about other cases that seem 10000 time worse. </a:t>
            </a:r>
            <a:r>
              <a:rPr kumimoji="0" lang="en" sz="2267" b="1" i="0" u="none" strike="noStrike" kern="1200" cap="none" spc="0" normalizeH="0" baseline="0" noProof="0">
                <a:ln>
                  <a:noFill/>
                </a:ln>
                <a:solidFill>
                  <a:srgbClr val="000000"/>
                </a:solidFill>
                <a:effectLst/>
                <a:uLnTx/>
                <a:uFillTx/>
                <a:latin typeface="Arial"/>
                <a:ea typeface="+mn-ea"/>
                <a:cs typeface="+mn-cs"/>
              </a:rPr>
              <a:t>It's it possible for this post of his brain to grown to normal and he grow out of it?</a:t>
            </a:r>
            <a:endParaRPr kumimoji="0" sz="2267"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sz="2267"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2267" b="1" i="0" u="none" strike="noStrike" kern="1200" cap="none" spc="0" normalizeH="0" baseline="0" noProof="0">
                <a:ln>
                  <a:noFill/>
                </a:ln>
                <a:solidFill>
                  <a:srgbClr val="000000"/>
                </a:solidFill>
                <a:effectLst/>
                <a:uLnTx/>
                <a:uFillTx/>
                <a:latin typeface="Arial"/>
                <a:ea typeface="+mn-ea"/>
                <a:cs typeface="+mn-cs"/>
              </a:rPr>
              <a:t>Summary: </a:t>
            </a:r>
            <a:r>
              <a:rPr kumimoji="0" lang="en" sz="2267" b="0" i="0" u="none" strike="noStrike" kern="1200" cap="none" spc="0" normalizeH="0" baseline="0" noProof="0">
                <a:ln>
                  <a:noFill/>
                </a:ln>
                <a:solidFill>
                  <a:srgbClr val="0000FF"/>
                </a:solidFill>
                <a:effectLst/>
                <a:uLnTx/>
                <a:uFillTx/>
                <a:latin typeface="Arial"/>
                <a:ea typeface="+mn-ea"/>
                <a:cs typeface="+mn-cs"/>
              </a:rPr>
              <a:t>What is the prognosis for polymicrogyria?</a:t>
            </a:r>
            <a:endParaRPr kumimoji="0" sz="2267" b="0" i="0" u="none" strike="noStrike" kern="1200" cap="none" spc="0" normalizeH="0" baseline="0" noProof="0">
              <a:ln>
                <a:noFill/>
              </a:ln>
              <a:solidFill>
                <a:srgbClr val="0000FF"/>
              </a:solidFill>
              <a:effectLst/>
              <a:uLnTx/>
              <a:uFillTx/>
              <a:latin typeface="Arial"/>
              <a:ea typeface="+mn-ea"/>
              <a:cs typeface="+mn-cs"/>
            </a:endParaRPr>
          </a:p>
        </p:txBody>
      </p:sp>
      <p:sp>
        <p:nvSpPr>
          <p:cNvPr id="662" name="Google Shape;662;p95"/>
          <p:cNvSpPr txBox="1"/>
          <p:nvPr/>
        </p:nvSpPr>
        <p:spPr>
          <a:xfrm>
            <a:off x="5835800" y="2451301"/>
            <a:ext cx="5655600" cy="4083834"/>
          </a:xfrm>
          <a:prstGeom prst="rect">
            <a:avLst/>
          </a:prstGeom>
          <a:noFill/>
          <a:ln w="9525" cap="flat" cmpd="sng">
            <a:solidFill>
              <a:srgbClr val="3C78D8"/>
            </a:solidFill>
            <a:prstDash val="solid"/>
            <a:round/>
            <a:headEnd type="none" w="sm" len="sm"/>
            <a:tailEnd type="none" w="sm" len="sm"/>
          </a:ln>
        </p:spPr>
        <p:txBody>
          <a:bodyPr spcFirstLastPara="1" wrap="square" lIns="121900" tIns="121900" rIns="121900" bIns="121900"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2267" b="1" i="0" u="none" strike="noStrike" kern="1200" cap="none" spc="0" normalizeH="0" baseline="0" noProof="0">
                <a:ln>
                  <a:noFill/>
                </a:ln>
                <a:solidFill>
                  <a:srgbClr val="000000"/>
                </a:solidFill>
                <a:effectLst/>
                <a:uLnTx/>
                <a:uFillTx/>
                <a:latin typeface="Arial"/>
                <a:ea typeface="+mn-ea"/>
                <a:cs typeface="+mn-cs"/>
              </a:rPr>
              <a:t>Question: </a:t>
            </a:r>
            <a:r>
              <a:rPr kumimoji="0" lang="en" sz="2267" b="0" i="0" u="none" strike="noStrike" kern="1200" cap="none" spc="0" normalizeH="0" baseline="0" noProof="0">
                <a:ln>
                  <a:noFill/>
                </a:ln>
                <a:solidFill>
                  <a:srgbClr val="000000"/>
                </a:solidFill>
                <a:effectLst/>
                <a:uLnTx/>
                <a:uFillTx/>
                <a:latin typeface="Arial"/>
                <a:ea typeface="+mn-ea"/>
                <a:cs typeface="+mn-cs"/>
              </a:rPr>
              <a:t>SUBJECT: insulin-dependent diabetes in children MESSAGE: Hi, What are the </a:t>
            </a:r>
            <a:r>
              <a:rPr kumimoji="0" lang="en" sz="2267" b="1" i="0" u="none" strike="noStrike" kern="1200" cap="none" spc="0" normalizeH="0" baseline="0" noProof="0">
                <a:ln>
                  <a:noFill/>
                </a:ln>
                <a:solidFill>
                  <a:srgbClr val="000000"/>
                </a:solidFill>
                <a:effectLst/>
                <a:uLnTx/>
                <a:uFillTx/>
                <a:latin typeface="Arial"/>
                <a:ea typeface="+mn-ea"/>
                <a:cs typeface="+mn-cs"/>
              </a:rPr>
              <a:t>causes of insulin-dependent diabetes in children</a:t>
            </a:r>
            <a:r>
              <a:rPr kumimoji="0" lang="en" sz="2267" b="0" i="0" u="none" strike="noStrike" kern="1200" cap="none" spc="0" normalizeH="0" baseline="0" noProof="0">
                <a:ln>
                  <a:noFill/>
                </a:ln>
                <a:solidFill>
                  <a:srgbClr val="000000"/>
                </a:solidFill>
                <a:effectLst/>
                <a:uLnTx/>
                <a:uFillTx/>
                <a:latin typeface="Arial"/>
                <a:ea typeface="+mn-ea"/>
                <a:cs typeface="+mn-cs"/>
              </a:rPr>
              <a:t>? I am searching for </a:t>
            </a:r>
            <a:r>
              <a:rPr kumimoji="0" lang="en" sz="2267" b="1" i="0" u="none" strike="noStrike" kern="1200" cap="none" spc="0" normalizeH="0" baseline="0" noProof="0">
                <a:ln>
                  <a:noFill/>
                </a:ln>
                <a:solidFill>
                  <a:srgbClr val="000000"/>
                </a:solidFill>
                <a:effectLst/>
                <a:uLnTx/>
                <a:uFillTx/>
                <a:latin typeface="Arial"/>
                <a:ea typeface="+mn-ea"/>
                <a:cs typeface="+mn-cs"/>
              </a:rPr>
              <a:t>information on the causes of insulin-dependent diabetes in children.</a:t>
            </a:r>
            <a:endParaRPr kumimoji="0" sz="2267"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sz="2267"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sz="2267"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sz="2267" b="1" i="0" u="none" strike="noStrike" kern="1200" cap="none" spc="0" normalizeH="0" baseline="0" noProof="0">
              <a:ln>
                <a:noFill/>
              </a:ln>
              <a:solidFill>
                <a:srgbClr val="000000"/>
              </a:solidFill>
              <a:effectLst/>
              <a:uLnTx/>
              <a:uFillTx/>
              <a:latin typeface="Arial"/>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2267" b="1" i="0" u="none" strike="noStrike" kern="1200" cap="none" spc="0" normalizeH="0" baseline="0" noProof="0">
                <a:ln>
                  <a:noFill/>
                </a:ln>
                <a:solidFill>
                  <a:srgbClr val="000000"/>
                </a:solidFill>
                <a:effectLst/>
                <a:uLnTx/>
                <a:uFillTx/>
                <a:latin typeface="Arial"/>
                <a:ea typeface="+mn-ea"/>
                <a:cs typeface="+mn-cs"/>
              </a:rPr>
              <a:t>Summary: </a:t>
            </a:r>
            <a:r>
              <a:rPr kumimoji="0" lang="en" sz="2267" b="0" i="0" u="none" strike="noStrike" kern="1200" cap="none" spc="0" normalizeH="0" baseline="0" noProof="0">
                <a:ln>
                  <a:noFill/>
                </a:ln>
                <a:solidFill>
                  <a:srgbClr val="0000FF"/>
                </a:solidFill>
                <a:effectLst/>
                <a:uLnTx/>
                <a:uFillTx/>
                <a:latin typeface="Arial"/>
                <a:ea typeface="+mn-ea"/>
                <a:cs typeface="+mn-cs"/>
              </a:rPr>
              <a:t>What causes type 1 diabetes in children?</a:t>
            </a:r>
            <a:endParaRPr kumimoji="0" sz="2267" b="0" i="0" u="none" strike="noStrike" kern="1200" cap="none" spc="0" normalizeH="0" baseline="0" noProof="0">
              <a:ln>
                <a:noFill/>
              </a:ln>
              <a:solidFill>
                <a:srgbClr val="0000FF"/>
              </a:solidFill>
              <a:effectLst/>
              <a:uLnTx/>
              <a:uFillTx/>
              <a:latin typeface="Arial"/>
              <a:ea typeface="+mn-ea"/>
              <a:cs typeface="+mn-cs"/>
            </a:endParaRPr>
          </a:p>
        </p:txBody>
      </p:sp>
    </p:spTree>
    <p:extLst>
      <p:ext uri="{BB962C8B-B14F-4D97-AF65-F5344CB8AC3E}">
        <p14:creationId xmlns:p14="http://schemas.microsoft.com/office/powerpoint/2010/main" val="3827084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91"/>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Autofit/>
          </a:bodyPr>
          <a:lstStyle/>
          <a:p>
            <a:r>
              <a:rPr lang="en" sz="3700">
                <a:solidFill>
                  <a:srgbClr val="0070C0"/>
                </a:solidFill>
                <a:latin typeface="Arial"/>
                <a:ea typeface="Arial"/>
                <a:cs typeface="Arial"/>
                <a:sym typeface="Arial"/>
              </a:rPr>
              <a:t>Application </a:t>
            </a:r>
            <a:r>
              <a:rPr lang="en">
                <a:solidFill>
                  <a:srgbClr val="0070C0"/>
                </a:solidFill>
              </a:rPr>
              <a:t>: A Mental Health Use Case </a:t>
            </a:r>
            <a:endParaRPr lang="en-US">
              <a:solidFill>
                <a:srgbClr val="0070C0"/>
              </a:solidFill>
            </a:endParaRPr>
          </a:p>
        </p:txBody>
      </p:sp>
      <p:sp>
        <p:nvSpPr>
          <p:cNvPr id="611" name="Google Shape;611;p91"/>
          <p:cNvSpPr/>
          <p:nvPr/>
        </p:nvSpPr>
        <p:spPr>
          <a:xfrm rot="1859">
            <a:off x="2507316" y="2491673"/>
            <a:ext cx="739600" cy="344800"/>
          </a:xfrm>
          <a:prstGeom prst="right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12" name="Google Shape;612;p91"/>
          <p:cNvSpPr/>
          <p:nvPr/>
        </p:nvSpPr>
        <p:spPr>
          <a:xfrm>
            <a:off x="5086565" y="2491633"/>
            <a:ext cx="739200" cy="344800"/>
          </a:xfrm>
          <a:prstGeom prst="right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13" name="Google Shape;613;p91"/>
          <p:cNvSpPr/>
          <p:nvPr/>
        </p:nvSpPr>
        <p:spPr>
          <a:xfrm>
            <a:off x="8075507" y="2491631"/>
            <a:ext cx="739200" cy="344800"/>
          </a:xfrm>
          <a:prstGeom prst="right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grpSp>
        <p:nvGrpSpPr>
          <p:cNvPr id="614" name="Google Shape;614;p91"/>
          <p:cNvGrpSpPr/>
          <p:nvPr/>
        </p:nvGrpSpPr>
        <p:grpSpPr>
          <a:xfrm>
            <a:off x="726967" y="2171437"/>
            <a:ext cx="1370667" cy="1143000"/>
            <a:chOff x="551875" y="2198125"/>
            <a:chExt cx="1028000" cy="1143000"/>
          </a:xfrm>
        </p:grpSpPr>
        <p:sp>
          <p:nvSpPr>
            <p:cNvPr id="615" name="Google Shape;615;p91"/>
            <p:cNvSpPr txBox="1"/>
            <p:nvPr/>
          </p:nvSpPr>
          <p:spPr>
            <a:xfrm>
              <a:off x="551875" y="3111325"/>
              <a:ext cx="1022700" cy="2298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400" b="1" i="0" u="none" strike="noStrike" kern="1200" cap="none" spc="0" normalizeH="0" baseline="0" noProof="0">
                  <a:ln>
                    <a:noFill/>
                  </a:ln>
                  <a:solidFill>
                    <a:srgbClr val="000000"/>
                  </a:solidFill>
                  <a:effectLst/>
                  <a:uLnTx/>
                  <a:uFillTx/>
                  <a:latin typeface="EB Garamond"/>
                  <a:ea typeface="EB Garamond"/>
                  <a:cs typeface="EB Garamond"/>
                  <a:sym typeface="EB Garamond"/>
                </a:rPr>
                <a:t>Patient</a:t>
              </a:r>
              <a:endParaRPr kumimoji="0" sz="2400" b="0" i="0" u="none" strike="noStrike" kern="1200" cap="none" spc="0" normalizeH="0" baseline="0" noProof="0">
                <a:ln>
                  <a:noFill/>
                </a:ln>
                <a:solidFill>
                  <a:srgbClr val="000000"/>
                </a:solidFill>
                <a:effectLst/>
                <a:uLnTx/>
                <a:uFillTx/>
                <a:latin typeface="Arial"/>
                <a:ea typeface="+mn-ea"/>
                <a:cs typeface="+mn-cs"/>
              </a:endParaRPr>
            </a:p>
          </p:txBody>
        </p:sp>
        <p:pic>
          <p:nvPicPr>
            <p:cNvPr id="616" name="Google Shape;616;p91"/>
            <p:cNvPicPr preferRelativeResize="0"/>
            <p:nvPr/>
          </p:nvPicPr>
          <p:blipFill>
            <a:blip r:embed="rId3">
              <a:alphaModFix/>
            </a:blip>
            <a:stretch>
              <a:fillRect/>
            </a:stretch>
          </p:blipFill>
          <p:spPr>
            <a:xfrm>
              <a:off x="671650" y="2198125"/>
              <a:ext cx="908225" cy="908225"/>
            </a:xfrm>
            <a:prstGeom prst="rect">
              <a:avLst/>
            </a:prstGeom>
            <a:noFill/>
            <a:ln>
              <a:noFill/>
            </a:ln>
          </p:spPr>
        </p:pic>
      </p:grpSp>
      <p:sp>
        <p:nvSpPr>
          <p:cNvPr id="618" name="Google Shape;618;p91"/>
          <p:cNvSpPr txBox="1"/>
          <p:nvPr/>
        </p:nvSpPr>
        <p:spPr>
          <a:xfrm>
            <a:off x="6223606" y="3229745"/>
            <a:ext cx="1571200" cy="2298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400" b="1" i="0" u="none" strike="noStrike" kern="1200" cap="none" spc="0" normalizeH="0" baseline="0" noProof="0">
                <a:ln>
                  <a:noFill/>
                </a:ln>
                <a:solidFill>
                  <a:srgbClr val="000000"/>
                </a:solidFill>
                <a:effectLst/>
                <a:uLnTx/>
                <a:uFillTx/>
                <a:latin typeface="EB Garamond"/>
                <a:ea typeface="EB Garamond"/>
                <a:cs typeface="EB Garamond"/>
                <a:sym typeface="EB Garamond"/>
              </a:rPr>
              <a:t>Clinician</a:t>
            </a:r>
            <a:endParaRPr kumimoji="0" sz="2400" b="0" i="0" u="none" strike="noStrike" kern="1200" cap="none" spc="0" normalizeH="0" baseline="0" noProof="0">
              <a:ln>
                <a:noFill/>
              </a:ln>
              <a:solidFill>
                <a:srgbClr val="000000"/>
              </a:solidFill>
              <a:effectLst/>
              <a:uLnTx/>
              <a:uFillTx/>
              <a:latin typeface="Arial"/>
              <a:ea typeface="+mn-ea"/>
              <a:cs typeface="+mn-cs"/>
            </a:endParaRPr>
          </a:p>
        </p:txBody>
      </p:sp>
      <p:grpSp>
        <p:nvGrpSpPr>
          <p:cNvPr id="620" name="Google Shape;620;p91"/>
          <p:cNvGrpSpPr/>
          <p:nvPr/>
        </p:nvGrpSpPr>
        <p:grpSpPr>
          <a:xfrm>
            <a:off x="8814700" y="1958112"/>
            <a:ext cx="3239600" cy="1411712"/>
            <a:chOff x="6306225" y="1015013"/>
            <a:chExt cx="2429700" cy="1411713"/>
          </a:xfrm>
        </p:grpSpPr>
        <p:sp>
          <p:nvSpPr>
            <p:cNvPr id="621" name="Google Shape;621;p91"/>
            <p:cNvSpPr txBox="1"/>
            <p:nvPr/>
          </p:nvSpPr>
          <p:spPr>
            <a:xfrm>
              <a:off x="6306225" y="2196925"/>
              <a:ext cx="2429700" cy="2298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400" b="1" i="0" u="none" strike="noStrike" kern="1200" cap="none" spc="0" normalizeH="0" baseline="0" noProof="0">
                  <a:ln>
                    <a:noFill/>
                  </a:ln>
                  <a:solidFill>
                    <a:srgbClr val="000000"/>
                  </a:solidFill>
                  <a:effectLst/>
                  <a:uLnTx/>
                  <a:uFillTx/>
                  <a:latin typeface="EB Garamond"/>
                  <a:ea typeface="EB Garamond"/>
                  <a:cs typeface="EB Garamond"/>
                  <a:sym typeface="EB Garamond"/>
                </a:rPr>
                <a:t>Healthcare</a:t>
              </a:r>
              <a:endParaRPr kumimoji="0" sz="2400" b="0" i="0" u="none" strike="noStrike" kern="1200" cap="none" spc="0" normalizeH="0" baseline="0" noProof="0">
                <a:ln>
                  <a:noFill/>
                </a:ln>
                <a:solidFill>
                  <a:srgbClr val="000000"/>
                </a:solidFill>
                <a:effectLst/>
                <a:uLnTx/>
                <a:uFillTx/>
                <a:latin typeface="Arial"/>
                <a:ea typeface="+mn-ea"/>
                <a:cs typeface="+mn-cs"/>
              </a:endParaRPr>
            </a:p>
          </p:txBody>
        </p:sp>
        <p:pic>
          <p:nvPicPr>
            <p:cNvPr id="622" name="Google Shape;622;p91"/>
            <p:cNvPicPr preferRelativeResize="0"/>
            <p:nvPr/>
          </p:nvPicPr>
          <p:blipFill>
            <a:blip r:embed="rId4">
              <a:alphaModFix/>
            </a:blip>
            <a:stretch>
              <a:fillRect/>
            </a:stretch>
          </p:blipFill>
          <p:spPr>
            <a:xfrm>
              <a:off x="6931875" y="1015013"/>
              <a:ext cx="1178400" cy="1178400"/>
            </a:xfrm>
            <a:prstGeom prst="rect">
              <a:avLst/>
            </a:prstGeom>
            <a:noFill/>
            <a:ln>
              <a:noFill/>
            </a:ln>
          </p:spPr>
        </p:pic>
      </p:grpSp>
      <p:grpSp>
        <p:nvGrpSpPr>
          <p:cNvPr id="623" name="Google Shape;623;p91"/>
          <p:cNvGrpSpPr/>
          <p:nvPr/>
        </p:nvGrpSpPr>
        <p:grpSpPr>
          <a:xfrm>
            <a:off x="3427333" y="2140875"/>
            <a:ext cx="1363600" cy="1204100"/>
            <a:chOff x="2228275" y="1348025"/>
            <a:chExt cx="1022700" cy="1204100"/>
          </a:xfrm>
        </p:grpSpPr>
        <p:sp>
          <p:nvSpPr>
            <p:cNvPr id="624" name="Google Shape;624;p91"/>
            <p:cNvSpPr txBox="1"/>
            <p:nvPr/>
          </p:nvSpPr>
          <p:spPr>
            <a:xfrm>
              <a:off x="2228275" y="2044525"/>
              <a:ext cx="1022700" cy="507600"/>
            </a:xfrm>
            <a:prstGeom prst="rect">
              <a:avLst/>
            </a:prstGeom>
            <a:noFill/>
            <a:ln>
              <a:noFill/>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400" b="1" i="0" u="none" strike="noStrike" kern="1200" cap="none" spc="0" normalizeH="0" baseline="0" noProof="0">
                  <a:ln>
                    <a:noFill/>
                  </a:ln>
                  <a:solidFill>
                    <a:srgbClr val="000000"/>
                  </a:solidFill>
                  <a:effectLst/>
                  <a:uLnTx/>
                  <a:uFillTx/>
                  <a:latin typeface="EB Garamond"/>
                  <a:ea typeface="EB Garamond"/>
                  <a:cs typeface="EB Garamond"/>
                  <a:sym typeface="EB Garamond"/>
                </a:rPr>
                <a:t>Social Media</a:t>
              </a:r>
              <a:endParaRPr kumimoji="0" sz="2400" b="0" i="0" u="none" strike="noStrike" kern="1200" cap="none" spc="0" normalizeH="0" baseline="0" noProof="0">
                <a:ln>
                  <a:noFill/>
                </a:ln>
                <a:solidFill>
                  <a:srgbClr val="000000"/>
                </a:solidFill>
                <a:effectLst/>
                <a:uLnTx/>
                <a:uFillTx/>
                <a:latin typeface="Arial"/>
                <a:ea typeface="+mn-ea"/>
                <a:cs typeface="+mn-cs"/>
              </a:endParaRPr>
            </a:p>
          </p:txBody>
        </p:sp>
        <p:pic>
          <p:nvPicPr>
            <p:cNvPr id="625" name="Google Shape;625;p91"/>
            <p:cNvPicPr preferRelativeResize="0"/>
            <p:nvPr/>
          </p:nvPicPr>
          <p:blipFill>
            <a:blip r:embed="rId5">
              <a:alphaModFix/>
            </a:blip>
            <a:stretch>
              <a:fillRect/>
            </a:stretch>
          </p:blipFill>
          <p:spPr>
            <a:xfrm>
              <a:off x="2414275" y="1348025"/>
              <a:ext cx="650700" cy="650700"/>
            </a:xfrm>
            <a:prstGeom prst="rect">
              <a:avLst/>
            </a:prstGeom>
            <a:noFill/>
            <a:ln>
              <a:noFill/>
            </a:ln>
          </p:spPr>
        </p:pic>
      </p:grpSp>
      <p:sp>
        <p:nvSpPr>
          <p:cNvPr id="626" name="Google Shape;626;p91"/>
          <p:cNvSpPr/>
          <p:nvPr/>
        </p:nvSpPr>
        <p:spPr>
          <a:xfrm>
            <a:off x="415600" y="4154000"/>
            <a:ext cx="6368800" cy="2602400"/>
          </a:xfrm>
          <a:prstGeom prst="roundRect">
            <a:avLst>
              <a:gd name="adj" fmla="val 16667"/>
            </a:avLst>
          </a:prstGeom>
          <a:solidFill>
            <a:srgbClr val="FFF2CC"/>
          </a:solid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2400" b="0" i="0" u="none" strike="noStrike" kern="1200" cap="none" spc="0" normalizeH="0" baseline="0" noProof="0">
                <a:ln>
                  <a:noFill/>
                </a:ln>
                <a:solidFill>
                  <a:srgbClr val="000000"/>
                </a:solidFill>
                <a:effectLst/>
                <a:uLnTx/>
                <a:uFillTx/>
                <a:latin typeface="EB Garamond"/>
                <a:ea typeface="EB Garamond"/>
                <a:cs typeface="EB Garamond"/>
                <a:sym typeface="EB Garamond"/>
              </a:rPr>
              <a:t>I know you want me to say no and that it is a </a:t>
            </a:r>
            <a:r>
              <a:rPr kumimoji="0" lang="en" sz="2400" b="1" i="0" u="none" strike="noStrike" kern="1200" cap="none" spc="0" normalizeH="0" baseline="0" noProof="0">
                <a:ln>
                  <a:noFill/>
                </a:ln>
                <a:solidFill>
                  <a:srgbClr val="0000FF"/>
                </a:solidFill>
                <a:effectLst/>
                <a:uLnTx/>
                <a:uFillTx/>
                <a:latin typeface="EB Garamond"/>
                <a:ea typeface="EB Garamond"/>
                <a:cs typeface="EB Garamond"/>
                <a:sym typeface="EB Garamond"/>
              </a:rPr>
              <a:t>part of me blah blah blah.</a:t>
            </a:r>
            <a:r>
              <a:rPr kumimoji="0" lang="en" sz="2400" b="0" i="0" u="none" strike="noStrike" kern="1200" cap="none" spc="0" normalizeH="0" baseline="0" noProof="0">
                <a:ln>
                  <a:noFill/>
                </a:ln>
                <a:solidFill>
                  <a:srgbClr val="000000"/>
                </a:solidFill>
                <a:effectLst/>
                <a:uLnTx/>
                <a:uFillTx/>
                <a:latin typeface="EB Garamond"/>
                <a:ea typeface="EB Garamond"/>
                <a:cs typeface="EB Garamond"/>
                <a:sym typeface="EB Garamond"/>
              </a:rPr>
              <a:t> But I can't. Honestly, not having </a:t>
            </a:r>
            <a:r>
              <a:rPr kumimoji="0" lang="en" sz="2400" b="1" i="0" u="none" strike="noStrike" kern="1200" cap="none" spc="0" normalizeH="0" baseline="0" noProof="0">
                <a:ln>
                  <a:noFill/>
                </a:ln>
                <a:solidFill>
                  <a:srgbClr val="0000FF"/>
                </a:solidFill>
                <a:effectLst/>
                <a:uLnTx/>
                <a:uFillTx/>
                <a:latin typeface="EB Garamond"/>
                <a:ea typeface="EB Garamond"/>
                <a:cs typeface="EB Garamond"/>
                <a:sym typeface="EB Garamond"/>
              </a:rPr>
              <a:t>bipolar disorder</a:t>
            </a:r>
            <a:r>
              <a:rPr kumimoji="0" lang="en" sz="2400" b="0" i="0" u="none" strike="noStrike" kern="1200" cap="none" spc="0" normalizeH="0" baseline="0" noProof="0">
                <a:ln>
                  <a:noFill/>
                </a:ln>
                <a:solidFill>
                  <a:srgbClr val="000000"/>
                </a:solidFill>
                <a:effectLst/>
                <a:uLnTx/>
                <a:uFillTx/>
                <a:latin typeface="EB Garamond"/>
                <a:ea typeface="EB Garamond"/>
                <a:cs typeface="EB Garamond"/>
                <a:sym typeface="EB Garamond"/>
              </a:rPr>
              <a:t> would be a huge blessing. I would be so much happier and could control my life better. I wouldn't have </a:t>
            </a:r>
            <a:r>
              <a:rPr kumimoji="0" lang="en" sz="2400" b="1" i="0" u="none" strike="noStrike" kern="1200" cap="none" spc="0" normalizeH="0" baseline="0" noProof="0">
                <a:ln>
                  <a:noFill/>
                </a:ln>
                <a:solidFill>
                  <a:srgbClr val="0000FF"/>
                </a:solidFill>
                <a:effectLst/>
                <a:uLnTx/>
                <a:uFillTx/>
                <a:latin typeface="EB Garamond"/>
                <a:ea typeface="EB Garamond"/>
                <a:cs typeface="EB Garamond"/>
                <a:sym typeface="EB Garamond"/>
              </a:rPr>
              <a:t>frantic, scattered thoughts and depression.</a:t>
            </a:r>
            <a:r>
              <a:rPr kumimoji="0" lang="en" sz="2400" b="0" i="0" u="none" strike="noStrike" kern="1200" cap="none" spc="0" normalizeH="0" baseline="0" noProof="0">
                <a:ln>
                  <a:noFill/>
                </a:ln>
                <a:solidFill>
                  <a:srgbClr val="000000"/>
                </a:solidFill>
                <a:effectLst/>
                <a:uLnTx/>
                <a:uFillTx/>
                <a:latin typeface="EB Garamond"/>
                <a:ea typeface="EB Garamond"/>
                <a:cs typeface="EB Garamond"/>
                <a:sym typeface="EB Garamond"/>
              </a:rPr>
              <a:t> I would be normal, happy, and less dramatic.</a:t>
            </a:r>
            <a:endParaRPr kumimoji="0" sz="2400" b="0" i="0" u="none" strike="noStrike" kern="1200" cap="none" spc="0" normalizeH="0" baseline="0" noProof="0">
              <a:ln>
                <a:noFill/>
              </a:ln>
              <a:solidFill>
                <a:srgbClr val="000000"/>
              </a:solidFill>
              <a:effectLst/>
              <a:uLnTx/>
              <a:uFillTx/>
              <a:latin typeface="EB Garamond"/>
              <a:ea typeface="EB Garamond"/>
              <a:cs typeface="EB Garamond"/>
              <a:sym typeface="EB Garamond"/>
            </a:endParaRPr>
          </a:p>
        </p:txBody>
      </p:sp>
      <p:sp>
        <p:nvSpPr>
          <p:cNvPr id="627" name="Google Shape;627;p91"/>
          <p:cNvSpPr/>
          <p:nvPr/>
        </p:nvSpPr>
        <p:spPr>
          <a:xfrm>
            <a:off x="6784367" y="4978579"/>
            <a:ext cx="766400" cy="344800"/>
          </a:xfrm>
          <a:prstGeom prst="rightArrow">
            <a:avLst>
              <a:gd name="adj1" fmla="val 50000"/>
              <a:gd name="adj2" fmla="val 50000"/>
            </a:avLst>
          </a:prstGeom>
          <a:solidFill>
            <a:srgbClr val="000000"/>
          </a:solidFill>
          <a:ln w="9525" cap="flat" cmpd="sng">
            <a:solidFill>
              <a:srgbClr val="59595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28" name="Google Shape;628;p91"/>
          <p:cNvSpPr/>
          <p:nvPr/>
        </p:nvSpPr>
        <p:spPr>
          <a:xfrm>
            <a:off x="7763600" y="4939128"/>
            <a:ext cx="2669600" cy="423600"/>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133" b="1" i="0" u="none" strike="noStrike" kern="1200" cap="none" spc="0" normalizeH="0" baseline="0" noProof="0">
                <a:ln>
                  <a:noFill/>
                </a:ln>
                <a:solidFill>
                  <a:srgbClr val="741B47"/>
                </a:solidFill>
                <a:effectLst/>
                <a:uLnTx/>
                <a:uFillTx/>
                <a:latin typeface="EB Garamond"/>
                <a:ea typeface="EB Garamond"/>
                <a:cs typeface="EB Garamond"/>
                <a:sym typeface="EB Garamond"/>
              </a:rPr>
              <a:t>Depressive Disorder</a:t>
            </a:r>
            <a:endParaRPr kumimoji="0" sz="2133" b="1" i="0" u="none" strike="noStrike" kern="1200" cap="none" spc="0" normalizeH="0" baseline="0" noProof="0">
              <a:ln>
                <a:noFill/>
              </a:ln>
              <a:solidFill>
                <a:srgbClr val="741B47"/>
              </a:solidFill>
              <a:effectLst/>
              <a:uLnTx/>
              <a:uFillTx/>
              <a:latin typeface="EB Garamond"/>
              <a:ea typeface="EB Garamond"/>
              <a:cs typeface="EB Garamond"/>
              <a:sym typeface="EB Garamond"/>
            </a:endParaRPr>
          </a:p>
        </p:txBody>
      </p:sp>
      <p:sp>
        <p:nvSpPr>
          <p:cNvPr id="629" name="Google Shape;629;p91"/>
          <p:cNvSpPr txBox="1"/>
          <p:nvPr/>
        </p:nvSpPr>
        <p:spPr>
          <a:xfrm>
            <a:off x="700325" y="3591971"/>
            <a:ext cx="4662827" cy="50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1" i="1" u="none" strike="noStrike" kern="1200" cap="none" spc="0" normalizeH="0" baseline="0" noProof="0">
                <a:ln>
                  <a:noFill/>
                </a:ln>
                <a:solidFill>
                  <a:srgbClr val="000000"/>
                </a:solidFill>
                <a:effectLst/>
                <a:uLnTx/>
                <a:uFillTx/>
                <a:latin typeface="EB Garamond"/>
                <a:ea typeface="EB Garamond"/>
                <a:cs typeface="EB Garamond"/>
                <a:sym typeface="EB Garamond"/>
              </a:rPr>
              <a:t>Post from Patient Social Media:</a:t>
            </a:r>
            <a:endParaRPr kumimoji="0" sz="2533" b="1" i="1" u="none" strike="noStrike" kern="1200" cap="none" spc="0" normalizeH="0" baseline="0" noProof="0">
              <a:ln>
                <a:noFill/>
              </a:ln>
              <a:solidFill>
                <a:srgbClr val="000000"/>
              </a:solidFill>
              <a:effectLst/>
              <a:uLnTx/>
              <a:uFillTx/>
              <a:latin typeface="EB Garamond"/>
              <a:ea typeface="EB Garamond"/>
              <a:cs typeface="EB Garamond"/>
              <a:sym typeface="EB Garamond"/>
            </a:endParaRPr>
          </a:p>
        </p:txBody>
      </p:sp>
      <p:sp>
        <p:nvSpPr>
          <p:cNvPr id="630" name="Google Shape;630;p91"/>
          <p:cNvSpPr txBox="1"/>
          <p:nvPr/>
        </p:nvSpPr>
        <p:spPr>
          <a:xfrm>
            <a:off x="7763600" y="4377099"/>
            <a:ext cx="3945600" cy="50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533" b="1" i="1" u="none" strike="noStrike" kern="1200" cap="none" spc="0" normalizeH="0" baseline="0" noProof="0">
                <a:ln>
                  <a:noFill/>
                </a:ln>
                <a:solidFill>
                  <a:srgbClr val="000000"/>
                </a:solidFill>
                <a:effectLst/>
                <a:uLnTx/>
                <a:uFillTx/>
                <a:latin typeface="EB Garamond"/>
                <a:ea typeface="EB Garamond"/>
                <a:cs typeface="EB Garamond"/>
                <a:sym typeface="EB Garamond"/>
              </a:rPr>
              <a:t>Derived Insight by Human</a:t>
            </a:r>
            <a:endParaRPr kumimoji="0" sz="2533" b="1" i="1" u="none" strike="noStrike" kern="1200" cap="none" spc="0" normalizeH="0" baseline="0" noProof="0">
              <a:ln>
                <a:noFill/>
              </a:ln>
              <a:solidFill>
                <a:srgbClr val="000000"/>
              </a:solidFill>
              <a:effectLst/>
              <a:uLnTx/>
              <a:uFillTx/>
              <a:latin typeface="EB Garamond"/>
              <a:ea typeface="EB Garamond"/>
              <a:cs typeface="EB Garamond"/>
              <a:sym typeface="EB Garamond"/>
            </a:endParaRPr>
          </a:p>
        </p:txBody>
      </p:sp>
      <p:pic>
        <p:nvPicPr>
          <p:cNvPr id="2" name="Picture 1" descr="Female Doctor Icon - Physician Person With Stethoscope And Cross Profile  Avatar In Glyph Pictogram Vector Illustration Royalty Free SVG, Cliparts,  Vectors, And Stock Illustration. Image 76258396.">
            <a:extLst>
              <a:ext uri="{FF2B5EF4-FFF2-40B4-BE49-F238E27FC236}">
                <a16:creationId xmlns:a16="http://schemas.microsoft.com/office/drawing/2014/main" id="{865A6EE7-CCC9-0DB6-DD11-F3ABB0385713}"/>
              </a:ext>
            </a:extLst>
          </p:cNvPr>
          <p:cNvPicPr>
            <a:picLocks noChangeAspect="1"/>
          </p:cNvPicPr>
          <p:nvPr/>
        </p:nvPicPr>
        <p:blipFill>
          <a:blip r:embed="rId6"/>
          <a:stretch>
            <a:fillRect/>
          </a:stretch>
        </p:blipFill>
        <p:spPr>
          <a:xfrm>
            <a:off x="6368234" y="2110301"/>
            <a:ext cx="1123694" cy="1118545"/>
          </a:xfrm>
          <a:prstGeom prst="rect">
            <a:avLst/>
          </a:prstGeom>
        </p:spPr>
      </p:pic>
    </p:spTree>
    <p:extLst>
      <p:ext uri="{BB962C8B-B14F-4D97-AF65-F5344CB8AC3E}">
        <p14:creationId xmlns:p14="http://schemas.microsoft.com/office/powerpoint/2010/main" val="729811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93E0F-EB95-BC9E-972D-7F9D758E7689}"/>
              </a:ext>
            </a:extLst>
          </p:cNvPr>
          <p:cNvSpPr>
            <a:spLocks noGrp="1"/>
          </p:cNvSpPr>
          <p:nvPr>
            <p:ph type="title"/>
          </p:nvPr>
        </p:nvSpPr>
        <p:spPr/>
        <p:txBody>
          <a:bodyPr/>
          <a:lstStyle/>
          <a:p>
            <a:r>
              <a:rPr lang="en-US">
                <a:solidFill>
                  <a:srgbClr val="0070C0"/>
                </a:solidFill>
              </a:rPr>
              <a:t>Real World Evidence</a:t>
            </a:r>
          </a:p>
          <a:p>
            <a:endParaRPr lang="en-US"/>
          </a:p>
        </p:txBody>
      </p:sp>
      <p:pic>
        <p:nvPicPr>
          <p:cNvPr id="6" name="Picture 5" descr="A diagram of medical records&#10;&#10;Description automatically generated">
            <a:extLst>
              <a:ext uri="{FF2B5EF4-FFF2-40B4-BE49-F238E27FC236}">
                <a16:creationId xmlns:a16="http://schemas.microsoft.com/office/drawing/2014/main" id="{0079E087-23BB-1195-9A51-F863EDA0BFCE}"/>
              </a:ext>
            </a:extLst>
          </p:cNvPr>
          <p:cNvPicPr>
            <a:picLocks noChangeAspect="1"/>
          </p:cNvPicPr>
          <p:nvPr/>
        </p:nvPicPr>
        <p:blipFill>
          <a:blip r:embed="rId2"/>
          <a:stretch>
            <a:fillRect/>
          </a:stretch>
        </p:blipFill>
        <p:spPr>
          <a:xfrm>
            <a:off x="275967" y="1847713"/>
            <a:ext cx="4395916" cy="3450898"/>
          </a:xfrm>
          <a:prstGeom prst="rect">
            <a:avLst/>
          </a:prstGeom>
        </p:spPr>
      </p:pic>
      <p:graphicFrame>
        <p:nvGraphicFramePr>
          <p:cNvPr id="7" name="Table 6">
            <a:extLst>
              <a:ext uri="{FF2B5EF4-FFF2-40B4-BE49-F238E27FC236}">
                <a16:creationId xmlns:a16="http://schemas.microsoft.com/office/drawing/2014/main" id="{52F5A008-2F58-E7EA-16FB-E740DB60B919}"/>
              </a:ext>
            </a:extLst>
          </p:cNvPr>
          <p:cNvGraphicFramePr>
            <a:graphicFrameLocks noGrp="1"/>
          </p:cNvGraphicFramePr>
          <p:nvPr/>
        </p:nvGraphicFramePr>
        <p:xfrm>
          <a:off x="5931243" y="2512540"/>
          <a:ext cx="6109100" cy="1503936"/>
        </p:xfrm>
        <a:graphic>
          <a:graphicData uri="http://schemas.openxmlformats.org/drawingml/2006/table">
            <a:tbl>
              <a:tblPr firstRow="1" bandRow="1">
                <a:tableStyleId>{5C22544A-7EE6-4342-B048-85BDC9FD1C3A}</a:tableStyleId>
              </a:tblPr>
              <a:tblGrid>
                <a:gridCol w="1527275">
                  <a:extLst>
                    <a:ext uri="{9D8B030D-6E8A-4147-A177-3AD203B41FA5}">
                      <a16:colId xmlns:a16="http://schemas.microsoft.com/office/drawing/2014/main" val="4096433133"/>
                    </a:ext>
                  </a:extLst>
                </a:gridCol>
                <a:gridCol w="1527275">
                  <a:extLst>
                    <a:ext uri="{9D8B030D-6E8A-4147-A177-3AD203B41FA5}">
                      <a16:colId xmlns:a16="http://schemas.microsoft.com/office/drawing/2014/main" val="558056451"/>
                    </a:ext>
                  </a:extLst>
                </a:gridCol>
                <a:gridCol w="1527275">
                  <a:extLst>
                    <a:ext uri="{9D8B030D-6E8A-4147-A177-3AD203B41FA5}">
                      <a16:colId xmlns:a16="http://schemas.microsoft.com/office/drawing/2014/main" val="754244393"/>
                    </a:ext>
                  </a:extLst>
                </a:gridCol>
                <a:gridCol w="1527275">
                  <a:extLst>
                    <a:ext uri="{9D8B030D-6E8A-4147-A177-3AD203B41FA5}">
                      <a16:colId xmlns:a16="http://schemas.microsoft.com/office/drawing/2014/main" val="221644258"/>
                    </a:ext>
                  </a:extLst>
                </a:gridCol>
              </a:tblGrid>
              <a:tr h="300993">
                <a:tc>
                  <a:txBody>
                    <a:bodyPr/>
                    <a:lstStyle/>
                    <a:p>
                      <a:r>
                        <a:rPr lang="en-US"/>
                        <a:t>Patient </a:t>
                      </a:r>
                    </a:p>
                  </a:txBody>
                  <a:tcPr/>
                </a:tc>
                <a:tc>
                  <a:txBody>
                    <a:bodyPr/>
                    <a:lstStyle/>
                    <a:p>
                      <a:r>
                        <a:rPr lang="en-US"/>
                        <a:t>Diagnosis</a:t>
                      </a:r>
                    </a:p>
                  </a:txBody>
                  <a:tcPr/>
                </a:tc>
                <a:tc>
                  <a:txBody>
                    <a:bodyPr/>
                    <a:lstStyle/>
                    <a:p>
                      <a:r>
                        <a:rPr lang="en-US"/>
                        <a:t>Treatment</a:t>
                      </a:r>
                    </a:p>
                  </a:txBody>
                  <a:tcPr/>
                </a:tc>
                <a:tc>
                  <a:txBody>
                    <a:bodyPr/>
                    <a:lstStyle/>
                    <a:p>
                      <a:r>
                        <a:rPr lang="en-US"/>
                        <a:t>Outcome</a:t>
                      </a:r>
                    </a:p>
                  </a:txBody>
                  <a:tcPr/>
                </a:tc>
                <a:extLst>
                  <a:ext uri="{0D108BD9-81ED-4DB2-BD59-A6C34878D82A}">
                    <a16:rowId xmlns:a16="http://schemas.microsoft.com/office/drawing/2014/main" val="839479021"/>
                  </a:ext>
                </a:extLst>
              </a:tr>
              <a:tr h="300993">
                <a:tc>
                  <a:txBody>
                    <a:bodyPr/>
                    <a:lstStyle/>
                    <a:p>
                      <a:r>
                        <a:rPr lang="en-US"/>
                        <a:t>101</a:t>
                      </a:r>
                    </a:p>
                  </a:txBody>
                  <a:tcPr/>
                </a:tc>
                <a:tc>
                  <a:txBody>
                    <a:bodyPr/>
                    <a:lstStyle/>
                    <a:p>
                      <a:r>
                        <a:rPr lang="en-US"/>
                        <a:t>Lung cancer</a:t>
                      </a:r>
                    </a:p>
                  </a:txBody>
                  <a:tcPr/>
                </a:tc>
                <a:tc>
                  <a:txBody>
                    <a:bodyPr/>
                    <a:lstStyle/>
                    <a:p>
                      <a:r>
                        <a:rPr lang="en-US"/>
                        <a:t>Gefitinib</a:t>
                      </a:r>
                      <a:endParaRPr lang="en-US" err="1"/>
                    </a:p>
                  </a:txBody>
                  <a:tcPr/>
                </a:tc>
                <a:tc>
                  <a:txBody>
                    <a:bodyPr/>
                    <a:lstStyle/>
                    <a:p>
                      <a:r>
                        <a:rPr lang="en-US"/>
                        <a:t>Remission</a:t>
                      </a:r>
                    </a:p>
                  </a:txBody>
                  <a:tcPr/>
                </a:tc>
                <a:extLst>
                  <a:ext uri="{0D108BD9-81ED-4DB2-BD59-A6C34878D82A}">
                    <a16:rowId xmlns:a16="http://schemas.microsoft.com/office/drawing/2014/main" val="2101596769"/>
                  </a:ext>
                </a:extLst>
              </a:tr>
              <a:tr h="300993">
                <a:tc>
                  <a:txBody>
                    <a:bodyPr/>
                    <a:lstStyle/>
                    <a:p>
                      <a:r>
                        <a:rPr lang="en-US"/>
                        <a:t>102</a:t>
                      </a:r>
                    </a:p>
                  </a:txBody>
                  <a:tcPr/>
                </a:tc>
                <a:tc>
                  <a:txBody>
                    <a:bodyPr/>
                    <a:lstStyle/>
                    <a:p>
                      <a:r>
                        <a:rPr lang="en-US"/>
                        <a:t>Leukemia</a:t>
                      </a:r>
                      <a:endParaRPr lang="en-US" err="1"/>
                    </a:p>
                  </a:txBody>
                  <a:tcPr/>
                </a:tc>
                <a:tc>
                  <a:txBody>
                    <a:bodyPr/>
                    <a:lstStyle/>
                    <a:p>
                      <a:r>
                        <a:rPr lang="en-US"/>
                        <a:t>Imatinib</a:t>
                      </a:r>
                    </a:p>
                  </a:txBody>
                  <a:tcPr/>
                </a:tc>
                <a:tc>
                  <a:txBody>
                    <a:bodyPr/>
                    <a:lstStyle/>
                    <a:p>
                      <a:r>
                        <a:rPr lang="en-US"/>
                        <a:t>Resistant</a:t>
                      </a:r>
                    </a:p>
                  </a:txBody>
                  <a:tcPr/>
                </a:tc>
                <a:extLst>
                  <a:ext uri="{0D108BD9-81ED-4DB2-BD59-A6C34878D82A}">
                    <a16:rowId xmlns:a16="http://schemas.microsoft.com/office/drawing/2014/main" val="2127977244"/>
                  </a:ext>
                </a:extLst>
              </a:tr>
              <a:tr h="300993">
                <a:tc>
                  <a:txBody>
                    <a:bodyPr/>
                    <a:lstStyle/>
                    <a:p>
                      <a:r>
                        <a:rPr lang="en-US"/>
                        <a:t>103</a:t>
                      </a:r>
                    </a:p>
                  </a:txBody>
                  <a:tcPr/>
                </a:tc>
                <a:tc>
                  <a:txBody>
                    <a:bodyPr/>
                    <a:lstStyle/>
                    <a:p>
                      <a:r>
                        <a:rPr lang="en-US"/>
                        <a:t>Lymphoma</a:t>
                      </a:r>
                      <a:endParaRPr lang="en-US" err="1"/>
                    </a:p>
                  </a:txBody>
                  <a:tcPr/>
                </a:tc>
                <a:tc>
                  <a:txBody>
                    <a:bodyPr/>
                    <a:lstStyle/>
                    <a:p>
                      <a:r>
                        <a:rPr lang="en-US"/>
                        <a:t>Zaraparib</a:t>
                      </a:r>
                    </a:p>
                  </a:txBody>
                  <a:tcPr/>
                </a:tc>
                <a:tc>
                  <a:txBody>
                    <a:bodyPr/>
                    <a:lstStyle/>
                    <a:p>
                      <a:r>
                        <a:rPr lang="en-US"/>
                        <a:t>Relapse</a:t>
                      </a:r>
                    </a:p>
                  </a:txBody>
                  <a:tcPr/>
                </a:tc>
                <a:extLst>
                  <a:ext uri="{0D108BD9-81ED-4DB2-BD59-A6C34878D82A}">
                    <a16:rowId xmlns:a16="http://schemas.microsoft.com/office/drawing/2014/main" val="815097104"/>
                  </a:ext>
                </a:extLst>
              </a:tr>
            </a:tbl>
          </a:graphicData>
        </a:graphic>
      </p:graphicFrame>
    </p:spTree>
    <p:extLst>
      <p:ext uri="{BB962C8B-B14F-4D97-AF65-F5344CB8AC3E}">
        <p14:creationId xmlns:p14="http://schemas.microsoft.com/office/powerpoint/2010/main" val="929107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E084-90ED-0591-A22C-B510C84FE02E}"/>
              </a:ext>
            </a:extLst>
          </p:cNvPr>
          <p:cNvSpPr>
            <a:spLocks noGrp="1"/>
          </p:cNvSpPr>
          <p:nvPr>
            <p:ph type="title"/>
          </p:nvPr>
        </p:nvSpPr>
        <p:spPr>
          <a:xfrm>
            <a:off x="415600" y="288567"/>
            <a:ext cx="11360800" cy="763600"/>
          </a:xfrm>
        </p:spPr>
        <p:txBody>
          <a:bodyPr>
            <a:normAutofit fontScale="90000"/>
          </a:bodyPr>
          <a:lstStyle/>
          <a:p>
            <a:r>
              <a:rPr lang="en" sz="3700" b="1">
                <a:solidFill>
                  <a:schemeClr val="accent1"/>
                </a:solidFill>
              </a:rPr>
              <a:t>Application: Electronic Health Record (EHR) Analysis</a:t>
            </a:r>
            <a:endParaRPr lang="en-US" sz="3700" b="1">
              <a:solidFill>
                <a:schemeClr val="accent1"/>
              </a:solidFill>
            </a:endParaRPr>
          </a:p>
          <a:p>
            <a:endParaRPr lang="en-US">
              <a:solidFill>
                <a:srgbClr val="FF0000"/>
              </a:solidFill>
            </a:endParaRPr>
          </a:p>
        </p:txBody>
      </p:sp>
      <p:sp>
        <p:nvSpPr>
          <p:cNvPr id="3" name="Text Placeholder 2">
            <a:extLst>
              <a:ext uri="{FF2B5EF4-FFF2-40B4-BE49-F238E27FC236}">
                <a16:creationId xmlns:a16="http://schemas.microsoft.com/office/drawing/2014/main" id="{44285311-7042-78B4-E6CB-AB84001C1E32}"/>
              </a:ext>
            </a:extLst>
          </p:cNvPr>
          <p:cNvSpPr>
            <a:spLocks noGrp="1"/>
          </p:cNvSpPr>
          <p:nvPr>
            <p:ph type="body" idx="1"/>
          </p:nvPr>
        </p:nvSpPr>
        <p:spPr>
          <a:xfrm>
            <a:off x="415600" y="5664749"/>
            <a:ext cx="10972000" cy="427084"/>
          </a:xfrm>
        </p:spPr>
        <p:txBody>
          <a:bodyPr>
            <a:normAutofit fontScale="85000" lnSpcReduction="20000"/>
          </a:bodyPr>
          <a:lstStyle/>
          <a:p>
            <a:pPr marL="186055" indent="0">
              <a:buNone/>
            </a:pPr>
            <a:r>
              <a:rPr lang="en-US" sz="1850"/>
              <a:t>Credit: https://www.nature.com/articles/s41746-022-00705-7/figures/1</a:t>
            </a:r>
            <a:endParaRPr lang="en-US"/>
          </a:p>
        </p:txBody>
      </p:sp>
      <p:pic>
        <p:nvPicPr>
          <p:cNvPr id="5" name="Picture 5" descr="Diagram&#10;&#10;Description automatically generated">
            <a:extLst>
              <a:ext uri="{FF2B5EF4-FFF2-40B4-BE49-F238E27FC236}">
                <a16:creationId xmlns:a16="http://schemas.microsoft.com/office/drawing/2014/main" id="{ED4337C1-DAEE-3BF2-1199-14F98CCA9816}"/>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18457" y="1750895"/>
            <a:ext cx="8055005" cy="3149264"/>
          </a:xfrm>
          <a:prstGeom prst="rect">
            <a:avLst/>
          </a:prstGeom>
        </p:spPr>
      </p:pic>
      <p:sp>
        <p:nvSpPr>
          <p:cNvPr id="4" name="TextBox 3">
            <a:extLst>
              <a:ext uri="{FF2B5EF4-FFF2-40B4-BE49-F238E27FC236}">
                <a16:creationId xmlns:a16="http://schemas.microsoft.com/office/drawing/2014/main" id="{F016691C-0D73-B1EB-2F11-34853E986848}"/>
              </a:ext>
            </a:extLst>
          </p:cNvPr>
          <p:cNvSpPr txBox="1"/>
          <p:nvPr/>
        </p:nvSpPr>
        <p:spPr>
          <a:xfrm>
            <a:off x="8526162" y="2203621"/>
            <a:ext cx="3459891" cy="2031325"/>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srgbClr val="000000"/>
                </a:solidFill>
                <a:effectLst/>
                <a:uLnTx/>
                <a:uFillTx/>
                <a:latin typeface="Arial"/>
                <a:ea typeface="+mn-lt"/>
                <a:cs typeface="Arial"/>
              </a:rPr>
              <a:t>manual coding is time-consuming.</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srgbClr val="000000"/>
                </a:solidFill>
                <a:effectLst/>
                <a:uLnTx/>
                <a:uFillTx/>
                <a:latin typeface="Arial"/>
                <a:ea typeface="+mn-lt"/>
                <a:cs typeface="Arial"/>
              </a:rPr>
              <a:t>manual coding may be prone to errors.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srgbClr val="000000"/>
                </a:solidFill>
                <a:effectLst/>
                <a:uLnTx/>
                <a:uFillTx/>
                <a:latin typeface="Arial"/>
                <a:ea typeface="+mn-lt"/>
                <a:cs typeface="Arial"/>
              </a:rPr>
              <a:t>subjectivity in choosing the diagnosis codes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kumimoji="0" lang="en-US" sz="1800" b="0" i="0" u="none" strike="noStrike" kern="1200" cap="none" spc="0" normalizeH="0" baseline="0" noProof="0">
                <a:ln>
                  <a:noFill/>
                </a:ln>
                <a:solidFill>
                  <a:srgbClr val="000000"/>
                </a:solidFill>
                <a:effectLst/>
                <a:uLnTx/>
                <a:uFillTx/>
                <a:latin typeface="Arial"/>
                <a:ea typeface="+mn-lt"/>
                <a:cs typeface="Arial"/>
              </a:rPr>
              <a:t>lack of coding expertise</a:t>
            </a:r>
            <a:endParaRPr kumimoji="0" lang="en-US" sz="18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2328914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25888-EFA4-72DE-6493-148E1A50502E}"/>
              </a:ext>
            </a:extLst>
          </p:cNvPr>
          <p:cNvSpPr>
            <a:spLocks noGrp="1"/>
          </p:cNvSpPr>
          <p:nvPr>
            <p:ph type="title"/>
          </p:nvPr>
        </p:nvSpPr>
        <p:spPr/>
        <p:txBody>
          <a:bodyPr/>
          <a:lstStyle/>
          <a:p>
            <a:r>
              <a:rPr lang="en-IT" dirty="0">
                <a:solidFill>
                  <a:srgbClr val="00B0F0"/>
                </a:solidFill>
              </a:rPr>
              <a:t>Application – caso clinico (E3C [Magnini et al 2021])</a:t>
            </a:r>
          </a:p>
        </p:txBody>
      </p:sp>
      <p:sp>
        <p:nvSpPr>
          <p:cNvPr id="4" name="Text Placeholder 3">
            <a:extLst>
              <a:ext uri="{FF2B5EF4-FFF2-40B4-BE49-F238E27FC236}">
                <a16:creationId xmlns:a16="http://schemas.microsoft.com/office/drawing/2014/main" id="{A59B31BB-9713-2A56-61A2-A5C509E3B449}"/>
              </a:ext>
            </a:extLst>
          </p:cNvPr>
          <p:cNvSpPr txBox="1">
            <a:spLocks noGrp="1"/>
          </p:cNvSpPr>
          <p:nvPr>
            <p:ph type="body" idx="1"/>
          </p:nvPr>
        </p:nvSpPr>
        <p:spPr>
          <a:xfrm>
            <a:off x="220528" y="1259025"/>
            <a:ext cx="11360800" cy="4856684"/>
          </a:xfrm>
          <a:prstGeom prst="rect">
            <a:avLst/>
          </a:prstGeom>
          <a:noFill/>
          <a:ln w="19050">
            <a:solidFill>
              <a:srgbClr val="00B0F0"/>
            </a:solidFill>
          </a:ln>
        </p:spPr>
        <p:txBody>
          <a:bodyPr wrap="square">
            <a:spAutoFit/>
          </a:bodyPr>
          <a:lstStyle/>
          <a:p>
            <a:pPr>
              <a:buNone/>
            </a:pPr>
            <a:r>
              <a:rPr lang="en-GB" sz="1600" dirty="0">
                <a:solidFill>
                  <a:srgbClr val="000000"/>
                </a:solidFill>
                <a:effectLst/>
                <a:latin typeface="Helvetica" pitchFamily="2" charset="0"/>
              </a:rPr>
              <a:t>Anna A. e’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donna di 47 anni, </a:t>
            </a:r>
            <a:r>
              <a:rPr lang="en-GB" sz="1600" dirty="0" err="1">
                <a:solidFill>
                  <a:srgbClr val="000000"/>
                </a:solidFill>
                <a:effectLst/>
                <a:latin typeface="Helvetica" pitchFamily="2" charset="0"/>
              </a:rPr>
              <a:t>vive</a:t>
            </a:r>
            <a:r>
              <a:rPr lang="en-GB" sz="1600" dirty="0">
                <a:solidFill>
                  <a:srgbClr val="000000"/>
                </a:solidFill>
                <a:effectLst/>
                <a:latin typeface="Helvetica" pitchFamily="2" charset="0"/>
              </a:rPr>
              <a:t> con il </a:t>
            </a:r>
            <a:r>
              <a:rPr lang="en-GB" sz="1600" dirty="0" err="1">
                <a:solidFill>
                  <a:srgbClr val="000000"/>
                </a:solidFill>
                <a:effectLst/>
                <a:latin typeface="Helvetica" pitchFamily="2" charset="0"/>
              </a:rPr>
              <a:t>figlio</a:t>
            </a:r>
            <a:r>
              <a:rPr lang="en-GB" sz="1600" dirty="0">
                <a:solidFill>
                  <a:srgbClr val="000000"/>
                </a:solidFill>
                <a:effectLst/>
                <a:latin typeface="Helvetica" pitchFamily="2" charset="0"/>
              </a:rPr>
              <a:t> in un piccolo </a:t>
            </a:r>
            <a:r>
              <a:rPr lang="en-GB" sz="1600" dirty="0" err="1">
                <a:solidFill>
                  <a:srgbClr val="000000"/>
                </a:solidFill>
                <a:effectLst/>
                <a:latin typeface="Helvetica" pitchFamily="2" charset="0"/>
              </a:rPr>
              <a:t>appartamento</a:t>
            </a:r>
            <a:r>
              <a:rPr lang="en-GB" sz="1600" dirty="0">
                <a:solidFill>
                  <a:srgbClr val="000000"/>
                </a:solidFill>
                <a:effectLst/>
                <a:latin typeface="Helvetica" pitchFamily="2" charset="0"/>
              </a:rPr>
              <a:t> in un </a:t>
            </a:r>
            <a:r>
              <a:rPr lang="en-GB" sz="1600" dirty="0" err="1">
                <a:solidFill>
                  <a:srgbClr val="000000"/>
                </a:solidFill>
                <a:effectLst/>
                <a:latin typeface="Helvetica" pitchFamily="2" charset="0"/>
              </a:rPr>
              <a:t>paese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carsico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lavora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nel</a:t>
            </a:r>
            <a:r>
              <a:rPr lang="en-GB" sz="1600" dirty="0">
                <a:solidFill>
                  <a:srgbClr val="000000"/>
                </a:solidFill>
                <a:effectLst/>
                <a:latin typeface="Helvetica" pitchFamily="2" charset="0"/>
              </a:rPr>
              <a:t> campo della </a:t>
            </a:r>
            <a:r>
              <a:rPr lang="en-GB" sz="1600" dirty="0" err="1">
                <a:solidFill>
                  <a:srgbClr val="000000"/>
                </a:solidFill>
                <a:effectLst/>
                <a:latin typeface="Helvetica" pitchFamily="2" charset="0"/>
              </a:rPr>
              <a:t>ristorazione</a:t>
            </a:r>
            <a:r>
              <a:rPr lang="en-GB" sz="1600" dirty="0">
                <a:solidFill>
                  <a:srgbClr val="000000"/>
                </a:solidFill>
                <a:effectLst/>
                <a:latin typeface="Helvetica" pitchFamily="2" charset="0"/>
              </a:rPr>
              <a:t> e, </a:t>
            </a:r>
            <a:r>
              <a:rPr lang="en-GB" sz="1600" dirty="0" err="1">
                <a:solidFill>
                  <a:srgbClr val="000000"/>
                </a:solidFill>
                <a:effectLst/>
                <a:latin typeface="Helvetica" pitchFamily="2" charset="0"/>
              </a:rPr>
              <a:t>nonostante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patologia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genetica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familiare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che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provoca</a:t>
            </a:r>
            <a:r>
              <a:rPr lang="en-GB" sz="1600" dirty="0">
                <a:solidFill>
                  <a:srgbClr val="000000"/>
                </a:solidFill>
                <a:effectLst/>
                <a:latin typeface="Helvetica" pitchFamily="2" charset="0"/>
              </a:rPr>
              <a:t> delle </a:t>
            </a:r>
            <a:r>
              <a:rPr lang="en-GB" sz="1600" dirty="0" err="1">
                <a:solidFill>
                  <a:srgbClr val="000000"/>
                </a:solidFill>
                <a:effectLst/>
                <a:latin typeface="Helvetica" pitchFamily="2" charset="0"/>
              </a:rPr>
              <a:t>alterazioni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scheletriche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cardiologiche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oculari</a:t>
            </a:r>
            <a:r>
              <a:rPr lang="en-GB" sz="1600" dirty="0">
                <a:solidFill>
                  <a:srgbClr val="000000"/>
                </a:solidFill>
                <a:effectLst/>
                <a:latin typeface="Helvetica" pitchFamily="2" charset="0"/>
              </a:rPr>
              <a:t> e </a:t>
            </a:r>
            <a:r>
              <a:rPr lang="en-GB" sz="1600" dirty="0" err="1">
                <a:solidFill>
                  <a:srgbClr val="000000"/>
                </a:solidFill>
                <a:effectLst/>
                <a:latin typeface="Helvetica" pitchFamily="2" charset="0"/>
              </a:rPr>
              <a:t>cutanee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vive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vita serena e tranquilla. Ha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buona rete </a:t>
            </a:r>
            <a:r>
              <a:rPr lang="en-GB" sz="1600" dirty="0" err="1">
                <a:solidFill>
                  <a:srgbClr val="000000"/>
                </a:solidFill>
                <a:effectLst/>
                <a:latin typeface="Helvetica" pitchFamily="2" charset="0"/>
              </a:rPr>
              <a:t>familiare</a:t>
            </a:r>
            <a:r>
              <a:rPr lang="en-GB" sz="1600" dirty="0">
                <a:solidFill>
                  <a:srgbClr val="000000"/>
                </a:solidFill>
                <a:effectLst/>
                <a:latin typeface="Helvetica" pitchFamily="2" charset="0"/>
              </a:rPr>
              <a:t> e </a:t>
            </a:r>
            <a:r>
              <a:rPr lang="en-GB" sz="1600" dirty="0" err="1">
                <a:solidFill>
                  <a:srgbClr val="000000"/>
                </a:solidFill>
                <a:effectLst/>
                <a:latin typeface="Helvetica" pitchFamily="2" charset="0"/>
              </a:rPr>
              <a:t>informale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che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supporta</a:t>
            </a:r>
            <a:r>
              <a:rPr lang="en-GB" sz="1600" dirty="0">
                <a:solidFill>
                  <a:srgbClr val="000000"/>
                </a:solidFill>
                <a:effectLst/>
                <a:latin typeface="Helvetica" pitchFamily="2" charset="0"/>
              </a:rPr>
              <a:t> la </a:t>
            </a:r>
            <a:r>
              <a:rPr lang="en-GB" sz="1600" dirty="0" err="1">
                <a:solidFill>
                  <a:srgbClr val="000000"/>
                </a:solidFill>
                <a:effectLst/>
                <a:latin typeface="Helvetica" pitchFamily="2" charset="0"/>
              </a:rPr>
              <a:t>famiglia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Viene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seguita</a:t>
            </a:r>
            <a:r>
              <a:rPr lang="en-GB" sz="1600" dirty="0">
                <a:solidFill>
                  <a:srgbClr val="000000"/>
                </a:solidFill>
                <a:effectLst/>
                <a:latin typeface="Helvetica" pitchFamily="2" charset="0"/>
              </a:rPr>
              <a:t> da un </a:t>
            </a:r>
            <a:r>
              <a:rPr lang="en-GB" sz="1600" dirty="0" err="1">
                <a:solidFill>
                  <a:srgbClr val="000000"/>
                </a:solidFill>
                <a:effectLst/>
                <a:latin typeface="Helvetica" pitchFamily="2" charset="0"/>
              </a:rPr>
              <a:t>centro</a:t>
            </a:r>
            <a:r>
              <a:rPr lang="en-GB" sz="1600" dirty="0">
                <a:solidFill>
                  <a:srgbClr val="000000"/>
                </a:solidFill>
                <a:effectLst/>
                <a:latin typeface="Helvetica" pitchFamily="2" charset="0"/>
              </a:rPr>
              <a:t> di </a:t>
            </a:r>
            <a:r>
              <a:rPr lang="en-GB" sz="1600" dirty="0" err="1">
                <a:solidFill>
                  <a:srgbClr val="000000"/>
                </a:solidFill>
                <a:effectLst/>
                <a:latin typeface="Helvetica" pitchFamily="2" charset="0"/>
              </a:rPr>
              <a:t>riferimento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specifico</a:t>
            </a:r>
            <a:r>
              <a:rPr lang="en-GB" sz="1600" dirty="0">
                <a:solidFill>
                  <a:srgbClr val="000000"/>
                </a:solidFill>
                <a:effectLst/>
                <a:latin typeface="Helvetica" pitchFamily="2" charset="0"/>
              </a:rPr>
              <a:t> per </a:t>
            </a:r>
            <a:r>
              <a:rPr lang="en-GB" sz="1600" dirty="0" err="1">
                <a:solidFill>
                  <a:srgbClr val="000000"/>
                </a:solidFill>
                <a:effectLst/>
                <a:latin typeface="Helvetica" pitchFamily="2" charset="0"/>
              </a:rPr>
              <a:t>patologia</a:t>
            </a:r>
            <a:r>
              <a:rPr lang="en-GB" sz="1600" dirty="0">
                <a:solidFill>
                  <a:srgbClr val="000000"/>
                </a:solidFill>
                <a:effectLst/>
                <a:latin typeface="Helvetica" pitchFamily="2" charset="0"/>
              </a:rPr>
              <a:t> rara a Bologna e </a:t>
            </a:r>
            <a:r>
              <a:rPr lang="en-GB" sz="1600" dirty="0" err="1">
                <a:solidFill>
                  <a:srgbClr val="000000"/>
                </a:solidFill>
                <a:effectLst/>
                <a:latin typeface="Helvetica" pitchFamily="2" charset="0"/>
              </a:rPr>
              <a:t>si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sottopone</a:t>
            </a:r>
            <a:r>
              <a:rPr lang="en-GB" sz="1600" dirty="0">
                <a:solidFill>
                  <a:srgbClr val="000000"/>
                </a:solidFill>
                <a:effectLst/>
                <a:latin typeface="Helvetica" pitchFamily="2" charset="0"/>
              </a:rPr>
              <a:t> a </a:t>
            </a:r>
            <a:r>
              <a:rPr lang="en-GB" sz="1600" dirty="0" err="1">
                <a:solidFill>
                  <a:srgbClr val="000000"/>
                </a:solidFill>
                <a:effectLst/>
                <a:latin typeface="Helvetica" pitchFamily="2" charset="0"/>
              </a:rPr>
              <a:t>controlli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clinicostrumentali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periodici</a:t>
            </a:r>
            <a:r>
              <a:rPr lang="en-GB" sz="1600" dirty="0">
                <a:solidFill>
                  <a:srgbClr val="000000"/>
                </a:solidFill>
                <a:effectLst/>
                <a:latin typeface="Helvetica" pitchFamily="2" charset="0"/>
              </a:rPr>
              <a:t> e </a:t>
            </a:r>
            <a:r>
              <a:rPr lang="en-GB" sz="1600" dirty="0" err="1">
                <a:solidFill>
                  <a:srgbClr val="000000"/>
                </a:solidFill>
                <a:effectLst/>
                <a:latin typeface="Helvetica" pitchFamily="2" charset="0"/>
              </a:rPr>
              <a:t>regolari</a:t>
            </a:r>
            <a:r>
              <a:rPr lang="en-GB" sz="1600" dirty="0">
                <a:solidFill>
                  <a:srgbClr val="000000"/>
                </a:solidFill>
                <a:effectLst/>
                <a:latin typeface="Helvetica" pitchFamily="2" charset="0"/>
              </a:rPr>
              <a:t>. Nel </a:t>
            </a:r>
            <a:r>
              <a:rPr lang="en-GB" sz="1600" dirty="0" err="1">
                <a:solidFill>
                  <a:srgbClr val="000000"/>
                </a:solidFill>
                <a:effectLst/>
                <a:latin typeface="Helvetica" pitchFamily="2" charset="0"/>
              </a:rPr>
              <a:t>gennaio</a:t>
            </a:r>
            <a:r>
              <a:rPr lang="en-GB" sz="1600" dirty="0">
                <a:solidFill>
                  <a:srgbClr val="000000"/>
                </a:solidFill>
                <a:effectLst/>
                <a:latin typeface="Helvetica" pitchFamily="2" charset="0"/>
              </a:rPr>
              <a:t> del 2017 </a:t>
            </a:r>
            <a:r>
              <a:rPr lang="en-GB" sz="1600" dirty="0" err="1">
                <a:solidFill>
                  <a:srgbClr val="000000"/>
                </a:solidFill>
                <a:effectLst/>
                <a:latin typeface="Helvetica" pitchFamily="2" charset="0"/>
              </a:rPr>
              <a:t>esegue</a:t>
            </a:r>
            <a:r>
              <a:rPr lang="en-GB" sz="1600" dirty="0">
                <a:solidFill>
                  <a:srgbClr val="000000"/>
                </a:solidFill>
                <a:effectLst/>
                <a:latin typeface="Helvetica" pitchFamily="2" charset="0"/>
              </a:rPr>
              <a:t> un </a:t>
            </a:r>
            <a:r>
              <a:rPr lang="en-GB" sz="1600" dirty="0" err="1">
                <a:solidFill>
                  <a:srgbClr val="000000"/>
                </a:solidFill>
                <a:effectLst/>
                <a:latin typeface="Helvetica" pitchFamily="2" charset="0"/>
              </a:rPr>
              <a:t>intervento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chirurgico</a:t>
            </a:r>
            <a:r>
              <a:rPr lang="en-GB" sz="1600" dirty="0">
                <a:solidFill>
                  <a:srgbClr val="000000"/>
                </a:solidFill>
                <a:effectLst/>
                <a:latin typeface="Helvetica" pitchFamily="2" charset="0"/>
              </a:rPr>
              <a:t> di </a:t>
            </a:r>
            <a:r>
              <a:rPr lang="en-GB" sz="1600" dirty="0" err="1">
                <a:solidFill>
                  <a:srgbClr val="000000"/>
                </a:solidFill>
                <a:effectLst/>
                <a:latin typeface="Helvetica" pitchFamily="2" charset="0"/>
              </a:rPr>
              <a:t>piede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torto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congenito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presso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l’Istituto</a:t>
            </a:r>
            <a:r>
              <a:rPr lang="en-GB" sz="1600" dirty="0">
                <a:solidFill>
                  <a:srgbClr val="000000"/>
                </a:solidFill>
                <a:effectLst/>
                <a:latin typeface="Helvetica" pitchFamily="2" charset="0"/>
              </a:rPr>
              <a:t> Rizzoli. Durante la </a:t>
            </a:r>
            <a:r>
              <a:rPr lang="en-GB" sz="1600" dirty="0" err="1">
                <a:solidFill>
                  <a:srgbClr val="000000"/>
                </a:solidFill>
                <a:effectLst/>
                <a:latin typeface="Helvetica" pitchFamily="2" charset="0"/>
              </a:rPr>
              <a:t>degenza</a:t>
            </a:r>
            <a:r>
              <a:rPr lang="en-GB" sz="1600" dirty="0">
                <a:solidFill>
                  <a:srgbClr val="000000"/>
                </a:solidFill>
                <a:effectLst/>
                <a:latin typeface="Helvetica" pitchFamily="2" charset="0"/>
              </a:rPr>
              <a:t>, a </a:t>
            </a:r>
            <a:r>
              <a:rPr lang="en-GB" sz="1600" dirty="0" err="1">
                <a:solidFill>
                  <a:srgbClr val="000000"/>
                </a:solidFill>
                <a:effectLst/>
                <a:latin typeface="Helvetica" pitchFamily="2" charset="0"/>
              </a:rPr>
              <a:t>seguito</a:t>
            </a:r>
            <a:r>
              <a:rPr lang="en-GB" sz="1600" dirty="0">
                <a:solidFill>
                  <a:srgbClr val="000000"/>
                </a:solidFill>
                <a:effectLst/>
                <a:latin typeface="Helvetica" pitchFamily="2" charset="0"/>
              </a:rPr>
              <a:t> di un dolore </a:t>
            </a:r>
            <a:r>
              <a:rPr lang="en-GB" sz="1600" dirty="0" err="1">
                <a:solidFill>
                  <a:srgbClr val="000000"/>
                </a:solidFill>
                <a:effectLst/>
                <a:latin typeface="Helvetica" pitchFamily="2" charset="0"/>
              </a:rPr>
              <a:t>retrosternale</a:t>
            </a:r>
            <a:r>
              <a:rPr lang="en-GB" sz="1600" dirty="0">
                <a:solidFill>
                  <a:srgbClr val="000000"/>
                </a:solidFill>
                <a:effectLst/>
                <a:latin typeface="Helvetica" pitchFamily="2" charset="0"/>
              </a:rPr>
              <a:t> e di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sincope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viene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sottoposta</a:t>
            </a:r>
            <a:r>
              <a:rPr lang="en-GB" sz="1600" dirty="0">
                <a:solidFill>
                  <a:srgbClr val="000000"/>
                </a:solidFill>
                <a:effectLst/>
                <a:latin typeface="Helvetica" pitchFamily="2" charset="0"/>
              </a:rPr>
              <a:t> a un </a:t>
            </a:r>
            <a:r>
              <a:rPr lang="en-GB" sz="1600" dirty="0" err="1">
                <a:solidFill>
                  <a:srgbClr val="000000"/>
                </a:solidFill>
                <a:effectLst/>
                <a:latin typeface="Helvetica" pitchFamily="2" charset="0"/>
              </a:rPr>
              <a:t>intervento</a:t>
            </a:r>
            <a:r>
              <a:rPr lang="en-GB" sz="1600" dirty="0">
                <a:solidFill>
                  <a:srgbClr val="000000"/>
                </a:solidFill>
                <a:effectLst/>
                <a:latin typeface="Helvetica" pitchFamily="2" charset="0"/>
              </a:rPr>
              <a:t> di </a:t>
            </a:r>
            <a:r>
              <a:rPr lang="en-GB" sz="1600" dirty="0" err="1">
                <a:solidFill>
                  <a:srgbClr val="000000"/>
                </a:solidFill>
                <a:effectLst/>
                <a:latin typeface="Helvetica" pitchFamily="2" charset="0"/>
              </a:rPr>
              <a:t>endoprotesi</a:t>
            </a:r>
            <a:r>
              <a:rPr lang="en-GB" sz="1600" dirty="0">
                <a:solidFill>
                  <a:srgbClr val="000000"/>
                </a:solidFill>
                <a:effectLst/>
                <a:latin typeface="Helvetica" pitchFamily="2" charset="0"/>
              </a:rPr>
              <a:t> di aorta per </a:t>
            </a:r>
            <a:r>
              <a:rPr lang="en-GB" sz="1600" dirty="0" err="1">
                <a:solidFill>
                  <a:srgbClr val="000000"/>
                </a:solidFill>
                <a:effectLst/>
                <a:latin typeface="Helvetica" pitchFamily="2" charset="0"/>
              </a:rPr>
              <a:t>dissezione</a:t>
            </a:r>
            <a:r>
              <a:rPr lang="en-GB" sz="1600" dirty="0">
                <a:solidFill>
                  <a:srgbClr val="000000"/>
                </a:solidFill>
                <a:effectLst/>
                <a:latin typeface="Helvetica" pitchFamily="2" charset="0"/>
              </a:rPr>
              <a:t> acuta. Al </a:t>
            </a:r>
            <a:r>
              <a:rPr lang="en-GB" sz="1600" dirty="0" err="1">
                <a:solidFill>
                  <a:srgbClr val="000000"/>
                </a:solidFill>
                <a:effectLst/>
                <a:latin typeface="Helvetica" pitchFamily="2" charset="0"/>
              </a:rPr>
              <a:t>rientro</a:t>
            </a:r>
            <a:r>
              <a:rPr lang="en-GB" sz="1600" dirty="0">
                <a:solidFill>
                  <a:srgbClr val="000000"/>
                </a:solidFill>
                <a:effectLst/>
                <a:latin typeface="Helvetica" pitchFamily="2" charset="0"/>
              </a:rPr>
              <a:t> a casa, </a:t>
            </a:r>
            <a:r>
              <a:rPr lang="en-GB" sz="1600" dirty="0" err="1">
                <a:solidFill>
                  <a:srgbClr val="000000"/>
                </a:solidFill>
                <a:effectLst/>
                <a:latin typeface="Helvetica" pitchFamily="2" charset="0"/>
              </a:rPr>
              <a:t>nel</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marzo</a:t>
            </a:r>
            <a:r>
              <a:rPr lang="en-GB" sz="1600" dirty="0">
                <a:solidFill>
                  <a:srgbClr val="000000"/>
                </a:solidFill>
                <a:effectLst/>
                <a:latin typeface="Helvetica" pitchFamily="2" charset="0"/>
              </a:rPr>
              <a:t> del 2017, </a:t>
            </a:r>
            <a:r>
              <a:rPr lang="en-GB" sz="1600" dirty="0" err="1">
                <a:solidFill>
                  <a:srgbClr val="000000"/>
                </a:solidFill>
                <a:effectLst/>
                <a:latin typeface="Helvetica" pitchFamily="2" charset="0"/>
              </a:rPr>
              <a:t>deve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proseguire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controlli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cardiologici</a:t>
            </a:r>
            <a:r>
              <a:rPr lang="en-GB" sz="1600" dirty="0">
                <a:solidFill>
                  <a:srgbClr val="000000"/>
                </a:solidFill>
                <a:effectLst/>
                <a:latin typeface="Helvetica" pitchFamily="2" charset="0"/>
              </a:rPr>
              <a:t> ed </a:t>
            </a:r>
            <a:r>
              <a:rPr lang="en-GB" sz="1600" dirty="0" err="1">
                <a:solidFill>
                  <a:srgbClr val="000000"/>
                </a:solidFill>
                <a:effectLst/>
                <a:latin typeface="Helvetica" pitchFamily="2" charset="0"/>
              </a:rPr>
              <a:t>eseguire</a:t>
            </a:r>
            <a:r>
              <a:rPr lang="en-GB" sz="1600" dirty="0">
                <a:solidFill>
                  <a:srgbClr val="000000"/>
                </a:solidFill>
                <a:effectLst/>
                <a:latin typeface="Helvetica" pitchFamily="2" charset="0"/>
              </a:rPr>
              <a:t> la </a:t>
            </a:r>
            <a:r>
              <a:rPr lang="en-GB" sz="1600" dirty="0" err="1">
                <a:solidFill>
                  <a:srgbClr val="000000"/>
                </a:solidFill>
                <a:effectLst/>
                <a:latin typeface="Helvetica" pitchFamily="2" charset="0"/>
              </a:rPr>
              <a:t>fisioterapia</a:t>
            </a:r>
            <a:r>
              <a:rPr lang="en-GB" sz="1600" dirty="0">
                <a:solidFill>
                  <a:srgbClr val="000000"/>
                </a:solidFill>
                <a:effectLst/>
                <a:latin typeface="Helvetica" pitchFamily="2" charset="0"/>
              </a:rPr>
              <a:t> per </a:t>
            </a:r>
            <a:r>
              <a:rPr lang="en-GB" sz="1600" dirty="0" err="1">
                <a:solidFill>
                  <a:srgbClr val="000000"/>
                </a:solidFill>
                <a:effectLst/>
                <a:latin typeface="Helvetica" pitchFamily="2" charset="0"/>
              </a:rPr>
              <a:t>gli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esiti</a:t>
            </a:r>
            <a:r>
              <a:rPr lang="en-GB" sz="1600" dirty="0">
                <a:solidFill>
                  <a:srgbClr val="000000"/>
                </a:solidFill>
                <a:effectLst/>
                <a:latin typeface="Helvetica" pitchFamily="2" charset="0"/>
              </a:rPr>
              <a:t> di </a:t>
            </a:r>
            <a:r>
              <a:rPr lang="en-GB" sz="1600" dirty="0" err="1">
                <a:solidFill>
                  <a:srgbClr val="000000"/>
                </a:solidFill>
                <a:effectLst/>
                <a:latin typeface="Helvetica" pitchFamily="2" charset="0"/>
              </a:rPr>
              <a:t>intervento</a:t>
            </a:r>
            <a:r>
              <a:rPr lang="en-GB" sz="1600" dirty="0">
                <a:solidFill>
                  <a:srgbClr val="000000"/>
                </a:solidFill>
                <a:effectLst/>
                <a:latin typeface="Helvetica" pitchFamily="2" charset="0"/>
              </a:rPr>
              <a:t> al </a:t>
            </a:r>
            <a:r>
              <a:rPr lang="en-GB" sz="1600" dirty="0" err="1">
                <a:solidFill>
                  <a:srgbClr val="000000"/>
                </a:solidFill>
                <a:effectLst/>
                <a:latin typeface="Helvetica" pitchFamily="2" charset="0"/>
              </a:rPr>
              <a:t>piede</a:t>
            </a:r>
            <a:r>
              <a:rPr lang="en-GB" sz="1600" dirty="0">
                <a:solidFill>
                  <a:srgbClr val="000000"/>
                </a:solidFill>
                <a:effectLst/>
                <a:latin typeface="Helvetica" pitchFamily="2" charset="0"/>
              </a:rPr>
              <a:t> e </a:t>
            </a:r>
            <a:r>
              <a:rPr lang="en-GB" sz="1600" dirty="0" err="1">
                <a:solidFill>
                  <a:srgbClr val="000000"/>
                </a:solidFill>
                <a:effectLst/>
                <a:latin typeface="Helvetica" pitchFamily="2" charset="0"/>
              </a:rPr>
              <a:t>regolari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controlli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ematici</a:t>
            </a:r>
            <a:r>
              <a:rPr lang="en-GB" sz="1600" dirty="0">
                <a:solidFill>
                  <a:srgbClr val="000000"/>
                </a:solidFill>
                <a:effectLst/>
                <a:latin typeface="Helvetica" pitchFamily="2" charset="0"/>
              </a:rPr>
              <a:t>. Non </a:t>
            </a:r>
            <a:r>
              <a:rPr lang="en-GB" sz="1600" dirty="0" err="1">
                <a:solidFill>
                  <a:srgbClr val="000000"/>
                </a:solidFill>
                <a:effectLst/>
                <a:latin typeface="Helvetica" pitchFamily="2" charset="0"/>
              </a:rPr>
              <a:t>essendo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autonoma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nella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deambulazione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viene</a:t>
            </a:r>
            <a:r>
              <a:rPr lang="en-GB" sz="1600" dirty="0">
                <a:solidFill>
                  <a:srgbClr val="000000"/>
                </a:solidFill>
                <a:effectLst/>
                <a:latin typeface="Helvetica" pitchFamily="2" charset="0"/>
              </a:rPr>
              <a:t> presa in </a:t>
            </a:r>
            <a:r>
              <a:rPr lang="en-GB" sz="1600" dirty="0" err="1">
                <a:solidFill>
                  <a:srgbClr val="000000"/>
                </a:solidFill>
                <a:effectLst/>
                <a:latin typeface="Helvetica" pitchFamily="2" charset="0"/>
              </a:rPr>
              <a:t>carico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dai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servizi</a:t>
            </a:r>
            <a:r>
              <a:rPr lang="en-GB" sz="1600" dirty="0">
                <a:solidFill>
                  <a:srgbClr val="000000"/>
                </a:solidFill>
                <a:effectLst/>
                <a:latin typeface="Helvetica" pitchFamily="2" charset="0"/>
              </a:rPr>
              <a:t> del </a:t>
            </a:r>
            <a:r>
              <a:rPr lang="en-GB" sz="1600" dirty="0" err="1">
                <a:solidFill>
                  <a:srgbClr val="000000"/>
                </a:solidFill>
                <a:effectLst/>
                <a:latin typeface="Helvetica" pitchFamily="2" charset="0"/>
              </a:rPr>
              <a:t>Distretto</a:t>
            </a:r>
            <a:r>
              <a:rPr lang="en-GB" sz="1600" dirty="0">
                <a:solidFill>
                  <a:srgbClr val="000000"/>
                </a:solidFill>
                <a:effectLst/>
                <a:latin typeface="Helvetica" pitchFamily="2" charset="0"/>
              </a:rPr>
              <a:t> n. 1 </a:t>
            </a:r>
            <a:r>
              <a:rPr lang="en-GB" sz="1600" dirty="0" err="1">
                <a:solidFill>
                  <a:srgbClr val="000000"/>
                </a:solidFill>
                <a:effectLst/>
                <a:latin typeface="Helvetica" pitchFamily="2" charset="0"/>
              </a:rPr>
              <a:t>dell’ASUGI</a:t>
            </a:r>
            <a:r>
              <a:rPr lang="en-GB" sz="1600" dirty="0">
                <a:solidFill>
                  <a:srgbClr val="000000"/>
                </a:solidFill>
                <a:effectLst/>
                <a:latin typeface="Helvetica" pitchFamily="2" charset="0"/>
              </a:rPr>
              <a:t> di Trieste. Anna </a:t>
            </a:r>
            <a:r>
              <a:rPr lang="en-GB" sz="1600" dirty="0" err="1">
                <a:solidFill>
                  <a:srgbClr val="000000"/>
                </a:solidFill>
                <a:effectLst/>
                <a:latin typeface="Helvetica" pitchFamily="2" charset="0"/>
              </a:rPr>
              <a:t>sembra</a:t>
            </a:r>
            <a:r>
              <a:rPr lang="en-GB" sz="1600" dirty="0">
                <a:solidFill>
                  <a:srgbClr val="000000"/>
                </a:solidFill>
                <a:effectLst/>
                <a:latin typeface="Helvetica" pitchFamily="2" charset="0"/>
              </a:rPr>
              <a:t>, in un primo </a:t>
            </a:r>
            <a:r>
              <a:rPr lang="en-GB" sz="1600" dirty="0" err="1">
                <a:solidFill>
                  <a:srgbClr val="000000"/>
                </a:solidFill>
                <a:effectLst/>
                <a:latin typeface="Helvetica" pitchFamily="2" charset="0"/>
              </a:rPr>
              <a:t>momento</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persona </a:t>
            </a:r>
            <a:r>
              <a:rPr lang="en-GB" sz="1600" dirty="0" err="1">
                <a:solidFill>
                  <a:srgbClr val="000000"/>
                </a:solidFill>
                <a:effectLst/>
                <a:latin typeface="Helvetica" pitchFamily="2" charset="0"/>
              </a:rPr>
              <a:t>collaborante</a:t>
            </a:r>
            <a:r>
              <a:rPr lang="en-GB" sz="1600" dirty="0">
                <a:solidFill>
                  <a:srgbClr val="000000"/>
                </a:solidFill>
                <a:effectLst/>
                <a:latin typeface="Helvetica" pitchFamily="2" charset="0"/>
              </a:rPr>
              <a:t> al piano </a:t>
            </a:r>
            <a:r>
              <a:rPr lang="en-GB" sz="1600" dirty="0" err="1">
                <a:solidFill>
                  <a:srgbClr val="000000"/>
                </a:solidFill>
                <a:effectLst/>
                <a:latin typeface="Helvetica" pitchFamily="2" charset="0"/>
              </a:rPr>
              <a:t>assistenziale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predisposto</a:t>
            </a:r>
            <a:r>
              <a:rPr lang="en-GB" sz="1600" dirty="0">
                <a:solidFill>
                  <a:srgbClr val="000000"/>
                </a:solidFill>
                <a:effectLst/>
                <a:latin typeface="Helvetica" pitchFamily="2" charset="0"/>
              </a:rPr>
              <a:t>, ma, dopo un </a:t>
            </a:r>
            <a:r>
              <a:rPr lang="en-GB" sz="1600" dirty="0" err="1">
                <a:solidFill>
                  <a:srgbClr val="000000"/>
                </a:solidFill>
                <a:effectLst/>
                <a:latin typeface="Helvetica" pitchFamily="2" charset="0"/>
              </a:rPr>
              <a:t>paio</a:t>
            </a:r>
            <a:r>
              <a:rPr lang="en-GB" sz="1600" dirty="0">
                <a:solidFill>
                  <a:srgbClr val="000000"/>
                </a:solidFill>
                <a:effectLst/>
                <a:latin typeface="Helvetica" pitchFamily="2" charset="0"/>
              </a:rPr>
              <a:t> di </a:t>
            </a:r>
            <a:r>
              <a:rPr lang="en-GB" sz="1600" dirty="0" err="1">
                <a:solidFill>
                  <a:srgbClr val="000000"/>
                </a:solidFill>
                <a:effectLst/>
                <a:latin typeface="Helvetica" pitchFamily="2" charset="0"/>
              </a:rPr>
              <a:t>interventi</a:t>
            </a:r>
            <a:r>
              <a:rPr lang="en-GB" sz="1600" dirty="0">
                <a:solidFill>
                  <a:srgbClr val="000000"/>
                </a:solidFill>
                <a:effectLst/>
                <a:latin typeface="Helvetica" pitchFamily="2" charset="0"/>
              </a:rPr>
              <a:t> per </a:t>
            </a:r>
            <a:r>
              <a:rPr lang="en-GB" sz="1600" dirty="0" err="1">
                <a:solidFill>
                  <a:srgbClr val="000000"/>
                </a:solidFill>
                <a:effectLst/>
                <a:latin typeface="Helvetica" pitchFamily="2" charset="0"/>
              </a:rPr>
              <a:t>controllare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gli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esiti</a:t>
            </a:r>
            <a:r>
              <a:rPr lang="en-GB" sz="1600" dirty="0">
                <a:solidFill>
                  <a:srgbClr val="000000"/>
                </a:solidFill>
                <a:effectLst/>
                <a:latin typeface="Helvetica" pitchFamily="2" charset="0"/>
              </a:rPr>
              <a:t> della </a:t>
            </a:r>
            <a:r>
              <a:rPr lang="en-GB" sz="1600" dirty="0" err="1">
                <a:solidFill>
                  <a:srgbClr val="000000"/>
                </a:solidFill>
                <a:effectLst/>
                <a:latin typeface="Helvetica" pitchFamily="2" charset="0"/>
              </a:rPr>
              <a:t>ferita</a:t>
            </a:r>
            <a:r>
              <a:rPr lang="en-GB" sz="1600" dirty="0">
                <a:solidFill>
                  <a:srgbClr val="000000"/>
                </a:solidFill>
                <a:effectLst/>
                <a:latin typeface="Helvetica" pitchFamily="2" charset="0"/>
              </a:rPr>
              <a:t> al </a:t>
            </a:r>
            <a:r>
              <a:rPr lang="en-GB" sz="1600" dirty="0" err="1">
                <a:solidFill>
                  <a:srgbClr val="000000"/>
                </a:solidFill>
                <a:effectLst/>
                <a:latin typeface="Helvetica" pitchFamily="2" charset="0"/>
              </a:rPr>
              <a:t>piede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si</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intuisce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che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qualcosa</a:t>
            </a:r>
            <a:r>
              <a:rPr lang="en-GB" sz="1600" dirty="0">
                <a:solidFill>
                  <a:srgbClr val="000000"/>
                </a:solidFill>
                <a:effectLst/>
                <a:latin typeface="Helvetica" pitchFamily="2" charset="0"/>
              </a:rPr>
              <a:t> non </a:t>
            </a:r>
            <a:r>
              <a:rPr lang="en-GB" sz="1600" dirty="0" err="1">
                <a:solidFill>
                  <a:srgbClr val="000000"/>
                </a:solidFill>
                <a:effectLst/>
                <a:latin typeface="Helvetica" pitchFamily="2" charset="0"/>
              </a:rPr>
              <a:t>funziona</a:t>
            </a:r>
            <a:r>
              <a:rPr lang="en-GB" sz="1600" dirty="0">
                <a:solidFill>
                  <a:srgbClr val="000000"/>
                </a:solidFill>
                <a:effectLst/>
                <a:latin typeface="Helvetica" pitchFamily="2" charset="0"/>
              </a:rPr>
              <a:t>. Si </a:t>
            </a:r>
            <a:r>
              <a:rPr lang="en-GB" sz="1600" dirty="0" err="1">
                <a:solidFill>
                  <a:srgbClr val="000000"/>
                </a:solidFill>
                <a:effectLst/>
                <a:latin typeface="Helvetica" pitchFamily="2" charset="0"/>
              </a:rPr>
              <a:t>somministra</a:t>
            </a:r>
            <a:r>
              <a:rPr lang="en-GB" sz="1600" dirty="0">
                <a:solidFill>
                  <a:srgbClr val="000000"/>
                </a:solidFill>
                <a:effectLst/>
                <a:latin typeface="Helvetica" pitchFamily="2" charset="0"/>
              </a:rPr>
              <a:t> la </a:t>
            </a:r>
            <a:r>
              <a:rPr lang="en-GB" sz="1600" dirty="0" err="1">
                <a:solidFill>
                  <a:srgbClr val="000000"/>
                </a:solidFill>
                <a:effectLst/>
                <a:latin typeface="Helvetica" pitchFamily="2" charset="0"/>
              </a:rPr>
              <a:t>scheda</a:t>
            </a:r>
            <a:r>
              <a:rPr lang="en-GB" sz="1600" dirty="0">
                <a:solidFill>
                  <a:srgbClr val="000000"/>
                </a:solidFill>
                <a:effectLst/>
                <a:latin typeface="Helvetica" pitchFamily="2" charset="0"/>
              </a:rPr>
              <a:t> PHE-S® per </a:t>
            </a:r>
            <a:r>
              <a:rPr lang="en-GB" sz="1600" dirty="0" err="1">
                <a:solidFill>
                  <a:srgbClr val="000000"/>
                </a:solidFill>
                <a:effectLst/>
                <a:latin typeface="Helvetica" pitchFamily="2" charset="0"/>
              </a:rPr>
              <a:t>una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valutazione</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dell’elaborazione</a:t>
            </a:r>
            <a:r>
              <a:rPr lang="en-GB" sz="1600" dirty="0">
                <a:solidFill>
                  <a:srgbClr val="000000"/>
                </a:solidFill>
                <a:effectLst/>
                <a:latin typeface="Helvetica" pitchFamily="2" charset="0"/>
              </a:rPr>
              <a:t> del </a:t>
            </a:r>
            <a:r>
              <a:rPr lang="en-GB" sz="1600" dirty="0" err="1">
                <a:solidFill>
                  <a:srgbClr val="000000"/>
                </a:solidFill>
                <a:effectLst/>
                <a:latin typeface="Helvetica" pitchFamily="2" charset="0"/>
              </a:rPr>
              <a:t>vissuto</a:t>
            </a:r>
            <a:r>
              <a:rPr lang="en-GB" sz="1600" dirty="0">
                <a:solidFill>
                  <a:srgbClr val="000000"/>
                </a:solidFill>
                <a:effectLst/>
                <a:latin typeface="Helvetica" pitchFamily="2" charset="0"/>
              </a:rPr>
              <a:t> della </a:t>
            </a:r>
            <a:r>
              <a:rPr lang="en-GB" sz="1600" dirty="0" err="1">
                <a:solidFill>
                  <a:srgbClr val="000000"/>
                </a:solidFill>
                <a:effectLst/>
                <a:latin typeface="Helvetica" pitchFamily="2" charset="0"/>
              </a:rPr>
              <a:t>malattia</a:t>
            </a:r>
            <a:r>
              <a:rPr lang="en-GB" sz="1600" dirty="0">
                <a:solidFill>
                  <a:srgbClr val="000000"/>
                </a:solidFill>
                <a:effectLst/>
                <a:latin typeface="Helvetica" pitchFamily="2" charset="0"/>
              </a:rPr>
              <a:t>, </a:t>
            </a:r>
            <a:r>
              <a:rPr lang="en-GB" sz="1600" dirty="0" err="1">
                <a:solidFill>
                  <a:srgbClr val="000000"/>
                </a:solidFill>
                <a:effectLst/>
                <a:latin typeface="Helvetica" pitchFamily="2" charset="0"/>
              </a:rPr>
              <a:t>riscontrando</a:t>
            </a:r>
            <a:r>
              <a:rPr lang="en-GB" sz="1600" dirty="0">
                <a:solidFill>
                  <a:srgbClr val="000000"/>
                </a:solidFill>
                <a:effectLst/>
                <a:latin typeface="Helvetica" pitchFamily="2" charset="0"/>
              </a:rPr>
              <a:t> un </a:t>
            </a:r>
            <a:r>
              <a:rPr lang="en-GB" sz="1600" dirty="0" err="1">
                <a:solidFill>
                  <a:srgbClr val="000000"/>
                </a:solidFill>
                <a:effectLst/>
                <a:latin typeface="Helvetica" pitchFamily="2" charset="0"/>
              </a:rPr>
              <a:t>punteggio</a:t>
            </a:r>
            <a:r>
              <a:rPr lang="en-GB" sz="1600" dirty="0">
                <a:solidFill>
                  <a:srgbClr val="000000"/>
                </a:solidFill>
                <a:effectLst/>
                <a:latin typeface="Helvetica" pitchFamily="2" charset="0"/>
              </a:rPr>
              <a:t> di 2,5. </a:t>
            </a:r>
            <a:r>
              <a:rPr lang="en-GB" sz="1600" dirty="0">
                <a:solidFill>
                  <a:schemeClr val="tx1"/>
                </a:solidFill>
              </a:rPr>
              <a:t>Parlando con lei emerge </a:t>
            </a:r>
            <a:r>
              <a:rPr lang="en-GB" sz="1600" dirty="0" err="1">
                <a:solidFill>
                  <a:schemeClr val="tx1"/>
                </a:solidFill>
              </a:rPr>
              <a:t>una</a:t>
            </a:r>
            <a:r>
              <a:rPr lang="en-GB" sz="1600" dirty="0">
                <a:solidFill>
                  <a:schemeClr val="tx1"/>
                </a:solidFill>
              </a:rPr>
              <a:t> </a:t>
            </a:r>
            <a:r>
              <a:rPr lang="en-GB" sz="1600" dirty="0" err="1">
                <a:solidFill>
                  <a:schemeClr val="tx1"/>
                </a:solidFill>
              </a:rPr>
              <a:t>profonda</a:t>
            </a:r>
            <a:r>
              <a:rPr lang="en-GB" sz="1600" dirty="0">
                <a:solidFill>
                  <a:schemeClr val="tx1"/>
                </a:solidFill>
              </a:rPr>
              <a:t> </a:t>
            </a:r>
            <a:r>
              <a:rPr lang="en-GB" sz="1600" dirty="0" err="1">
                <a:solidFill>
                  <a:schemeClr val="tx1"/>
                </a:solidFill>
              </a:rPr>
              <a:t>difficolta</a:t>
            </a:r>
            <a:r>
              <a:rPr lang="en-GB" sz="1600" dirty="0">
                <a:solidFill>
                  <a:schemeClr val="tx1"/>
                </a:solidFill>
              </a:rPr>
              <a:t>’ ad </a:t>
            </a:r>
            <a:r>
              <a:rPr lang="en-GB" sz="1600" dirty="0" err="1">
                <a:solidFill>
                  <a:schemeClr val="tx1"/>
                </a:solidFill>
              </a:rPr>
              <a:t>accettare</a:t>
            </a:r>
            <a:r>
              <a:rPr lang="en-GB" sz="1600" dirty="0">
                <a:solidFill>
                  <a:schemeClr val="tx1"/>
                </a:solidFill>
              </a:rPr>
              <a:t> </a:t>
            </a:r>
            <a:r>
              <a:rPr lang="en-GB" sz="1600" dirty="0" err="1">
                <a:solidFill>
                  <a:schemeClr val="tx1"/>
                </a:solidFill>
              </a:rPr>
              <a:t>l’intervento</a:t>
            </a:r>
            <a:r>
              <a:rPr lang="en-GB" sz="1600" dirty="0">
                <a:solidFill>
                  <a:schemeClr val="tx1"/>
                </a:solidFill>
              </a:rPr>
              <a:t> al </a:t>
            </a:r>
            <a:r>
              <a:rPr lang="en-GB" sz="1600" dirty="0" err="1">
                <a:solidFill>
                  <a:schemeClr val="tx1"/>
                </a:solidFill>
              </a:rPr>
              <a:t>cuore</a:t>
            </a:r>
            <a:r>
              <a:rPr lang="en-GB" sz="1600" dirty="0">
                <a:solidFill>
                  <a:schemeClr val="tx1"/>
                </a:solidFill>
              </a:rPr>
              <a:t>, </a:t>
            </a:r>
            <a:r>
              <a:rPr lang="en-GB" sz="1600" dirty="0" err="1">
                <a:solidFill>
                  <a:schemeClr val="tx1"/>
                </a:solidFill>
              </a:rPr>
              <a:t>riferisce</a:t>
            </a:r>
            <a:r>
              <a:rPr lang="en-GB" sz="1600" dirty="0">
                <a:solidFill>
                  <a:schemeClr val="tx1"/>
                </a:solidFill>
              </a:rPr>
              <a:t> di </a:t>
            </a:r>
            <a:r>
              <a:rPr lang="en-GB" sz="1600" dirty="0" err="1">
                <a:solidFill>
                  <a:schemeClr val="tx1"/>
                </a:solidFill>
              </a:rPr>
              <a:t>sentirsi</a:t>
            </a:r>
            <a:r>
              <a:rPr lang="en-GB" sz="1600" dirty="0">
                <a:solidFill>
                  <a:schemeClr val="tx1"/>
                </a:solidFill>
              </a:rPr>
              <a:t> </a:t>
            </a:r>
            <a:r>
              <a:rPr lang="en-GB" sz="1600" dirty="0" err="1">
                <a:solidFill>
                  <a:schemeClr val="tx1"/>
                </a:solidFill>
              </a:rPr>
              <a:t>bloccata</a:t>
            </a:r>
            <a:r>
              <a:rPr lang="en-GB" sz="1600" dirty="0">
                <a:solidFill>
                  <a:schemeClr val="tx1"/>
                </a:solidFill>
              </a:rPr>
              <a:t> e </a:t>
            </a:r>
            <a:r>
              <a:rPr lang="en-GB" sz="1600" dirty="0" err="1">
                <a:solidFill>
                  <a:schemeClr val="tx1"/>
                </a:solidFill>
              </a:rPr>
              <a:t>ripete</a:t>
            </a:r>
            <a:r>
              <a:rPr lang="en-GB" sz="1600" dirty="0">
                <a:solidFill>
                  <a:schemeClr val="tx1"/>
                </a:solidFill>
              </a:rPr>
              <a:t> </a:t>
            </a:r>
            <a:r>
              <a:rPr lang="en-GB" sz="1600" dirty="0" err="1">
                <a:solidFill>
                  <a:schemeClr val="tx1"/>
                </a:solidFill>
              </a:rPr>
              <a:t>spesso</a:t>
            </a:r>
            <a:r>
              <a:rPr lang="en-GB" sz="1600" dirty="0">
                <a:solidFill>
                  <a:schemeClr val="tx1"/>
                </a:solidFill>
              </a:rPr>
              <a:t>: Sono in black out. … </a:t>
            </a:r>
            <a:r>
              <a:rPr lang="en-GB" sz="1600" dirty="0">
                <a:solidFill>
                  <a:srgbClr val="898989"/>
                </a:solidFill>
                <a:effectLst/>
                <a:latin typeface="Helvetica" pitchFamily="2" charset="0"/>
              </a:rPr>
              <a:t>[mezza </a:t>
            </a:r>
            <a:r>
              <a:rPr lang="en-GB" sz="1600" dirty="0" err="1">
                <a:solidFill>
                  <a:srgbClr val="898989"/>
                </a:solidFill>
                <a:effectLst/>
                <a:latin typeface="Helvetica" pitchFamily="2" charset="0"/>
              </a:rPr>
              <a:t>pagina</a:t>
            </a:r>
            <a:r>
              <a:rPr lang="en-GB" sz="1600" dirty="0">
                <a:solidFill>
                  <a:srgbClr val="898989"/>
                </a:solidFill>
                <a:effectLst/>
                <a:latin typeface="Helvetica" pitchFamily="2" charset="0"/>
              </a:rPr>
              <a:t> </a:t>
            </a:r>
            <a:r>
              <a:rPr lang="en-GB" sz="1600" dirty="0" err="1">
                <a:solidFill>
                  <a:srgbClr val="898989"/>
                </a:solidFill>
                <a:effectLst/>
                <a:latin typeface="Helvetica" pitchFamily="2" charset="0"/>
              </a:rPr>
              <a:t>omessa</a:t>
            </a:r>
            <a:r>
              <a:rPr lang="en-GB" sz="1600" dirty="0">
                <a:solidFill>
                  <a:srgbClr val="898989"/>
                </a:solidFill>
                <a:latin typeface="Helvetica" pitchFamily="2" charset="0"/>
              </a:rPr>
              <a:t>]</a:t>
            </a:r>
            <a:r>
              <a:rPr lang="en-GB" sz="1600" dirty="0">
                <a:solidFill>
                  <a:srgbClr val="898989"/>
                </a:solidFill>
              </a:rPr>
              <a:t> </a:t>
            </a:r>
            <a:r>
              <a:rPr lang="en-GB" sz="1600" dirty="0"/>
              <a:t>…</a:t>
            </a:r>
            <a:r>
              <a:rPr lang="en-GB" sz="1600" dirty="0">
                <a:solidFill>
                  <a:schemeClr val="tx1"/>
                </a:solidFill>
              </a:rPr>
              <a:t>I </a:t>
            </a:r>
            <a:r>
              <a:rPr lang="en-GB" sz="1600" dirty="0" err="1">
                <a:solidFill>
                  <a:schemeClr val="tx1"/>
                </a:solidFill>
              </a:rPr>
              <a:t>valori</a:t>
            </a:r>
            <a:r>
              <a:rPr lang="en-GB" sz="1600" dirty="0">
                <a:solidFill>
                  <a:schemeClr val="tx1"/>
                </a:solidFill>
              </a:rPr>
              <a:t> della PHE-S dopo 4 </a:t>
            </a:r>
            <a:r>
              <a:rPr lang="en-GB" sz="1600" dirty="0" err="1">
                <a:solidFill>
                  <a:schemeClr val="tx1"/>
                </a:solidFill>
              </a:rPr>
              <a:t>mesi</a:t>
            </a:r>
            <a:r>
              <a:rPr lang="en-GB" sz="1600" dirty="0">
                <a:solidFill>
                  <a:schemeClr val="tx1"/>
                </a:solidFill>
              </a:rPr>
              <a:t> di </a:t>
            </a:r>
            <a:r>
              <a:rPr lang="en-GB" sz="1600" dirty="0" err="1">
                <a:solidFill>
                  <a:schemeClr val="tx1"/>
                </a:solidFill>
              </a:rPr>
              <a:t>interventi</a:t>
            </a:r>
            <a:r>
              <a:rPr lang="en-GB" sz="1600" dirty="0">
                <a:solidFill>
                  <a:schemeClr val="tx1"/>
                </a:solidFill>
              </a:rPr>
              <a:t> </a:t>
            </a:r>
            <a:r>
              <a:rPr lang="en-GB" sz="1600" dirty="0" err="1">
                <a:solidFill>
                  <a:schemeClr val="tx1"/>
                </a:solidFill>
              </a:rPr>
              <a:t>sono</a:t>
            </a:r>
            <a:r>
              <a:rPr lang="en-GB" sz="1600" dirty="0">
                <a:solidFill>
                  <a:schemeClr val="tx1"/>
                </a:solidFill>
              </a:rPr>
              <a:t> </a:t>
            </a:r>
            <a:r>
              <a:rPr lang="en-GB" sz="1600" dirty="0" err="1">
                <a:solidFill>
                  <a:schemeClr val="tx1"/>
                </a:solidFill>
              </a:rPr>
              <a:t>incrementati</a:t>
            </a:r>
            <a:r>
              <a:rPr lang="en-GB" sz="1600" dirty="0">
                <a:solidFill>
                  <a:schemeClr val="tx1"/>
                </a:solidFill>
              </a:rPr>
              <a:t> </a:t>
            </a:r>
            <a:r>
              <a:rPr lang="en-GB" sz="1600" dirty="0" err="1">
                <a:solidFill>
                  <a:schemeClr val="tx1"/>
                </a:solidFill>
              </a:rPr>
              <a:t>fino</a:t>
            </a:r>
            <a:r>
              <a:rPr lang="en-GB" sz="1600" dirty="0">
                <a:solidFill>
                  <a:schemeClr val="tx1"/>
                </a:solidFill>
              </a:rPr>
              <a:t> a </a:t>
            </a:r>
            <a:r>
              <a:rPr lang="en-GB" sz="1600" dirty="0" err="1">
                <a:solidFill>
                  <a:schemeClr val="tx1"/>
                </a:solidFill>
              </a:rPr>
              <a:t>raggiungere</a:t>
            </a:r>
            <a:r>
              <a:rPr lang="en-GB" sz="1600" dirty="0">
                <a:solidFill>
                  <a:schemeClr val="tx1"/>
                </a:solidFill>
              </a:rPr>
              <a:t> un </a:t>
            </a:r>
            <a:r>
              <a:rPr lang="en-GB" sz="1600" dirty="0" err="1">
                <a:solidFill>
                  <a:schemeClr val="tx1"/>
                </a:solidFill>
              </a:rPr>
              <a:t>punteggio</a:t>
            </a:r>
            <a:r>
              <a:rPr lang="en-GB" sz="1600" dirty="0">
                <a:solidFill>
                  <a:schemeClr val="tx1"/>
                </a:solidFill>
              </a:rPr>
              <a:t> pari a 3. ... </a:t>
            </a:r>
            <a:r>
              <a:rPr lang="en-GB" sz="1600" dirty="0">
                <a:solidFill>
                  <a:srgbClr val="898989"/>
                </a:solidFill>
              </a:rPr>
              <a:t>[1 </a:t>
            </a:r>
            <a:r>
              <a:rPr lang="en-GB" sz="1600" dirty="0" err="1">
                <a:solidFill>
                  <a:srgbClr val="898989"/>
                </a:solidFill>
              </a:rPr>
              <a:t>altra</a:t>
            </a:r>
            <a:r>
              <a:rPr lang="en-GB" sz="1600" dirty="0">
                <a:solidFill>
                  <a:srgbClr val="898989"/>
                </a:solidFill>
              </a:rPr>
              <a:t> </a:t>
            </a:r>
            <a:r>
              <a:rPr lang="en-GB" sz="1600" dirty="0" err="1">
                <a:solidFill>
                  <a:srgbClr val="898989"/>
                </a:solidFill>
              </a:rPr>
              <a:t>pagina</a:t>
            </a:r>
            <a:r>
              <a:rPr lang="en-GB" sz="1600" dirty="0">
                <a:solidFill>
                  <a:srgbClr val="898989"/>
                </a:solidFill>
              </a:rPr>
              <a:t>]</a:t>
            </a:r>
          </a:p>
          <a:p>
            <a:pPr>
              <a:buNone/>
            </a:pPr>
            <a:endParaRPr lang="en-GB" dirty="0">
              <a:solidFill>
                <a:srgbClr val="000000"/>
              </a:solidFill>
              <a:effectLst/>
              <a:latin typeface="Helvetica" pitchFamily="2" charset="0"/>
            </a:endParaRPr>
          </a:p>
        </p:txBody>
      </p:sp>
    </p:spTree>
    <p:extLst>
      <p:ext uri="{BB962C8B-B14F-4D97-AF65-F5344CB8AC3E}">
        <p14:creationId xmlns:p14="http://schemas.microsoft.com/office/powerpoint/2010/main" val="648305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93"/>
          <p:cNvSpPr txBox="1">
            <a:spLocks noGrp="1"/>
          </p:cNvSpPr>
          <p:nvPr>
            <p:ph type="title"/>
          </p:nvPr>
        </p:nvSpPr>
        <p:spPr>
          <a:xfrm>
            <a:off x="415600" y="186967"/>
            <a:ext cx="11360800" cy="763600"/>
          </a:xfrm>
          <a:prstGeom prst="rect">
            <a:avLst/>
          </a:prstGeom>
        </p:spPr>
        <p:txBody>
          <a:bodyPr spcFirstLastPara="1" wrap="square" lIns="121900" tIns="121900" rIns="121900" bIns="121900" anchor="t" anchorCtr="0">
            <a:normAutofit/>
          </a:bodyPr>
          <a:lstStyle/>
          <a:p>
            <a:r>
              <a:rPr lang="en" b="1">
                <a:solidFill>
                  <a:srgbClr val="3C78D8"/>
                </a:solidFill>
              </a:rPr>
              <a:t>Application: Medical Chatbot</a:t>
            </a:r>
            <a:endParaRPr b="1">
              <a:solidFill>
                <a:srgbClr val="3C78D8"/>
              </a:solidFill>
            </a:endParaRPr>
          </a:p>
        </p:txBody>
      </p:sp>
      <p:pic>
        <p:nvPicPr>
          <p:cNvPr id="643" name="Google Shape;643;p93"/>
          <p:cNvPicPr preferRelativeResize="0"/>
          <p:nvPr/>
        </p:nvPicPr>
        <p:blipFill>
          <a:blip r:embed="rId3">
            <a:alphaModFix/>
          </a:blip>
          <a:stretch>
            <a:fillRect/>
          </a:stretch>
        </p:blipFill>
        <p:spPr>
          <a:xfrm>
            <a:off x="1141451" y="1031833"/>
            <a:ext cx="9909099" cy="5203099"/>
          </a:xfrm>
          <a:prstGeom prst="rect">
            <a:avLst/>
          </a:prstGeom>
          <a:noFill/>
          <a:ln>
            <a:noFill/>
          </a:ln>
        </p:spPr>
      </p:pic>
      <p:sp>
        <p:nvSpPr>
          <p:cNvPr id="644" name="Google Shape;644;p93"/>
          <p:cNvSpPr txBox="1"/>
          <p:nvPr/>
        </p:nvSpPr>
        <p:spPr>
          <a:xfrm>
            <a:off x="402633" y="6246833"/>
            <a:ext cx="8520000" cy="430847"/>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1200" b="0" i="0" u="none" strike="noStrike" kern="1200" cap="none" spc="0" normalizeH="0" baseline="0" noProof="0">
                <a:ln>
                  <a:noFill/>
                </a:ln>
                <a:solidFill>
                  <a:srgbClr val="000000"/>
                </a:solidFill>
                <a:effectLst/>
                <a:uLnTx/>
                <a:uFillTx/>
                <a:latin typeface="Arial"/>
                <a:ea typeface="+mn-ea"/>
                <a:cs typeface="+mn-cs"/>
              </a:rPr>
              <a:t>Image Credit: https://arxiv.org/pdf/2101.07714.pdf</a:t>
            </a:r>
            <a:endParaRPr kumimoji="0" lang="en-US" sz="12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2492547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A8869-A948-B207-1411-66B650EA0CF2}"/>
              </a:ext>
            </a:extLst>
          </p:cNvPr>
          <p:cNvSpPr>
            <a:spLocks noGrp="1"/>
          </p:cNvSpPr>
          <p:nvPr>
            <p:ph type="title"/>
          </p:nvPr>
        </p:nvSpPr>
        <p:spPr/>
        <p:txBody>
          <a:bodyPr>
            <a:normAutofit/>
          </a:bodyPr>
          <a:lstStyle/>
          <a:p>
            <a:r>
              <a:rPr lang="en-IT" dirty="0">
                <a:solidFill>
                  <a:srgbClr val="00B0F0"/>
                </a:solidFill>
              </a:rPr>
              <a:t>Application – virtual health coach  (texts, physical activity goals)</a:t>
            </a:r>
          </a:p>
        </p:txBody>
      </p:sp>
      <p:sp>
        <p:nvSpPr>
          <p:cNvPr id="3" name="Text Placeholder 2">
            <a:extLst>
              <a:ext uri="{FF2B5EF4-FFF2-40B4-BE49-F238E27FC236}">
                <a16:creationId xmlns:a16="http://schemas.microsoft.com/office/drawing/2014/main" id="{6A4B2ACC-101D-D549-264B-BFEE73E6A6FE}"/>
              </a:ext>
            </a:extLst>
          </p:cNvPr>
          <p:cNvSpPr>
            <a:spLocks noGrp="1"/>
          </p:cNvSpPr>
          <p:nvPr>
            <p:ph type="body" idx="1"/>
          </p:nvPr>
        </p:nvSpPr>
        <p:spPr>
          <a:ln w="15875">
            <a:solidFill>
              <a:srgbClr val="00B0F0"/>
            </a:solidFill>
          </a:ln>
        </p:spPr>
        <p:txBody>
          <a:bodyPr>
            <a:normAutofit/>
          </a:bodyPr>
          <a:lstStyle/>
          <a:p>
            <a:pPr marL="152396" indent="0">
              <a:spcBef>
                <a:spcPts val="150"/>
              </a:spcBef>
              <a:buNone/>
            </a:pPr>
            <a:r>
              <a:rPr lang="en-US" sz="2400" b="1" dirty="0">
                <a:latin typeface="Times New Roman" panose="02020603050405020304" pitchFamily="18" charset="0"/>
                <a:cs typeface="Times New Roman" panose="02020603050405020304" pitchFamily="18" charset="0"/>
              </a:rPr>
              <a:t>Coach: </a:t>
            </a:r>
            <a:r>
              <a:rPr lang="en-US" sz="2400" dirty="0">
                <a:latin typeface="Times New Roman" panose="02020603050405020304" pitchFamily="18" charset="0"/>
                <a:cs typeface="Times New Roman" panose="02020603050405020304" pitchFamily="18" charset="0"/>
              </a:rPr>
              <a:t>Think about this week, let’s call it week 1 of 4.</a:t>
            </a:r>
            <a:r>
              <a:rPr lang="en-US" sz="2400" b="1" dirty="0">
                <a:solidFill>
                  <a:srgbClr val="0432FF"/>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Now what goal could you make that would allow you to do more walking?</a:t>
            </a:r>
          </a:p>
          <a:p>
            <a:pPr marL="152396" indent="0">
              <a:spcBef>
                <a:spcPts val="150"/>
              </a:spcBef>
              <a:buNone/>
            </a:pPr>
            <a:r>
              <a:rPr lang="en-US" sz="2400" b="1" dirty="0">
                <a:latin typeface="Times New Roman" panose="02020603050405020304" pitchFamily="18" charset="0"/>
                <a:cs typeface="Times New Roman" panose="02020603050405020304" pitchFamily="18" charset="0"/>
              </a:rPr>
              <a:t>Patient: </a:t>
            </a:r>
            <a:r>
              <a:rPr lang="en-US" sz="2400" dirty="0">
                <a:latin typeface="Times New Roman" panose="02020603050405020304" pitchFamily="18" charset="0"/>
                <a:cs typeface="Times New Roman" panose="02020603050405020304" pitchFamily="18" charset="0"/>
              </a:rPr>
              <a:t>I can take the stairs</a:t>
            </a:r>
            <a:r>
              <a:rPr lang="en-US" sz="2400" dirty="0">
                <a:solidFill>
                  <a:srgbClr val="0432FF"/>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work</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for the work week. </a:t>
            </a:r>
          </a:p>
          <a:p>
            <a:pPr marL="152396" indent="0">
              <a:spcBef>
                <a:spcPts val="150"/>
              </a:spcBef>
              <a:buNone/>
            </a:pPr>
            <a:r>
              <a:rPr lang="en-US" sz="2400" b="1" dirty="0">
                <a:latin typeface="Times New Roman" panose="02020603050405020304" pitchFamily="18" charset="0"/>
                <a:cs typeface="Times New Roman" panose="02020603050405020304" pitchFamily="18" charset="0"/>
              </a:rPr>
              <a:t>Coach: </a:t>
            </a:r>
            <a:r>
              <a:rPr lang="en-US" sz="2400" dirty="0">
                <a:latin typeface="Times New Roman" panose="02020603050405020304" pitchFamily="18" charset="0"/>
                <a:cs typeface="Times New Roman" panose="02020603050405020304" pitchFamily="18" charset="0"/>
              </a:rPr>
              <a:t>Sounds good.</a:t>
            </a:r>
            <a:r>
              <a:rPr lang="en-US" sz="2400" dirty="0">
                <a:solidFill>
                  <a:srgbClr val="00B05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So will this be for coming, going and at lunch time?</a:t>
            </a:r>
            <a:endParaRPr lang="en-US" sz="2400" dirty="0">
              <a:solidFill>
                <a:srgbClr val="00B050"/>
              </a:solidFill>
              <a:latin typeface="Times New Roman" panose="02020603050405020304" pitchFamily="18" charset="0"/>
              <a:cs typeface="Times New Roman" panose="02020603050405020304" pitchFamily="18" charset="0"/>
            </a:endParaRPr>
          </a:p>
          <a:p>
            <a:pPr marL="152396" indent="0">
              <a:spcBef>
                <a:spcPts val="150"/>
              </a:spcBef>
              <a:buNone/>
            </a:pPr>
            <a:r>
              <a:rPr lang="en-US" sz="2400" b="1" dirty="0">
                <a:latin typeface="Times New Roman" panose="02020603050405020304" pitchFamily="18" charset="0"/>
                <a:cs typeface="Times New Roman" panose="02020603050405020304" pitchFamily="18" charset="0"/>
              </a:rPr>
              <a:t>Patient: </a:t>
            </a:r>
            <a:r>
              <a:rPr lang="en-US" sz="2400" dirty="0">
                <a:latin typeface="Times New Roman" panose="02020603050405020304" pitchFamily="18" charset="0"/>
                <a:cs typeface="Times New Roman" panose="02020603050405020304" pitchFamily="18" charset="0"/>
              </a:rPr>
              <a:t>I will do at least twice during workdays</a:t>
            </a:r>
            <a:r>
              <a:rPr lang="en-US" sz="2400" dirty="0">
                <a:solidFill>
                  <a:srgbClr val="0432FF"/>
                </a:solidFill>
                <a:latin typeface="Times New Roman" panose="02020603050405020304" pitchFamily="18" charset="0"/>
                <a:cs typeface="Times New Roman" panose="02020603050405020304" pitchFamily="18" charset="0"/>
              </a:rPr>
              <a:t> </a:t>
            </a:r>
          </a:p>
          <a:p>
            <a:pPr marL="152396" indent="0">
              <a:spcBef>
                <a:spcPts val="150"/>
              </a:spcBef>
              <a:buNone/>
            </a:pPr>
            <a:r>
              <a:rPr lang="en-US" sz="2400" b="1" dirty="0">
                <a:latin typeface="Times New Roman" panose="02020603050405020304" pitchFamily="18" charset="0"/>
                <a:cs typeface="Times New Roman" panose="02020603050405020304" pitchFamily="18" charset="0"/>
              </a:rPr>
              <a:t>Coach: </a:t>
            </a:r>
            <a:r>
              <a:rPr lang="en-US" sz="2400" dirty="0">
                <a:latin typeface="Times New Roman" panose="02020603050405020304" pitchFamily="18" charset="0"/>
                <a:cs typeface="Times New Roman" panose="02020603050405020304" pitchFamily="18" charset="0"/>
              </a:rPr>
              <a:t>On a scale of 1-10 with 10 being very sure and 1 not at all sure. How sure are you that you will accomplish your goal?</a:t>
            </a:r>
          </a:p>
          <a:p>
            <a:pPr marL="152396" indent="0">
              <a:spcBef>
                <a:spcPts val="150"/>
              </a:spcBef>
              <a:buNone/>
            </a:pPr>
            <a:r>
              <a:rPr lang="en-US" sz="2400" b="1" dirty="0">
                <a:latin typeface="Times New Roman" panose="02020603050405020304" pitchFamily="18" charset="0"/>
                <a:cs typeface="Times New Roman" panose="02020603050405020304" pitchFamily="18" charset="0"/>
              </a:rPr>
              <a:t>Patient: </a:t>
            </a:r>
            <a:r>
              <a:rPr lang="en-US" sz="2400" dirty="0">
                <a:latin typeface="Times New Roman" panose="02020603050405020304" pitchFamily="18" charset="0"/>
                <a:cs typeface="Times New Roman" panose="02020603050405020304" pitchFamily="18" charset="0"/>
              </a:rPr>
              <a:t>9</a:t>
            </a:r>
            <a:endParaRPr lang="en-IT" sz="2400" dirty="0"/>
          </a:p>
        </p:txBody>
      </p:sp>
    </p:spTree>
    <p:extLst>
      <p:ext uri="{BB962C8B-B14F-4D97-AF65-F5344CB8AC3E}">
        <p14:creationId xmlns:p14="http://schemas.microsoft.com/office/powerpoint/2010/main" val="861415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66"/>
        <p:cNvGrpSpPr/>
        <p:nvPr/>
      </p:nvGrpSpPr>
      <p:grpSpPr>
        <a:xfrm>
          <a:off x="0" y="0"/>
          <a:ext cx="0" cy="0"/>
          <a:chOff x="0" y="0"/>
          <a:chExt cx="0" cy="0"/>
        </a:xfrm>
      </p:grpSpPr>
      <p:sp>
        <p:nvSpPr>
          <p:cNvPr id="667" name="Google Shape;667;p96"/>
          <p:cNvSpPr txBox="1"/>
          <p:nvPr/>
        </p:nvSpPr>
        <p:spPr>
          <a:xfrm>
            <a:off x="84200" y="89633"/>
            <a:ext cx="12023600" cy="104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Roboto Condensed"/>
              <a:ea typeface="Roboto Condensed"/>
              <a:cs typeface="Roboto Condensed"/>
              <a:sym typeface="Roboto Condensed"/>
            </a:endParaRPr>
          </a:p>
        </p:txBody>
      </p:sp>
      <p:sp>
        <p:nvSpPr>
          <p:cNvPr id="668" name="Google Shape;668;p96"/>
          <p:cNvSpPr txBox="1"/>
          <p:nvPr/>
        </p:nvSpPr>
        <p:spPr>
          <a:xfrm>
            <a:off x="260567" y="107567"/>
            <a:ext cx="11572400" cy="5380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3600" b="1" i="0" u="none" strike="noStrike" kern="1200" cap="none" spc="0" normalizeH="0" baseline="0" noProof="0">
                <a:ln>
                  <a:noFill/>
                </a:ln>
                <a:solidFill>
                  <a:srgbClr val="0070C0"/>
                </a:solidFill>
                <a:effectLst/>
                <a:uLnTx/>
                <a:uFillTx/>
                <a:latin typeface="Roboto Condensed"/>
                <a:ea typeface="Roboto Condensed"/>
                <a:cs typeface="Roboto Condensed"/>
                <a:sym typeface="Roboto Condensed"/>
              </a:rPr>
              <a:t> Application: Radiology Report Generation</a:t>
            </a:r>
            <a:endParaRPr kumimoji="0" lang="en-US" sz="3600" b="1" i="0" u="none" strike="noStrike" kern="1200" cap="none" spc="0" normalizeH="0" baseline="0" noProof="0">
              <a:ln>
                <a:noFill/>
              </a:ln>
              <a:solidFill>
                <a:srgbClr val="0070C0"/>
              </a:solidFill>
              <a:effectLst/>
              <a:uLnTx/>
              <a:uFillTx/>
              <a:latin typeface="Roboto Condensed"/>
              <a:ea typeface="Roboto Condensed"/>
              <a:cs typeface="Roboto Condensed"/>
            </a:endParaRPr>
          </a:p>
        </p:txBody>
      </p:sp>
      <p:sp>
        <p:nvSpPr>
          <p:cNvPr id="669" name="Google Shape;669;p96"/>
          <p:cNvSpPr txBox="1"/>
          <p:nvPr/>
        </p:nvSpPr>
        <p:spPr>
          <a:xfrm>
            <a:off x="203200" y="1255533"/>
            <a:ext cx="1668400" cy="635968"/>
          </a:xfrm>
          <a:prstGeom prst="rect">
            <a:avLst/>
          </a:prstGeom>
          <a:solidFill>
            <a:schemeClr val="lt1"/>
          </a:solid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pic>
        <p:nvPicPr>
          <p:cNvPr id="670" name="Google Shape;670;p96"/>
          <p:cNvPicPr preferRelativeResize="0"/>
          <p:nvPr/>
        </p:nvPicPr>
        <p:blipFill>
          <a:blip r:embed="rId3">
            <a:alphaModFix/>
          </a:blip>
          <a:stretch>
            <a:fillRect/>
          </a:stretch>
        </p:blipFill>
        <p:spPr>
          <a:xfrm>
            <a:off x="476834" y="1137234"/>
            <a:ext cx="2376591" cy="5540268"/>
          </a:xfrm>
          <a:prstGeom prst="rect">
            <a:avLst/>
          </a:prstGeom>
          <a:noFill/>
          <a:ln>
            <a:noFill/>
          </a:ln>
        </p:spPr>
      </p:pic>
      <p:pic>
        <p:nvPicPr>
          <p:cNvPr id="671" name="Google Shape;671;p96"/>
          <p:cNvPicPr preferRelativeResize="0"/>
          <p:nvPr/>
        </p:nvPicPr>
        <p:blipFill>
          <a:blip r:embed="rId4">
            <a:alphaModFix/>
          </a:blip>
          <a:stretch>
            <a:fillRect/>
          </a:stretch>
        </p:blipFill>
        <p:spPr>
          <a:xfrm>
            <a:off x="3022500" y="2711816"/>
            <a:ext cx="9085296" cy="2391099"/>
          </a:xfrm>
          <a:prstGeom prst="rect">
            <a:avLst/>
          </a:prstGeom>
          <a:noFill/>
          <a:ln>
            <a:noFill/>
          </a:ln>
        </p:spPr>
      </p:pic>
      <p:sp>
        <p:nvSpPr>
          <p:cNvPr id="672" name="Google Shape;672;p96"/>
          <p:cNvSpPr txBox="1"/>
          <p:nvPr/>
        </p:nvSpPr>
        <p:spPr>
          <a:xfrm>
            <a:off x="5116843" y="5340096"/>
            <a:ext cx="6598323" cy="1477287"/>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Arial"/>
                <a:ea typeface="+mn-ea"/>
                <a:cs typeface="+mn-cs"/>
              </a:rPr>
              <a:t>Wang, S., Tang, L., Lin, M., Shih, G., Ding, Y. and Peng, Y., 2022. Prior knowledge enhances radiology report generation. </a:t>
            </a:r>
            <a:r>
              <a:rPr kumimoji="0" lang="en-GB" sz="1600" b="0" i="1" u="none" strike="noStrike" kern="1200" cap="none" spc="0" normalizeH="0" baseline="0" noProof="0" dirty="0">
                <a:ln>
                  <a:noFill/>
                </a:ln>
                <a:solidFill>
                  <a:srgbClr val="000000"/>
                </a:solidFill>
                <a:effectLst/>
                <a:uLnTx/>
                <a:uFillTx/>
                <a:latin typeface="Arial"/>
                <a:ea typeface="+mn-ea"/>
                <a:cs typeface="+mn-cs"/>
              </a:rPr>
              <a:t>AMIA Summits on Translational Science Proceedings</a:t>
            </a:r>
            <a:r>
              <a:rPr kumimoji="0" lang="en-GB" sz="1600" b="0" i="0" u="none" strike="noStrike" kern="1200" cap="none" spc="0" normalizeH="0" baseline="0" noProof="0" dirty="0">
                <a:ln>
                  <a:noFill/>
                </a:ln>
                <a:solidFill>
                  <a:srgbClr val="000000"/>
                </a:solidFill>
                <a:effectLst/>
                <a:uLnTx/>
                <a:uFillTx/>
                <a:latin typeface="Arial"/>
                <a:ea typeface="+mn-ea"/>
                <a:cs typeface="+mn-cs"/>
              </a:rPr>
              <a:t>, </a:t>
            </a:r>
            <a:r>
              <a:rPr kumimoji="0" lang="en-GB" sz="1600" b="0" i="1" u="none" strike="noStrike" kern="1200" cap="none" spc="0" normalizeH="0" baseline="0" noProof="0" dirty="0">
                <a:ln>
                  <a:noFill/>
                </a:ln>
                <a:solidFill>
                  <a:srgbClr val="000000"/>
                </a:solidFill>
                <a:effectLst/>
                <a:uLnTx/>
                <a:uFillTx/>
                <a:latin typeface="Arial"/>
                <a:ea typeface="+mn-ea"/>
                <a:cs typeface="+mn-cs"/>
              </a:rPr>
              <a:t>2022</a:t>
            </a:r>
            <a:r>
              <a:rPr kumimoji="0" lang="en-GB" sz="1600" b="0" i="0" u="none" strike="noStrike" kern="1200" cap="none" spc="0" normalizeH="0" baseline="0" noProof="0" dirty="0">
                <a:ln>
                  <a:noFill/>
                </a:ln>
                <a:solidFill>
                  <a:srgbClr val="000000"/>
                </a:solidFill>
                <a:effectLst/>
                <a:uLnTx/>
                <a:uFillTx/>
                <a:latin typeface="Arial"/>
                <a:ea typeface="+mn-ea"/>
                <a:cs typeface="+mn-cs"/>
              </a:rPr>
              <a:t>, p.486.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1600" b="0" i="0" u="none" strike="noStrike" kern="1200" cap="none" spc="0" normalizeH="0" baseline="0" noProof="0" dirty="0">
                <a:ln>
                  <a:noFill/>
                </a:ln>
                <a:solidFill>
                  <a:srgbClr val="000000"/>
                </a:solidFill>
                <a:effectLst/>
                <a:uLnTx/>
                <a:uFillTx/>
                <a:latin typeface="Arial"/>
                <a:ea typeface="+mn-ea"/>
                <a:cs typeface="+mn-cs"/>
              </a:rPr>
              <a:t>Image Credit: https://</a:t>
            </a:r>
            <a:r>
              <a:rPr kumimoji="0" lang="en" sz="1600" b="0" i="0" u="none" strike="noStrike" kern="1200" cap="none" spc="0" normalizeH="0" baseline="0" noProof="0" dirty="0" err="1">
                <a:ln>
                  <a:noFill/>
                </a:ln>
                <a:solidFill>
                  <a:srgbClr val="000000"/>
                </a:solidFill>
                <a:effectLst/>
                <a:uLnTx/>
                <a:uFillTx/>
                <a:latin typeface="Arial"/>
                <a:ea typeface="+mn-ea"/>
                <a:cs typeface="+mn-cs"/>
              </a:rPr>
              <a:t>arxiv.org</a:t>
            </a:r>
            <a:r>
              <a:rPr kumimoji="0" lang="en" sz="1600" b="0" i="0" u="none" strike="noStrike" kern="1200" cap="none" spc="0" normalizeH="0" baseline="0" noProof="0" dirty="0">
                <a:ln>
                  <a:noFill/>
                </a:ln>
                <a:solidFill>
                  <a:srgbClr val="000000"/>
                </a:solidFill>
                <a:effectLst/>
                <a:uLnTx/>
                <a:uFillTx/>
                <a:latin typeface="Arial"/>
                <a:ea typeface="+mn-ea"/>
                <a:cs typeface="+mn-cs"/>
              </a:rPr>
              <a:t>/pdf/2201.03761v1.pdf</a:t>
            </a:r>
            <a:endParaRPr kumimoji="0" sz="1600" b="0"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3886554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8" name="Google Shape;678;p97"/>
          <p:cNvSpPr txBox="1"/>
          <p:nvPr/>
        </p:nvSpPr>
        <p:spPr>
          <a:xfrm>
            <a:off x="199000" y="914033"/>
            <a:ext cx="11701200" cy="58284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15000"/>
              </a:lnSpc>
              <a:spcBef>
                <a:spcPts val="0"/>
              </a:spcBef>
              <a:spcAft>
                <a:spcPts val="2133"/>
              </a:spcAft>
              <a:buClrTx/>
              <a:buSzTx/>
              <a:buFontTx/>
              <a:buNone/>
              <a:tabLst/>
              <a:defRPr/>
            </a:pPr>
            <a:endParaRPr kumimoji="0" sz="2133" b="0" i="0" u="none" strike="noStrike" kern="1200" cap="none" spc="0" normalizeH="0" baseline="0" noProof="0">
              <a:ln>
                <a:noFill/>
              </a:ln>
              <a:solidFill>
                <a:srgbClr val="000000"/>
              </a:solidFill>
              <a:effectLst/>
              <a:uLnTx/>
              <a:uFillTx/>
              <a:latin typeface="Arial"/>
              <a:ea typeface="+mn-ea"/>
              <a:cs typeface="+mn-cs"/>
            </a:endParaRPr>
          </a:p>
        </p:txBody>
      </p:sp>
      <p:graphicFrame>
        <p:nvGraphicFramePr>
          <p:cNvPr id="679" name="Google Shape;679;p97"/>
          <p:cNvGraphicFramePr/>
          <p:nvPr/>
        </p:nvGraphicFramePr>
        <p:xfrm>
          <a:off x="4364133" y="1524567"/>
          <a:ext cx="7536067" cy="3776566"/>
        </p:xfrm>
        <a:graphic>
          <a:graphicData uri="http://schemas.openxmlformats.org/drawingml/2006/table">
            <a:tbl>
              <a:tblPr>
                <a:noFill/>
              </a:tblPr>
              <a:tblGrid>
                <a:gridCol w="4173300">
                  <a:extLst>
                    <a:ext uri="{9D8B030D-6E8A-4147-A177-3AD203B41FA5}">
                      <a16:colId xmlns:a16="http://schemas.microsoft.com/office/drawing/2014/main" val="20000"/>
                    </a:ext>
                  </a:extLst>
                </a:gridCol>
                <a:gridCol w="3362767">
                  <a:extLst>
                    <a:ext uri="{9D8B030D-6E8A-4147-A177-3AD203B41FA5}">
                      <a16:colId xmlns:a16="http://schemas.microsoft.com/office/drawing/2014/main" val="20001"/>
                    </a:ext>
                  </a:extLst>
                </a:gridCol>
              </a:tblGrid>
              <a:tr h="642300">
                <a:tc>
                  <a:txBody>
                    <a:bodyPr/>
                    <a:lstStyle/>
                    <a:p>
                      <a:pPr marL="0" lvl="0" indent="0" algn="l" rtl="0">
                        <a:spcBef>
                          <a:spcPts val="0"/>
                        </a:spcBef>
                        <a:spcAft>
                          <a:spcPts val="0"/>
                        </a:spcAft>
                        <a:buNone/>
                      </a:pPr>
                      <a:r>
                        <a:rPr lang="en" sz="1600" b="1"/>
                        <a:t>Question</a:t>
                      </a:r>
                      <a:endParaRPr sz="1600" b="1"/>
                    </a:p>
                  </a:txBody>
                  <a:tcPr marL="121900" marR="121900" marT="121900" marB="121900">
                    <a:lnL w="9525" cap="flat" cmpd="sng">
                      <a:solidFill>
                        <a:srgbClr val="EAD1DC"/>
                      </a:solidFill>
                      <a:prstDash val="solid"/>
                      <a:round/>
                      <a:headEnd type="none" w="sm" len="sm"/>
                      <a:tailEnd type="none" w="sm" len="sm"/>
                    </a:lnL>
                    <a:lnR w="9525" cap="flat" cmpd="sng">
                      <a:solidFill>
                        <a:srgbClr val="EAD1DC"/>
                      </a:solidFill>
                      <a:prstDash val="solid"/>
                      <a:round/>
                      <a:headEnd type="none" w="sm" len="sm"/>
                      <a:tailEnd type="none" w="sm" len="sm"/>
                    </a:lnR>
                    <a:lnT w="9525" cap="flat" cmpd="sng">
                      <a:solidFill>
                        <a:srgbClr val="EAD1DC"/>
                      </a:solidFill>
                      <a:prstDash val="solid"/>
                      <a:round/>
                      <a:headEnd type="none" w="sm" len="sm"/>
                      <a:tailEnd type="none" w="sm" len="sm"/>
                    </a:lnT>
                    <a:lnB w="9525" cap="flat" cmpd="sng">
                      <a:solidFill>
                        <a:srgbClr val="EAD1DC"/>
                      </a:solidFill>
                      <a:prstDash val="solid"/>
                      <a:round/>
                      <a:headEnd type="none" w="sm" len="sm"/>
                      <a:tailEnd type="none" w="sm" len="sm"/>
                    </a:lnB>
                    <a:solidFill>
                      <a:srgbClr val="F4CCCC"/>
                    </a:solidFill>
                  </a:tcPr>
                </a:tc>
                <a:tc>
                  <a:txBody>
                    <a:bodyPr/>
                    <a:lstStyle/>
                    <a:p>
                      <a:pPr marL="0" lvl="0" indent="0" algn="l" rtl="0">
                        <a:spcBef>
                          <a:spcPts val="0"/>
                        </a:spcBef>
                        <a:spcAft>
                          <a:spcPts val="0"/>
                        </a:spcAft>
                        <a:buNone/>
                      </a:pPr>
                      <a:r>
                        <a:rPr lang="en" sz="1600" b="1"/>
                        <a:t>Answer</a:t>
                      </a:r>
                      <a:endParaRPr sz="1600" b="1"/>
                    </a:p>
                  </a:txBody>
                  <a:tcPr marL="121900" marR="121900" marT="121900" marB="121900">
                    <a:lnL w="9525" cap="flat" cmpd="sng">
                      <a:solidFill>
                        <a:srgbClr val="EAD1DC"/>
                      </a:solidFill>
                      <a:prstDash val="solid"/>
                      <a:round/>
                      <a:headEnd type="none" w="sm" len="sm"/>
                      <a:tailEnd type="none" w="sm" len="sm"/>
                    </a:lnL>
                    <a:lnR w="9525" cap="flat" cmpd="sng">
                      <a:solidFill>
                        <a:srgbClr val="EAD1DC"/>
                      </a:solidFill>
                      <a:prstDash val="solid"/>
                      <a:round/>
                      <a:headEnd type="none" w="sm" len="sm"/>
                      <a:tailEnd type="none" w="sm" len="sm"/>
                    </a:lnR>
                    <a:lnT w="9525" cap="flat" cmpd="sng">
                      <a:solidFill>
                        <a:srgbClr val="EAD1DC"/>
                      </a:solidFill>
                      <a:prstDash val="solid"/>
                      <a:round/>
                      <a:headEnd type="none" w="sm" len="sm"/>
                      <a:tailEnd type="none" w="sm" len="sm"/>
                    </a:lnT>
                    <a:lnB w="9525" cap="flat" cmpd="sng">
                      <a:solidFill>
                        <a:srgbClr val="EAD1DC"/>
                      </a:solidFill>
                      <a:prstDash val="solid"/>
                      <a:round/>
                      <a:headEnd type="none" w="sm" len="sm"/>
                      <a:tailEnd type="none" w="sm" len="sm"/>
                    </a:lnB>
                    <a:solidFill>
                      <a:srgbClr val="F4CCCC"/>
                    </a:solidFill>
                  </a:tcPr>
                </a:tc>
                <a:extLst>
                  <a:ext uri="{0D108BD9-81ED-4DB2-BD59-A6C34878D82A}">
                    <a16:rowId xmlns:a16="http://schemas.microsoft.com/office/drawing/2014/main" val="10000"/>
                  </a:ext>
                </a:extLst>
              </a:tr>
              <a:tr h="642300">
                <a:tc>
                  <a:txBody>
                    <a:bodyPr/>
                    <a:lstStyle/>
                    <a:p>
                      <a:pPr marL="0" lvl="0" indent="0" algn="l" rtl="0">
                        <a:spcBef>
                          <a:spcPts val="0"/>
                        </a:spcBef>
                        <a:spcAft>
                          <a:spcPts val="0"/>
                        </a:spcAft>
                        <a:buNone/>
                      </a:pPr>
                      <a:r>
                        <a:rPr lang="en" sz="1600" i="1">
                          <a:solidFill>
                            <a:srgbClr val="0000FF"/>
                          </a:solidFill>
                        </a:rPr>
                        <a:t>Is this a cyst in the left lung?</a:t>
                      </a:r>
                      <a:endParaRPr sz="1600" i="1">
                        <a:solidFill>
                          <a:srgbClr val="0000FF"/>
                        </a:solidFill>
                      </a:endParaRPr>
                    </a:p>
                  </a:txBody>
                  <a:tcPr marL="121900" marR="121900" marT="121900" marB="121900">
                    <a:lnT w="9525" cap="flat" cmpd="sng">
                      <a:solidFill>
                        <a:srgbClr val="EAD1DC"/>
                      </a:solidFill>
                      <a:prstDash val="solid"/>
                      <a:round/>
                      <a:headEnd type="none" w="sm" len="sm"/>
                      <a:tailEnd type="none" w="sm" len="sm"/>
                    </a:lnT>
                  </a:tcPr>
                </a:tc>
                <a:tc>
                  <a:txBody>
                    <a:bodyPr/>
                    <a:lstStyle/>
                    <a:p>
                      <a:pPr marL="0" lvl="0" indent="0" algn="l" rtl="0">
                        <a:spcBef>
                          <a:spcPts val="0"/>
                        </a:spcBef>
                        <a:spcAft>
                          <a:spcPts val="0"/>
                        </a:spcAft>
                        <a:buNone/>
                      </a:pPr>
                      <a:r>
                        <a:rPr lang="en" sz="1600" i="1">
                          <a:solidFill>
                            <a:srgbClr val="274E13"/>
                          </a:solidFill>
                        </a:rPr>
                        <a:t>No</a:t>
                      </a:r>
                      <a:endParaRPr sz="1600" i="1">
                        <a:solidFill>
                          <a:srgbClr val="274E13"/>
                        </a:solidFill>
                      </a:endParaRPr>
                    </a:p>
                  </a:txBody>
                  <a:tcPr marL="121900" marR="121900" marT="121900" marB="121900">
                    <a:lnT w="9525" cap="flat" cmpd="sng">
                      <a:solidFill>
                        <a:srgbClr val="EAD1DC"/>
                      </a:solidFill>
                      <a:prstDash val="solid"/>
                      <a:round/>
                      <a:headEnd type="none" w="sm" len="sm"/>
                      <a:tailEnd type="none" w="sm" len="sm"/>
                    </a:lnT>
                  </a:tcPr>
                </a:tc>
                <a:extLst>
                  <a:ext uri="{0D108BD9-81ED-4DB2-BD59-A6C34878D82A}">
                    <a16:rowId xmlns:a16="http://schemas.microsoft.com/office/drawing/2014/main" val="10001"/>
                  </a:ext>
                </a:extLst>
              </a:tr>
              <a:tr h="642300">
                <a:tc>
                  <a:txBody>
                    <a:bodyPr/>
                    <a:lstStyle/>
                    <a:p>
                      <a:pPr marL="0" lvl="0" indent="0" algn="l" rtl="0">
                        <a:spcBef>
                          <a:spcPts val="0"/>
                        </a:spcBef>
                        <a:spcAft>
                          <a:spcPts val="0"/>
                        </a:spcAft>
                        <a:buNone/>
                      </a:pPr>
                      <a:r>
                        <a:rPr lang="en" sz="1600" i="1">
                          <a:solidFill>
                            <a:srgbClr val="0000FF"/>
                          </a:solidFill>
                        </a:rPr>
                        <a:t>Has the left lung collapsed?</a:t>
                      </a:r>
                      <a:endParaRPr sz="1600" i="1">
                        <a:solidFill>
                          <a:srgbClr val="0000FF"/>
                        </a:solidFill>
                      </a:endParaRPr>
                    </a:p>
                  </a:txBody>
                  <a:tcPr marL="121900" marR="121900" marT="121900" marB="121900"/>
                </a:tc>
                <a:tc>
                  <a:txBody>
                    <a:bodyPr/>
                    <a:lstStyle/>
                    <a:p>
                      <a:pPr marL="0" lvl="0" indent="0" algn="l" rtl="0">
                        <a:spcBef>
                          <a:spcPts val="0"/>
                        </a:spcBef>
                        <a:spcAft>
                          <a:spcPts val="0"/>
                        </a:spcAft>
                        <a:buNone/>
                      </a:pPr>
                      <a:r>
                        <a:rPr lang="en" sz="1600" i="1">
                          <a:solidFill>
                            <a:srgbClr val="274E13"/>
                          </a:solidFill>
                        </a:rPr>
                        <a:t>Yes</a:t>
                      </a:r>
                      <a:endParaRPr sz="1600" i="1">
                        <a:solidFill>
                          <a:srgbClr val="274E13"/>
                        </a:solidFill>
                      </a:endParaRPr>
                    </a:p>
                  </a:txBody>
                  <a:tcPr marL="121900" marR="121900" marT="121900" marB="121900"/>
                </a:tc>
                <a:extLst>
                  <a:ext uri="{0D108BD9-81ED-4DB2-BD59-A6C34878D82A}">
                    <a16:rowId xmlns:a16="http://schemas.microsoft.com/office/drawing/2014/main" val="10002"/>
                  </a:ext>
                </a:extLst>
              </a:tr>
              <a:tr h="924833">
                <a:tc>
                  <a:txBody>
                    <a:bodyPr/>
                    <a:lstStyle/>
                    <a:p>
                      <a:pPr marL="0" lvl="0" indent="0" algn="l" rtl="0">
                        <a:spcBef>
                          <a:spcPts val="0"/>
                        </a:spcBef>
                        <a:spcAft>
                          <a:spcPts val="0"/>
                        </a:spcAft>
                        <a:buNone/>
                      </a:pPr>
                      <a:r>
                        <a:rPr lang="en" sz="1600" i="1">
                          <a:solidFill>
                            <a:srgbClr val="0000FF"/>
                          </a:solidFill>
                        </a:rPr>
                        <a:t>Where is the nodule?</a:t>
                      </a:r>
                      <a:endParaRPr sz="1600" i="1">
                        <a:solidFill>
                          <a:srgbClr val="0000FF"/>
                        </a:solidFill>
                      </a:endParaRPr>
                    </a:p>
                  </a:txBody>
                  <a:tcPr marL="121900" marR="121900" marT="121900" marB="121900"/>
                </a:tc>
                <a:tc>
                  <a:txBody>
                    <a:bodyPr/>
                    <a:lstStyle/>
                    <a:p>
                      <a:pPr marL="0" lvl="0" indent="0" algn="l" rtl="0">
                        <a:spcBef>
                          <a:spcPts val="0"/>
                        </a:spcBef>
                        <a:spcAft>
                          <a:spcPts val="0"/>
                        </a:spcAft>
                        <a:buNone/>
                      </a:pPr>
                      <a:r>
                        <a:rPr lang="en" sz="1600" i="1">
                          <a:solidFill>
                            <a:srgbClr val="274E13"/>
                          </a:solidFill>
                        </a:rPr>
                        <a:t>Below the 7th rib in the right lung</a:t>
                      </a:r>
                      <a:endParaRPr sz="1600" i="1">
                        <a:solidFill>
                          <a:srgbClr val="274E13"/>
                        </a:solidFill>
                      </a:endParaRPr>
                    </a:p>
                  </a:txBody>
                  <a:tcPr marL="121900" marR="121900" marT="121900" marB="121900"/>
                </a:tc>
                <a:extLst>
                  <a:ext uri="{0D108BD9-81ED-4DB2-BD59-A6C34878D82A}">
                    <a16:rowId xmlns:a16="http://schemas.microsoft.com/office/drawing/2014/main" val="10003"/>
                  </a:ext>
                </a:extLst>
              </a:tr>
              <a:tr h="924833">
                <a:tc>
                  <a:txBody>
                    <a:bodyPr/>
                    <a:lstStyle/>
                    <a:p>
                      <a:pPr marL="0" lvl="0" indent="0" algn="l" rtl="0">
                        <a:spcBef>
                          <a:spcPts val="0"/>
                        </a:spcBef>
                        <a:spcAft>
                          <a:spcPts val="0"/>
                        </a:spcAft>
                        <a:buNone/>
                      </a:pPr>
                      <a:r>
                        <a:rPr lang="en" sz="1600" i="1">
                          <a:solidFill>
                            <a:srgbClr val="0000FF"/>
                          </a:solidFill>
                        </a:rPr>
                        <a:t>What are the densities in both mid-lung fields?</a:t>
                      </a:r>
                      <a:endParaRPr sz="1600" i="1">
                        <a:solidFill>
                          <a:srgbClr val="0000FF"/>
                        </a:solidFill>
                      </a:endParaRPr>
                    </a:p>
                  </a:txBody>
                  <a:tcPr marL="121900" marR="121900" marT="121900" marB="121900"/>
                </a:tc>
                <a:tc>
                  <a:txBody>
                    <a:bodyPr/>
                    <a:lstStyle/>
                    <a:p>
                      <a:pPr marL="0" lvl="0" indent="0" algn="l" rtl="0">
                        <a:spcBef>
                          <a:spcPts val="0"/>
                        </a:spcBef>
                        <a:spcAft>
                          <a:spcPts val="0"/>
                        </a:spcAft>
                        <a:buNone/>
                      </a:pPr>
                      <a:r>
                        <a:rPr lang="en" sz="1600" i="1">
                          <a:solidFill>
                            <a:srgbClr val="274E13"/>
                          </a:solidFill>
                        </a:rPr>
                        <a:t>pleural plaques</a:t>
                      </a:r>
                      <a:endParaRPr sz="1600" i="1">
                        <a:solidFill>
                          <a:srgbClr val="274E13"/>
                        </a:solidFill>
                      </a:endParaRPr>
                    </a:p>
                  </a:txBody>
                  <a:tcPr marL="121900" marR="121900" marT="121900" marB="121900"/>
                </a:tc>
                <a:extLst>
                  <a:ext uri="{0D108BD9-81ED-4DB2-BD59-A6C34878D82A}">
                    <a16:rowId xmlns:a16="http://schemas.microsoft.com/office/drawing/2014/main" val="10004"/>
                  </a:ext>
                </a:extLst>
              </a:tr>
            </a:tbl>
          </a:graphicData>
        </a:graphic>
      </p:graphicFrame>
      <p:pic>
        <p:nvPicPr>
          <p:cNvPr id="680" name="Google Shape;680;p97"/>
          <p:cNvPicPr preferRelativeResize="0"/>
          <p:nvPr/>
        </p:nvPicPr>
        <p:blipFill>
          <a:blip r:embed="rId3">
            <a:alphaModFix/>
          </a:blip>
          <a:stretch>
            <a:fillRect/>
          </a:stretch>
        </p:blipFill>
        <p:spPr>
          <a:xfrm>
            <a:off x="109109" y="1524567"/>
            <a:ext cx="3967527" cy="3776568"/>
          </a:xfrm>
          <a:prstGeom prst="rect">
            <a:avLst/>
          </a:prstGeom>
          <a:noFill/>
          <a:ln>
            <a:noFill/>
          </a:ln>
        </p:spPr>
      </p:pic>
      <p:sp>
        <p:nvSpPr>
          <p:cNvPr id="5" name="Google Shape;668;p96">
            <a:extLst>
              <a:ext uri="{FF2B5EF4-FFF2-40B4-BE49-F238E27FC236}">
                <a16:creationId xmlns:a16="http://schemas.microsoft.com/office/drawing/2014/main" id="{1F495732-9A27-9847-BB74-D1659D139FA1}"/>
              </a:ext>
            </a:extLst>
          </p:cNvPr>
          <p:cNvSpPr txBox="1"/>
          <p:nvPr/>
        </p:nvSpPr>
        <p:spPr>
          <a:xfrm>
            <a:off x="260567" y="107567"/>
            <a:ext cx="11572400" cy="5380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3600" b="1" i="0" u="none" strike="noStrike" kern="1200" cap="none" spc="0" normalizeH="0" baseline="0" noProof="0">
                <a:ln>
                  <a:noFill/>
                </a:ln>
                <a:solidFill>
                  <a:srgbClr val="0070C0"/>
                </a:solidFill>
                <a:effectLst/>
                <a:uLnTx/>
                <a:uFillTx/>
                <a:latin typeface="Roboto Condensed"/>
                <a:ea typeface="Roboto Condensed"/>
                <a:cs typeface="Roboto Condensed"/>
                <a:sym typeface="Roboto Condensed"/>
              </a:rPr>
              <a:t> Application: Medical Visual Question Answering</a:t>
            </a:r>
            <a:endParaRPr kumimoji="0" lang="en-US" sz="3600" b="1" i="0" u="none" strike="noStrike" kern="1200" cap="none" spc="0" normalizeH="0" baseline="0" noProof="0">
              <a:ln>
                <a:noFill/>
              </a:ln>
              <a:solidFill>
                <a:srgbClr val="0070C0"/>
              </a:solidFill>
              <a:effectLst/>
              <a:uLnTx/>
              <a:uFillTx/>
              <a:latin typeface="Roboto Condensed"/>
              <a:ea typeface="Roboto Condensed"/>
              <a:cs typeface="Roboto Condensed"/>
            </a:endParaRPr>
          </a:p>
        </p:txBody>
      </p:sp>
    </p:spTree>
    <p:extLst>
      <p:ext uri="{BB962C8B-B14F-4D97-AF65-F5344CB8AC3E}">
        <p14:creationId xmlns:p14="http://schemas.microsoft.com/office/powerpoint/2010/main" val="2916138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84"/>
        <p:cNvGrpSpPr/>
        <p:nvPr/>
      </p:nvGrpSpPr>
      <p:grpSpPr>
        <a:xfrm>
          <a:off x="0" y="0"/>
          <a:ext cx="0" cy="0"/>
          <a:chOff x="0" y="0"/>
          <a:chExt cx="0" cy="0"/>
        </a:xfrm>
      </p:grpSpPr>
      <p:sp>
        <p:nvSpPr>
          <p:cNvPr id="685" name="Google Shape;685;p98"/>
          <p:cNvSpPr txBox="1"/>
          <p:nvPr/>
        </p:nvSpPr>
        <p:spPr>
          <a:xfrm>
            <a:off x="84200" y="89633"/>
            <a:ext cx="12023600" cy="104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Roboto Condensed"/>
              <a:ea typeface="Roboto Condensed"/>
              <a:cs typeface="Roboto Condensed"/>
              <a:sym typeface="Roboto Condensed"/>
            </a:endParaRPr>
          </a:p>
        </p:txBody>
      </p:sp>
      <p:sp>
        <p:nvSpPr>
          <p:cNvPr id="686" name="Google Shape;686;p98"/>
          <p:cNvSpPr txBox="1"/>
          <p:nvPr/>
        </p:nvSpPr>
        <p:spPr>
          <a:xfrm>
            <a:off x="535400" y="344433"/>
            <a:ext cx="11572400" cy="5380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kumimoji="0" lang="en" sz="3700" b="1" i="0" u="none" strike="noStrike" kern="1200" cap="none" spc="0" normalizeH="0" baseline="0" noProof="0">
                <a:ln>
                  <a:noFill/>
                </a:ln>
                <a:solidFill>
                  <a:srgbClr val="3C78D8"/>
                </a:solidFill>
                <a:effectLst/>
                <a:uLnTx/>
                <a:uFillTx/>
                <a:latin typeface="Arial"/>
                <a:ea typeface="+mn-ea"/>
                <a:cs typeface="+mn-cs"/>
              </a:rPr>
              <a:t>Application: Medical Video Question Answering</a:t>
            </a:r>
            <a:endParaRPr kumimoji="0" sz="3733" b="1" i="0" u="none" strike="noStrike" kern="1200" cap="none" spc="0" normalizeH="0" baseline="0" noProof="0">
              <a:ln>
                <a:noFill/>
              </a:ln>
              <a:solidFill>
                <a:srgbClr val="3C78D8"/>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3600" b="1" i="0" u="none" strike="noStrike" kern="1200" cap="none" spc="0" normalizeH="0" baseline="0" noProof="0">
              <a:ln>
                <a:noFill/>
              </a:ln>
              <a:solidFill>
                <a:srgbClr val="FFFFFF"/>
              </a:solidFill>
              <a:effectLst/>
              <a:uLnTx/>
              <a:uFillTx/>
              <a:latin typeface="Roboto Condensed"/>
              <a:ea typeface="Roboto Condensed"/>
              <a:cs typeface="Roboto Condensed"/>
              <a:sym typeface="Roboto Condensed"/>
            </a:endParaRPr>
          </a:p>
        </p:txBody>
      </p:sp>
      <p:sp>
        <p:nvSpPr>
          <p:cNvPr id="687" name="Google Shape;687;p98"/>
          <p:cNvSpPr txBox="1"/>
          <p:nvPr/>
        </p:nvSpPr>
        <p:spPr>
          <a:xfrm>
            <a:off x="203200" y="1255533"/>
            <a:ext cx="1668400" cy="635968"/>
          </a:xfrm>
          <a:prstGeom prst="rect">
            <a:avLst/>
          </a:prstGeom>
          <a:solidFill>
            <a:schemeClr val="lt1"/>
          </a:solid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sp>
        <p:nvSpPr>
          <p:cNvPr id="688" name="Google Shape;688;p98"/>
          <p:cNvSpPr txBox="1"/>
          <p:nvPr/>
        </p:nvSpPr>
        <p:spPr>
          <a:xfrm>
            <a:off x="3611700" y="1433900"/>
            <a:ext cx="7592400" cy="1025753"/>
          </a:xfrm>
          <a:prstGeom prst="rect">
            <a:avLst/>
          </a:prstGeom>
          <a:noFill/>
          <a:ln w="19050"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 sz="2500" b="1" i="1" u="none" strike="noStrike" kern="1200" cap="none" spc="0" normalizeH="0" baseline="0" noProof="0">
                <a:ln>
                  <a:noFill/>
                </a:ln>
                <a:solidFill>
                  <a:srgbClr val="000000"/>
                </a:solidFill>
                <a:effectLst/>
                <a:uLnTx/>
                <a:uFillTx/>
                <a:latin typeface="Arial"/>
                <a:ea typeface="+mn-ea"/>
                <a:cs typeface="+mn-cs"/>
              </a:rPr>
              <a:t>How can I ease my neck pain using a range of head motions?</a:t>
            </a:r>
            <a:endParaRPr kumimoji="0" sz="2500" b="1" i="1" u="none" strike="noStrike" kern="1200" cap="none" spc="0" normalizeH="0" baseline="0" noProof="0">
              <a:ln>
                <a:noFill/>
              </a:ln>
              <a:solidFill>
                <a:srgbClr val="000000"/>
              </a:solidFill>
              <a:effectLst/>
              <a:uLnTx/>
              <a:uFillTx/>
              <a:latin typeface="Arial"/>
              <a:ea typeface="+mn-ea"/>
              <a:cs typeface="+mn-cs"/>
            </a:endParaRPr>
          </a:p>
        </p:txBody>
      </p:sp>
      <p:sp>
        <p:nvSpPr>
          <p:cNvPr id="689" name="Google Shape;689;p98"/>
          <p:cNvSpPr txBox="1"/>
          <p:nvPr/>
        </p:nvSpPr>
        <p:spPr>
          <a:xfrm>
            <a:off x="5841367" y="3734400"/>
            <a:ext cx="5057200" cy="1415540"/>
          </a:xfrm>
          <a:prstGeom prst="rect">
            <a:avLst/>
          </a:prstGeom>
          <a:noFill/>
          <a:ln w="19050" cap="flat" cmpd="sng">
            <a:solidFill>
              <a:srgbClr val="000000"/>
            </a:solidFill>
            <a:prstDash val="solid"/>
            <a:round/>
            <a:headEnd type="none" w="sm" len="sm"/>
            <a:tailEnd type="none" w="sm" len="sm"/>
          </a:ln>
        </p:spPr>
        <p:txBody>
          <a:bodyPr spcFirstLastPara="1" wrap="square" lIns="121900" tIns="121900" rIns="121900" bIns="121900"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 sz="2500" b="0" i="0" u="none" strike="noStrike" kern="1200" cap="none" spc="0" normalizeH="0" baseline="0" noProof="0" dirty="0">
                <a:ln>
                  <a:noFill/>
                </a:ln>
                <a:solidFill>
                  <a:srgbClr val="CC0000"/>
                </a:solidFill>
                <a:effectLst/>
                <a:uLnTx/>
                <a:uFillTx/>
                <a:latin typeface="Arial"/>
                <a:ea typeface="+mn-ea"/>
                <a:cs typeface="+mn-cs"/>
              </a:rPr>
              <a:t>The entire video </a:t>
            </a:r>
            <a:r>
              <a:rPr kumimoji="0" lang="en" sz="2500" b="0" i="0" u="none" strike="noStrike" kern="1200" cap="none" spc="0" normalizeH="0" baseline="0" noProof="0">
                <a:ln>
                  <a:noFill/>
                </a:ln>
                <a:solidFill>
                  <a:srgbClr val="CC0000"/>
                </a:solidFill>
                <a:effectLst/>
                <a:uLnTx/>
                <a:uFillTx/>
                <a:latin typeface="Arial"/>
                <a:ea typeface="+mn-ea"/>
                <a:cs typeface="+mn-cs"/>
              </a:rPr>
              <a:t>cannot</a:t>
            </a:r>
            <a:r>
              <a:rPr kumimoji="0" lang="en" sz="2500" b="0" i="0" u="none" strike="noStrike" kern="1200" cap="none" spc="0" normalizeH="0" baseline="0" noProof="0" dirty="0">
                <a:ln>
                  <a:noFill/>
                </a:ln>
                <a:solidFill>
                  <a:srgbClr val="CC0000"/>
                </a:solidFill>
                <a:effectLst/>
                <a:uLnTx/>
                <a:uFillTx/>
                <a:latin typeface="Arial"/>
                <a:ea typeface="+mn-ea"/>
                <a:cs typeface="+mn-cs"/>
              </a:rPr>
              <a:t> be considered as the answer to the given question.</a:t>
            </a:r>
            <a:endParaRPr kumimoji="0" sz="2500" b="0" i="0" u="none" strike="noStrike" kern="1200" cap="none" spc="0" normalizeH="0" baseline="0" noProof="0" dirty="0">
              <a:ln>
                <a:noFill/>
              </a:ln>
              <a:solidFill>
                <a:srgbClr val="CC0000"/>
              </a:solidFill>
              <a:effectLst/>
              <a:uLnTx/>
              <a:uFillTx/>
              <a:latin typeface="Arial"/>
              <a:ea typeface="+mn-ea"/>
              <a:cs typeface="+mn-cs"/>
            </a:endParaRPr>
          </a:p>
        </p:txBody>
      </p:sp>
      <p:pic>
        <p:nvPicPr>
          <p:cNvPr id="690" name="Google Shape;690;p98"/>
          <p:cNvPicPr preferRelativeResize="0"/>
          <p:nvPr/>
        </p:nvPicPr>
        <p:blipFill>
          <a:blip r:embed="rId3">
            <a:alphaModFix/>
          </a:blip>
          <a:stretch>
            <a:fillRect/>
          </a:stretch>
        </p:blipFill>
        <p:spPr>
          <a:xfrm>
            <a:off x="203200" y="3011367"/>
            <a:ext cx="5436800" cy="3135267"/>
          </a:xfrm>
          <a:prstGeom prst="rect">
            <a:avLst/>
          </a:prstGeom>
          <a:noFill/>
          <a:ln>
            <a:noFill/>
          </a:ln>
        </p:spPr>
      </p:pic>
    </p:spTree>
    <p:extLst>
      <p:ext uri="{BB962C8B-B14F-4D97-AF65-F5344CB8AC3E}">
        <p14:creationId xmlns:p14="http://schemas.microsoft.com/office/powerpoint/2010/main" val="3451082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684"/>
        <p:cNvGrpSpPr/>
        <p:nvPr/>
      </p:nvGrpSpPr>
      <p:grpSpPr>
        <a:xfrm>
          <a:off x="0" y="0"/>
          <a:ext cx="0" cy="0"/>
          <a:chOff x="0" y="0"/>
          <a:chExt cx="0" cy="0"/>
        </a:xfrm>
      </p:grpSpPr>
      <p:sp>
        <p:nvSpPr>
          <p:cNvPr id="685" name="Google Shape;685;p98"/>
          <p:cNvSpPr txBox="1"/>
          <p:nvPr/>
        </p:nvSpPr>
        <p:spPr>
          <a:xfrm>
            <a:off x="84200" y="89633"/>
            <a:ext cx="12023600" cy="10476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Roboto Condensed"/>
              <a:ea typeface="Roboto Condensed"/>
              <a:cs typeface="Roboto Condensed"/>
              <a:sym typeface="Roboto Condensed"/>
            </a:endParaRPr>
          </a:p>
        </p:txBody>
      </p:sp>
      <p:sp>
        <p:nvSpPr>
          <p:cNvPr id="686" name="Google Shape;686;p98"/>
          <p:cNvSpPr txBox="1"/>
          <p:nvPr/>
        </p:nvSpPr>
        <p:spPr>
          <a:xfrm>
            <a:off x="535400" y="344433"/>
            <a:ext cx="11572400" cy="538000"/>
          </a:xfrm>
          <a:prstGeom prst="rect">
            <a:avLst/>
          </a:prstGeom>
          <a:noFill/>
          <a:ln>
            <a:noFill/>
          </a:ln>
        </p:spPr>
        <p:txBody>
          <a:bodyPr spcFirstLastPara="1" wrap="square" lIns="121900" tIns="121900" rIns="121900" bIns="1219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kumimoji="0" lang="en" sz="3700" b="1" i="0" u="none" strike="noStrike" kern="1200" cap="none" spc="0" normalizeH="0" baseline="0" noProof="0">
                <a:ln>
                  <a:noFill/>
                </a:ln>
                <a:solidFill>
                  <a:srgbClr val="3C78D8"/>
                </a:solidFill>
                <a:effectLst/>
                <a:uLnTx/>
                <a:uFillTx/>
                <a:latin typeface="Arial"/>
                <a:ea typeface="+mn-ea"/>
                <a:cs typeface="+mn-cs"/>
              </a:rPr>
              <a:t>Application: Medical Video Question Answering</a:t>
            </a:r>
            <a:endParaRPr kumimoji="0" sz="3733" b="1" i="0" u="none" strike="noStrike" kern="1200" cap="none" spc="0" normalizeH="0" baseline="0" noProof="0">
              <a:ln>
                <a:noFill/>
              </a:ln>
              <a:solidFill>
                <a:srgbClr val="3C78D8"/>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3600" b="1" i="0" u="none" strike="noStrike" kern="1200" cap="none" spc="0" normalizeH="0" baseline="0" noProof="0">
              <a:ln>
                <a:noFill/>
              </a:ln>
              <a:solidFill>
                <a:srgbClr val="FFFFFF"/>
              </a:solidFill>
              <a:effectLst/>
              <a:uLnTx/>
              <a:uFillTx/>
              <a:latin typeface="Roboto Condensed"/>
              <a:ea typeface="Roboto Condensed"/>
              <a:cs typeface="Roboto Condensed"/>
              <a:sym typeface="Roboto Condensed"/>
            </a:endParaRPr>
          </a:p>
        </p:txBody>
      </p:sp>
      <p:sp>
        <p:nvSpPr>
          <p:cNvPr id="687" name="Google Shape;687;p98"/>
          <p:cNvSpPr txBox="1"/>
          <p:nvPr/>
        </p:nvSpPr>
        <p:spPr>
          <a:xfrm>
            <a:off x="203200" y="1255533"/>
            <a:ext cx="1668400" cy="635968"/>
          </a:xfrm>
          <a:prstGeom prst="rect">
            <a:avLst/>
          </a:prstGeom>
          <a:solidFill>
            <a:schemeClr val="lt1"/>
          </a:solid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3" b="0" i="0" u="none" strike="noStrike" kern="1200" cap="none" spc="0" normalizeH="0" baseline="0" noProof="0">
              <a:ln>
                <a:noFill/>
              </a:ln>
              <a:solidFill>
                <a:srgbClr val="000000"/>
              </a:solidFill>
              <a:effectLst/>
              <a:uLnTx/>
              <a:uFillTx/>
              <a:latin typeface="Arial"/>
              <a:ea typeface="+mn-ea"/>
              <a:cs typeface="+mn-cs"/>
            </a:endParaRPr>
          </a:p>
        </p:txBody>
      </p:sp>
      <p:pic>
        <p:nvPicPr>
          <p:cNvPr id="2" name="Picture 1" descr="A person holding his neck&#10;&#10;Description automatically generated">
            <a:extLst>
              <a:ext uri="{FF2B5EF4-FFF2-40B4-BE49-F238E27FC236}">
                <a16:creationId xmlns:a16="http://schemas.microsoft.com/office/drawing/2014/main" id="{70953FEE-4769-593C-FBE0-A899F06B2706}"/>
              </a:ext>
            </a:extLst>
          </p:cNvPr>
          <p:cNvPicPr>
            <a:picLocks noChangeAspect="1"/>
          </p:cNvPicPr>
          <p:nvPr/>
        </p:nvPicPr>
        <p:blipFill>
          <a:blip r:embed="rId3"/>
          <a:stretch>
            <a:fillRect/>
          </a:stretch>
        </p:blipFill>
        <p:spPr>
          <a:xfrm>
            <a:off x="1666102" y="1449539"/>
            <a:ext cx="10229333" cy="4427448"/>
          </a:xfrm>
          <a:prstGeom prst="rect">
            <a:avLst/>
          </a:prstGeom>
        </p:spPr>
      </p:pic>
    </p:spTree>
    <p:extLst>
      <p:ext uri="{BB962C8B-B14F-4D97-AF65-F5344CB8AC3E}">
        <p14:creationId xmlns:p14="http://schemas.microsoft.com/office/powerpoint/2010/main" val="2268090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39BE6-2F83-3A02-4955-F28A4BB3F87A}"/>
              </a:ext>
            </a:extLst>
          </p:cNvPr>
          <p:cNvSpPr>
            <a:spLocks noGrp="1"/>
          </p:cNvSpPr>
          <p:nvPr>
            <p:ph type="title"/>
          </p:nvPr>
        </p:nvSpPr>
        <p:spPr>
          <a:xfrm>
            <a:off x="415600" y="186474"/>
            <a:ext cx="11360800" cy="763600"/>
          </a:xfrm>
        </p:spPr>
        <p:txBody>
          <a:bodyPr/>
          <a:lstStyle/>
          <a:p>
            <a:r>
              <a:rPr lang="en" sz="2400" b="1" dirty="0">
                <a:solidFill>
                  <a:schemeClr val="tx1"/>
                </a:solidFill>
              </a:rPr>
              <a:t>Application: Precision Medicine</a:t>
            </a:r>
            <a:endParaRPr lang="en-US" sz="2400">
              <a:solidFill>
                <a:schemeClr val="tx1"/>
              </a:solidFill>
            </a:endParaRPr>
          </a:p>
          <a:p>
            <a:endParaRPr lang="en-US"/>
          </a:p>
        </p:txBody>
      </p:sp>
      <p:pic>
        <p:nvPicPr>
          <p:cNvPr id="6" name="Picture 6" descr="Graphical user interface, timeline&#10;&#10;Description automatically generated">
            <a:extLst>
              <a:ext uri="{FF2B5EF4-FFF2-40B4-BE49-F238E27FC236}">
                <a16:creationId xmlns:a16="http://schemas.microsoft.com/office/drawing/2014/main" id="{87A220BD-D064-37DE-ED36-C5FF6427EC4A}"/>
              </a:ext>
            </a:extLst>
          </p:cNvPr>
          <p:cNvPicPr>
            <a:picLocks noChangeAspect="1"/>
          </p:cNvPicPr>
          <p:nvPr/>
        </p:nvPicPr>
        <p:blipFill>
          <a:blip r:embed="rId2"/>
          <a:stretch>
            <a:fillRect/>
          </a:stretch>
        </p:blipFill>
        <p:spPr>
          <a:xfrm>
            <a:off x="1093117" y="1115285"/>
            <a:ext cx="9312674" cy="5663156"/>
          </a:xfrm>
          <a:prstGeom prst="rect">
            <a:avLst/>
          </a:prstGeom>
        </p:spPr>
      </p:pic>
    </p:spTree>
    <p:extLst>
      <p:ext uri="{BB962C8B-B14F-4D97-AF65-F5344CB8AC3E}">
        <p14:creationId xmlns:p14="http://schemas.microsoft.com/office/powerpoint/2010/main" val="1479310653"/>
      </p:ext>
    </p:extLst>
  </p:cSld>
  <p:clrMapOvr>
    <a:masterClrMapping/>
  </p:clrMapOvr>
</p:sld>
</file>

<file path=ppt/theme/theme1.xml><?xml version="1.0" encoding="utf-8"?>
<a:theme xmlns:a="http://schemas.openxmlformats.org/drawingml/2006/main" name="1_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3756</TotalTime>
  <Words>2111</Words>
  <Application>Microsoft Macintosh PowerPoint</Application>
  <PresentationFormat>Widescreen</PresentationFormat>
  <Paragraphs>189</Paragraphs>
  <Slides>25</Slides>
  <Notes>16</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25</vt:i4>
      </vt:variant>
    </vt:vector>
  </HeadingPairs>
  <TitlesOfParts>
    <vt:vector size="39" baseType="lpstr">
      <vt:lpstr>Aptos</vt:lpstr>
      <vt:lpstr>Arial</vt:lpstr>
      <vt:lpstr>Calibri</vt:lpstr>
      <vt:lpstr>Copperplate Gothic Bold</vt:lpstr>
      <vt:lpstr>EB Garamond</vt:lpstr>
      <vt:lpstr>Helvetica</vt:lpstr>
      <vt:lpstr>Roboto</vt:lpstr>
      <vt:lpstr>Roboto Condensed</vt:lpstr>
      <vt:lpstr>Tenorite</vt:lpstr>
      <vt:lpstr>Times New Roman</vt:lpstr>
      <vt:lpstr>Wingdings</vt:lpstr>
      <vt:lpstr>1_Office Theme</vt:lpstr>
      <vt:lpstr>Simple Light</vt:lpstr>
      <vt:lpstr>1_Simple Light</vt:lpstr>
      <vt:lpstr>Healthcare Natural Language Processing  INTRODUCTION </vt:lpstr>
      <vt:lpstr>Chi sono</vt:lpstr>
      <vt:lpstr>NLP with a purpose</vt:lpstr>
      <vt:lpstr>Biomedical / healthcare NLP: non proprio una nuova idea …</vt:lpstr>
      <vt:lpstr>Why Biomedical NLP? ​</vt:lpstr>
      <vt:lpstr>PubMed:  Everyday ~ 4000 new articles are added  Expert can curate ~ 4 per day</vt:lpstr>
      <vt:lpstr>Why Healthcare NLP? </vt:lpstr>
      <vt:lpstr>Current Spending Trend in Healthcare Sector  </vt:lpstr>
      <vt:lpstr> </vt:lpstr>
      <vt:lpstr>Precision Medicine </vt:lpstr>
      <vt:lpstr>Medical Diagnostic Errors in the United States  </vt:lpstr>
      <vt:lpstr>Applications</vt:lpstr>
      <vt:lpstr>PowerPoint Presentation</vt:lpstr>
      <vt:lpstr>PowerPoint Presentation</vt:lpstr>
      <vt:lpstr>Application : A Mental Health Use Case </vt:lpstr>
      <vt:lpstr>Real World Evidence </vt:lpstr>
      <vt:lpstr>Application: Electronic Health Record (EHR) Analysis </vt:lpstr>
      <vt:lpstr>Application – caso clinico (E3C [Magnini et al 2021])</vt:lpstr>
      <vt:lpstr>Application: Medical Chatbot</vt:lpstr>
      <vt:lpstr>Application – virtual health coach  (texts, physical activity goals)</vt:lpstr>
      <vt:lpstr>PowerPoint Presentation</vt:lpstr>
      <vt:lpstr>PowerPoint Presentation</vt:lpstr>
      <vt:lpstr>PowerPoint Presentation</vt:lpstr>
      <vt:lpstr>PowerPoint Presentation</vt:lpstr>
      <vt:lpstr>Application: Precision Medicine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 Eugenio, Barbara</dc:creator>
  <cp:lastModifiedBy>Di Eugenio, Barbara</cp:lastModifiedBy>
  <cp:revision>9</cp:revision>
  <dcterms:created xsi:type="dcterms:W3CDTF">2026-05-05T02:36:56Z</dcterms:created>
  <dcterms:modified xsi:type="dcterms:W3CDTF">2026-05-07T17:13:45Z</dcterms:modified>
</cp:coreProperties>
</file>