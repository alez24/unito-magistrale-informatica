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321" r:id="rId8"/>
    <p:sldId id="322" r:id="rId9"/>
    <p:sldId id="325" r:id="rId10"/>
    <p:sldId id="262" r:id="rId11"/>
    <p:sldId id="263" r:id="rId12"/>
    <p:sldId id="264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334" r:id="rId29"/>
    <p:sldId id="273" r:id="rId30"/>
    <p:sldId id="315" r:id="rId31"/>
    <p:sldId id="275" r:id="rId32"/>
    <p:sldId id="274" r:id="rId33"/>
    <p:sldId id="276" r:id="rId34"/>
    <p:sldId id="277" r:id="rId35"/>
    <p:sldId id="278" r:id="rId36"/>
    <p:sldId id="280" r:id="rId37"/>
    <p:sldId id="317" r:id="rId38"/>
    <p:sldId id="318" r:id="rId39"/>
    <p:sldId id="281" r:id="rId40"/>
    <p:sldId id="282" r:id="rId41"/>
    <p:sldId id="283" r:id="rId42"/>
    <p:sldId id="284" r:id="rId43"/>
    <p:sldId id="286" r:id="rId44"/>
    <p:sldId id="287" r:id="rId45"/>
    <p:sldId id="329" r:id="rId46"/>
    <p:sldId id="289" r:id="rId47"/>
    <p:sldId id="290" r:id="rId48"/>
    <p:sldId id="297" r:id="rId49"/>
    <p:sldId id="299" r:id="rId50"/>
    <p:sldId id="301" r:id="rId51"/>
    <p:sldId id="302" r:id="rId52"/>
    <p:sldId id="311" r:id="rId53"/>
    <p:sldId id="314" r:id="rId54"/>
    <p:sldId id="320" r:id="rId55"/>
    <p:sldId id="285" r:id="rId56"/>
    <p:sldId id="323" r:id="rId57"/>
    <p:sldId id="324" r:id="rId58"/>
    <p:sldId id="330" r:id="rId59"/>
    <p:sldId id="327" r:id="rId60"/>
    <p:sldId id="328" r:id="rId6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3"/>
    </p:embeddedFont>
    <p:embeddedFont>
      <p:font typeface="Comic Sans MS" panose="030F0902030302020204" pitchFamily="66" charset="0"/>
      <p:regular r:id="rId64"/>
    </p:embeddedFont>
    <p:embeddedFont>
      <p:font typeface="EB Garamond" pitchFamily="2" charset="0"/>
      <p:regular r:id="rId65"/>
      <p:bold r:id="rId66"/>
      <p:italic r:id="rId67"/>
      <p:boldItalic r:id="rId68"/>
    </p:embeddedFont>
    <p:embeddedFont>
      <p:font typeface="Georgia" panose="02040502050405020303" pitchFamily="18" charset="0"/>
      <p:regular r:id="rId69"/>
      <p:bold r:id="rId70"/>
      <p:italic r:id="rId71"/>
      <p:boldItalic r:id="rId72"/>
    </p:embeddedFont>
    <p:embeddedFont>
      <p:font typeface="Helvetica Neue" panose="02000503000000020004" pitchFamily="2" charset="0"/>
      <p:regular r:id="rId73"/>
      <p:bold r:id="rId74"/>
      <p:italic r:id="rId75"/>
      <p:boldItalic r:id="rId76"/>
    </p:embeddedFont>
    <p:embeddedFont>
      <p:font typeface="Quattrocento Sans" panose="020B0502050000020003" pitchFamily="34" charset="0"/>
      <p:regular r:id="rId77"/>
      <p:bold r:id="rId78"/>
      <p:italic r:id="rId79"/>
      <p:boldItalic r:id="rId80"/>
    </p:embeddedFont>
    <p:embeddedFont>
      <p:font typeface="Roboto" panose="02000000000000000000" pitchFamily="2" charset="0"/>
      <p:regular r:id="rId81"/>
      <p:bold r:id="rId82"/>
      <p:italic r:id="rId83"/>
      <p:boldItalic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1" roundtripDataSignature="AMtx7mjl8fnqTTT7AXnozJDYcfNScEQk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652948-DBA9-4125-993E-DDE8C3FD3089}">
  <a:tblStyle styleId="{C1652948-DBA9-4125-993E-DDE8C3FD30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0"/>
    <p:restoredTop sz="94773"/>
  </p:normalViewPr>
  <p:slideViewPr>
    <p:cSldViewPr snapToGrid="0">
      <p:cViewPr>
        <p:scale>
          <a:sx n="116" d="100"/>
          <a:sy n="116" d="100"/>
        </p:scale>
        <p:origin x="1440" y="8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84" Type="http://schemas.openxmlformats.org/officeDocument/2006/relationships/font" Target="fonts/font2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79" Type="http://schemas.openxmlformats.org/officeDocument/2006/relationships/font" Target="fonts/font17.fntdata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80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83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font" Target="fonts/font19.fntdata"/><Relationship Id="rId10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font" Target="fonts/font20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d8b2c9232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d8b2c9232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2" name="Google Shape;1502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1" name="Google Shape;1511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H=Hawaiian; NA=Native American; AS=Asian;  drop </a:t>
            </a:r>
            <a:r>
              <a:rPr lang="en-US" dirty="0" err="1"/>
              <a:t>prediagnosed</a:t>
            </a:r>
            <a:r>
              <a:rPr lang="en-US" dirty="0"/>
              <a:t> visits or patients with one visit visits after first diagnosis. T2D/</a:t>
            </a:r>
            <a:r>
              <a:rPr lang="en-US" dirty="0" err="1"/>
              <a:t>noD</a:t>
            </a:r>
            <a:r>
              <a:rPr lang="en-US" dirty="0"/>
              <a:t>: it’s the ICD code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7" name="Google Shape;1647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dk1"/>
                </a:solidFill>
              </a:rPr>
              <a:t>Llama-3b – what happens is that sometimes diagnosis entered much later as an ICD code. 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" name="Google Shape;1260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7" name="Google Shape;1297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2" name="Google Shape;1322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5" name="Google Shape;1365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6" name="Google Shape;1376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0" name="Google Shape;139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1" name="Google Shape;140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8" name="Google Shape;1448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6" name="Google Shape;1466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4" name="Google Shape;1474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Type is the time reference. 0 time of the note; 7:0: for a week </a:t>
            </a:r>
            <a:r>
              <a:rPr lang="en-US" dirty="0" err="1"/>
              <a:t>etc</a:t>
            </a:r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" name="Google Shape;7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1" name="Google Shape;95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An </a:t>
            </a:r>
            <a:r>
              <a:rPr lang="en-GB" b="1" dirty="0"/>
              <a:t>Inference Time Scaling (ITS) framework</a:t>
            </a:r>
            <a:r>
              <a:rPr lang="en-GB" dirty="0"/>
              <a:t> for Large Language Models (LLMs) is a system or strategy that improves model performance </a:t>
            </a:r>
            <a:r>
              <a:rPr lang="en-GB" b="1" dirty="0"/>
              <a:t>during inference (runtime)</a:t>
            </a:r>
            <a:r>
              <a:rPr lang="en-GB" dirty="0"/>
              <a:t> by allocating </a:t>
            </a:r>
            <a:r>
              <a:rPr lang="en-GB" b="1" dirty="0"/>
              <a:t>more computation, reasoning steps, memory, or search</a:t>
            </a:r>
            <a:r>
              <a:rPr lang="en-GB" dirty="0"/>
              <a:t> </a:t>
            </a:r>
            <a:r>
              <a:rPr lang="en-GB" i="1" dirty="0"/>
              <a:t>after the model has already been trained</a:t>
            </a:r>
            <a:r>
              <a:rPr lang="en-GB" dirty="0"/>
              <a:t>.</a:t>
            </a:r>
          </a:p>
          <a:p>
            <a:r>
              <a:rPr lang="en-GB" dirty="0"/>
              <a:t>The key idea is:</a:t>
            </a:r>
          </a:p>
          <a:p>
            <a:r>
              <a:rPr lang="en-GB" dirty="0"/>
              <a:t>Instead of only scaling model size and training data, you scale the amount of computation used </a:t>
            </a:r>
            <a:r>
              <a:rPr lang="en-GB" i="1" dirty="0"/>
              <a:t>while answering a query</a:t>
            </a:r>
            <a:r>
              <a:rPr lang="en-GB" dirty="0"/>
              <a:t>.</a:t>
            </a:r>
          </a:p>
          <a:p>
            <a:r>
              <a:rPr lang="en-GB" dirty="0"/>
              <a:t>This is becoming a major paradigm in modern AI systems (e.g., OpenAI reasoning models, DeepSeek-R1, Tree-of-Thoughts, </a:t>
            </a:r>
            <a:r>
              <a:rPr lang="en-GB" dirty="0" err="1"/>
              <a:t>ReAct</a:t>
            </a:r>
            <a:r>
              <a:rPr lang="en-GB" dirty="0"/>
              <a:t>, Monte Carlo reasoning, self-consistency decoding).</a:t>
            </a:r>
          </a:p>
          <a:p>
            <a:endParaRPr lang="en-GB" dirty="0"/>
          </a:p>
          <a:p>
            <a:r>
              <a:rPr lang="en-GB" dirty="0" err="1"/>
              <a:t>LoRA</a:t>
            </a:r>
            <a:r>
              <a:rPr lang="en-GB" dirty="0"/>
              <a:t> stands for </a:t>
            </a:r>
            <a:r>
              <a:rPr lang="en-GB" b="1" dirty="0"/>
              <a:t>Low-Rank Adaptation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It is a technique for </a:t>
            </a:r>
            <a:r>
              <a:rPr lang="en-GB" b="1" dirty="0"/>
              <a:t>fine-tuning large language models efficiently</a:t>
            </a:r>
            <a:r>
              <a:rPr lang="en-GB" dirty="0"/>
              <a:t> without updating all the model parameters.</a:t>
            </a:r>
          </a:p>
          <a:p>
            <a:r>
              <a:rPr lang="en-GB" dirty="0"/>
              <a:t>Instead of retraining billions of weights, </a:t>
            </a:r>
            <a:r>
              <a:rPr lang="en-GB" dirty="0" err="1"/>
              <a:t>LoRA</a:t>
            </a:r>
            <a:r>
              <a:rPr lang="en-GB" dirty="0"/>
              <a:t> trains only a </a:t>
            </a:r>
            <a:r>
              <a:rPr lang="en-GB" b="1" dirty="0"/>
              <a:t>small number of additional matrices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6" name="Google Shape;96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7" name="Google Shape;1687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 dirty="0"/>
              <a:t>System prompts and user prompts are separated because they serve </a:t>
            </a:r>
            <a:r>
              <a:rPr lang="en-GB" sz="1200" b="1" dirty="0"/>
              <a:t>different roles in controlling the model’s </a:t>
            </a:r>
            <a:r>
              <a:rPr lang="en-GB" sz="1200" b="1" dirty="0" err="1"/>
              <a:t>behavior</a:t>
            </a:r>
            <a:r>
              <a:rPr lang="en-GB" sz="1200" dirty="0"/>
              <a:t>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GB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 dirty="0"/>
              <a:t>The </a:t>
            </a:r>
            <a:r>
              <a:rPr lang="en-GB" sz="1200" b="1" dirty="0"/>
              <a:t>system prompt</a:t>
            </a:r>
            <a:r>
              <a:rPr lang="en-GB" sz="1200" dirty="0"/>
              <a:t> defines:</a:t>
            </a:r>
          </a:p>
          <a:p>
            <a:r>
              <a:rPr lang="en-GB" sz="1200" dirty="0"/>
              <a:t>the assistant’s identity, </a:t>
            </a:r>
          </a:p>
          <a:p>
            <a:r>
              <a:rPr lang="en-GB" sz="1200" dirty="0"/>
              <a:t>global </a:t>
            </a:r>
            <a:r>
              <a:rPr lang="en-GB" sz="1200" dirty="0" err="1"/>
              <a:t>behavior</a:t>
            </a:r>
            <a:r>
              <a:rPr lang="en-GB" sz="1200" dirty="0"/>
              <a:t>, </a:t>
            </a:r>
          </a:p>
          <a:p>
            <a:r>
              <a:rPr lang="en-GB" sz="1200" dirty="0"/>
              <a:t>policies, </a:t>
            </a:r>
          </a:p>
          <a:p>
            <a:r>
              <a:rPr lang="en-GB" sz="1200" dirty="0"/>
              <a:t>constraints, </a:t>
            </a:r>
          </a:p>
          <a:p>
            <a:r>
              <a:rPr lang="en-GB" sz="1200" dirty="0"/>
              <a:t>priorities, </a:t>
            </a:r>
          </a:p>
          <a:p>
            <a:r>
              <a:rPr lang="en-GB" sz="1200" dirty="0"/>
              <a:t>style, </a:t>
            </a:r>
          </a:p>
          <a:p>
            <a:r>
              <a:rPr lang="en-GB" sz="1200" dirty="0"/>
              <a:t>safety rules. </a:t>
            </a:r>
          </a:p>
          <a:p>
            <a:endParaRPr lang="en-GB" sz="1200" dirty="0"/>
          </a:p>
          <a:p>
            <a:r>
              <a:rPr lang="en-GB" sz="1200" dirty="0"/>
              <a:t>The </a:t>
            </a:r>
            <a:r>
              <a:rPr lang="en-GB" sz="1200" b="1" dirty="0"/>
              <a:t>user prompt</a:t>
            </a:r>
            <a:r>
              <a:rPr lang="en-GB" sz="1200" dirty="0"/>
              <a:t> contains:</a:t>
            </a:r>
          </a:p>
          <a:p>
            <a:r>
              <a:rPr lang="en-GB" sz="1200" dirty="0"/>
              <a:t>the actual request, </a:t>
            </a:r>
          </a:p>
          <a:p>
            <a:r>
              <a:rPr lang="en-GB" sz="1200" dirty="0"/>
              <a:t>task-specific instructions, </a:t>
            </a:r>
          </a:p>
          <a:p>
            <a:r>
              <a:rPr lang="en-GB" sz="1200" dirty="0"/>
              <a:t>questions, </a:t>
            </a:r>
          </a:p>
          <a:p>
            <a:r>
              <a:rPr lang="en-GB" sz="1200" dirty="0"/>
              <a:t>conversation goals.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T" sz="1200" dirty="0">
                <a:solidFill>
                  <a:schemeClr val="dk1"/>
                </a:solidFill>
              </a:rPr>
              <a:t>W/o system / user prompt, LLM cannot distinguish core operating rules from temporary user requests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7" name="Google Shape;99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6d8b2c9232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6" name="Google Shape;1106;g36d8b2c9232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4" name="Google Shape;114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7" name="Google Shape;117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3" name="Google Shape;118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9" name="Google Shape;1409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9" name="Google Shape;1439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6" name="Google Shape;149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6ef66292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g36ef66292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2" name="Google Shape;1572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0" name="Google Shape;1580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6e4999d79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7" name="Google Shape;1697;g36e4999d79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8" name="Google Shape;1668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8" name="Google Shape;1678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7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" name="Google Shape;24;p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8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8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8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9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-16500" y="1023365"/>
            <a:ext cx="9160500" cy="13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 b="1"/>
              <a:t>Temporal Reasoning in Clinical Narratives: </a:t>
            </a:r>
            <a:endParaRPr sz="3000" b="1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00" b="1">
                <a:solidFill>
                  <a:srgbClr val="990000"/>
                </a:solidFill>
              </a:rPr>
              <a:t>From Information Extraction to Early Disease Detection</a:t>
            </a:r>
            <a:endParaRPr sz="2600" b="1">
              <a:solidFill>
                <a:srgbClr val="990000"/>
              </a:solidFill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585350" y="2355225"/>
            <a:ext cx="8035800" cy="13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50" dirty="0">
                <a:latin typeface="Times New Roman"/>
                <a:ea typeface="Times New Roman"/>
                <a:cs typeface="Times New Roman"/>
                <a:sym typeface="Times New Roman"/>
              </a:rPr>
              <a:t>Thanks to Rochana Chaturvedi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50" dirty="0">
                <a:latin typeface="Times New Roman"/>
                <a:cs typeface="Times New Roman"/>
                <a:sym typeface="Times New Roman"/>
              </a:rPr>
              <a:t>(based on her PhD thesis defense)</a:t>
            </a:r>
            <a:endParaRPr dirty="0"/>
          </a:p>
        </p:txBody>
      </p:sp>
      <p:cxnSp>
        <p:nvCxnSpPr>
          <p:cNvPr id="56" name="Google Shape;56;p1"/>
          <p:cNvCxnSpPr/>
          <p:nvPr/>
        </p:nvCxnSpPr>
        <p:spPr>
          <a:xfrm rot="10800000" flipH="1">
            <a:off x="975" y="3571916"/>
            <a:ext cx="9144000" cy="17100"/>
          </a:xfrm>
          <a:prstGeom prst="straightConnector1">
            <a:avLst/>
          </a:prstGeom>
          <a:noFill/>
          <a:ln w="9525" cap="flat" cmpd="sng">
            <a:solidFill>
              <a:srgbClr val="E03A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0028" y="41453"/>
            <a:ext cx="2298190" cy="638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A0D84B-CD9A-3598-3D94-31C778CCA6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076" t="602" r="36204" b="5951"/>
          <a:stretch>
            <a:fillRect/>
          </a:stretch>
        </p:blipFill>
        <p:spPr>
          <a:xfrm>
            <a:off x="168370" y="2302882"/>
            <a:ext cx="885177" cy="1930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8b2c9232_0_1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64" name="Google Shape;64;g36d8b2c9232_0_161"/>
          <p:cNvSpPr txBox="1"/>
          <p:nvPr/>
        </p:nvSpPr>
        <p:spPr>
          <a:xfrm>
            <a:off x="76199" y="237421"/>
            <a:ext cx="7644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The Challenge: AI for Chronic Disease Risk Estimation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g36d8b2c9232_0_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8897" y="3394021"/>
            <a:ext cx="1629474" cy="108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g36d8b2c9232_0_161"/>
          <p:cNvGrpSpPr/>
          <p:nvPr/>
        </p:nvGrpSpPr>
        <p:grpSpPr>
          <a:xfrm>
            <a:off x="562593" y="963575"/>
            <a:ext cx="8154711" cy="2249885"/>
            <a:chOff x="4899162" y="1750585"/>
            <a:chExt cx="8321983" cy="2884099"/>
          </a:xfrm>
        </p:grpSpPr>
        <p:sp>
          <p:nvSpPr>
            <p:cNvPr id="67" name="Google Shape;67;g36d8b2c9232_0_161"/>
            <p:cNvSpPr/>
            <p:nvPr/>
          </p:nvSpPr>
          <p:spPr>
            <a:xfrm rot="5420740">
              <a:off x="7609336" y="-926290"/>
              <a:ext cx="2834452" cy="8237849"/>
            </a:xfrm>
            <a:prstGeom prst="roundRect">
              <a:avLst>
                <a:gd name="adj" fmla="val 13345"/>
              </a:avLst>
            </a:prstGeom>
            <a:solidFill>
              <a:srgbClr val="E74C3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68;g36d8b2c9232_0_161"/>
            <p:cNvSpPr/>
            <p:nvPr/>
          </p:nvSpPr>
          <p:spPr>
            <a:xfrm>
              <a:off x="5008945" y="1809306"/>
              <a:ext cx="8212200" cy="2800500"/>
            </a:xfrm>
            <a:prstGeom prst="roundRect">
              <a:avLst>
                <a:gd name="adj" fmla="val 12293"/>
              </a:avLst>
            </a:prstGeom>
            <a:solidFill>
              <a:srgbClr val="F5E6E9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Type 2 Diabetes (T2D)</a:t>
              </a:r>
              <a:endParaRPr sz="1800" b="1" i="0" u="none" strike="noStrike" cap="none" baseline="30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14400" marR="0" lvl="0" indent="-3556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Half Billion Worldwide (and rising)</a:t>
              </a: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14400" marR="0" lvl="0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Early Diagnosis Important </a:t>
              </a: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14400" marR="0" lvl="0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Many undiagnosed: 50% UI Health Emergency patients and 23% in U.S</a:t>
              </a: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5588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→ Need </a:t>
              </a:r>
              <a:r>
                <a:rPr lang="en" sz="1800" b="1" i="1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Opportunistic Screening 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systems (especially for          </a:t>
              </a: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5588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underserved populations lacking routine care)</a:t>
              </a: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69" name="Google Shape;69;g36d8b2c9232_0_161"/>
          <p:cNvPicPr preferRelativeResize="0"/>
          <p:nvPr/>
        </p:nvPicPr>
        <p:blipFill rotWithShape="1">
          <a:blip r:embed="rId4">
            <a:alphaModFix/>
          </a:blip>
          <a:srcRect l="11421" t="15682" r="6057" b="15324"/>
          <a:stretch/>
        </p:blipFill>
        <p:spPr>
          <a:xfrm>
            <a:off x="692650" y="3389052"/>
            <a:ext cx="1303250" cy="108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g36d8b2c9232_0_161"/>
          <p:cNvGrpSpPr/>
          <p:nvPr/>
        </p:nvGrpSpPr>
        <p:grpSpPr>
          <a:xfrm>
            <a:off x="2812191" y="3394093"/>
            <a:ext cx="1303248" cy="1086181"/>
            <a:chOff x="1845325" y="152400"/>
            <a:chExt cx="5700999" cy="4168000"/>
          </a:xfrm>
        </p:grpSpPr>
        <p:pic>
          <p:nvPicPr>
            <p:cNvPr id="71" name="Google Shape;71;g36d8b2c9232_0_161"/>
            <p:cNvPicPr preferRelativeResize="0"/>
            <p:nvPr/>
          </p:nvPicPr>
          <p:blipFill rotWithShape="1">
            <a:blip r:embed="rId5">
              <a:alphaModFix/>
            </a:blip>
            <a:srcRect l="12687" r="13425" b="19100"/>
            <a:stretch/>
          </p:blipFill>
          <p:spPr>
            <a:xfrm>
              <a:off x="1845325" y="152400"/>
              <a:ext cx="5700999" cy="4161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g36d8b2c9232_0_161"/>
            <p:cNvSpPr/>
            <p:nvPr/>
          </p:nvSpPr>
          <p:spPr>
            <a:xfrm>
              <a:off x="5116050" y="3830200"/>
              <a:ext cx="686400" cy="490200"/>
            </a:xfrm>
            <a:prstGeom prst="rect">
              <a:avLst/>
            </a:prstGeom>
            <a:solidFill>
              <a:srgbClr val="F1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" name="Google Shape;73;g36d8b2c9232_0_161"/>
          <p:cNvPicPr preferRelativeResize="0"/>
          <p:nvPr/>
        </p:nvPicPr>
        <p:blipFill rotWithShape="1">
          <a:blip r:embed="rId6">
            <a:alphaModFix/>
          </a:blip>
          <a:srcRect l="16397" t="8049" r="16208" b="9484"/>
          <a:stretch/>
        </p:blipFill>
        <p:spPr>
          <a:xfrm>
            <a:off x="4529553" y="3501326"/>
            <a:ext cx="353597" cy="39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6d8b2c9232_0_161"/>
          <p:cNvPicPr preferRelativeResize="0"/>
          <p:nvPr/>
        </p:nvPicPr>
        <p:blipFill rotWithShape="1">
          <a:blip r:embed="rId7">
            <a:alphaModFix/>
          </a:blip>
          <a:srcRect l="22599" t="6829" r="24339"/>
          <a:stretch/>
        </p:blipFill>
        <p:spPr>
          <a:xfrm>
            <a:off x="5330625" y="3371175"/>
            <a:ext cx="1010325" cy="113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g36d8b2c9232_0_161"/>
          <p:cNvCxnSpPr>
            <a:stCxn id="69" idx="3"/>
            <a:endCxn id="71" idx="1"/>
          </p:cNvCxnSpPr>
          <p:nvPr/>
        </p:nvCxnSpPr>
        <p:spPr>
          <a:xfrm>
            <a:off x="1995900" y="3933877"/>
            <a:ext cx="816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76;g36d8b2c9232_0_161"/>
          <p:cNvCxnSpPr>
            <a:stCxn id="71" idx="3"/>
            <a:endCxn id="74" idx="1"/>
          </p:cNvCxnSpPr>
          <p:nvPr/>
        </p:nvCxnSpPr>
        <p:spPr>
          <a:xfrm>
            <a:off x="4115439" y="3936281"/>
            <a:ext cx="12153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7" name="Google Shape;77;g36d8b2c9232_0_161"/>
          <p:cNvCxnSpPr>
            <a:stCxn id="74" idx="3"/>
            <a:endCxn id="65" idx="1"/>
          </p:cNvCxnSpPr>
          <p:nvPr/>
        </p:nvCxnSpPr>
        <p:spPr>
          <a:xfrm rot="10800000" flipH="1">
            <a:off x="6340950" y="3937213"/>
            <a:ext cx="678000" cy="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76199" y="237421"/>
            <a:ext cx="7643885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The Challenge: AI for Chronic Disease Risk Estimation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2"/>
          <p:cNvGrpSpPr/>
          <p:nvPr/>
        </p:nvGrpSpPr>
        <p:grpSpPr>
          <a:xfrm>
            <a:off x="328749" y="1457945"/>
            <a:ext cx="8262669" cy="2540142"/>
            <a:chOff x="4899317" y="1750669"/>
            <a:chExt cx="8321753" cy="2883903"/>
          </a:xfrm>
        </p:grpSpPr>
        <p:sp>
          <p:nvSpPr>
            <p:cNvPr id="85" name="Google Shape;85;p2"/>
            <p:cNvSpPr/>
            <p:nvPr/>
          </p:nvSpPr>
          <p:spPr>
            <a:xfrm rot="5420664">
              <a:off x="7609420" y="-926258"/>
              <a:ext cx="2834438" cy="8237756"/>
            </a:xfrm>
            <a:prstGeom prst="roundRect">
              <a:avLst>
                <a:gd name="adj" fmla="val 13345"/>
              </a:avLst>
            </a:prstGeom>
            <a:solidFill>
              <a:srgbClr val="E74C3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008945" y="1809306"/>
              <a:ext cx="8212125" cy="2800428"/>
            </a:xfrm>
            <a:prstGeom prst="roundRect">
              <a:avLst>
                <a:gd name="adj" fmla="val 12293"/>
              </a:avLst>
            </a:prstGeom>
            <a:solidFill>
              <a:srgbClr val="F5E6E9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 Limitations </a:t>
              </a:r>
              <a:endParaRPr sz="1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14400" marR="0" lvl="0" indent="-3556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Structured EHR data noisy</a:t>
              </a:r>
              <a:r>
                <a:rPr lang="en" sz="1800" b="0" i="0" u="none" strike="noStrike" cap="none" baseline="30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lacks crucial context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914400" marR="0" lvl="0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Clinical Notes:</a:t>
              </a: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1371600" marR="0" lvl="2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■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Manual review not scalable, leads to diagnostic errors</a:t>
              </a: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1371600" marR="0" lvl="2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Char char="■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Existing AI models do not capture rich temporal context in notes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2"/>
          <p:cNvSpPr txBox="1"/>
          <p:nvPr/>
        </p:nvSpPr>
        <p:spPr>
          <a:xfrm>
            <a:off x="381000" y="4648200"/>
            <a:ext cx="859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[1] Hersh et al. "Caveats for the use of operational electronic health record data in comparative effectiveness research." </a:t>
            </a:r>
            <a:r>
              <a:rPr lang="en" sz="1000" b="0" i="1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care</a:t>
            </a: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(2013)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201200" y="1185400"/>
            <a:ext cx="8614200" cy="11544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67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88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notes capture extensive details including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sequence of events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465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Symptoms, diagnoses, and treatments </a:t>
            </a:r>
            <a:r>
              <a:rPr lang="en" sz="17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evolve over time</a:t>
            </a: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465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matters: Drug </a:t>
            </a:r>
            <a:r>
              <a:rPr lang="en" sz="17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symptom ≠ Symptom </a:t>
            </a:r>
            <a:r>
              <a:rPr lang="en" sz="17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Drug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76200" y="304800"/>
            <a:ext cx="8292966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Clinical Narratives and Temporally Grounded Methods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00400" y="2530325"/>
            <a:ext cx="8614200" cy="779400"/>
          </a:xfrm>
          <a:prstGeom prst="roundRect">
            <a:avLst>
              <a:gd name="adj" fmla="val 8737"/>
            </a:avLst>
          </a:prstGeom>
          <a:noFill/>
          <a:ln w="25400" cap="flat" cmpd="sng">
            <a:solidFill>
              <a:srgbClr val="667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88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 richness of clinical narratives &amp; representational power of advanced AI tools (GNNs, language models) for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structured and contextual reasoning over temporal cues</a:t>
            </a: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02125" y="3512450"/>
            <a:ext cx="8614200" cy="1154400"/>
          </a:xfrm>
          <a:prstGeom prst="roundRect">
            <a:avLst>
              <a:gd name="adj" fmla="val 8737"/>
            </a:avLst>
          </a:prstGeom>
          <a:noFill/>
          <a:ln w="25400" cap="flat" cmpd="sng">
            <a:solidFill>
              <a:srgbClr val="667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Impact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Advancing the state of the art in clinical NLP and healthcare 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7"/>
              <a:buFont typeface="Times New Roman"/>
              <a:buAutoNum type="arabicParenBoth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entity-temporal-relation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7"/>
              <a:buFont typeface="Times New Roman"/>
              <a:buAutoNum type="arabicParenBoth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healthcare decision support applications, e.g. opportunistic screening of T2D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76200" y="304800"/>
            <a:ext cx="53868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Presentation Roadmap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57977" y="1009206"/>
            <a:ext cx="3193500" cy="738600"/>
          </a:xfrm>
          <a:prstGeom prst="rect">
            <a:avLst/>
          </a:prstGeom>
          <a:solidFill>
            <a:srgbClr val="DAF2CA"/>
          </a:solidFill>
          <a:ln w="28575" cap="flat" cmpd="sng">
            <a:solidFill>
              <a:srgbClr val="DAF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67250" y="4178326"/>
            <a:ext cx="8594700" cy="476400"/>
          </a:xfrm>
          <a:prstGeom prst="rect">
            <a:avLst/>
          </a:prstGeom>
          <a:solidFill>
            <a:srgbClr val="CFE0F5"/>
          </a:solidFill>
          <a:ln w="28575" cap="flat" cmpd="sng">
            <a:solidFill>
              <a:srgbClr val="CFE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Directions</a:t>
            </a:r>
            <a:endParaRPr sz="17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04797" y="1040789"/>
            <a:ext cx="292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Visit-Level Temporal cues for T2D-risk prediction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6" name="Google Shape;106;p4"/>
          <p:cNvGrpSpPr/>
          <p:nvPr/>
        </p:nvGrpSpPr>
        <p:grpSpPr>
          <a:xfrm>
            <a:off x="157977" y="1812076"/>
            <a:ext cx="7452531" cy="1157015"/>
            <a:chOff x="157977" y="1812076"/>
            <a:chExt cx="7452531" cy="1157015"/>
          </a:xfrm>
        </p:grpSpPr>
        <p:sp>
          <p:nvSpPr>
            <p:cNvPr id="107" name="Google Shape;107;p4"/>
            <p:cNvSpPr/>
            <p:nvPr/>
          </p:nvSpPr>
          <p:spPr>
            <a:xfrm>
              <a:off x="157977" y="1951432"/>
              <a:ext cx="3193500" cy="811645"/>
            </a:xfrm>
            <a:prstGeom prst="rect">
              <a:avLst/>
            </a:prstGeom>
            <a:solidFill>
              <a:srgbClr val="F7E5D0"/>
            </a:solidFill>
            <a:ln w="28575" cap="flat" cmpd="sng">
              <a:solidFill>
                <a:srgbClr val="F7E5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263927" y="2141757"/>
              <a:ext cx="3011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Temporal Relation Extraction</a:t>
              </a:r>
              <a:endParaRPr sz="17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9" name="Google Shape;109;p4"/>
            <p:cNvGrpSpPr/>
            <p:nvPr/>
          </p:nvGrpSpPr>
          <p:grpSpPr>
            <a:xfrm>
              <a:off x="4505380" y="1812076"/>
              <a:ext cx="3105128" cy="1157015"/>
              <a:chOff x="4505380" y="1812076"/>
              <a:chExt cx="3105128" cy="1157015"/>
            </a:xfrm>
          </p:grpSpPr>
          <p:grpSp>
            <p:nvGrpSpPr>
              <p:cNvPr id="110" name="Google Shape;110;p4"/>
              <p:cNvGrpSpPr/>
              <p:nvPr/>
            </p:nvGrpSpPr>
            <p:grpSpPr>
              <a:xfrm>
                <a:off x="4505380" y="1812076"/>
                <a:ext cx="3105128" cy="1157015"/>
                <a:chOff x="5463000" y="1811185"/>
                <a:chExt cx="3244648" cy="1269351"/>
              </a:xfrm>
            </p:grpSpPr>
            <p:pic>
              <p:nvPicPr>
                <p:cNvPr id="111" name="Google Shape;111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5463000" y="2038047"/>
                  <a:ext cx="811650" cy="81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2" name="Google Shape;112;p4"/>
                <p:cNvSpPr/>
                <p:nvPr/>
              </p:nvSpPr>
              <p:spPr>
                <a:xfrm>
                  <a:off x="6004900" y="2352225"/>
                  <a:ext cx="189300" cy="183300"/>
                </a:xfrm>
                <a:prstGeom prst="ellipse">
                  <a:avLst/>
                </a:prstGeom>
                <a:solidFill>
                  <a:srgbClr val="373535"/>
                </a:solidFill>
                <a:ln w="9525" cap="flat" cmpd="sng">
                  <a:solidFill>
                    <a:srgbClr val="36343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Google Shape;113;p4"/>
                <p:cNvSpPr txBox="1"/>
                <p:nvPr/>
              </p:nvSpPr>
              <p:spPr>
                <a:xfrm>
                  <a:off x="5902025" y="2274525"/>
                  <a:ext cx="444600" cy="320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00"/>
                    <a:buFont typeface="Arial"/>
                    <a:buNone/>
                  </a:pPr>
                  <a:r>
                    <a:rPr lang="en" sz="700" b="0" i="0" u="none" strike="noStrike" cap="none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TREx</a:t>
                  </a:r>
                  <a:endParaRPr sz="7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14" name="Google Shape;114;p4" descr="before"/>
                <p:cNvCxnSpPr>
                  <a:stCxn id="113" idx="3"/>
                </p:cNvCxnSpPr>
                <p:nvPr/>
              </p:nvCxnSpPr>
              <p:spPr>
                <a:xfrm rot="10800000" flipH="1">
                  <a:off x="6346625" y="2428875"/>
                  <a:ext cx="800100" cy="6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2E7FC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115" name="Google Shape;115;p4"/>
                <p:cNvSpPr txBox="1"/>
                <p:nvPr/>
              </p:nvSpPr>
              <p:spPr>
                <a:xfrm rot="-710769">
                  <a:off x="7570401" y="2628473"/>
                  <a:ext cx="666393" cy="3877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1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before</a:t>
                  </a:r>
                  <a:endParaRPr sz="1100" b="0" i="1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16" name="Google Shape;116;p4"/>
                <p:cNvSpPr txBox="1"/>
                <p:nvPr/>
              </p:nvSpPr>
              <p:spPr>
                <a:xfrm rot="15598">
                  <a:off x="8045562" y="2189946"/>
                  <a:ext cx="661207" cy="3888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1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overlap</a:t>
                  </a:r>
                  <a:endParaRPr sz="1100" b="0" i="1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17" name="Google Shape;117;p4"/>
                <p:cNvSpPr txBox="1"/>
                <p:nvPr/>
              </p:nvSpPr>
              <p:spPr>
                <a:xfrm rot="-1810994">
                  <a:off x="7368670" y="1955116"/>
                  <a:ext cx="676059" cy="383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1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after</a:t>
                  </a:r>
                  <a:endParaRPr sz="1100" b="0" i="1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cxnSp>
            <p:nvCxnSpPr>
              <p:cNvPr id="118" name="Google Shape;118;p4"/>
              <p:cNvCxnSpPr>
                <a:stCxn id="119" idx="6"/>
                <a:endCxn id="120" idx="2"/>
              </p:cNvCxnSpPr>
              <p:nvPr/>
            </p:nvCxnSpPr>
            <p:spPr>
              <a:xfrm rot="10800000" flipH="1">
                <a:off x="6555300" y="2607563"/>
                <a:ext cx="393300" cy="6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21" name="Google Shape;121;p4"/>
              <p:cNvCxnSpPr>
                <a:stCxn id="122" idx="6"/>
                <a:endCxn id="123" idx="2"/>
              </p:cNvCxnSpPr>
              <p:nvPr/>
            </p:nvCxnSpPr>
            <p:spPr>
              <a:xfrm rot="10800000" flipH="1">
                <a:off x="6441641" y="2110406"/>
                <a:ext cx="397200" cy="30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124" name="Google Shape;124;p4"/>
              <p:cNvCxnSpPr>
                <a:stCxn id="123" idx="5"/>
                <a:endCxn id="120" idx="1"/>
              </p:cNvCxnSpPr>
              <p:nvPr/>
            </p:nvCxnSpPr>
            <p:spPr>
              <a:xfrm>
                <a:off x="6967757" y="2164695"/>
                <a:ext cx="3000" cy="3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grpSp>
            <p:nvGrpSpPr>
              <p:cNvPr id="125" name="Google Shape;125;p4"/>
              <p:cNvGrpSpPr/>
              <p:nvPr/>
            </p:nvGrpSpPr>
            <p:grpSpPr>
              <a:xfrm>
                <a:off x="6290441" y="2033333"/>
                <a:ext cx="809442" cy="717480"/>
                <a:chOff x="1233453" y="3600044"/>
                <a:chExt cx="809442" cy="717480"/>
              </a:xfrm>
            </p:grpSpPr>
            <p:sp>
              <p:nvSpPr>
                <p:cNvPr id="119" name="Google Shape;119;p4"/>
                <p:cNvSpPr/>
                <p:nvPr/>
              </p:nvSpPr>
              <p:spPr>
                <a:xfrm>
                  <a:off x="1347112" y="4163624"/>
                  <a:ext cx="151200" cy="1539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3" name="Google Shape;123;p4"/>
                <p:cNvSpPr/>
                <p:nvPr/>
              </p:nvSpPr>
              <p:spPr>
                <a:xfrm>
                  <a:off x="1781712" y="3600044"/>
                  <a:ext cx="151200" cy="1539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2" name="Google Shape;122;p4"/>
                <p:cNvSpPr/>
                <p:nvPr/>
              </p:nvSpPr>
              <p:spPr>
                <a:xfrm>
                  <a:off x="1233453" y="3905117"/>
                  <a:ext cx="151200" cy="1536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" name="Google Shape;120;p4"/>
                <p:cNvSpPr/>
                <p:nvPr/>
              </p:nvSpPr>
              <p:spPr>
                <a:xfrm>
                  <a:off x="1891695" y="4097176"/>
                  <a:ext cx="151200" cy="153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grpSp>
        <p:nvGrpSpPr>
          <p:cNvPr id="126" name="Google Shape;126;p4"/>
          <p:cNvGrpSpPr/>
          <p:nvPr/>
        </p:nvGrpSpPr>
        <p:grpSpPr>
          <a:xfrm>
            <a:off x="167249" y="2955288"/>
            <a:ext cx="8035051" cy="1030800"/>
            <a:chOff x="167249" y="2955288"/>
            <a:chExt cx="8035051" cy="1030800"/>
          </a:xfrm>
        </p:grpSpPr>
        <p:sp>
          <p:nvSpPr>
            <p:cNvPr id="127" name="Google Shape;127;p4"/>
            <p:cNvSpPr/>
            <p:nvPr/>
          </p:nvSpPr>
          <p:spPr>
            <a:xfrm>
              <a:off x="167249" y="2955288"/>
              <a:ext cx="3180300" cy="1030800"/>
            </a:xfrm>
            <a:prstGeom prst="rect">
              <a:avLst/>
            </a:prstGeom>
            <a:solidFill>
              <a:srgbClr val="FBF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200975" y="2989771"/>
              <a:ext cx="30114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Risk Prediction with Hierarchical Temporal Graphs </a:t>
              </a:r>
              <a:endParaRPr sz="17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9" name="Google Shape;129;p4"/>
            <p:cNvGrpSpPr/>
            <p:nvPr/>
          </p:nvGrpSpPr>
          <p:grpSpPr>
            <a:xfrm>
              <a:off x="4479200" y="3332775"/>
              <a:ext cx="3723100" cy="527700"/>
              <a:chOff x="4326800" y="3332775"/>
              <a:chExt cx="3723100" cy="527700"/>
            </a:xfrm>
          </p:grpSpPr>
          <p:sp>
            <p:nvSpPr>
              <p:cNvPr id="130" name="Google Shape;130;p4"/>
              <p:cNvSpPr/>
              <p:nvPr/>
            </p:nvSpPr>
            <p:spPr>
              <a:xfrm>
                <a:off x="4326800" y="3332775"/>
                <a:ext cx="635100" cy="527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1" name="Google Shape;131;p4"/>
              <p:cNvCxnSpPr>
                <a:stCxn id="132" idx="6"/>
                <a:endCxn id="133" idx="2"/>
              </p:cNvCxnSpPr>
              <p:nvPr/>
            </p:nvCxnSpPr>
            <p:spPr>
              <a:xfrm rot="10800000" flipH="1">
                <a:off x="4560795" y="3712119"/>
                <a:ext cx="210000" cy="4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34" name="Google Shape;134;p4"/>
              <p:cNvCxnSpPr>
                <a:stCxn id="135" idx="6"/>
                <a:endCxn id="136" idx="2"/>
              </p:cNvCxnSpPr>
              <p:nvPr/>
            </p:nvCxnSpPr>
            <p:spPr>
              <a:xfrm rot="10800000" flipH="1">
                <a:off x="4485542" y="3424697"/>
                <a:ext cx="262800" cy="90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137" name="Google Shape;137;p4"/>
              <p:cNvCxnSpPr>
                <a:stCxn id="136" idx="5"/>
                <a:endCxn id="133" idx="1"/>
              </p:cNvCxnSpPr>
              <p:nvPr/>
            </p:nvCxnSpPr>
            <p:spPr>
              <a:xfrm flipH="1">
                <a:off x="4785574" y="3463364"/>
                <a:ext cx="48300" cy="20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grpSp>
            <p:nvGrpSpPr>
              <p:cNvPr id="138" name="Google Shape;138;p4"/>
              <p:cNvGrpSpPr/>
              <p:nvPr/>
            </p:nvGrpSpPr>
            <p:grpSpPr>
              <a:xfrm>
                <a:off x="4385432" y="3370313"/>
                <a:ext cx="485480" cy="447310"/>
                <a:chOff x="1233453" y="3785636"/>
                <a:chExt cx="733242" cy="608088"/>
              </a:xfrm>
            </p:grpSpPr>
            <p:sp>
              <p:nvSpPr>
                <p:cNvPr id="132" name="Google Shape;132;p4"/>
                <p:cNvSpPr/>
                <p:nvPr/>
              </p:nvSpPr>
              <p:spPr>
                <a:xfrm>
                  <a:off x="1347112" y="4239824"/>
                  <a:ext cx="151200" cy="1539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36" name="Google Shape;136;p4"/>
                <p:cNvSpPr/>
                <p:nvPr/>
              </p:nvSpPr>
              <p:spPr>
                <a:xfrm>
                  <a:off x="1781697" y="3785636"/>
                  <a:ext cx="151200" cy="1482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35" name="Google Shape;135;p4"/>
                <p:cNvSpPr/>
                <p:nvPr/>
              </p:nvSpPr>
              <p:spPr>
                <a:xfrm>
                  <a:off x="1233453" y="3905117"/>
                  <a:ext cx="151200" cy="1536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33" name="Google Shape;133;p4"/>
                <p:cNvSpPr/>
                <p:nvPr/>
              </p:nvSpPr>
              <p:spPr>
                <a:xfrm>
                  <a:off x="1815495" y="4173376"/>
                  <a:ext cx="151200" cy="153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139" name="Google Shape;139;p4"/>
              <p:cNvSpPr/>
              <p:nvPr/>
            </p:nvSpPr>
            <p:spPr>
              <a:xfrm>
                <a:off x="5165000" y="3332775"/>
                <a:ext cx="635100" cy="527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6079400" y="3332775"/>
                <a:ext cx="635100" cy="527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1" name="Google Shape;141;p4"/>
              <p:cNvGrpSpPr/>
              <p:nvPr/>
            </p:nvGrpSpPr>
            <p:grpSpPr>
              <a:xfrm>
                <a:off x="5223631" y="3446864"/>
                <a:ext cx="548686" cy="335387"/>
                <a:chOff x="-3043442" y="5010459"/>
                <a:chExt cx="733243" cy="421658"/>
              </a:xfrm>
            </p:grpSpPr>
            <p:sp>
              <p:nvSpPr>
                <p:cNvPr id="142" name="Google Shape;142;p4"/>
                <p:cNvSpPr/>
                <p:nvPr/>
              </p:nvSpPr>
              <p:spPr>
                <a:xfrm>
                  <a:off x="-2929785" y="5269819"/>
                  <a:ext cx="151200" cy="132900"/>
                </a:xfrm>
                <a:prstGeom prst="ellipse">
                  <a:avLst/>
                </a:prstGeom>
                <a:solidFill>
                  <a:srgbClr val="FFFF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43" name="Google Shape;143;p4"/>
                <p:cNvSpPr/>
                <p:nvPr/>
              </p:nvSpPr>
              <p:spPr>
                <a:xfrm>
                  <a:off x="-2571393" y="5010459"/>
                  <a:ext cx="151200" cy="1329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44" name="Google Shape;144;p4"/>
                <p:cNvSpPr/>
                <p:nvPr/>
              </p:nvSpPr>
              <p:spPr>
                <a:xfrm>
                  <a:off x="-3043442" y="5076513"/>
                  <a:ext cx="151200" cy="13260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45" name="Google Shape;145;p4"/>
                <p:cNvSpPr/>
                <p:nvPr/>
              </p:nvSpPr>
              <p:spPr>
                <a:xfrm>
                  <a:off x="-2461399" y="5278217"/>
                  <a:ext cx="151200" cy="1539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cxnSp>
            <p:nvCxnSpPr>
              <p:cNvPr id="146" name="Google Shape;146;p4"/>
              <p:cNvCxnSpPr>
                <a:stCxn id="144" idx="6"/>
                <a:endCxn id="143" idx="2"/>
              </p:cNvCxnSpPr>
              <p:nvPr/>
            </p:nvCxnSpPr>
            <p:spPr>
              <a:xfrm rot="10800000" flipH="1">
                <a:off x="5336774" y="3499638"/>
                <a:ext cx="240000" cy="5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47" name="Google Shape;147;p4"/>
              <p:cNvCxnSpPr>
                <a:stCxn id="142" idx="7"/>
                <a:endCxn id="143" idx="4"/>
              </p:cNvCxnSpPr>
              <p:nvPr/>
            </p:nvCxnSpPr>
            <p:spPr>
              <a:xfrm rot="10800000" flipH="1">
                <a:off x="5405254" y="3552540"/>
                <a:ext cx="228300" cy="11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48" name="Google Shape;148;p4"/>
              <p:cNvCxnSpPr>
                <a:stCxn id="142" idx="5"/>
                <a:endCxn id="145" idx="3"/>
              </p:cNvCxnSpPr>
              <p:nvPr/>
            </p:nvCxnSpPr>
            <p:spPr>
              <a:xfrm>
                <a:off x="5405254" y="3743387"/>
                <a:ext cx="270600" cy="2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grpSp>
            <p:nvGrpSpPr>
              <p:cNvPr id="149" name="Google Shape;149;p4"/>
              <p:cNvGrpSpPr/>
              <p:nvPr/>
            </p:nvGrpSpPr>
            <p:grpSpPr>
              <a:xfrm>
                <a:off x="6138075" y="3397426"/>
                <a:ext cx="548693" cy="437596"/>
                <a:chOff x="-3043442" y="5010459"/>
                <a:chExt cx="733253" cy="488061"/>
              </a:xfrm>
            </p:grpSpPr>
            <p:sp>
              <p:nvSpPr>
                <p:cNvPr id="150" name="Google Shape;150;p4"/>
                <p:cNvSpPr/>
                <p:nvPr/>
              </p:nvSpPr>
              <p:spPr>
                <a:xfrm>
                  <a:off x="-2827955" y="5365620"/>
                  <a:ext cx="151200" cy="1329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1" name="Google Shape;151;p4"/>
                <p:cNvSpPr/>
                <p:nvPr/>
              </p:nvSpPr>
              <p:spPr>
                <a:xfrm>
                  <a:off x="-2673224" y="5010459"/>
                  <a:ext cx="151200" cy="1329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2" name="Google Shape;152;p4"/>
                <p:cNvSpPr/>
                <p:nvPr/>
              </p:nvSpPr>
              <p:spPr>
                <a:xfrm>
                  <a:off x="-3043442" y="5076513"/>
                  <a:ext cx="151200" cy="1326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-2461389" y="5299496"/>
                  <a:ext cx="151200" cy="1326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cxnSp>
            <p:nvCxnSpPr>
              <p:cNvPr id="154" name="Google Shape;154;p4"/>
              <p:cNvCxnSpPr>
                <a:stCxn id="153" idx="0"/>
                <a:endCxn id="151" idx="4"/>
              </p:cNvCxnSpPr>
              <p:nvPr/>
            </p:nvCxnSpPr>
            <p:spPr>
              <a:xfrm rot="10800000">
                <a:off x="6471797" y="3516477"/>
                <a:ext cx="158400" cy="14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155" name="Google Shape;155;p4"/>
              <p:cNvCxnSpPr>
                <a:stCxn id="150" idx="1"/>
                <a:endCxn id="152" idx="4"/>
              </p:cNvCxnSpPr>
              <p:nvPr/>
            </p:nvCxnSpPr>
            <p:spPr>
              <a:xfrm rot="10800000">
                <a:off x="6194693" y="3575514"/>
                <a:ext cx="121200" cy="15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56" name="Google Shape;156;p4"/>
              <p:cNvCxnSpPr>
                <a:stCxn id="150" idx="7"/>
                <a:endCxn id="151" idx="3"/>
              </p:cNvCxnSpPr>
              <p:nvPr/>
            </p:nvCxnSpPr>
            <p:spPr>
              <a:xfrm rot="10800000" flipH="1">
                <a:off x="6395897" y="3499014"/>
                <a:ext cx="35700" cy="23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157" name="Google Shape;157;p4"/>
              <p:cNvCxnSpPr>
                <a:stCxn id="152" idx="6"/>
                <a:endCxn id="153" idx="2"/>
              </p:cNvCxnSpPr>
              <p:nvPr/>
            </p:nvCxnSpPr>
            <p:spPr>
              <a:xfrm>
                <a:off x="6251218" y="3516095"/>
                <a:ext cx="3225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  <p:grpSp>
            <p:nvGrpSpPr>
              <p:cNvPr id="158" name="Google Shape;158;p4"/>
              <p:cNvGrpSpPr/>
              <p:nvPr/>
            </p:nvGrpSpPr>
            <p:grpSpPr>
              <a:xfrm>
                <a:off x="4553613" y="3332775"/>
                <a:ext cx="3496287" cy="433388"/>
                <a:chOff x="4934613" y="1199175"/>
                <a:chExt cx="3496287" cy="433388"/>
              </a:xfrm>
            </p:grpSpPr>
            <p:sp>
              <p:nvSpPr>
                <p:cNvPr id="159" name="Google Shape;159;p4"/>
                <p:cNvSpPr/>
                <p:nvPr/>
              </p:nvSpPr>
              <p:spPr>
                <a:xfrm>
                  <a:off x="4934613" y="1199175"/>
                  <a:ext cx="149100" cy="861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4"/>
                <p:cNvSpPr/>
                <p:nvPr/>
              </p:nvSpPr>
              <p:spPr>
                <a:xfrm>
                  <a:off x="5763213" y="1199175"/>
                  <a:ext cx="149100" cy="861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4"/>
                <p:cNvSpPr/>
                <p:nvPr/>
              </p:nvSpPr>
              <p:spPr>
                <a:xfrm>
                  <a:off x="6682100" y="1199175"/>
                  <a:ext cx="149100" cy="861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62" name="Google Shape;162;p4"/>
                <p:cNvCxnSpPr>
                  <a:stCxn id="159" idx="0"/>
                  <a:endCxn id="160" idx="0"/>
                </p:cNvCxnSpPr>
                <p:nvPr/>
              </p:nvCxnSpPr>
              <p:spPr>
                <a:xfrm rot="-5400000" flipH="1">
                  <a:off x="5423163" y="785175"/>
                  <a:ext cx="600" cy="828600"/>
                </a:xfrm>
                <a:prstGeom prst="bentConnector3">
                  <a:avLst>
                    <a:gd name="adj1" fmla="val -395287500"/>
                  </a:avLst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163" name="Google Shape;163;p4"/>
                <p:cNvCxnSpPr>
                  <a:stCxn id="160" idx="7"/>
                  <a:endCxn id="161" idx="0"/>
                </p:cNvCxnSpPr>
                <p:nvPr/>
              </p:nvCxnSpPr>
              <p:spPr>
                <a:xfrm rot="-5400000">
                  <a:off x="6317228" y="772434"/>
                  <a:ext cx="12600" cy="866100"/>
                </a:xfrm>
                <a:prstGeom prst="bentConnector3">
                  <a:avLst>
                    <a:gd name="adj1" fmla="val 18923286"/>
                  </a:avLst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164" name="Google Shape;164;p4"/>
                <p:cNvSpPr txBox="1"/>
                <p:nvPr/>
              </p:nvSpPr>
              <p:spPr>
                <a:xfrm>
                  <a:off x="7292700" y="1278563"/>
                  <a:ext cx="1138200" cy="35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chemeClr val="accent2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T2D</a:t>
                  </a:r>
                  <a:endParaRPr sz="1100" b="0" i="0" u="none" strike="noStrike" cap="none">
                    <a:solidFill>
                      <a:schemeClr val="accent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cxnSp>
              <p:nvCxnSpPr>
                <p:cNvPr id="165" name="Google Shape;165;p4"/>
                <p:cNvCxnSpPr>
                  <a:stCxn id="140" idx="3"/>
                  <a:endCxn id="164" idx="1"/>
                </p:cNvCxnSpPr>
                <p:nvPr/>
              </p:nvCxnSpPr>
              <p:spPr>
                <a:xfrm rot="10800000" flipH="1">
                  <a:off x="7095500" y="1455525"/>
                  <a:ext cx="197100" cy="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</p:grpSp>
        </p:grpSp>
      </p:grpSp>
      <p:grpSp>
        <p:nvGrpSpPr>
          <p:cNvPr id="166" name="Google Shape;166;p4"/>
          <p:cNvGrpSpPr/>
          <p:nvPr/>
        </p:nvGrpSpPr>
        <p:grpSpPr>
          <a:xfrm>
            <a:off x="4409000" y="1016400"/>
            <a:ext cx="3790875" cy="604249"/>
            <a:chOff x="4637600" y="1168800"/>
            <a:chExt cx="3790875" cy="604249"/>
          </a:xfrm>
        </p:grpSpPr>
        <p:sp>
          <p:nvSpPr>
            <p:cNvPr id="167" name="Google Shape;167;p4"/>
            <p:cNvSpPr/>
            <p:nvPr/>
          </p:nvSpPr>
          <p:spPr>
            <a:xfrm>
              <a:off x="4954625" y="1248550"/>
              <a:ext cx="149100" cy="86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5733163" y="1248550"/>
              <a:ext cx="149100" cy="86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6511725" y="1226200"/>
              <a:ext cx="149100" cy="86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" name="Google Shape;170;p4"/>
            <p:cNvPicPr preferRelativeResize="0"/>
            <p:nvPr/>
          </p:nvPicPr>
          <p:blipFill rotWithShape="1">
            <a:blip r:embed="rId4">
              <a:alphaModFix/>
            </a:blip>
            <a:srcRect b="50080"/>
            <a:stretch/>
          </p:blipFill>
          <p:spPr>
            <a:xfrm>
              <a:off x="4637600" y="1168800"/>
              <a:ext cx="2340226" cy="60424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1" name="Google Shape;171;p4"/>
            <p:cNvCxnSpPr>
              <a:stCxn id="167" idx="0"/>
              <a:endCxn id="168" idx="0"/>
            </p:cNvCxnSpPr>
            <p:nvPr/>
          </p:nvCxnSpPr>
          <p:spPr>
            <a:xfrm rot="-5400000" flipH="1">
              <a:off x="5418125" y="859600"/>
              <a:ext cx="600" cy="778500"/>
            </a:xfrm>
            <a:prstGeom prst="bentConnector3">
              <a:avLst>
                <a:gd name="adj1" fmla="val -142875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72" name="Google Shape;172;p4"/>
            <p:cNvCxnSpPr>
              <a:stCxn id="168" idx="7"/>
              <a:endCxn id="169" idx="0"/>
            </p:cNvCxnSpPr>
            <p:nvPr/>
          </p:nvCxnSpPr>
          <p:spPr>
            <a:xfrm rot="-5400000">
              <a:off x="6205728" y="880759"/>
              <a:ext cx="35100" cy="725700"/>
            </a:xfrm>
            <a:prstGeom prst="bentConnector3">
              <a:avLst>
                <a:gd name="adj1" fmla="val 281436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73" name="Google Shape;173;p4"/>
            <p:cNvSpPr txBox="1"/>
            <p:nvPr/>
          </p:nvSpPr>
          <p:spPr>
            <a:xfrm>
              <a:off x="7290275" y="1293575"/>
              <a:ext cx="1138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T2D</a:t>
              </a:r>
              <a:endParaRPr sz="11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74" name="Google Shape;174;p4"/>
            <p:cNvCxnSpPr>
              <a:stCxn id="170" idx="3"/>
              <a:endCxn id="173" idx="1"/>
            </p:cNvCxnSpPr>
            <p:nvPr/>
          </p:nvCxnSpPr>
          <p:spPr>
            <a:xfrm rot="10800000" flipH="1">
              <a:off x="6977826" y="1470625"/>
              <a:ext cx="3123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790F1"/>
            </a:gs>
            <a:gs pos="100000">
              <a:srgbClr val="6E63E1"/>
            </a:gs>
          </a:gsLst>
          <a:lin ang="16200000" scaled="0"/>
        </a:gra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ctrTitle"/>
          </p:nvPr>
        </p:nvSpPr>
        <p:spPr>
          <a:xfrm>
            <a:off x="311708" y="311227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Part 1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1"/>
          </p:nvPr>
        </p:nvSpPr>
        <p:spPr>
          <a:xfrm>
            <a:off x="311700" y="2571750"/>
            <a:ext cx="8520600" cy="215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Leveraging Visit-Level Temporal Cues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For Type 2 Diabetes Prediction </a:t>
            </a:r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182" name="Google Shape;182;p5"/>
          <p:cNvGrpSpPr/>
          <p:nvPr/>
        </p:nvGrpSpPr>
        <p:grpSpPr>
          <a:xfrm>
            <a:off x="3342200" y="4140600"/>
            <a:ext cx="3790875" cy="604249"/>
            <a:chOff x="4637600" y="1168800"/>
            <a:chExt cx="3790875" cy="604249"/>
          </a:xfrm>
        </p:grpSpPr>
        <p:sp>
          <p:nvSpPr>
            <p:cNvPr id="183" name="Google Shape;183;p5"/>
            <p:cNvSpPr/>
            <p:nvPr/>
          </p:nvSpPr>
          <p:spPr>
            <a:xfrm>
              <a:off x="4954625" y="1248550"/>
              <a:ext cx="149100" cy="86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5733163" y="1248550"/>
              <a:ext cx="149100" cy="86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6511725" y="1226200"/>
              <a:ext cx="149100" cy="86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5"/>
            <p:cNvPicPr preferRelativeResize="0"/>
            <p:nvPr/>
          </p:nvPicPr>
          <p:blipFill rotWithShape="1">
            <a:blip r:embed="rId3">
              <a:alphaModFix/>
            </a:blip>
            <a:srcRect b="50080"/>
            <a:stretch/>
          </p:blipFill>
          <p:spPr>
            <a:xfrm>
              <a:off x="4637600" y="1168800"/>
              <a:ext cx="2340226" cy="60424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7" name="Google Shape;187;p5"/>
            <p:cNvCxnSpPr>
              <a:stCxn id="183" idx="0"/>
              <a:endCxn id="184" idx="0"/>
            </p:cNvCxnSpPr>
            <p:nvPr/>
          </p:nvCxnSpPr>
          <p:spPr>
            <a:xfrm rot="-5400000" flipH="1">
              <a:off x="5418125" y="859600"/>
              <a:ext cx="600" cy="778500"/>
            </a:xfrm>
            <a:prstGeom prst="bentConnector3">
              <a:avLst>
                <a:gd name="adj1" fmla="val -5349875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8" name="Google Shape;188;p5"/>
            <p:cNvCxnSpPr>
              <a:stCxn id="184" idx="7"/>
              <a:endCxn id="185" idx="0"/>
            </p:cNvCxnSpPr>
            <p:nvPr/>
          </p:nvCxnSpPr>
          <p:spPr>
            <a:xfrm rot="-5400000">
              <a:off x="6205728" y="880759"/>
              <a:ext cx="35100" cy="725700"/>
            </a:xfrm>
            <a:prstGeom prst="bentConnector3">
              <a:avLst>
                <a:gd name="adj1" fmla="val 9244684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89" name="Google Shape;189;p5"/>
            <p:cNvSpPr txBox="1"/>
            <p:nvPr/>
          </p:nvSpPr>
          <p:spPr>
            <a:xfrm>
              <a:off x="7290275" y="1293575"/>
              <a:ext cx="1138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T2D</a:t>
              </a:r>
              <a:endParaRPr sz="11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90" name="Google Shape;190;p5"/>
            <p:cNvCxnSpPr>
              <a:stCxn id="186" idx="3"/>
              <a:endCxn id="189" idx="1"/>
            </p:cNvCxnSpPr>
            <p:nvPr/>
          </p:nvCxnSpPr>
          <p:spPr>
            <a:xfrm rot="10800000" flipH="1">
              <a:off x="6977826" y="1470625"/>
              <a:ext cx="3123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UI Health Data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68"/>
          <p:cNvSpPr txBox="1"/>
          <p:nvPr/>
        </p:nvSpPr>
        <p:spPr>
          <a:xfrm>
            <a:off x="381900" y="1284125"/>
            <a:ext cx="7425000" cy="3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EHR &gt;10 years (Jan 1, 2010, to Jul 31, 2021)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Notes split into EPIC and CERNER (until Fall 2020) subset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Inclusion Criteria: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Adults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least 2 outpatient visits in 24 months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Exclusion Criteria: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Diagnosis of  Type 1 diabetes or other types of diabetes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6" name="Google Shape;1506;p68"/>
          <p:cNvPicPr preferRelativeResize="0"/>
          <p:nvPr/>
        </p:nvPicPr>
        <p:blipFill rotWithShape="1">
          <a:blip r:embed="rId3">
            <a:alphaModFix/>
          </a:blip>
          <a:srcRect l="407" t="6955" r="-407" b="34901"/>
          <a:stretch/>
        </p:blipFill>
        <p:spPr>
          <a:xfrm>
            <a:off x="2990214" y="413658"/>
            <a:ext cx="2081600" cy="910045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69"/>
          <p:cNvSpPr txBox="1">
            <a:spLocks noGrp="1"/>
          </p:cNvSpPr>
          <p:nvPr>
            <p:ph type="title"/>
          </p:nvPr>
        </p:nvSpPr>
        <p:spPr>
          <a:xfrm>
            <a:off x="364649" y="104975"/>
            <a:ext cx="4639775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Data Filtering: UI Health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69"/>
          <p:cNvSpPr txBox="1"/>
          <p:nvPr/>
        </p:nvSpPr>
        <p:spPr>
          <a:xfrm>
            <a:off x="5606906" y="1225289"/>
            <a:ext cx="123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15" name="Google Shape;1515;p69"/>
          <p:cNvGrpSpPr/>
          <p:nvPr/>
        </p:nvGrpSpPr>
        <p:grpSpPr>
          <a:xfrm>
            <a:off x="147047" y="3270109"/>
            <a:ext cx="7975574" cy="453530"/>
            <a:chOff x="147047" y="3694650"/>
            <a:chExt cx="7975574" cy="453530"/>
          </a:xfrm>
        </p:grpSpPr>
        <p:sp>
          <p:nvSpPr>
            <p:cNvPr id="1516" name="Google Shape;1516;p69"/>
            <p:cNvSpPr txBox="1"/>
            <p:nvPr/>
          </p:nvSpPr>
          <p:spPr>
            <a:xfrm>
              <a:off x="459323" y="3756948"/>
              <a:ext cx="369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 Type and Author types Filter</a:t>
              </a: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7" name="Google Shape;1517;p69"/>
            <p:cNvSpPr/>
            <p:nvPr/>
          </p:nvSpPr>
          <p:spPr>
            <a:xfrm>
              <a:off x="147047" y="3845857"/>
              <a:ext cx="171600" cy="151200"/>
            </a:xfrm>
            <a:prstGeom prst="ellipse">
              <a:avLst/>
            </a:prstGeom>
            <a:solidFill>
              <a:srgbClr val="335E95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8" name="Google Shape;1518;p69"/>
            <p:cNvSpPr/>
            <p:nvPr/>
          </p:nvSpPr>
          <p:spPr>
            <a:xfrm rot="5400000">
              <a:off x="214456" y="3897011"/>
              <a:ext cx="50100" cy="489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19" name="Google Shape;1519;p69"/>
            <p:cNvGrpSpPr/>
            <p:nvPr/>
          </p:nvGrpSpPr>
          <p:grpSpPr>
            <a:xfrm>
              <a:off x="4884350" y="3694650"/>
              <a:ext cx="3238271" cy="453530"/>
              <a:chOff x="4731953" y="3587993"/>
              <a:chExt cx="3238271" cy="558604"/>
            </a:xfrm>
          </p:grpSpPr>
          <p:sp>
            <p:nvSpPr>
              <p:cNvPr id="1520" name="Google Shape;1520;p69"/>
              <p:cNvSpPr/>
              <p:nvPr/>
            </p:nvSpPr>
            <p:spPr>
              <a:xfrm>
                <a:off x="4731953" y="3664727"/>
                <a:ext cx="3238271" cy="405807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1223" extrusionOk="0">
                    <a:moveTo>
                      <a:pt x="4679" y="1222"/>
                    </a:moveTo>
                    <a:lnTo>
                      <a:pt x="401" y="1222"/>
                    </a:lnTo>
                    <a:lnTo>
                      <a:pt x="0" y="0"/>
                    </a:lnTo>
                    <a:lnTo>
                      <a:pt x="5079" y="6"/>
                    </a:lnTo>
                    <a:lnTo>
                      <a:pt x="4679" y="1222"/>
                    </a:lnTo>
                  </a:path>
                </a:pathLst>
              </a:custGeom>
              <a:solidFill>
                <a:srgbClr val="335E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1" name="Google Shape;1521;p69"/>
              <p:cNvSpPr/>
              <p:nvPr/>
            </p:nvSpPr>
            <p:spPr>
              <a:xfrm>
                <a:off x="4731953" y="3587993"/>
                <a:ext cx="3238271" cy="145369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137" y="640"/>
                      <a:pt x="2540" y="640"/>
                    </a:cubicBezTo>
                    <a:lnTo>
                      <a:pt x="2540" y="640"/>
                    </a:lnTo>
                    <a:cubicBezTo>
                      <a:pt x="3942" y="640"/>
                      <a:pt x="5079" y="497"/>
                      <a:pt x="5079" y="320"/>
                    </a:cubicBezTo>
                    <a:lnTo>
                      <a:pt x="5079" y="320"/>
                    </a:lnTo>
                    <a:cubicBezTo>
                      <a:pt x="5079" y="143"/>
                      <a:pt x="3942" y="0"/>
                      <a:pt x="2540" y="0"/>
                    </a:cubicBezTo>
                    <a:lnTo>
                      <a:pt x="2540" y="0"/>
                    </a:lnTo>
                    <a:cubicBezTo>
                      <a:pt x="1137" y="0"/>
                      <a:pt x="0" y="143"/>
                      <a:pt x="0" y="320"/>
                    </a:cubicBezTo>
                  </a:path>
                </a:pathLst>
              </a:custGeom>
              <a:solidFill>
                <a:srgbClr val="26466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2" name="Google Shape;1522;p69"/>
              <p:cNvSpPr txBox="1"/>
              <p:nvPr/>
            </p:nvSpPr>
            <p:spPr>
              <a:xfrm>
                <a:off x="5064027" y="3691497"/>
                <a:ext cx="25053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1451626 | 2369 | 108635</a:t>
                </a:r>
                <a:endParaRPr sz="1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523" name="Google Shape;1523;p69"/>
          <p:cNvGrpSpPr/>
          <p:nvPr/>
        </p:nvGrpSpPr>
        <p:grpSpPr>
          <a:xfrm>
            <a:off x="137463" y="4458063"/>
            <a:ext cx="7685662" cy="488625"/>
            <a:chOff x="137463" y="4673600"/>
            <a:chExt cx="7685662" cy="488625"/>
          </a:xfrm>
        </p:grpSpPr>
        <p:sp>
          <p:nvSpPr>
            <p:cNvPr id="1524" name="Google Shape;1524;p69"/>
            <p:cNvSpPr txBox="1"/>
            <p:nvPr/>
          </p:nvSpPr>
          <p:spPr>
            <a:xfrm>
              <a:off x="445418" y="4684925"/>
              <a:ext cx="3172500" cy="4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LLM Filter</a:t>
              </a:r>
              <a:r>
                <a:rPr lang="en"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(adjusts Earliest_dx_Date)</a:t>
              </a:r>
              <a:endParaRPr sz="13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5" name="Google Shape;1525;p69"/>
            <p:cNvSpPr/>
            <p:nvPr/>
          </p:nvSpPr>
          <p:spPr>
            <a:xfrm>
              <a:off x="137463" y="4773846"/>
              <a:ext cx="169200" cy="151200"/>
            </a:xfrm>
            <a:prstGeom prst="ellipse">
              <a:avLst/>
            </a:prstGeom>
            <a:solidFill>
              <a:srgbClr val="0A8485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6" name="Google Shape;1526;p69"/>
            <p:cNvSpPr/>
            <p:nvPr/>
          </p:nvSpPr>
          <p:spPr>
            <a:xfrm rot="5400000">
              <a:off x="203655" y="4825305"/>
              <a:ext cx="50100" cy="483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7" name="Google Shape;1527;p69"/>
            <p:cNvSpPr/>
            <p:nvPr/>
          </p:nvSpPr>
          <p:spPr>
            <a:xfrm>
              <a:off x="5218450" y="4726675"/>
              <a:ext cx="2508721" cy="354000"/>
            </a:xfrm>
            <a:custGeom>
              <a:avLst/>
              <a:gdLst/>
              <a:ahLst/>
              <a:cxnLst/>
              <a:rect l="l" t="t" r="r" b="b"/>
              <a:pathLst>
                <a:path w="4245" h="1223" extrusionOk="0">
                  <a:moveTo>
                    <a:pt x="3843" y="1222"/>
                  </a:moveTo>
                  <a:lnTo>
                    <a:pt x="401" y="1222"/>
                  </a:lnTo>
                  <a:lnTo>
                    <a:pt x="0" y="0"/>
                  </a:lnTo>
                  <a:lnTo>
                    <a:pt x="4244" y="5"/>
                  </a:lnTo>
                  <a:lnTo>
                    <a:pt x="3843" y="1222"/>
                  </a:lnTo>
                </a:path>
              </a:pathLst>
            </a:custGeom>
            <a:solidFill>
              <a:srgbClr val="0A84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8" name="Google Shape;1528;p69"/>
            <p:cNvSpPr/>
            <p:nvPr/>
          </p:nvSpPr>
          <p:spPr>
            <a:xfrm>
              <a:off x="5218450" y="4673600"/>
              <a:ext cx="2508721" cy="100251"/>
            </a:xfrm>
            <a:custGeom>
              <a:avLst/>
              <a:gdLst/>
              <a:ahLst/>
              <a:cxnLst/>
              <a:rect l="l" t="t" r="r" b="b"/>
              <a:pathLst>
                <a:path w="4245" h="641" extrusionOk="0">
                  <a:moveTo>
                    <a:pt x="0" y="320"/>
                  </a:moveTo>
                  <a:lnTo>
                    <a:pt x="0" y="320"/>
                  </a:lnTo>
                  <a:cubicBezTo>
                    <a:pt x="0" y="497"/>
                    <a:pt x="949" y="640"/>
                    <a:pt x="2121" y="640"/>
                  </a:cubicBezTo>
                  <a:lnTo>
                    <a:pt x="2121" y="640"/>
                  </a:lnTo>
                  <a:cubicBezTo>
                    <a:pt x="3293" y="640"/>
                    <a:pt x="4244" y="497"/>
                    <a:pt x="4244" y="320"/>
                  </a:cubicBezTo>
                  <a:lnTo>
                    <a:pt x="4244" y="320"/>
                  </a:lnTo>
                  <a:cubicBezTo>
                    <a:pt x="4244" y="143"/>
                    <a:pt x="3293" y="0"/>
                    <a:pt x="2121" y="0"/>
                  </a:cubicBezTo>
                  <a:lnTo>
                    <a:pt x="2121" y="0"/>
                  </a:lnTo>
                  <a:cubicBezTo>
                    <a:pt x="949" y="0"/>
                    <a:pt x="0" y="143"/>
                    <a:pt x="0" y="320"/>
                  </a:cubicBezTo>
                </a:path>
              </a:pathLst>
            </a:custGeom>
            <a:solidFill>
              <a:srgbClr val="07636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9" name="Google Shape;1529;p69"/>
            <p:cNvSpPr txBox="1"/>
            <p:nvPr/>
          </p:nvSpPr>
          <p:spPr>
            <a:xfrm>
              <a:off x="5087125" y="4709800"/>
              <a:ext cx="2736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1039043 | 1717 | 106222</a:t>
              </a:r>
              <a:endParaRPr sz="1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30" name="Google Shape;1530;p69"/>
          <p:cNvGrpSpPr/>
          <p:nvPr/>
        </p:nvGrpSpPr>
        <p:grpSpPr>
          <a:xfrm>
            <a:off x="137221" y="3849300"/>
            <a:ext cx="7811704" cy="451250"/>
            <a:chOff x="137221" y="4258600"/>
            <a:chExt cx="7811704" cy="451250"/>
          </a:xfrm>
        </p:grpSpPr>
        <p:grpSp>
          <p:nvGrpSpPr>
            <p:cNvPr id="1531" name="Google Shape;1531;p69"/>
            <p:cNvGrpSpPr/>
            <p:nvPr/>
          </p:nvGrpSpPr>
          <p:grpSpPr>
            <a:xfrm>
              <a:off x="5127250" y="4258600"/>
              <a:ext cx="2821675" cy="451250"/>
              <a:chOff x="4974850" y="4258600"/>
              <a:chExt cx="2821675" cy="451250"/>
            </a:xfrm>
          </p:grpSpPr>
          <p:sp>
            <p:nvSpPr>
              <p:cNvPr id="1532" name="Google Shape;1532;p69"/>
              <p:cNvSpPr/>
              <p:nvPr/>
            </p:nvSpPr>
            <p:spPr>
              <a:xfrm>
                <a:off x="4974853" y="4301225"/>
                <a:ext cx="2761120" cy="369300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1223" extrusionOk="0">
                    <a:moveTo>
                      <a:pt x="4679" y="1222"/>
                    </a:moveTo>
                    <a:lnTo>
                      <a:pt x="401" y="1222"/>
                    </a:lnTo>
                    <a:lnTo>
                      <a:pt x="0" y="0"/>
                    </a:lnTo>
                    <a:lnTo>
                      <a:pt x="5079" y="6"/>
                    </a:lnTo>
                    <a:lnTo>
                      <a:pt x="4679" y="1222"/>
                    </a:lnTo>
                  </a:path>
                </a:pathLst>
              </a:custGeom>
              <a:solidFill>
                <a:srgbClr val="3377C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3" name="Google Shape;1533;p69"/>
              <p:cNvSpPr/>
              <p:nvPr/>
            </p:nvSpPr>
            <p:spPr>
              <a:xfrm>
                <a:off x="4974850" y="4258600"/>
                <a:ext cx="2761120" cy="89878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137" y="640"/>
                      <a:pt x="2540" y="640"/>
                    </a:cubicBezTo>
                    <a:lnTo>
                      <a:pt x="2540" y="640"/>
                    </a:lnTo>
                    <a:cubicBezTo>
                      <a:pt x="3942" y="640"/>
                      <a:pt x="5079" y="497"/>
                      <a:pt x="5079" y="320"/>
                    </a:cubicBezTo>
                    <a:lnTo>
                      <a:pt x="5079" y="320"/>
                    </a:lnTo>
                    <a:cubicBezTo>
                      <a:pt x="5079" y="143"/>
                      <a:pt x="3942" y="0"/>
                      <a:pt x="2540" y="0"/>
                    </a:cubicBezTo>
                    <a:lnTo>
                      <a:pt x="2540" y="0"/>
                    </a:lnTo>
                    <a:cubicBezTo>
                      <a:pt x="1137" y="0"/>
                      <a:pt x="0" y="143"/>
                      <a:pt x="0" y="320"/>
                    </a:cubicBezTo>
                  </a:path>
                </a:pathLst>
              </a:custGeom>
              <a:solidFill>
                <a:srgbClr val="285D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4" name="Google Shape;1534;p69"/>
              <p:cNvSpPr txBox="1"/>
              <p:nvPr/>
            </p:nvSpPr>
            <p:spPr>
              <a:xfrm>
                <a:off x="5096225" y="4340550"/>
                <a:ext cx="270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1050839 | 2302 | 106222</a:t>
                </a:r>
                <a:endParaRPr sz="1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35" name="Google Shape;1535;p69"/>
            <p:cNvSpPr txBox="1"/>
            <p:nvPr/>
          </p:nvSpPr>
          <p:spPr>
            <a:xfrm>
              <a:off x="453531" y="4265401"/>
              <a:ext cx="317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 length &gt;100</a:t>
              </a:r>
              <a:endParaRPr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6" name="Google Shape;1536;p69"/>
            <p:cNvSpPr/>
            <p:nvPr/>
          </p:nvSpPr>
          <p:spPr>
            <a:xfrm>
              <a:off x="137221" y="4325217"/>
              <a:ext cx="166800" cy="151200"/>
            </a:xfrm>
            <a:prstGeom prst="ellipse">
              <a:avLst/>
            </a:prstGeom>
            <a:solidFill>
              <a:srgbClr val="3377C1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7" name="Google Shape;1537;p69"/>
            <p:cNvSpPr/>
            <p:nvPr/>
          </p:nvSpPr>
          <p:spPr>
            <a:xfrm rot="5400000">
              <a:off x="202066" y="4376976"/>
              <a:ext cx="50100" cy="477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38" name="Google Shape;1538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539" name="Google Shape;1539;p69"/>
          <p:cNvSpPr txBox="1"/>
          <p:nvPr/>
        </p:nvSpPr>
        <p:spPr>
          <a:xfrm>
            <a:off x="4435925" y="663796"/>
            <a:ext cx="4254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Notes | T2D Patients| NoD Patients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0" name="Google Shape;1540;p69"/>
          <p:cNvGrpSpPr/>
          <p:nvPr/>
        </p:nvGrpSpPr>
        <p:grpSpPr>
          <a:xfrm>
            <a:off x="150985" y="1137488"/>
            <a:ext cx="8946819" cy="467855"/>
            <a:chOff x="150985" y="2062772"/>
            <a:chExt cx="8946819" cy="467855"/>
          </a:xfrm>
        </p:grpSpPr>
        <p:grpSp>
          <p:nvGrpSpPr>
            <p:cNvPr id="1541" name="Google Shape;1541;p69"/>
            <p:cNvGrpSpPr/>
            <p:nvPr/>
          </p:nvGrpSpPr>
          <p:grpSpPr>
            <a:xfrm>
              <a:off x="3777225" y="2071125"/>
              <a:ext cx="5320579" cy="459502"/>
              <a:chOff x="3624825" y="2071125"/>
              <a:chExt cx="5320579" cy="459502"/>
            </a:xfrm>
          </p:grpSpPr>
          <p:sp>
            <p:nvSpPr>
              <p:cNvPr id="1542" name="Google Shape;1542;p69"/>
              <p:cNvSpPr/>
              <p:nvPr/>
            </p:nvSpPr>
            <p:spPr>
              <a:xfrm>
                <a:off x="3624825" y="2133773"/>
                <a:ext cx="5320579" cy="384578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1217" extrusionOk="0">
                    <a:moveTo>
                      <a:pt x="6348" y="1216"/>
                    </a:moveTo>
                    <a:lnTo>
                      <a:pt x="399" y="1216"/>
                    </a:lnTo>
                    <a:lnTo>
                      <a:pt x="0" y="0"/>
                    </a:lnTo>
                    <a:lnTo>
                      <a:pt x="6747" y="0"/>
                    </a:lnTo>
                    <a:lnTo>
                      <a:pt x="6348" y="1216"/>
                    </a:lnTo>
                  </a:path>
                </a:pathLst>
              </a:custGeom>
              <a:solidFill>
                <a:srgbClr val="E03A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3" name="Google Shape;1543;p69"/>
              <p:cNvSpPr/>
              <p:nvPr/>
            </p:nvSpPr>
            <p:spPr>
              <a:xfrm>
                <a:off x="3624825" y="2071125"/>
                <a:ext cx="5320579" cy="131101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510" y="640"/>
                      <a:pt x="3374" y="640"/>
                    </a:cubicBezTo>
                    <a:lnTo>
                      <a:pt x="3374" y="640"/>
                    </a:lnTo>
                    <a:cubicBezTo>
                      <a:pt x="5236" y="640"/>
                      <a:pt x="6747" y="497"/>
                      <a:pt x="6747" y="320"/>
                    </a:cubicBezTo>
                    <a:lnTo>
                      <a:pt x="6747" y="320"/>
                    </a:lnTo>
                    <a:cubicBezTo>
                      <a:pt x="6747" y="143"/>
                      <a:pt x="5236" y="0"/>
                      <a:pt x="3374" y="0"/>
                    </a:cubicBezTo>
                    <a:lnTo>
                      <a:pt x="3374" y="0"/>
                    </a:lnTo>
                    <a:cubicBezTo>
                      <a:pt x="1510" y="0"/>
                      <a:pt x="0" y="143"/>
                      <a:pt x="0" y="320"/>
                    </a:cubicBezTo>
                  </a:path>
                </a:pathLst>
              </a:custGeom>
              <a:solidFill>
                <a:srgbClr val="B3211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4" name="Google Shape;1544;p69"/>
              <p:cNvSpPr txBox="1"/>
              <p:nvPr/>
            </p:nvSpPr>
            <p:spPr>
              <a:xfrm>
                <a:off x="4789834" y="2161327"/>
                <a:ext cx="2654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3708168 | 15140 | 164910</a:t>
                </a:r>
                <a:endParaRPr sz="1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45" name="Google Shape;1545;p69"/>
            <p:cNvSpPr txBox="1"/>
            <p:nvPr/>
          </p:nvSpPr>
          <p:spPr>
            <a:xfrm>
              <a:off x="404825" y="2062772"/>
              <a:ext cx="3214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 Data</a:t>
              </a:r>
              <a:endParaRPr sz="17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46" name="Google Shape;1546;p69"/>
            <p:cNvGrpSpPr/>
            <p:nvPr/>
          </p:nvGrpSpPr>
          <p:grpSpPr>
            <a:xfrm>
              <a:off x="150985" y="2151680"/>
              <a:ext cx="171486" cy="151329"/>
              <a:chOff x="7309936" y="117921"/>
              <a:chExt cx="324600" cy="324600"/>
            </a:xfrm>
          </p:grpSpPr>
          <p:sp>
            <p:nvSpPr>
              <p:cNvPr id="1547" name="Google Shape;1547;p69"/>
              <p:cNvSpPr/>
              <p:nvPr/>
            </p:nvSpPr>
            <p:spPr>
              <a:xfrm>
                <a:off x="7309936" y="117921"/>
                <a:ext cx="324600" cy="324600"/>
              </a:xfrm>
              <a:prstGeom prst="ellipse">
                <a:avLst/>
              </a:prstGeom>
              <a:solidFill>
                <a:srgbClr val="E54747"/>
              </a:solidFill>
              <a:ln>
                <a:noFill/>
              </a:ln>
              <a:effectLst>
                <a:outerShdw blurRad="177800" dist="63500" dir="5400000" algn="ctr" rotWithShape="0">
                  <a:srgbClr val="000000">
                    <a:alpha val="2470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8" name="Google Shape;1548;p69"/>
              <p:cNvSpPr/>
              <p:nvPr/>
            </p:nvSpPr>
            <p:spPr>
              <a:xfrm rot="5400000">
                <a:off x="7431029" y="233859"/>
                <a:ext cx="107700" cy="927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549" name="Google Shape;1549;p69"/>
          <p:cNvGrpSpPr/>
          <p:nvPr/>
        </p:nvGrpSpPr>
        <p:grpSpPr>
          <a:xfrm>
            <a:off x="172969" y="1844565"/>
            <a:ext cx="8487832" cy="507900"/>
            <a:chOff x="172969" y="2600034"/>
            <a:chExt cx="8487832" cy="507900"/>
          </a:xfrm>
        </p:grpSpPr>
        <p:grpSp>
          <p:nvGrpSpPr>
            <p:cNvPr id="1550" name="Google Shape;1550;p69"/>
            <p:cNvGrpSpPr/>
            <p:nvPr/>
          </p:nvGrpSpPr>
          <p:grpSpPr>
            <a:xfrm>
              <a:off x="172969" y="2600034"/>
              <a:ext cx="3450325" cy="507900"/>
              <a:chOff x="172969" y="2523834"/>
              <a:chExt cx="3450325" cy="507900"/>
            </a:xfrm>
          </p:grpSpPr>
          <p:sp>
            <p:nvSpPr>
              <p:cNvPr id="1551" name="Google Shape;1551;p69"/>
              <p:cNvSpPr txBox="1"/>
              <p:nvPr/>
            </p:nvSpPr>
            <p:spPr>
              <a:xfrm>
                <a:off x="408794" y="2523834"/>
                <a:ext cx="32145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1" i="0" u="none" strike="noStrike" cap="none">
                    <a:solidFill>
                      <a:srgbClr val="26262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Drop Pre-Diagnosed </a:t>
                </a:r>
                <a:r>
                  <a:rPr lang="en" sz="1500" b="1" i="0" u="none" strike="noStrike" cap="none">
                    <a:solidFill>
                      <a:srgbClr val="26262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" sz="1500" b="0" i="0" u="none" strike="noStrike" cap="none">
                    <a:solidFill>
                      <a:srgbClr val="26262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Earliest_Dx_Date)</a:t>
                </a:r>
                <a:endParaRPr sz="15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2" name="Google Shape;1552;p69"/>
              <p:cNvSpPr/>
              <p:nvPr/>
            </p:nvSpPr>
            <p:spPr>
              <a:xfrm>
                <a:off x="172969" y="2612755"/>
                <a:ext cx="171600" cy="1512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77800" dist="63500" dir="5400000" algn="ctr" rotWithShape="0">
                  <a:srgbClr val="000000">
                    <a:alpha val="2470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3" name="Google Shape;1553;p69"/>
              <p:cNvSpPr/>
              <p:nvPr/>
            </p:nvSpPr>
            <p:spPr>
              <a:xfrm rot="5400000">
                <a:off x="240386" y="2663914"/>
                <a:ext cx="50100" cy="489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54" name="Google Shape;1554;p69"/>
            <p:cNvGrpSpPr/>
            <p:nvPr/>
          </p:nvGrpSpPr>
          <p:grpSpPr>
            <a:xfrm>
              <a:off x="4406200" y="2614575"/>
              <a:ext cx="4254601" cy="407849"/>
              <a:chOff x="461429" y="2385727"/>
              <a:chExt cx="2253735" cy="407849"/>
            </a:xfrm>
          </p:grpSpPr>
          <p:sp>
            <p:nvSpPr>
              <p:cNvPr id="1555" name="Google Shape;1555;p69"/>
              <p:cNvSpPr/>
              <p:nvPr/>
            </p:nvSpPr>
            <p:spPr>
              <a:xfrm>
                <a:off x="461429" y="2463321"/>
                <a:ext cx="2246274" cy="270779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1217" extrusionOk="0">
                    <a:moveTo>
                      <a:pt x="6348" y="1216"/>
                    </a:moveTo>
                    <a:lnTo>
                      <a:pt x="399" y="1216"/>
                    </a:lnTo>
                    <a:lnTo>
                      <a:pt x="0" y="0"/>
                    </a:lnTo>
                    <a:lnTo>
                      <a:pt x="6747" y="0"/>
                    </a:lnTo>
                    <a:lnTo>
                      <a:pt x="6348" y="1216"/>
                    </a:lnTo>
                  </a:path>
                </a:pathLst>
              </a:custGeom>
              <a:solidFill>
                <a:srgbClr val="FFC000"/>
              </a:solidFill>
              <a:ln w="9525" cap="flat" cmpd="sng">
                <a:solidFill>
                  <a:srgbClr val="FF99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6" name="Google Shape;1556;p69"/>
              <p:cNvSpPr/>
              <p:nvPr/>
            </p:nvSpPr>
            <p:spPr>
              <a:xfrm>
                <a:off x="461433" y="2385727"/>
                <a:ext cx="2253731" cy="138600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510" y="640"/>
                      <a:pt x="3374" y="640"/>
                    </a:cubicBezTo>
                    <a:lnTo>
                      <a:pt x="3374" y="640"/>
                    </a:lnTo>
                    <a:cubicBezTo>
                      <a:pt x="5236" y="640"/>
                      <a:pt x="6747" y="497"/>
                      <a:pt x="6747" y="320"/>
                    </a:cubicBezTo>
                    <a:lnTo>
                      <a:pt x="6747" y="320"/>
                    </a:lnTo>
                    <a:cubicBezTo>
                      <a:pt x="6747" y="143"/>
                      <a:pt x="5236" y="0"/>
                      <a:pt x="3374" y="0"/>
                    </a:cubicBezTo>
                    <a:lnTo>
                      <a:pt x="3374" y="0"/>
                    </a:lnTo>
                    <a:cubicBezTo>
                      <a:pt x="1510" y="0"/>
                      <a:pt x="0" y="143"/>
                      <a:pt x="0" y="320"/>
                    </a:cubicBezTo>
                  </a:path>
                </a:pathLst>
              </a:custGeom>
              <a:solidFill>
                <a:srgbClr val="DBA5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7" name="Google Shape;1557;p69"/>
              <p:cNvSpPr txBox="1"/>
              <p:nvPr/>
            </p:nvSpPr>
            <p:spPr>
              <a:xfrm>
                <a:off x="800666" y="2431776"/>
                <a:ext cx="1405800" cy="36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50"/>
                  <a:buFont typeface="Arial"/>
                  <a:buNone/>
                </a:pPr>
                <a:r>
                  <a:rPr lang="en" sz="175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3146140 | 4138 |164910</a:t>
                </a:r>
                <a:endParaRPr sz="17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558" name="Google Shape;1558;p69"/>
          <p:cNvGrpSpPr/>
          <p:nvPr/>
        </p:nvGrpSpPr>
        <p:grpSpPr>
          <a:xfrm>
            <a:off x="151473" y="2564184"/>
            <a:ext cx="8212655" cy="622700"/>
            <a:chOff x="151473" y="3115000"/>
            <a:chExt cx="8212655" cy="622700"/>
          </a:xfrm>
        </p:grpSpPr>
        <p:grpSp>
          <p:nvGrpSpPr>
            <p:cNvPr id="1559" name="Google Shape;1559;p69"/>
            <p:cNvGrpSpPr/>
            <p:nvPr/>
          </p:nvGrpSpPr>
          <p:grpSpPr>
            <a:xfrm>
              <a:off x="4646950" y="3115000"/>
              <a:ext cx="3717178" cy="441725"/>
              <a:chOff x="4494550" y="3115000"/>
              <a:chExt cx="3717178" cy="441725"/>
            </a:xfrm>
          </p:grpSpPr>
          <p:sp>
            <p:nvSpPr>
              <p:cNvPr id="1560" name="Google Shape;1560;p69"/>
              <p:cNvSpPr/>
              <p:nvPr/>
            </p:nvSpPr>
            <p:spPr>
              <a:xfrm>
                <a:off x="4494550" y="3155625"/>
                <a:ext cx="3717178" cy="369301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1222" extrusionOk="0">
                    <a:moveTo>
                      <a:pt x="5516" y="1221"/>
                    </a:moveTo>
                    <a:lnTo>
                      <a:pt x="402" y="1221"/>
                    </a:lnTo>
                    <a:lnTo>
                      <a:pt x="0" y="0"/>
                    </a:lnTo>
                    <a:lnTo>
                      <a:pt x="5916" y="7"/>
                    </a:lnTo>
                    <a:lnTo>
                      <a:pt x="5516" y="1221"/>
                    </a:lnTo>
                  </a:path>
                </a:pathLst>
              </a:custGeom>
              <a:solidFill>
                <a:srgbClr val="77A12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1" name="Google Shape;1561;p69"/>
              <p:cNvSpPr/>
              <p:nvPr/>
            </p:nvSpPr>
            <p:spPr>
              <a:xfrm>
                <a:off x="4494550" y="3115000"/>
                <a:ext cx="3717178" cy="10065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324" y="640"/>
                      <a:pt x="2958" y="640"/>
                    </a:cubicBezTo>
                    <a:lnTo>
                      <a:pt x="2958" y="640"/>
                    </a:lnTo>
                    <a:cubicBezTo>
                      <a:pt x="4592" y="640"/>
                      <a:pt x="5916" y="497"/>
                      <a:pt x="5916" y="320"/>
                    </a:cubicBezTo>
                    <a:lnTo>
                      <a:pt x="5916" y="320"/>
                    </a:lnTo>
                    <a:cubicBezTo>
                      <a:pt x="5916" y="143"/>
                      <a:pt x="4592" y="0"/>
                      <a:pt x="2958" y="0"/>
                    </a:cubicBezTo>
                    <a:lnTo>
                      <a:pt x="2958" y="0"/>
                    </a:lnTo>
                    <a:cubicBezTo>
                      <a:pt x="1324" y="0"/>
                      <a:pt x="0" y="143"/>
                      <a:pt x="0" y="320"/>
                    </a:cubicBezTo>
                  </a:path>
                </a:pathLst>
              </a:custGeom>
              <a:solidFill>
                <a:srgbClr val="59781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2" name="Google Shape;1562;p69"/>
              <p:cNvSpPr txBox="1"/>
              <p:nvPr/>
            </p:nvSpPr>
            <p:spPr>
              <a:xfrm>
                <a:off x="5054525" y="3187425"/>
                <a:ext cx="25326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2909417 | 3878 | 149673</a:t>
                </a:r>
                <a:endParaRPr sz="1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63" name="Google Shape;1563;p69"/>
            <p:cNvGrpSpPr/>
            <p:nvPr/>
          </p:nvGrpSpPr>
          <p:grpSpPr>
            <a:xfrm>
              <a:off x="151473" y="3215640"/>
              <a:ext cx="171600" cy="151200"/>
              <a:chOff x="3275673" y="3063240"/>
              <a:chExt cx="171600" cy="151200"/>
            </a:xfrm>
          </p:grpSpPr>
          <p:sp>
            <p:nvSpPr>
              <p:cNvPr id="1564" name="Google Shape;1564;p69"/>
              <p:cNvSpPr/>
              <p:nvPr/>
            </p:nvSpPr>
            <p:spPr>
              <a:xfrm>
                <a:off x="3275673" y="3063240"/>
                <a:ext cx="171600" cy="151200"/>
              </a:xfrm>
              <a:prstGeom prst="ellipse">
                <a:avLst/>
              </a:prstGeom>
              <a:solidFill>
                <a:srgbClr val="77A123"/>
              </a:solidFill>
              <a:ln>
                <a:noFill/>
              </a:ln>
              <a:effectLst>
                <a:outerShdw blurRad="177800" dist="63500" dir="5400000" algn="ctr" rotWithShape="0">
                  <a:srgbClr val="000000">
                    <a:alpha val="2470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5" name="Google Shape;1565;p69"/>
              <p:cNvSpPr/>
              <p:nvPr/>
            </p:nvSpPr>
            <p:spPr>
              <a:xfrm rot="5400000">
                <a:off x="3343082" y="3114394"/>
                <a:ext cx="50100" cy="489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66" name="Google Shape;1566;p69"/>
            <p:cNvSpPr txBox="1"/>
            <p:nvPr/>
          </p:nvSpPr>
          <p:spPr>
            <a:xfrm>
              <a:off x="408800" y="3133429"/>
              <a:ext cx="3214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Demographic Filters</a:t>
              </a:r>
              <a:endParaRPr sz="18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7" name="Google Shape;1567;p69"/>
            <p:cNvSpPr txBox="1"/>
            <p:nvPr/>
          </p:nvSpPr>
          <p:spPr>
            <a:xfrm>
              <a:off x="213425" y="3352800"/>
              <a:ext cx="4791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(RACE not in [H, NA, AS]; ETHNICITY/GENDER != NI)</a:t>
              </a: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68" name="Google Shape;1568;p69"/>
          <p:cNvSpPr txBox="1"/>
          <p:nvPr/>
        </p:nvSpPr>
        <p:spPr>
          <a:xfrm>
            <a:off x="57100" y="761427"/>
            <a:ext cx="400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 First Filtration Criteria: </a:t>
            </a:r>
            <a:r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Only consider patients with some notes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72"/>
          <p:cNvSpPr txBox="1">
            <a:spLocks noGrp="1"/>
          </p:cNvSpPr>
          <p:nvPr>
            <p:ph type="title"/>
          </p:nvPr>
        </p:nvSpPr>
        <p:spPr>
          <a:xfrm>
            <a:off x="176717" y="7491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Data Cleaning Prompts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651" name="Google Shape;1651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498" y="600390"/>
            <a:ext cx="6215496" cy="293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72"/>
          <p:cNvSpPr txBox="1"/>
          <p:nvPr/>
        </p:nvSpPr>
        <p:spPr>
          <a:xfrm>
            <a:off x="1073426" y="3470290"/>
            <a:ext cx="69471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prompt instructing an LLM to identify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Diabetes diagnosis 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clinical note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72"/>
          <p:cNvSpPr txBox="1"/>
          <p:nvPr/>
        </p:nvSpPr>
        <p:spPr>
          <a:xfrm>
            <a:off x="572495" y="3824572"/>
            <a:ext cx="8124822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Paraphrased version of above prompt with additional instruction to ‘</a:t>
            </a:r>
            <a:r>
              <a:rPr lang="en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infer a diagnosis if not explicitly mentioned</a:t>
            </a:r>
            <a:r>
              <a:rPr lang="en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answer is yes, move earliest diagnosis date back to current note date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of output of two prompts considered (yes if both answer yes, else no) based on manual checking of 50 examples (notes)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/>
        </p:nvSpPr>
        <p:spPr>
          <a:xfrm>
            <a:off x="1328525" y="3776345"/>
            <a:ext cx="620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212121"/>
                </a:solidFill>
                <a:highlight>
                  <a:srgbClr val="D9D2E9"/>
                </a:highlight>
                <a:latin typeface="Roboto"/>
                <a:ea typeface="Roboto"/>
                <a:cs typeface="Roboto"/>
                <a:sym typeface="Roboto"/>
              </a:rPr>
              <a:t>ANATOMY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2E9"/>
                </a:highlight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400" b="0" i="0" u="none" strike="noStrike" cap="none">
                <a:solidFill>
                  <a:srgbClr val="212121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 DISEASE/DISORDER </a:t>
            </a:r>
            <a:r>
              <a:rPr lang="en" sz="1400" b="0" i="0" u="none" strike="noStrike" cap="none">
                <a:solidFill>
                  <a:srgbClr val="212121"/>
                </a:solidFill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rPr>
              <a:t> SIGN/SYMPTOM </a:t>
            </a:r>
            <a:r>
              <a:rPr lang="en" sz="1400" b="0" i="0" u="none" strike="noStrike" cap="none">
                <a:solidFill>
                  <a:srgbClr val="212121"/>
                </a:solidFill>
                <a:highlight>
                  <a:srgbClr val="D9EAD3"/>
                </a:highlight>
                <a:latin typeface="Roboto"/>
                <a:ea typeface="Roboto"/>
                <a:cs typeface="Roboto"/>
                <a:sym typeface="Roboto"/>
              </a:rPr>
              <a:t> MEDICATION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755775" y="2050850"/>
            <a:ext cx="7111200" cy="1699500"/>
          </a:xfrm>
          <a:prstGeom prst="rect">
            <a:avLst/>
          </a:prstGeom>
          <a:noFill/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Patient with a history of </a:t>
            </a:r>
            <a:r>
              <a:rPr lang="en" sz="2000" b="0" i="0" u="none" strike="noStrike" cap="none" dirty="0">
                <a:solidFill>
                  <a:srgbClr val="0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diabetic foot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D9D2E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foot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checkup.  Patient states the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D9D2E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toenails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are thick, elongated,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unable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trim on her own.  Patient denies any recent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CFE2F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history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trauma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Debrided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D9D2E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nails </a:t>
            </a:r>
            <a:r>
              <a:rPr lang="en" sz="20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today</a:t>
            </a:r>
            <a:r>
              <a:rPr lang="en" sz="2000" b="0" i="0" u="none" strike="noStrike" cap="none" dirty="0">
                <a:solidFill>
                  <a:srgbClr val="21212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highlight>
                <a:srgbClr val="6AA84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1395822" y="2327793"/>
            <a:ext cx="5443026" cy="1932180"/>
            <a:chOff x="954524" y="2065884"/>
            <a:chExt cx="5443026" cy="1932180"/>
          </a:xfrm>
        </p:grpSpPr>
        <p:sp>
          <p:nvSpPr>
            <p:cNvPr id="198" name="Google Shape;198;p6"/>
            <p:cNvSpPr/>
            <p:nvPr/>
          </p:nvSpPr>
          <p:spPr>
            <a:xfrm>
              <a:off x="4967125" y="2065884"/>
              <a:ext cx="513300" cy="298200"/>
            </a:xfrm>
            <a:prstGeom prst="rect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5848850" y="2974559"/>
              <a:ext cx="548700" cy="313500"/>
            </a:xfrm>
            <a:prstGeom prst="rect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1421875" y="2536734"/>
              <a:ext cx="862500" cy="313500"/>
            </a:xfrm>
            <a:prstGeom prst="rect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954524" y="3791064"/>
              <a:ext cx="909900" cy="207000"/>
            </a:xfrm>
            <a:prstGeom prst="rect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>
            <a:off x="2337864" y="2344857"/>
            <a:ext cx="2837800" cy="1926378"/>
            <a:chOff x="1883250" y="2145400"/>
            <a:chExt cx="2837800" cy="1926378"/>
          </a:xfrm>
        </p:grpSpPr>
        <p:sp>
          <p:nvSpPr>
            <p:cNvPr id="203" name="Google Shape;203;p6"/>
            <p:cNvSpPr/>
            <p:nvPr/>
          </p:nvSpPr>
          <p:spPr>
            <a:xfrm>
              <a:off x="4018450" y="3075602"/>
              <a:ext cx="702600" cy="314400"/>
            </a:xfrm>
            <a:prstGeom prst="rect">
              <a:avLst/>
            </a:prstGeom>
            <a:noFill/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3108825" y="2145400"/>
              <a:ext cx="1325400" cy="314400"/>
            </a:xfrm>
            <a:prstGeom prst="rect">
              <a:avLst/>
            </a:prstGeom>
            <a:noFill/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1883250" y="3864778"/>
              <a:ext cx="1684800" cy="207000"/>
            </a:xfrm>
            <a:prstGeom prst="rect">
              <a:avLst/>
            </a:prstGeom>
            <a:noFill/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3420206" y="2792590"/>
            <a:ext cx="2270000" cy="1432200"/>
            <a:chOff x="2982600" y="2639575"/>
            <a:chExt cx="2270000" cy="1432200"/>
          </a:xfrm>
        </p:grpSpPr>
        <p:sp>
          <p:nvSpPr>
            <p:cNvPr id="207" name="Google Shape;207;p6"/>
            <p:cNvSpPr/>
            <p:nvPr/>
          </p:nvSpPr>
          <p:spPr>
            <a:xfrm>
              <a:off x="3583954" y="3864775"/>
              <a:ext cx="1416300" cy="2070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4463000" y="2639575"/>
              <a:ext cx="789600" cy="2784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2982600" y="3069200"/>
              <a:ext cx="736800" cy="3156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5469480" y="3264512"/>
            <a:ext cx="2035925" cy="971675"/>
            <a:chOff x="5015850" y="3099000"/>
            <a:chExt cx="2035925" cy="971675"/>
          </a:xfrm>
        </p:grpSpPr>
        <p:sp>
          <p:nvSpPr>
            <p:cNvPr id="211" name="Google Shape;211;p6"/>
            <p:cNvSpPr/>
            <p:nvPr/>
          </p:nvSpPr>
          <p:spPr>
            <a:xfrm>
              <a:off x="5015850" y="3863675"/>
              <a:ext cx="1076700" cy="207000"/>
            </a:xfrm>
            <a:prstGeom prst="rect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471275" y="3099000"/>
              <a:ext cx="580500" cy="285900"/>
            </a:xfrm>
            <a:prstGeom prst="rect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6"/>
          <p:cNvSpPr txBox="1"/>
          <p:nvPr/>
        </p:nvSpPr>
        <p:spPr>
          <a:xfrm>
            <a:off x="38400" y="4343400"/>
            <a:ext cx="90294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[1] Savova et al. “Mayo clinical text analysis and knowledge extraction system (ctakes): architecture, component evaluation and applications,” JAMIA. 2010.</a:t>
            </a:r>
            <a:endParaRPr sz="11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Bodenreider "Using UMLS semantics for classification purposes." </a:t>
            </a:r>
            <a:r>
              <a:rPr lang="en" sz="1000" b="0" i="1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AMIA Symposium</a:t>
            </a: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2000.</a:t>
            </a:r>
            <a:endParaRPr sz="11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222050" y="193975"/>
            <a:ext cx="86916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Event Extraction from Unstructured Clinical Notes</a:t>
            </a:r>
            <a:endParaRPr sz="1700" b="1" i="0" u="none" strike="noStrike" cap="none">
              <a:solidFill>
                <a:srgbClr val="3334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3334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cTAKES</a:t>
            </a:r>
            <a:r>
              <a:rPr lang="en" sz="1700" b="1" i="0" u="none" strike="noStrike" cap="none" baseline="30000">
                <a:solidFill>
                  <a:srgbClr val="3334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 b="1" i="0" u="none" strike="noStrike" cap="none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28600" y="1066800"/>
            <a:ext cx="8761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clinical concepts from text 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maps synonymous concepts to unique identifiers (CUI) in UMLS</a:t>
            </a:r>
            <a:r>
              <a:rPr lang="en" sz="17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clinical knowledge graph</a:t>
            </a:r>
            <a:endParaRPr sz="1700" b="1" i="0" u="none" strike="noStrike" cap="none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 txBox="1"/>
          <p:nvPr/>
        </p:nvSpPr>
        <p:spPr>
          <a:xfrm>
            <a:off x="286817" y="1186521"/>
            <a:ext cx="4105200" cy="205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3334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HbA1C Time-series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for T2D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Diabetic if HbA1C &gt; 6.5</a:t>
            </a:r>
            <a:r>
              <a:rPr lang="en" sz="16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sz="16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Noisy and sparse (missing from 56.8% observations) leading to missed diagnoses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304800" y="4724400"/>
            <a:ext cx="7882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[1] El Sayed, Nuha A., et al. "2. Classification and diagnosis of diabetes: standards of care in diabetes—2023." </a:t>
            </a:r>
            <a:r>
              <a:rPr lang="en" sz="1000" b="0" i="1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Diabetes care</a:t>
            </a: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46. (2023)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76200" y="46183"/>
            <a:ext cx="8576912" cy="7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Leveraging Structured Data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>
            <a:hlinkClick r:id="rId3" action="ppaction://hlinksldjump"/>
          </p:cNvPr>
          <p:cNvSpPr/>
          <p:nvPr/>
        </p:nvSpPr>
        <p:spPr>
          <a:xfrm>
            <a:off x="3040062" y="3932845"/>
            <a:ext cx="870251" cy="3262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Details »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26" name="Google Shape;226;p7"/>
          <p:cNvGrpSpPr/>
          <p:nvPr/>
        </p:nvGrpSpPr>
        <p:grpSpPr>
          <a:xfrm>
            <a:off x="5311766" y="1103707"/>
            <a:ext cx="2919073" cy="3233002"/>
            <a:chOff x="5006965" y="1394653"/>
            <a:chExt cx="2919073" cy="3233002"/>
          </a:xfrm>
        </p:grpSpPr>
        <p:pic>
          <p:nvPicPr>
            <p:cNvPr id="227" name="Google Shape;227;p7"/>
            <p:cNvPicPr preferRelativeResize="0"/>
            <p:nvPr/>
          </p:nvPicPr>
          <p:blipFill rotWithShape="1">
            <a:blip r:embed="rId4">
              <a:alphaModFix/>
            </a:blip>
            <a:srcRect t="5152" r="35160"/>
            <a:stretch/>
          </p:blipFill>
          <p:spPr>
            <a:xfrm>
              <a:off x="5006965" y="1394653"/>
              <a:ext cx="2919073" cy="323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7"/>
            <p:cNvPicPr preferRelativeResize="0"/>
            <p:nvPr/>
          </p:nvPicPr>
          <p:blipFill rotWithShape="1">
            <a:blip r:embed="rId4">
              <a:alphaModFix/>
            </a:blip>
            <a:srcRect l="82996" t="41774" b="42514"/>
            <a:stretch/>
          </p:blipFill>
          <p:spPr>
            <a:xfrm>
              <a:off x="6932979" y="1626784"/>
              <a:ext cx="765501" cy="6003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7"/>
          <p:cNvSpPr txBox="1"/>
          <p:nvPr/>
        </p:nvSpPr>
        <p:spPr>
          <a:xfrm>
            <a:off x="-69273" y="3827354"/>
            <a:ext cx="3094182" cy="43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588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3334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 Attributes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5375" y="895500"/>
            <a:ext cx="5643976" cy="30117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8"/>
          <p:cNvGrpSpPr/>
          <p:nvPr/>
        </p:nvGrpSpPr>
        <p:grpSpPr>
          <a:xfrm>
            <a:off x="197319" y="1135018"/>
            <a:ext cx="3497227" cy="1027908"/>
            <a:chOff x="685580" y="1192244"/>
            <a:chExt cx="5808687" cy="1596888"/>
          </a:xfrm>
        </p:grpSpPr>
        <p:sp>
          <p:nvSpPr>
            <p:cNvPr id="236" name="Google Shape;236;p8"/>
            <p:cNvSpPr/>
            <p:nvPr/>
          </p:nvSpPr>
          <p:spPr>
            <a:xfrm rot="5416430">
              <a:off x="2790822" y="-895496"/>
              <a:ext cx="1569318" cy="5772367"/>
            </a:xfrm>
            <a:prstGeom prst="roundRect">
              <a:avLst>
                <a:gd name="adj" fmla="val 16667"/>
              </a:avLst>
            </a:prstGeom>
            <a:solidFill>
              <a:srgbClr val="05659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835474" y="1290550"/>
              <a:ext cx="5658793" cy="1407000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01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Clinical concepts from notes improve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performance over structured EHR 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685901" y="1853232"/>
              <a:ext cx="308381" cy="259516"/>
            </a:xfrm>
            <a:custGeom>
              <a:avLst/>
              <a:gdLst/>
              <a:ahLst/>
              <a:cxnLst/>
              <a:rect l="l" t="t" r="r" b="b"/>
              <a:pathLst>
                <a:path w="276113" h="239123" extrusionOk="0">
                  <a:moveTo>
                    <a:pt x="207093" y="0"/>
                  </a:moveTo>
                  <a:lnTo>
                    <a:pt x="69021" y="0"/>
                  </a:lnTo>
                  <a:lnTo>
                    <a:pt x="0" y="119562"/>
                  </a:lnTo>
                  <a:lnTo>
                    <a:pt x="69021" y="239123"/>
                  </a:lnTo>
                  <a:lnTo>
                    <a:pt x="207093" y="239123"/>
                  </a:lnTo>
                  <a:lnTo>
                    <a:pt x="276114" y="119562"/>
                  </a:lnTo>
                  <a:lnTo>
                    <a:pt x="207093" y="0"/>
                  </a:lnTo>
                  <a:close/>
                </a:path>
              </a:pathLst>
            </a:custGeom>
            <a:solidFill>
              <a:srgbClr val="0556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9" name="Google Shape;239;p8"/>
          <p:cNvGrpSpPr/>
          <p:nvPr/>
        </p:nvGrpSpPr>
        <p:grpSpPr>
          <a:xfrm>
            <a:off x="206635" y="2267577"/>
            <a:ext cx="3187533" cy="907337"/>
            <a:chOff x="685885" y="2871444"/>
            <a:chExt cx="6693686" cy="1597424"/>
          </a:xfrm>
        </p:grpSpPr>
        <p:sp>
          <p:nvSpPr>
            <p:cNvPr id="240" name="Google Shape;240;p8"/>
            <p:cNvSpPr/>
            <p:nvPr/>
          </p:nvSpPr>
          <p:spPr>
            <a:xfrm rot="5414458">
              <a:off x="3248115" y="326627"/>
              <a:ext cx="1569314" cy="6687058"/>
            </a:xfrm>
            <a:prstGeom prst="roundRect">
              <a:avLst>
                <a:gd name="adj" fmla="val 16667"/>
              </a:avLst>
            </a:prstGeom>
            <a:solidFill>
              <a:srgbClr val="51D5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835484" y="2966972"/>
              <a:ext cx="6397500" cy="1407000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019"/>
                </a:srgbClr>
              </a:outerShdw>
            </a:effectLst>
          </p:spPr>
          <p:txBody>
            <a:bodyPr spcFirstLastPara="1" wrap="square" lIns="91425" tIns="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Additional gains from </a:t>
              </a: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Temporal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modeling </a:t>
              </a: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 events </a:t>
              </a: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 visits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685885" y="3503966"/>
              <a:ext cx="358947" cy="251079"/>
            </a:xfrm>
            <a:custGeom>
              <a:avLst/>
              <a:gdLst/>
              <a:ahLst/>
              <a:cxnLst/>
              <a:rect l="l" t="t" r="r" b="b"/>
              <a:pathLst>
                <a:path w="276113" h="239123" extrusionOk="0">
                  <a:moveTo>
                    <a:pt x="207093" y="0"/>
                  </a:moveTo>
                  <a:lnTo>
                    <a:pt x="69021" y="0"/>
                  </a:lnTo>
                  <a:lnTo>
                    <a:pt x="0" y="119562"/>
                  </a:lnTo>
                  <a:lnTo>
                    <a:pt x="69021" y="239123"/>
                  </a:lnTo>
                  <a:lnTo>
                    <a:pt x="207093" y="239123"/>
                  </a:lnTo>
                  <a:lnTo>
                    <a:pt x="276114" y="119562"/>
                  </a:lnTo>
                  <a:lnTo>
                    <a:pt x="207093" y="0"/>
                  </a:lnTo>
                  <a:close/>
                </a:path>
              </a:pathLst>
            </a:custGeom>
            <a:solidFill>
              <a:srgbClr val="4CC8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3" name="Google Shape;2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76200" y="138545"/>
            <a:ext cx="863605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Method and Result Summary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>
            <a:hlinkClick r:id="rId4" action="ppaction://hlinksldjump"/>
          </p:cNvPr>
          <p:cNvSpPr/>
          <p:nvPr/>
        </p:nvSpPr>
        <p:spPr>
          <a:xfrm>
            <a:off x="290540" y="3406407"/>
            <a:ext cx="1550400" cy="325200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Evaluation Details »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52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39597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2"/>
          <p:cNvSpPr/>
          <p:nvPr/>
        </p:nvSpPr>
        <p:spPr>
          <a:xfrm>
            <a:off x="4478520" y="2085616"/>
            <a:ext cx="619200" cy="468300"/>
          </a:xfrm>
          <a:prstGeom prst="flowChartOr">
            <a:avLst/>
          </a:prstGeom>
          <a:solidFill>
            <a:srgbClr val="C4E0B2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4" name="Google Shape;1264;p52"/>
          <p:cNvGrpSpPr/>
          <p:nvPr/>
        </p:nvGrpSpPr>
        <p:grpSpPr>
          <a:xfrm>
            <a:off x="3685943" y="572497"/>
            <a:ext cx="3806471" cy="1491215"/>
            <a:chOff x="3978525" y="68300"/>
            <a:chExt cx="4497248" cy="2042200"/>
          </a:xfrm>
        </p:grpSpPr>
        <p:sp>
          <p:nvSpPr>
            <p:cNvPr id="1265" name="Google Shape;1265;p52"/>
            <p:cNvSpPr/>
            <p:nvPr/>
          </p:nvSpPr>
          <p:spPr>
            <a:xfrm>
              <a:off x="4641801" y="68300"/>
              <a:ext cx="1269300" cy="855000"/>
            </a:xfrm>
            <a:prstGeom prst="roundRect">
              <a:avLst>
                <a:gd name="adj" fmla="val 16667"/>
              </a:avLst>
            </a:prstGeom>
            <a:solidFill>
              <a:srgbClr val="F4CCCC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Decoder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DNN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2"/>
            <p:cNvSpPr/>
            <p:nvPr/>
          </p:nvSpPr>
          <p:spPr>
            <a:xfrm rot="-5400000">
              <a:off x="5109125" y="1786350"/>
              <a:ext cx="308400" cy="3399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52"/>
            <p:cNvSpPr/>
            <p:nvPr/>
          </p:nvSpPr>
          <p:spPr>
            <a:xfrm>
              <a:off x="3978525" y="1273674"/>
              <a:ext cx="2569500" cy="469200"/>
            </a:xfrm>
            <a:prstGeom prst="roundRect">
              <a:avLst>
                <a:gd name="adj" fmla="val 16667"/>
              </a:avLst>
            </a:prstGeom>
            <a:solidFill>
              <a:srgbClr val="C4E0B2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Patient Representation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2"/>
            <p:cNvSpPr/>
            <p:nvPr/>
          </p:nvSpPr>
          <p:spPr>
            <a:xfrm rot="-5400000">
              <a:off x="5147363" y="958562"/>
              <a:ext cx="231900" cy="279900"/>
            </a:xfrm>
            <a:prstGeom prst="rightArrow">
              <a:avLst>
                <a:gd name="adj1" fmla="val 50000"/>
                <a:gd name="adj2" fmla="val 39985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52"/>
            <p:cNvSpPr/>
            <p:nvPr/>
          </p:nvSpPr>
          <p:spPr>
            <a:xfrm>
              <a:off x="5965631" y="338885"/>
              <a:ext cx="301500" cy="223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52"/>
            <p:cNvSpPr txBox="1"/>
            <p:nvPr/>
          </p:nvSpPr>
          <p:spPr>
            <a:xfrm flipH="1">
              <a:off x="6262373" y="273630"/>
              <a:ext cx="2213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Diagnosis ∈ {T2D, NoD}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1" name="Google Shape;1271;p52"/>
          <p:cNvGrpSpPr/>
          <p:nvPr/>
        </p:nvGrpSpPr>
        <p:grpSpPr>
          <a:xfrm>
            <a:off x="487974" y="2216167"/>
            <a:ext cx="3959664" cy="2447867"/>
            <a:chOff x="411762" y="2409075"/>
            <a:chExt cx="4074986" cy="2621685"/>
          </a:xfrm>
        </p:grpSpPr>
        <p:sp>
          <p:nvSpPr>
            <p:cNvPr id="1272" name="Google Shape;1272;p52"/>
            <p:cNvSpPr/>
            <p:nvPr/>
          </p:nvSpPr>
          <p:spPr>
            <a:xfrm>
              <a:off x="1382981" y="3475327"/>
              <a:ext cx="939000" cy="560400"/>
            </a:xfrm>
            <a:prstGeom prst="roundRect">
              <a:avLst>
                <a:gd name="adj" fmla="val 16667"/>
              </a:avLst>
            </a:prstGeom>
            <a:solidFill>
              <a:srgbClr val="FEE599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BoCUI</a:t>
              </a:r>
              <a:endParaRPr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Encoder (CNN)</a:t>
              </a:r>
              <a:endParaRPr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grpSp>
          <p:nvGrpSpPr>
            <p:cNvPr id="1273" name="Google Shape;1273;p52"/>
            <p:cNvGrpSpPr/>
            <p:nvPr/>
          </p:nvGrpSpPr>
          <p:grpSpPr>
            <a:xfrm>
              <a:off x="411762" y="2409075"/>
              <a:ext cx="4074986" cy="2621685"/>
              <a:chOff x="1326162" y="2409075"/>
              <a:chExt cx="4074986" cy="2621685"/>
            </a:xfrm>
          </p:grpSpPr>
          <p:sp>
            <p:nvSpPr>
              <p:cNvPr id="1274" name="Google Shape;1274;p52"/>
              <p:cNvSpPr/>
              <p:nvPr/>
            </p:nvSpPr>
            <p:spPr>
              <a:xfrm>
                <a:off x="3475345" y="3475327"/>
                <a:ext cx="939000" cy="560400"/>
              </a:xfrm>
              <a:prstGeom prst="roundRect">
                <a:avLst>
                  <a:gd name="adj" fmla="val 16667"/>
                </a:avLst>
              </a:prstGeom>
              <a:solidFill>
                <a:srgbClr val="FEE599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BoCUI</a:t>
                </a:r>
                <a:endParaRPr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Encoder (CNN)</a:t>
                </a:r>
                <a:endParaRPr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75" name="Google Shape;1275;p52"/>
              <p:cNvSpPr/>
              <p:nvPr/>
            </p:nvSpPr>
            <p:spPr>
              <a:xfrm rot="-5400000">
                <a:off x="1696785" y="3276453"/>
                <a:ext cx="212100" cy="2190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8E2F3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52"/>
              <p:cNvSpPr/>
              <p:nvPr/>
            </p:nvSpPr>
            <p:spPr>
              <a:xfrm rot="-5400000">
                <a:off x="3764576" y="3266940"/>
                <a:ext cx="192900" cy="2190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8E2F3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52"/>
              <p:cNvSpPr/>
              <p:nvPr/>
            </p:nvSpPr>
            <p:spPr>
              <a:xfrm>
                <a:off x="1625208" y="2770626"/>
                <a:ext cx="2528400" cy="471000"/>
              </a:xfrm>
              <a:prstGeom prst="roundRect">
                <a:avLst>
                  <a:gd name="adj" fmla="val 16667"/>
                </a:avLst>
              </a:prstGeom>
              <a:solidFill>
                <a:srgbClr val="F6B26B"/>
              </a:solidFill>
              <a:ln w="12700" cap="flat" cmpd="sng">
                <a:solidFill>
                  <a:srgbClr val="1C305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Visit Sequence Encoder (LSTM)</a:t>
                </a:r>
                <a:endParaRPr sz="13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52"/>
              <p:cNvSpPr/>
              <p:nvPr/>
            </p:nvSpPr>
            <p:spPr>
              <a:xfrm>
                <a:off x="2839148" y="2409075"/>
                <a:ext cx="2562000" cy="337200"/>
              </a:xfrm>
              <a:prstGeom prst="bentArrow">
                <a:avLst>
                  <a:gd name="adj1" fmla="val 45051"/>
                  <a:gd name="adj2" fmla="val 32191"/>
                  <a:gd name="adj3" fmla="val 29686"/>
                  <a:gd name="adj4" fmla="val 44073"/>
                </a:avLst>
              </a:prstGeom>
              <a:solidFill>
                <a:srgbClr val="DBE2F1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52"/>
              <p:cNvSpPr/>
              <p:nvPr/>
            </p:nvSpPr>
            <p:spPr>
              <a:xfrm rot="-5400000">
                <a:off x="3754978" y="4051198"/>
                <a:ext cx="212100" cy="2190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8E2F3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52"/>
              <p:cNvSpPr/>
              <p:nvPr/>
            </p:nvSpPr>
            <p:spPr>
              <a:xfrm rot="-5400000">
                <a:off x="2626614" y="4051198"/>
                <a:ext cx="212100" cy="2190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8E2F3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52"/>
              <p:cNvSpPr/>
              <p:nvPr/>
            </p:nvSpPr>
            <p:spPr>
              <a:xfrm rot="-5400000">
                <a:off x="1697373" y="4051198"/>
                <a:ext cx="212100" cy="2190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8E2F3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52"/>
              <p:cNvSpPr/>
              <p:nvPr/>
            </p:nvSpPr>
            <p:spPr>
              <a:xfrm>
                <a:off x="1326162" y="3475327"/>
                <a:ext cx="939000" cy="522600"/>
              </a:xfrm>
              <a:prstGeom prst="roundRect">
                <a:avLst>
                  <a:gd name="adj" fmla="val 16667"/>
                </a:avLst>
              </a:prstGeom>
              <a:solidFill>
                <a:srgbClr val="FEE599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BoCUI</a:t>
                </a:r>
                <a:endParaRPr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Encoder (CNN)</a:t>
                </a:r>
                <a:endParaRPr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3" name="Google Shape;1283;p52"/>
              <p:cNvSpPr/>
              <p:nvPr/>
            </p:nvSpPr>
            <p:spPr>
              <a:xfrm rot="-5400000">
                <a:off x="2620081" y="3269825"/>
                <a:ext cx="212100" cy="2190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D8E2F3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52"/>
              <p:cNvSpPr txBox="1"/>
              <p:nvPr/>
            </p:nvSpPr>
            <p:spPr>
              <a:xfrm>
                <a:off x="3216542" y="3597543"/>
                <a:ext cx="351900" cy="3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52"/>
              <p:cNvSpPr txBox="1"/>
              <p:nvPr/>
            </p:nvSpPr>
            <p:spPr>
              <a:xfrm>
                <a:off x="3215688" y="4184533"/>
                <a:ext cx="351900" cy="3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52"/>
              <p:cNvSpPr txBox="1"/>
              <p:nvPr/>
            </p:nvSpPr>
            <p:spPr>
              <a:xfrm>
                <a:off x="1558834" y="4618560"/>
                <a:ext cx="2613300" cy="41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Bags-of-CUIs (cui2vec)</a:t>
                </a:r>
                <a:r>
                  <a:rPr lang="en" sz="1300" b="1" i="0" u="none" strike="noStrike" cap="none" baseline="300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[1]</a:t>
                </a:r>
                <a:endParaRPr sz="1100" b="1" i="0" u="none" strike="noStrike" cap="none" baseline="30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52"/>
              <p:cNvSpPr/>
              <p:nvPr/>
            </p:nvSpPr>
            <p:spPr>
              <a:xfrm>
                <a:off x="1530521" y="4290606"/>
                <a:ext cx="601800" cy="317700"/>
              </a:xfrm>
              <a:prstGeom prst="rect">
                <a:avLst/>
              </a:prstGeom>
              <a:noFill/>
              <a:ln w="19050" cap="flat" cmpd="sng">
                <a:solidFill>
                  <a:srgbClr val="FCE5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Visit 1</a:t>
                </a:r>
                <a:endParaRPr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52"/>
              <p:cNvSpPr/>
              <p:nvPr/>
            </p:nvSpPr>
            <p:spPr>
              <a:xfrm>
                <a:off x="2459770" y="4290602"/>
                <a:ext cx="601800" cy="317700"/>
              </a:xfrm>
              <a:prstGeom prst="rect">
                <a:avLst/>
              </a:prstGeom>
              <a:noFill/>
              <a:ln w="19050" cap="flat" cmpd="sng">
                <a:solidFill>
                  <a:srgbClr val="FCE5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Visit 2</a:t>
                </a:r>
                <a:endParaRPr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52"/>
              <p:cNvSpPr/>
              <p:nvPr/>
            </p:nvSpPr>
            <p:spPr>
              <a:xfrm>
                <a:off x="3588136" y="4290606"/>
                <a:ext cx="601800" cy="317700"/>
              </a:xfrm>
              <a:prstGeom prst="rect">
                <a:avLst/>
              </a:prstGeom>
              <a:noFill/>
              <a:ln w="19050" cap="flat" cmpd="sng">
                <a:solidFill>
                  <a:srgbClr val="FCE5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Visit n</a:t>
                </a:r>
                <a:endParaRPr sz="11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1290" name="Google Shape;1290;p52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5152925" y="2114775"/>
            <a:ext cx="3603225" cy="215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52"/>
          <p:cNvPicPr preferRelativeResize="0"/>
          <p:nvPr/>
        </p:nvPicPr>
        <p:blipFill rotWithShape="1">
          <a:blip r:embed="rId4">
            <a:alphaModFix amt="23000"/>
          </a:blip>
          <a:srcRect/>
          <a:stretch/>
        </p:blipFill>
        <p:spPr>
          <a:xfrm>
            <a:off x="4030450" y="2553925"/>
            <a:ext cx="1967575" cy="20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52"/>
          <p:cNvSpPr txBox="1"/>
          <p:nvPr/>
        </p:nvSpPr>
        <p:spPr>
          <a:xfrm>
            <a:off x="220200" y="4629325"/>
            <a:ext cx="868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[1] Beam, Andrew L., et al. "Clinical concept embeddings learned from massive sources of multimodal medical data." </a:t>
            </a:r>
            <a:r>
              <a:rPr lang="en" sz="1100" b="0" i="1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Pacific Symposium on Biocomputing 2020</a:t>
            </a:r>
            <a:r>
              <a:rPr lang="en" sz="11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53"/>
          <p:cNvPicPr preferRelativeResize="0"/>
          <p:nvPr/>
        </p:nvPicPr>
        <p:blipFill rotWithShape="1">
          <a:blip r:embed="rId3">
            <a:alphaModFix amt="24000"/>
          </a:blip>
          <a:srcRect/>
          <a:stretch/>
        </p:blipFill>
        <p:spPr>
          <a:xfrm>
            <a:off x="302925" y="2267175"/>
            <a:ext cx="4442800" cy="253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53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36033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53"/>
          <p:cNvSpPr/>
          <p:nvPr/>
        </p:nvSpPr>
        <p:spPr>
          <a:xfrm>
            <a:off x="4478520" y="2238016"/>
            <a:ext cx="619200" cy="468300"/>
          </a:xfrm>
          <a:prstGeom prst="flowChartOr">
            <a:avLst/>
          </a:prstGeom>
          <a:solidFill>
            <a:srgbClr val="C4E0B2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2" name="Google Shape;1302;p53"/>
          <p:cNvGrpSpPr/>
          <p:nvPr/>
        </p:nvGrpSpPr>
        <p:grpSpPr>
          <a:xfrm>
            <a:off x="3685943" y="724897"/>
            <a:ext cx="3806471" cy="1491215"/>
            <a:chOff x="3978525" y="68300"/>
            <a:chExt cx="4497248" cy="2042200"/>
          </a:xfrm>
        </p:grpSpPr>
        <p:sp>
          <p:nvSpPr>
            <p:cNvPr id="1303" name="Google Shape;1303;p53"/>
            <p:cNvSpPr/>
            <p:nvPr/>
          </p:nvSpPr>
          <p:spPr>
            <a:xfrm>
              <a:off x="4641801" y="68300"/>
              <a:ext cx="1269300" cy="855000"/>
            </a:xfrm>
            <a:prstGeom prst="roundRect">
              <a:avLst>
                <a:gd name="adj" fmla="val 16667"/>
              </a:avLst>
            </a:prstGeom>
            <a:solidFill>
              <a:srgbClr val="F4CCCC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Decoder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DNN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3"/>
            <p:cNvSpPr/>
            <p:nvPr/>
          </p:nvSpPr>
          <p:spPr>
            <a:xfrm rot="-5400000">
              <a:off x="5109125" y="1786350"/>
              <a:ext cx="308400" cy="3399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53"/>
            <p:cNvSpPr/>
            <p:nvPr/>
          </p:nvSpPr>
          <p:spPr>
            <a:xfrm>
              <a:off x="3978525" y="1273674"/>
              <a:ext cx="2569500" cy="469200"/>
            </a:xfrm>
            <a:prstGeom prst="roundRect">
              <a:avLst>
                <a:gd name="adj" fmla="val 16667"/>
              </a:avLst>
            </a:prstGeom>
            <a:solidFill>
              <a:srgbClr val="C4E0B2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Patient Representation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3"/>
            <p:cNvSpPr/>
            <p:nvPr/>
          </p:nvSpPr>
          <p:spPr>
            <a:xfrm rot="-5400000">
              <a:off x="5147363" y="958562"/>
              <a:ext cx="231900" cy="279900"/>
            </a:xfrm>
            <a:prstGeom prst="rightArrow">
              <a:avLst>
                <a:gd name="adj1" fmla="val 50000"/>
                <a:gd name="adj2" fmla="val 39985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53"/>
            <p:cNvSpPr/>
            <p:nvPr/>
          </p:nvSpPr>
          <p:spPr>
            <a:xfrm>
              <a:off x="5965631" y="338885"/>
              <a:ext cx="301500" cy="223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53"/>
            <p:cNvSpPr txBox="1"/>
            <p:nvPr/>
          </p:nvSpPr>
          <p:spPr>
            <a:xfrm flipH="1">
              <a:off x="6262373" y="273630"/>
              <a:ext cx="2213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Diagnosis ∈ {T2D, NoD}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9" name="Google Shape;1309;p53"/>
          <p:cNvGrpSpPr/>
          <p:nvPr/>
        </p:nvGrpSpPr>
        <p:grpSpPr>
          <a:xfrm>
            <a:off x="3924442" y="2738344"/>
            <a:ext cx="1955796" cy="2107801"/>
            <a:chOff x="3948320" y="3109907"/>
            <a:chExt cx="2094000" cy="2257472"/>
          </a:xfrm>
        </p:grpSpPr>
        <p:sp>
          <p:nvSpPr>
            <p:cNvPr id="1310" name="Google Shape;1310;p53"/>
            <p:cNvSpPr/>
            <p:nvPr/>
          </p:nvSpPr>
          <p:spPr>
            <a:xfrm>
              <a:off x="4028660" y="4535796"/>
              <a:ext cx="2013600" cy="504900"/>
            </a:xfrm>
            <a:prstGeom prst="rect">
              <a:avLst/>
            </a:prstGeom>
            <a:noFill/>
            <a:ln w="19050" cap="flat" cmpd="sng">
              <a:solidFill>
                <a:srgbClr val="FFC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SA∈{Gender, Race,  Ethnicity,         Age Group}</a:t>
              </a:r>
              <a:endPara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1" name="Google Shape;1311;p53"/>
            <p:cNvGrpSpPr/>
            <p:nvPr/>
          </p:nvGrpSpPr>
          <p:grpSpPr>
            <a:xfrm>
              <a:off x="3948320" y="3109907"/>
              <a:ext cx="2094000" cy="2257472"/>
              <a:chOff x="3948320" y="2805107"/>
              <a:chExt cx="2094000" cy="2257472"/>
            </a:xfrm>
          </p:grpSpPr>
          <p:sp>
            <p:nvSpPr>
              <p:cNvPr id="1312" name="Google Shape;1312;p53"/>
              <p:cNvSpPr/>
              <p:nvPr/>
            </p:nvSpPr>
            <p:spPr>
              <a:xfrm>
                <a:off x="4689164" y="2805107"/>
                <a:ext cx="296100" cy="6318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rgbClr val="DBE2F1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13" name="Google Shape;1313;p53"/>
              <p:cNvGrpSpPr/>
              <p:nvPr/>
            </p:nvGrpSpPr>
            <p:grpSpPr>
              <a:xfrm>
                <a:off x="4510960" y="3471184"/>
                <a:ext cx="754740" cy="706501"/>
                <a:chOff x="4018812" y="4324450"/>
                <a:chExt cx="934200" cy="903338"/>
              </a:xfrm>
            </p:grpSpPr>
            <p:sp>
              <p:nvSpPr>
                <p:cNvPr id="1314" name="Google Shape;1314;p53"/>
                <p:cNvSpPr/>
                <p:nvPr/>
              </p:nvSpPr>
              <p:spPr>
                <a:xfrm>
                  <a:off x="4018812" y="4324450"/>
                  <a:ext cx="934200" cy="541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FF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" sz="1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DNN</a:t>
                  </a:r>
                  <a:r>
                    <a:rPr lang="en" sz="1200" b="0" i="0" u="none" strike="noStrike" cap="none" baseline="-250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SA</a:t>
                  </a:r>
                  <a:endParaRPr sz="1200" b="0" i="0" u="none" strike="noStrike" cap="none" baseline="-25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5" name="Google Shape;1315;p53"/>
                <p:cNvSpPr/>
                <p:nvPr/>
              </p:nvSpPr>
              <p:spPr>
                <a:xfrm rot="-5400000">
                  <a:off x="4335093" y="4966338"/>
                  <a:ext cx="271500" cy="251400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rgbClr val="D8E2F3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6" name="Google Shape;1316;p53"/>
              <p:cNvSpPr txBox="1"/>
              <p:nvPr/>
            </p:nvSpPr>
            <p:spPr>
              <a:xfrm>
                <a:off x="3948320" y="4650379"/>
                <a:ext cx="2094000" cy="41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Sensitive Attributes</a:t>
                </a:r>
                <a:endParaRPr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317" name="Google Shape;1317;p53"/>
          <p:cNvPicPr preferRelativeResize="0"/>
          <p:nvPr/>
        </p:nvPicPr>
        <p:blipFill rotWithShape="1">
          <a:blip r:embed="rId4">
            <a:alphaModFix amt="24000"/>
          </a:blip>
          <a:srcRect/>
          <a:stretch/>
        </p:blipFill>
        <p:spPr>
          <a:xfrm>
            <a:off x="5152925" y="2267175"/>
            <a:ext cx="3603225" cy="21537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54"/>
          <p:cNvPicPr preferRelativeResize="0"/>
          <p:nvPr/>
        </p:nvPicPr>
        <p:blipFill rotWithShape="1">
          <a:blip r:embed="rId3">
            <a:alphaModFix amt="23000"/>
          </a:blip>
          <a:srcRect/>
          <a:stretch/>
        </p:blipFill>
        <p:spPr>
          <a:xfrm>
            <a:off x="302925" y="2267175"/>
            <a:ext cx="4442800" cy="253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54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3718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54"/>
          <p:cNvSpPr/>
          <p:nvPr/>
        </p:nvSpPr>
        <p:spPr>
          <a:xfrm>
            <a:off x="4478520" y="2238016"/>
            <a:ext cx="619200" cy="468300"/>
          </a:xfrm>
          <a:prstGeom prst="flowChartOr">
            <a:avLst/>
          </a:prstGeom>
          <a:solidFill>
            <a:srgbClr val="C4E0B2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7" name="Google Shape;1327;p54"/>
          <p:cNvGrpSpPr/>
          <p:nvPr/>
        </p:nvGrpSpPr>
        <p:grpSpPr>
          <a:xfrm>
            <a:off x="3685943" y="724897"/>
            <a:ext cx="3806471" cy="1491215"/>
            <a:chOff x="3978525" y="68300"/>
            <a:chExt cx="4497248" cy="2042200"/>
          </a:xfrm>
        </p:grpSpPr>
        <p:sp>
          <p:nvSpPr>
            <p:cNvPr id="1328" name="Google Shape;1328;p54"/>
            <p:cNvSpPr/>
            <p:nvPr/>
          </p:nvSpPr>
          <p:spPr>
            <a:xfrm>
              <a:off x="4641801" y="68300"/>
              <a:ext cx="1269300" cy="855000"/>
            </a:xfrm>
            <a:prstGeom prst="roundRect">
              <a:avLst>
                <a:gd name="adj" fmla="val 16667"/>
              </a:avLst>
            </a:prstGeom>
            <a:solidFill>
              <a:srgbClr val="F4CCCC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Decoder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DNN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4"/>
            <p:cNvSpPr/>
            <p:nvPr/>
          </p:nvSpPr>
          <p:spPr>
            <a:xfrm rot="-5400000">
              <a:off x="5109125" y="1786350"/>
              <a:ext cx="308400" cy="3399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54"/>
            <p:cNvSpPr/>
            <p:nvPr/>
          </p:nvSpPr>
          <p:spPr>
            <a:xfrm>
              <a:off x="3978525" y="1273674"/>
              <a:ext cx="2569500" cy="469200"/>
            </a:xfrm>
            <a:prstGeom prst="roundRect">
              <a:avLst>
                <a:gd name="adj" fmla="val 16667"/>
              </a:avLst>
            </a:prstGeom>
            <a:solidFill>
              <a:srgbClr val="C4E0B2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Patient Representation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4"/>
            <p:cNvSpPr/>
            <p:nvPr/>
          </p:nvSpPr>
          <p:spPr>
            <a:xfrm rot="-5400000">
              <a:off x="5147363" y="958562"/>
              <a:ext cx="231900" cy="279900"/>
            </a:xfrm>
            <a:prstGeom prst="rightArrow">
              <a:avLst>
                <a:gd name="adj1" fmla="val 50000"/>
                <a:gd name="adj2" fmla="val 39985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54"/>
            <p:cNvSpPr/>
            <p:nvPr/>
          </p:nvSpPr>
          <p:spPr>
            <a:xfrm>
              <a:off x="5965631" y="338885"/>
              <a:ext cx="301500" cy="223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E2F3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54"/>
            <p:cNvSpPr txBox="1"/>
            <p:nvPr/>
          </p:nvSpPr>
          <p:spPr>
            <a:xfrm flipH="1">
              <a:off x="6262373" y="273630"/>
              <a:ext cx="2213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Diagnosis ∈ {T2D, NoD}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4" name="Google Shape;1334;p54"/>
          <p:cNvGrpSpPr/>
          <p:nvPr/>
        </p:nvGrpSpPr>
        <p:grpSpPr>
          <a:xfrm>
            <a:off x="5173571" y="2331779"/>
            <a:ext cx="3539439" cy="2143458"/>
            <a:chOff x="5233823" y="2369675"/>
            <a:chExt cx="3642522" cy="2295660"/>
          </a:xfrm>
        </p:grpSpPr>
        <p:sp>
          <p:nvSpPr>
            <p:cNvPr id="1335" name="Google Shape;1335;p54"/>
            <p:cNvSpPr/>
            <p:nvPr/>
          </p:nvSpPr>
          <p:spPr>
            <a:xfrm>
              <a:off x="7446767" y="3342774"/>
              <a:ext cx="553200" cy="433500"/>
            </a:xfrm>
            <a:prstGeom prst="roundRect">
              <a:avLst>
                <a:gd name="adj" fmla="val 16667"/>
              </a:avLst>
            </a:prstGeom>
            <a:solidFill>
              <a:srgbClr val="ABF9F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GRU Cell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6" name="Google Shape;1336;p54"/>
            <p:cNvGrpSpPr/>
            <p:nvPr/>
          </p:nvGrpSpPr>
          <p:grpSpPr>
            <a:xfrm>
              <a:off x="5233823" y="2369675"/>
              <a:ext cx="3642522" cy="2295660"/>
              <a:chOff x="5233823" y="2369675"/>
              <a:chExt cx="3642522" cy="2295660"/>
            </a:xfrm>
          </p:grpSpPr>
          <p:grpSp>
            <p:nvGrpSpPr>
              <p:cNvPr id="1337" name="Google Shape;1337;p54"/>
              <p:cNvGrpSpPr/>
              <p:nvPr/>
            </p:nvGrpSpPr>
            <p:grpSpPr>
              <a:xfrm>
                <a:off x="5233823" y="2369675"/>
                <a:ext cx="3642522" cy="2295660"/>
                <a:chOff x="4167023" y="2293475"/>
                <a:chExt cx="3642522" cy="2295660"/>
              </a:xfrm>
            </p:grpSpPr>
            <p:sp>
              <p:nvSpPr>
                <p:cNvPr id="1338" name="Google Shape;1338;p54"/>
                <p:cNvSpPr txBox="1"/>
                <p:nvPr/>
              </p:nvSpPr>
              <p:spPr>
                <a:xfrm>
                  <a:off x="6247872" y="4176935"/>
                  <a:ext cx="1082100" cy="41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r>
                    <a:rPr lang="en" sz="1300" b="1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HbA1C</a:t>
                  </a:r>
                  <a:endParaRPr sz="13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39" name="Google Shape;1339;p54"/>
                <p:cNvGrpSpPr/>
                <p:nvPr/>
              </p:nvGrpSpPr>
              <p:grpSpPr>
                <a:xfrm>
                  <a:off x="4167023" y="2293475"/>
                  <a:ext cx="3642522" cy="1929636"/>
                  <a:chOff x="4167023" y="2293475"/>
                  <a:chExt cx="3642522" cy="1929636"/>
                </a:xfrm>
              </p:grpSpPr>
              <p:sp>
                <p:nvSpPr>
                  <p:cNvPr id="1340" name="Google Shape;1340;p54"/>
                  <p:cNvSpPr txBox="1"/>
                  <p:nvPr/>
                </p:nvSpPr>
                <p:spPr>
                  <a:xfrm>
                    <a:off x="6913329" y="3832360"/>
                    <a:ext cx="284100" cy="32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lang="en"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…</a:t>
                    </a:r>
                    <a:endParaRPr sz="10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341" name="Google Shape;1341;p54"/>
                  <p:cNvGrpSpPr/>
                  <p:nvPr/>
                </p:nvGrpSpPr>
                <p:grpSpPr>
                  <a:xfrm>
                    <a:off x="4167023" y="2293475"/>
                    <a:ext cx="3642522" cy="1929636"/>
                    <a:chOff x="4167023" y="2293475"/>
                    <a:chExt cx="3642522" cy="1929636"/>
                  </a:xfrm>
                </p:grpSpPr>
                <p:sp>
                  <p:nvSpPr>
                    <p:cNvPr id="1342" name="Google Shape;1342;p54"/>
                    <p:cNvSpPr txBox="1"/>
                    <p:nvPr/>
                  </p:nvSpPr>
                  <p:spPr>
                    <a:xfrm>
                      <a:off x="6918022" y="3406158"/>
                      <a:ext cx="284100" cy="3297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343" name="Google Shape;1343;p54"/>
                    <p:cNvGrpSpPr/>
                    <p:nvPr/>
                  </p:nvGrpSpPr>
                  <p:grpSpPr>
                    <a:xfrm>
                      <a:off x="4167023" y="2293475"/>
                      <a:ext cx="3642522" cy="1929636"/>
                      <a:chOff x="4167023" y="2293475"/>
                      <a:chExt cx="3642522" cy="1929636"/>
                    </a:xfrm>
                  </p:grpSpPr>
                  <p:sp>
                    <p:nvSpPr>
                      <p:cNvPr id="1344" name="Google Shape;1344;p54"/>
                      <p:cNvSpPr/>
                      <p:nvPr/>
                    </p:nvSpPr>
                    <p:spPr>
                      <a:xfrm>
                        <a:off x="5645746" y="3933011"/>
                        <a:ext cx="601800" cy="290100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00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n" sz="1100" b="0" i="0" u="none" strike="noStrike" cap="non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Visit i</a:t>
                        </a:r>
                        <a:endParaRPr sz="11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345" name="Google Shape;1345;p54"/>
                      <p:cNvGrpSpPr/>
                      <p:nvPr/>
                    </p:nvGrpSpPr>
                    <p:grpSpPr>
                      <a:xfrm>
                        <a:off x="4167023" y="2293475"/>
                        <a:ext cx="3642522" cy="1929636"/>
                        <a:chOff x="4167023" y="2293475"/>
                        <a:chExt cx="3642522" cy="1929636"/>
                      </a:xfrm>
                    </p:grpSpPr>
                    <p:grpSp>
                      <p:nvGrpSpPr>
                        <p:cNvPr id="1346" name="Google Shape;1346;p54"/>
                        <p:cNvGrpSpPr/>
                        <p:nvPr/>
                      </p:nvGrpSpPr>
                      <p:grpSpPr>
                        <a:xfrm>
                          <a:off x="4167023" y="2293475"/>
                          <a:ext cx="3519985" cy="1929636"/>
                          <a:chOff x="4167023" y="2293475"/>
                          <a:chExt cx="3519985" cy="1929636"/>
                        </a:xfrm>
                      </p:grpSpPr>
                      <p:sp>
                        <p:nvSpPr>
                          <p:cNvPr id="1347" name="Google Shape;1347;p54"/>
                          <p:cNvSpPr/>
                          <p:nvPr/>
                        </p:nvSpPr>
                        <p:spPr>
                          <a:xfrm>
                            <a:off x="6380619" y="3933011"/>
                            <a:ext cx="637200" cy="290100"/>
                          </a:xfrm>
                          <a:prstGeom prst="rect">
                            <a:avLst/>
                          </a:prstGeom>
                          <a:noFill/>
                          <a:ln w="19050" cap="flat" cmpd="sng">
                            <a:solidFill>
                              <a:srgbClr val="00FFFF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ctr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100"/>
                              <a:buFont typeface="Arial"/>
                              <a:buNone/>
                            </a:pPr>
                            <a:r>
                              <a:rPr lang="en" sz="1100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rPr>
                              <a:t>Visit j</a:t>
                            </a:r>
                            <a:endParaRPr sz="1100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1348" name="Google Shape;1348;p54"/>
                          <p:cNvGrpSpPr/>
                          <p:nvPr/>
                        </p:nvGrpSpPr>
                        <p:grpSpPr>
                          <a:xfrm>
                            <a:off x="4167023" y="2293475"/>
                            <a:ext cx="3519985" cy="1607925"/>
                            <a:chOff x="7482773" y="2044158"/>
                            <a:chExt cx="4040850" cy="2189142"/>
                          </a:xfrm>
                        </p:grpSpPr>
                        <p:sp>
                          <p:nvSpPr>
                            <p:cNvPr id="1349" name="Google Shape;1349;p54"/>
                            <p:cNvSpPr/>
                            <p:nvPr/>
                          </p:nvSpPr>
                          <p:spPr>
                            <a:xfrm rot="-5400000">
                              <a:off x="10249650" y="3991733"/>
                              <a:ext cx="231600" cy="251400"/>
                            </a:xfrm>
                            <a:prstGeom prst="right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D8E2F3"/>
                            </a:solidFill>
                            <a:ln w="12700" cap="flat" cmpd="sng">
                              <a:solidFill>
                                <a:srgbClr val="1C3052"/>
                              </a:solidFill>
                              <a:prstDash val="solid"/>
                              <a:miter lim="800000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400"/>
                                <a:buFont typeface="Arial"/>
                                <a:buNone/>
                              </a:pPr>
                              <a:endParaRPr sz="1400" b="0" i="0" u="none" strike="noStrike" cap="none">
                                <a:solidFill>
                                  <a:srgbClr val="FFFFFF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0" name="Google Shape;1350;p54"/>
                            <p:cNvSpPr/>
                            <p:nvPr/>
                          </p:nvSpPr>
                          <p:spPr>
                            <a:xfrm>
                              <a:off x="9185500" y="3368795"/>
                              <a:ext cx="635100" cy="590100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ABF9FC"/>
                            </a:solidFill>
                            <a:ln w="9525" cap="flat" cmpd="sng">
                              <a:solidFill>
                                <a:srgbClr val="44546A"/>
                              </a:solidFill>
                              <a:prstDash val="solid"/>
                              <a:round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200"/>
                                <a:buFont typeface="Arial"/>
                                <a:buNone/>
                              </a:pPr>
                              <a:r>
                                <a:rPr lang="en" sz="1200" b="0" i="0" u="none" strike="noStrike" cap="none">
                                  <a:solidFill>
                                    <a:srgbClr val="000000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rPr>
                                <a:t>GRU Cell</a:t>
                              </a:r>
                              <a:endParaRPr sz="1200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1" name="Google Shape;1351;p54"/>
                            <p:cNvSpPr/>
                            <p:nvPr/>
                          </p:nvSpPr>
                          <p:spPr>
                            <a:xfrm>
                              <a:off x="9077723" y="2559064"/>
                              <a:ext cx="2445900" cy="499500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ABF9FC"/>
                            </a:solidFill>
                            <a:ln w="9525" cap="flat" cmpd="sng">
                              <a:solidFill>
                                <a:srgbClr val="44546A"/>
                              </a:solidFill>
                              <a:prstDash val="solid"/>
                              <a:round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200"/>
                                <a:buFont typeface="Arial"/>
                                <a:buNone/>
                              </a:pPr>
                              <a:r>
                                <a:rPr lang="en" sz="1200" b="0" i="0" u="none" strike="noStrike" cap="none">
                                  <a:solidFill>
                                    <a:srgbClr val="000000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rPr>
                                <a:t>Attention</a:t>
                              </a:r>
                              <a:endParaRPr sz="1200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2" name="Google Shape;1352;p54"/>
                            <p:cNvSpPr/>
                            <p:nvPr/>
                          </p:nvSpPr>
                          <p:spPr>
                            <a:xfrm rot="-5400000">
                              <a:off x="10177225" y="3083429"/>
                              <a:ext cx="279900" cy="251400"/>
                            </a:xfrm>
                            <a:prstGeom prst="right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D8E2F3"/>
                            </a:solidFill>
                            <a:ln w="12700" cap="flat" cmpd="sng">
                              <a:solidFill>
                                <a:srgbClr val="1C3052"/>
                              </a:solidFill>
                              <a:prstDash val="solid"/>
                              <a:miter lim="800000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400"/>
                                <a:buFont typeface="Arial"/>
                                <a:buNone/>
                              </a:pPr>
                              <a:endParaRPr sz="1400" b="0" i="0" u="none" strike="noStrike" cap="none">
                                <a:solidFill>
                                  <a:srgbClr val="FFFFFF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3" name="Google Shape;1353;p54"/>
                            <p:cNvSpPr/>
                            <p:nvPr/>
                          </p:nvSpPr>
                          <p:spPr>
                            <a:xfrm flipH="1">
                              <a:off x="7482773" y="2044158"/>
                              <a:ext cx="2784900" cy="459000"/>
                            </a:xfrm>
                            <a:prstGeom prst="bentArrow">
                              <a:avLst>
                                <a:gd name="adj1" fmla="val 38869"/>
                                <a:gd name="adj2" fmla="val 38750"/>
                                <a:gd name="adj3" fmla="val 40786"/>
                                <a:gd name="adj4" fmla="val 43669"/>
                              </a:avLst>
                            </a:prstGeom>
                            <a:solidFill>
                              <a:srgbClr val="DBE2F1"/>
                            </a:solidFill>
                            <a:ln w="9525" cap="flat" cmpd="sng">
                              <a:solidFill>
                                <a:srgbClr val="44546A"/>
                              </a:solidFill>
                              <a:prstDash val="solid"/>
                              <a:round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000"/>
                                <a:buFont typeface="Arial"/>
                                <a:buNone/>
                              </a:pPr>
                              <a:endParaRPr sz="1000" b="0" i="0" u="none" strike="noStrike" cap="non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354" name="Google Shape;1354;p54"/>
                            <p:cNvSpPr/>
                            <p:nvPr/>
                          </p:nvSpPr>
                          <p:spPr>
                            <a:xfrm rot="-5400000">
                              <a:off x="9383525" y="3991800"/>
                              <a:ext cx="231600" cy="251400"/>
                            </a:xfrm>
                            <a:prstGeom prst="right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D8E2F3"/>
                            </a:solidFill>
                            <a:ln w="12700" cap="flat" cmpd="sng">
                              <a:solidFill>
                                <a:srgbClr val="1C3052"/>
                              </a:solidFill>
                              <a:prstDash val="solid"/>
                              <a:miter lim="800000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400"/>
                                <a:buFont typeface="Arial"/>
                                <a:buNone/>
                              </a:pPr>
                              <a:endParaRPr sz="1400" b="0" i="0" u="none" strike="noStrike" cap="none">
                                <a:solidFill>
                                  <a:srgbClr val="FFFFFF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5" name="Google Shape;1355;p54"/>
                            <p:cNvSpPr/>
                            <p:nvPr/>
                          </p:nvSpPr>
                          <p:spPr>
                            <a:xfrm rot="-5400000">
                              <a:off x="11113225" y="3961040"/>
                              <a:ext cx="236700" cy="251400"/>
                            </a:xfrm>
                            <a:prstGeom prst="right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D8E2F3"/>
                            </a:solidFill>
                            <a:ln w="12700" cap="flat" cmpd="sng">
                              <a:solidFill>
                                <a:srgbClr val="1C3052"/>
                              </a:solidFill>
                              <a:prstDash val="solid"/>
                              <a:miter lim="800000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400"/>
                                <a:buFont typeface="Arial"/>
                                <a:buNone/>
                              </a:pPr>
                              <a:endParaRPr sz="1400" b="0" i="0" u="none" strike="noStrike" cap="none">
                                <a:solidFill>
                                  <a:srgbClr val="FFFFFF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6" name="Google Shape;1356;p54"/>
                            <p:cNvSpPr/>
                            <p:nvPr/>
                          </p:nvSpPr>
                          <p:spPr>
                            <a:xfrm rot="-5400000">
                              <a:off x="11091625" y="3083429"/>
                              <a:ext cx="279900" cy="251400"/>
                            </a:xfrm>
                            <a:prstGeom prst="right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D8E2F3"/>
                            </a:solidFill>
                            <a:ln w="12700" cap="flat" cmpd="sng">
                              <a:solidFill>
                                <a:srgbClr val="1C3052"/>
                              </a:solidFill>
                              <a:prstDash val="solid"/>
                              <a:miter lim="800000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400"/>
                                <a:buFont typeface="Arial"/>
                                <a:buNone/>
                              </a:pPr>
                              <a:endParaRPr sz="1400" b="0" i="0" u="none" strike="noStrike" cap="none">
                                <a:solidFill>
                                  <a:srgbClr val="FFFFFF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57" name="Google Shape;1357;p54"/>
                            <p:cNvSpPr/>
                            <p:nvPr/>
                          </p:nvSpPr>
                          <p:spPr>
                            <a:xfrm rot="-5400000">
                              <a:off x="9339025" y="3083429"/>
                              <a:ext cx="279900" cy="251400"/>
                            </a:xfrm>
                            <a:prstGeom prst="right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D8E2F3"/>
                            </a:solidFill>
                            <a:ln w="12700" cap="flat" cmpd="sng">
                              <a:solidFill>
                                <a:srgbClr val="1C3052"/>
                              </a:solidFill>
                              <a:prstDash val="solid"/>
                              <a:miter lim="800000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0" marR="0" lvl="0" indent="0" algn="ctr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Pts val="1400"/>
                                <a:buFont typeface="Arial"/>
                                <a:buNone/>
                              </a:pPr>
                              <a:endParaRPr sz="1400" b="0" i="0" u="none" strike="noStrike" cap="none">
                                <a:solidFill>
                                  <a:srgbClr val="FFFFFF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1358" name="Google Shape;1358;p54"/>
                        <p:cNvSpPr/>
                        <p:nvPr/>
                      </p:nvSpPr>
                      <p:spPr>
                        <a:xfrm>
                          <a:off x="7172345" y="3933011"/>
                          <a:ext cx="637200" cy="290100"/>
                        </a:xfrm>
                        <a:prstGeom prst="rect">
                          <a:avLst/>
                        </a:prstGeom>
                        <a:noFill/>
                        <a:ln w="19050" cap="flat" cmpd="sng">
                          <a:solidFill>
                            <a:srgbClr val="00FFFF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" sz="1100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Visit k</a:t>
                          </a:r>
                          <a:endParaRPr sz="1100" b="0" i="0" u="none" strike="noStrike" cap="non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</p:grpSp>
          </p:grpSp>
          <p:sp>
            <p:nvSpPr>
              <p:cNvPr id="1359" name="Google Shape;1359;p54"/>
              <p:cNvSpPr/>
              <p:nvPr/>
            </p:nvSpPr>
            <p:spPr>
              <a:xfrm>
                <a:off x="8243259" y="3342774"/>
                <a:ext cx="553200" cy="433500"/>
              </a:xfrm>
              <a:prstGeom prst="roundRect">
                <a:avLst>
                  <a:gd name="adj" fmla="val 16667"/>
                </a:avLst>
              </a:prstGeom>
              <a:solidFill>
                <a:srgbClr val="ABF9F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GRU Cell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360" name="Google Shape;1360;p54"/>
          <p:cNvPicPr preferRelativeResize="0"/>
          <p:nvPr/>
        </p:nvPicPr>
        <p:blipFill rotWithShape="1">
          <a:blip r:embed="rId4">
            <a:alphaModFix amt="23000"/>
          </a:blip>
          <a:srcRect/>
          <a:stretch/>
        </p:blipFill>
        <p:spPr>
          <a:xfrm>
            <a:off x="3970825" y="2706325"/>
            <a:ext cx="1967575" cy="20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362" name="Google Shape;1362;p54">
            <a:hlinkClick r:id="rId5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55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5632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Evaluation Summary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8" name="Google Shape;1368;p55"/>
          <p:cNvGrpSpPr/>
          <p:nvPr/>
        </p:nvGrpSpPr>
        <p:grpSpPr>
          <a:xfrm>
            <a:off x="259173" y="1886280"/>
            <a:ext cx="8518027" cy="1741929"/>
            <a:chOff x="376000" y="3257976"/>
            <a:chExt cx="8401249" cy="1571145"/>
          </a:xfrm>
        </p:grpSpPr>
        <p:pic>
          <p:nvPicPr>
            <p:cNvPr id="1369" name="Google Shape;1369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6000" y="3257976"/>
              <a:ext cx="8401249" cy="15711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55"/>
            <p:cNvSpPr/>
            <p:nvPr/>
          </p:nvSpPr>
          <p:spPr>
            <a:xfrm>
              <a:off x="2975400" y="3688525"/>
              <a:ext cx="5679900" cy="220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1" name="Google Shape;1371;p55"/>
          <p:cNvSpPr txBox="1"/>
          <p:nvPr/>
        </p:nvSpPr>
        <p:spPr>
          <a:xfrm>
            <a:off x="468500" y="3957300"/>
            <a:ext cx="861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HbA1C time series model has best performance among structured models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373" name="Google Shape;1373;p55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000" y="1886376"/>
            <a:ext cx="8401249" cy="1571145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56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5632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Evaluation Summary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0" name="Google Shape;1380;p56"/>
          <p:cNvGrpSpPr/>
          <p:nvPr/>
        </p:nvGrpSpPr>
        <p:grpSpPr>
          <a:xfrm>
            <a:off x="570275" y="2545525"/>
            <a:ext cx="8585400" cy="1874475"/>
            <a:chOff x="570275" y="2545525"/>
            <a:chExt cx="8585400" cy="1874475"/>
          </a:xfrm>
        </p:grpSpPr>
        <p:sp>
          <p:nvSpPr>
            <p:cNvPr id="1381" name="Google Shape;1381;p56"/>
            <p:cNvSpPr/>
            <p:nvPr/>
          </p:nvSpPr>
          <p:spPr>
            <a:xfrm>
              <a:off x="2975400" y="2545525"/>
              <a:ext cx="5679900" cy="220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6"/>
            <p:cNvSpPr txBox="1"/>
            <p:nvPr/>
          </p:nvSpPr>
          <p:spPr>
            <a:xfrm>
              <a:off x="570275" y="3927400"/>
              <a:ext cx="8585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marR="0" lvl="0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●"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Clinical concepts improve performance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83" name="Google Shape;1383;p56"/>
          <p:cNvGrpSpPr/>
          <p:nvPr/>
        </p:nvGrpSpPr>
        <p:grpSpPr>
          <a:xfrm>
            <a:off x="570275" y="2774125"/>
            <a:ext cx="8442900" cy="2058775"/>
            <a:chOff x="570275" y="2774125"/>
            <a:chExt cx="8442900" cy="2058775"/>
          </a:xfrm>
        </p:grpSpPr>
        <p:sp>
          <p:nvSpPr>
            <p:cNvPr id="1384" name="Google Shape;1384;p56"/>
            <p:cNvSpPr/>
            <p:nvPr/>
          </p:nvSpPr>
          <p:spPr>
            <a:xfrm>
              <a:off x="2975400" y="2774125"/>
              <a:ext cx="5679900" cy="220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6"/>
            <p:cNvSpPr txBox="1"/>
            <p:nvPr/>
          </p:nvSpPr>
          <p:spPr>
            <a:xfrm>
              <a:off x="570275" y="4340300"/>
              <a:ext cx="844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marR="0" lvl="0" indent="-355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●"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Temporal modeling of concepts gives best performance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86" name="Google Shape;1386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387" name="Google Shape;1387;p56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" name="Google Shape;1392;p57"/>
          <p:cNvGrpSpPr/>
          <p:nvPr/>
        </p:nvGrpSpPr>
        <p:grpSpPr>
          <a:xfrm>
            <a:off x="376000" y="1886376"/>
            <a:ext cx="8401249" cy="1571145"/>
            <a:chOff x="376000" y="3257976"/>
            <a:chExt cx="8401249" cy="1571145"/>
          </a:xfrm>
        </p:grpSpPr>
        <p:pic>
          <p:nvPicPr>
            <p:cNvPr id="1393" name="Google Shape;1393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6000" y="3257976"/>
              <a:ext cx="8401249" cy="15711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57"/>
            <p:cNvSpPr/>
            <p:nvPr/>
          </p:nvSpPr>
          <p:spPr>
            <a:xfrm>
              <a:off x="2975400" y="4374325"/>
              <a:ext cx="5679900" cy="220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5" name="Google Shape;1395;p57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5632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Evaluation Summary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57"/>
          <p:cNvSpPr txBox="1"/>
          <p:nvPr/>
        </p:nvSpPr>
        <p:spPr>
          <a:xfrm>
            <a:off x="450675" y="3807775"/>
            <a:ext cx="85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structured to unstructured reduces recall of T2D class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398" name="Google Shape;1398;p57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58"/>
          <p:cNvSpPr txBox="1">
            <a:spLocks noGrp="1"/>
          </p:cNvSpPr>
          <p:nvPr>
            <p:ph type="body" idx="1"/>
          </p:nvPr>
        </p:nvSpPr>
        <p:spPr>
          <a:xfrm>
            <a:off x="398550" y="348625"/>
            <a:ext cx="5632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Subgroup Biases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8"/>
          <p:cNvSpPr txBox="1"/>
          <p:nvPr/>
        </p:nvSpPr>
        <p:spPr>
          <a:xfrm>
            <a:off x="491425" y="1509100"/>
            <a:ext cx="8562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performance for Females despite being majority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models with HbA1C test benefit the White group only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1406" name="Google Shape;1406;p58">
            <a:hlinkClick r:id="rId3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9"/>
          <p:cNvGrpSpPr/>
          <p:nvPr/>
        </p:nvGrpSpPr>
        <p:grpSpPr>
          <a:xfrm>
            <a:off x="823499" y="1528494"/>
            <a:ext cx="6952645" cy="1088880"/>
            <a:chOff x="899698" y="2968918"/>
            <a:chExt cx="6952645" cy="1283905"/>
          </a:xfrm>
        </p:grpSpPr>
        <p:sp>
          <p:nvSpPr>
            <p:cNvPr id="252" name="Google Shape;252;p9"/>
            <p:cNvSpPr/>
            <p:nvPr/>
          </p:nvSpPr>
          <p:spPr>
            <a:xfrm rot="5418185">
              <a:off x="3701342" y="188621"/>
              <a:ext cx="1247717" cy="6844500"/>
            </a:xfrm>
            <a:prstGeom prst="roundRect">
              <a:avLst>
                <a:gd name="adj" fmla="val 16667"/>
              </a:avLst>
            </a:prstGeom>
            <a:solidFill>
              <a:srgbClr val="51D5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1053743" y="3056863"/>
              <a:ext cx="6798600" cy="1087800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RQ  : Can fine-grained temporal information improve patient 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representation hence risk prediction?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1002826" y="3478482"/>
              <a:ext cx="142483" cy="185732"/>
            </a:xfrm>
            <a:custGeom>
              <a:avLst/>
              <a:gdLst/>
              <a:ahLst/>
              <a:cxnLst/>
              <a:rect l="l" t="t" r="r" b="b"/>
              <a:pathLst>
                <a:path w="276113" h="239123" extrusionOk="0">
                  <a:moveTo>
                    <a:pt x="207093" y="0"/>
                  </a:moveTo>
                  <a:lnTo>
                    <a:pt x="69021" y="0"/>
                  </a:lnTo>
                  <a:lnTo>
                    <a:pt x="0" y="119562"/>
                  </a:lnTo>
                  <a:lnTo>
                    <a:pt x="69021" y="239123"/>
                  </a:lnTo>
                  <a:lnTo>
                    <a:pt x="207093" y="239123"/>
                  </a:lnTo>
                  <a:lnTo>
                    <a:pt x="276114" y="119562"/>
                  </a:lnTo>
                  <a:lnTo>
                    <a:pt x="207093" y="0"/>
                  </a:lnTo>
                  <a:close/>
                </a:path>
              </a:pathLst>
            </a:custGeom>
            <a:solidFill>
              <a:srgbClr val="46B87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55" name="Google Shape;255;p9"/>
          <p:cNvGrpSpPr/>
          <p:nvPr/>
        </p:nvGrpSpPr>
        <p:grpSpPr>
          <a:xfrm>
            <a:off x="1356626" y="2834000"/>
            <a:ext cx="6952930" cy="1088861"/>
            <a:chOff x="899413" y="1614794"/>
            <a:chExt cx="6952930" cy="1288898"/>
          </a:xfrm>
        </p:grpSpPr>
        <p:sp>
          <p:nvSpPr>
            <p:cNvPr id="256" name="Google Shape;256;p9"/>
            <p:cNvSpPr/>
            <p:nvPr/>
          </p:nvSpPr>
          <p:spPr>
            <a:xfrm rot="5420664">
              <a:off x="3706140" y="-1167657"/>
              <a:ext cx="1247723" cy="6853800"/>
            </a:xfrm>
            <a:prstGeom prst="roundRect">
              <a:avLst>
                <a:gd name="adj" fmla="val 16667"/>
              </a:avLst>
            </a:prstGeom>
            <a:solidFill>
              <a:srgbClr val="05659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1053743" y="1734193"/>
              <a:ext cx="6798600" cy="1087800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RQ1: Can we improve temporal relation extraction from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clinical notes?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998208" y="2166152"/>
              <a:ext cx="147101" cy="179884"/>
            </a:xfrm>
            <a:custGeom>
              <a:avLst/>
              <a:gdLst/>
              <a:ahLst/>
              <a:cxnLst/>
              <a:rect l="l" t="t" r="r" b="b"/>
              <a:pathLst>
                <a:path w="276113" h="239123" extrusionOk="0">
                  <a:moveTo>
                    <a:pt x="207093" y="0"/>
                  </a:moveTo>
                  <a:lnTo>
                    <a:pt x="69021" y="0"/>
                  </a:lnTo>
                  <a:lnTo>
                    <a:pt x="0" y="119562"/>
                  </a:lnTo>
                  <a:lnTo>
                    <a:pt x="69021" y="239123"/>
                  </a:lnTo>
                  <a:lnTo>
                    <a:pt x="207093" y="239123"/>
                  </a:lnTo>
                  <a:lnTo>
                    <a:pt x="276114" y="119562"/>
                  </a:lnTo>
                  <a:lnTo>
                    <a:pt x="207093" y="0"/>
                  </a:lnTo>
                  <a:close/>
                </a:path>
              </a:pathLst>
            </a:custGeom>
            <a:solidFill>
              <a:srgbClr val="0556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59" name="Google Shape;25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133953" y="304800"/>
            <a:ext cx="863605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Key Research Questions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438550" y="1733452"/>
            <a:ext cx="56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790F1"/>
            </a:gs>
            <a:gs pos="100000">
              <a:srgbClr val="6E63E1"/>
            </a:gs>
          </a:gsLst>
          <a:lin ang="16200000" scaled="0"/>
        </a:gra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ctrTitle"/>
          </p:nvPr>
        </p:nvSpPr>
        <p:spPr>
          <a:xfrm>
            <a:off x="311708" y="158827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Part 2</a:t>
            </a:r>
            <a:endParaRPr/>
          </a:p>
        </p:txBody>
      </p:sp>
      <p:sp>
        <p:nvSpPr>
          <p:cNvPr id="267" name="Google Shape;267;p10"/>
          <p:cNvSpPr txBox="1">
            <a:spLocks noGrp="1"/>
          </p:cNvSpPr>
          <p:nvPr>
            <p:ph type="subTitle" idx="1"/>
          </p:nvPr>
        </p:nvSpPr>
        <p:spPr>
          <a:xfrm>
            <a:off x="311700" y="2343150"/>
            <a:ext cx="85206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chemeClr val="lt1"/>
                </a:solidFill>
              </a:rPr>
              <a:t>End-to-end Temporal Relation Extraction</a:t>
            </a:r>
            <a:endParaRPr dirty="0"/>
          </a:p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chemeClr val="lt1"/>
                </a:solidFill>
              </a:rPr>
              <a:t>from Clinical Text </a:t>
            </a:r>
          </a:p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chemeClr val="lt1"/>
                </a:solidFill>
              </a:rPr>
              <a:t>(ACL 25)</a:t>
            </a:r>
            <a:endParaRPr dirty="0"/>
          </a:p>
        </p:txBody>
      </p:sp>
      <p:sp>
        <p:nvSpPr>
          <p:cNvPr id="268" name="Google Shape;2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269" name="Google Shape;269;p10"/>
          <p:cNvGrpSpPr/>
          <p:nvPr/>
        </p:nvGrpSpPr>
        <p:grpSpPr>
          <a:xfrm>
            <a:off x="3057580" y="3564676"/>
            <a:ext cx="3105128" cy="1157015"/>
            <a:chOff x="4505380" y="1812076"/>
            <a:chExt cx="3105128" cy="1157015"/>
          </a:xfrm>
        </p:grpSpPr>
        <p:grpSp>
          <p:nvGrpSpPr>
            <p:cNvPr id="270" name="Google Shape;270;p10"/>
            <p:cNvGrpSpPr/>
            <p:nvPr/>
          </p:nvGrpSpPr>
          <p:grpSpPr>
            <a:xfrm>
              <a:off x="4505380" y="1812076"/>
              <a:ext cx="3105128" cy="1157015"/>
              <a:chOff x="5463000" y="1811185"/>
              <a:chExt cx="3244648" cy="1269351"/>
            </a:xfrm>
          </p:grpSpPr>
          <p:pic>
            <p:nvPicPr>
              <p:cNvPr id="271" name="Google Shape;271;p1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463000" y="2038047"/>
                <a:ext cx="811650" cy="811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10"/>
              <p:cNvSpPr/>
              <p:nvPr/>
            </p:nvSpPr>
            <p:spPr>
              <a:xfrm>
                <a:off x="6004900" y="2352225"/>
                <a:ext cx="189300" cy="183300"/>
              </a:xfrm>
              <a:prstGeom prst="ellipse">
                <a:avLst/>
              </a:prstGeom>
              <a:solidFill>
                <a:srgbClr val="373535"/>
              </a:solidFill>
              <a:ln w="9525" cap="flat" cmpd="sng">
                <a:solidFill>
                  <a:srgbClr val="36343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0"/>
              <p:cNvSpPr txBox="1"/>
              <p:nvPr/>
            </p:nvSpPr>
            <p:spPr>
              <a:xfrm>
                <a:off x="5902025" y="2274525"/>
                <a:ext cx="4446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en" sz="7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TREx</a:t>
                </a:r>
                <a:endParaRPr sz="7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4" name="Google Shape;274;p10" descr="before"/>
              <p:cNvCxnSpPr>
                <a:stCxn id="273" idx="3"/>
              </p:cNvCxnSpPr>
              <p:nvPr/>
            </p:nvCxnSpPr>
            <p:spPr>
              <a:xfrm rot="10800000" flipH="1">
                <a:off x="6346625" y="2428875"/>
                <a:ext cx="800100" cy="6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E7FC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75" name="Google Shape;275;p10"/>
              <p:cNvSpPr txBox="1"/>
              <p:nvPr/>
            </p:nvSpPr>
            <p:spPr>
              <a:xfrm rot="-710769">
                <a:off x="7570401" y="2628473"/>
                <a:ext cx="666393" cy="387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1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before</a:t>
                </a:r>
                <a:endParaRPr sz="1100" b="0" i="1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p10"/>
              <p:cNvSpPr txBox="1"/>
              <p:nvPr/>
            </p:nvSpPr>
            <p:spPr>
              <a:xfrm rot="15598">
                <a:off x="8045562" y="2189946"/>
                <a:ext cx="661207" cy="388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1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overlap</a:t>
                </a:r>
                <a:endParaRPr sz="1100" b="0" i="1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" name="Google Shape;277;p10"/>
              <p:cNvSpPr txBox="1"/>
              <p:nvPr/>
            </p:nvSpPr>
            <p:spPr>
              <a:xfrm rot="-1810994">
                <a:off x="7368670" y="1955116"/>
                <a:ext cx="676059" cy="383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1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after</a:t>
                </a:r>
                <a:endParaRPr sz="1100" b="0" i="1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8" name="Google Shape;278;p10"/>
            <p:cNvCxnSpPr>
              <a:stCxn id="279" idx="6"/>
              <a:endCxn id="280" idx="2"/>
            </p:cNvCxnSpPr>
            <p:nvPr/>
          </p:nvCxnSpPr>
          <p:spPr>
            <a:xfrm rot="10800000" flipH="1">
              <a:off x="6555300" y="2607563"/>
              <a:ext cx="393300" cy="66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81" name="Google Shape;281;p10"/>
            <p:cNvCxnSpPr>
              <a:stCxn id="282" idx="6"/>
              <a:endCxn id="283" idx="2"/>
            </p:cNvCxnSpPr>
            <p:nvPr/>
          </p:nvCxnSpPr>
          <p:spPr>
            <a:xfrm rot="10800000" flipH="1">
              <a:off x="6441641" y="2110406"/>
              <a:ext cx="397200" cy="304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284" name="Google Shape;284;p10"/>
            <p:cNvCxnSpPr>
              <a:stCxn id="283" idx="5"/>
              <a:endCxn id="280" idx="1"/>
            </p:cNvCxnSpPr>
            <p:nvPr/>
          </p:nvCxnSpPr>
          <p:spPr>
            <a:xfrm>
              <a:off x="6967757" y="2164695"/>
              <a:ext cx="3000" cy="388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grpSp>
          <p:nvGrpSpPr>
            <p:cNvPr id="285" name="Google Shape;285;p10"/>
            <p:cNvGrpSpPr/>
            <p:nvPr/>
          </p:nvGrpSpPr>
          <p:grpSpPr>
            <a:xfrm>
              <a:off x="6290441" y="2033333"/>
              <a:ext cx="809442" cy="717480"/>
              <a:chOff x="1233453" y="3600044"/>
              <a:chExt cx="809442" cy="717480"/>
            </a:xfrm>
          </p:grpSpPr>
          <p:sp>
            <p:nvSpPr>
              <p:cNvPr id="279" name="Google Shape;279;p10"/>
              <p:cNvSpPr/>
              <p:nvPr/>
            </p:nvSpPr>
            <p:spPr>
              <a:xfrm>
                <a:off x="1347112" y="4163624"/>
                <a:ext cx="151200" cy="153900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" name="Google Shape;283;p10"/>
              <p:cNvSpPr/>
              <p:nvPr/>
            </p:nvSpPr>
            <p:spPr>
              <a:xfrm>
                <a:off x="1781712" y="3600044"/>
                <a:ext cx="151200" cy="153900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>
                <a:off x="1233453" y="3905117"/>
                <a:ext cx="151200" cy="1536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>
                <a:off x="1891695" y="4097176"/>
                <a:ext cx="151200" cy="153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>
            <a:spLocks noGrp="1"/>
          </p:cNvSpPr>
          <p:nvPr>
            <p:ph type="title"/>
          </p:nvPr>
        </p:nvSpPr>
        <p:spPr>
          <a:xfrm>
            <a:off x="159300" y="152400"/>
            <a:ext cx="8520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Temporal Relation Extraction (TREx)</a:t>
            </a:r>
            <a:endParaRPr sz="2500"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640750" y="1259850"/>
            <a:ext cx="1401600" cy="2881200"/>
          </a:xfrm>
          <a:prstGeom prst="rect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379869" y="1593803"/>
            <a:ext cx="666000" cy="6102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disorder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171840" y="1593803"/>
            <a:ext cx="666000" cy="610200"/>
          </a:xfrm>
          <a:prstGeom prst="ellipse">
            <a:avLst/>
          </a:prstGeom>
          <a:solidFill>
            <a:srgbClr val="FAFB9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admitted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100263" y="3185863"/>
            <a:ext cx="839400" cy="610200"/>
          </a:xfrm>
          <a:prstGeom prst="ellipse">
            <a:avLst/>
          </a:prstGeom>
          <a:solidFill>
            <a:srgbClr val="FAFB9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002087" y="1593800"/>
            <a:ext cx="735600" cy="610200"/>
          </a:xfrm>
          <a:prstGeom prst="ellipse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Heparin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176407" y="2401801"/>
            <a:ext cx="666000" cy="6102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03/24/97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902098" y="1593797"/>
            <a:ext cx="674400" cy="610200"/>
          </a:xfrm>
          <a:prstGeom prst="ellipse">
            <a:avLst/>
          </a:prstGeom>
          <a:solidFill>
            <a:srgbClr val="4158BF"/>
          </a:solidFill>
          <a:ln w="9525" cap="flat" cmpd="sng">
            <a:solidFill>
              <a:srgbClr val="4158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MRI</a:t>
            </a: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762608" y="2401814"/>
            <a:ext cx="666000" cy="6102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03/28/97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644800" y="3185875"/>
            <a:ext cx="901500" cy="610200"/>
          </a:xfrm>
          <a:prstGeom prst="ellipse">
            <a:avLst/>
          </a:prstGeom>
          <a:solidFill>
            <a:srgbClr val="FAFB9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DISCHARGE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1"/>
          <p:cNvCxnSpPr>
            <a:stCxn id="295" idx="6"/>
            <a:endCxn id="297" idx="2"/>
          </p:cNvCxnSpPr>
          <p:nvPr/>
        </p:nvCxnSpPr>
        <p:spPr>
          <a:xfrm>
            <a:off x="5737687" y="1898900"/>
            <a:ext cx="164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1" name="Google Shape;301;p11"/>
          <p:cNvCxnSpPr>
            <a:stCxn id="299" idx="0"/>
            <a:endCxn id="298" idx="4"/>
          </p:cNvCxnSpPr>
          <p:nvPr/>
        </p:nvCxnSpPr>
        <p:spPr>
          <a:xfrm rot="10800000">
            <a:off x="7095550" y="3011875"/>
            <a:ext cx="0" cy="17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302" name="Google Shape;302;p11"/>
          <p:cNvCxnSpPr>
            <a:stCxn id="296" idx="4"/>
            <a:endCxn id="294" idx="0"/>
          </p:cNvCxnSpPr>
          <p:nvPr/>
        </p:nvCxnSpPr>
        <p:spPr>
          <a:xfrm>
            <a:off x="4509407" y="3012001"/>
            <a:ext cx="10500" cy="17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303" name="Google Shape;303;p11"/>
          <p:cNvCxnSpPr>
            <a:stCxn id="292" idx="6"/>
            <a:endCxn id="293" idx="2"/>
          </p:cNvCxnSpPr>
          <p:nvPr/>
        </p:nvCxnSpPr>
        <p:spPr>
          <a:xfrm>
            <a:off x="4045869" y="1898903"/>
            <a:ext cx="1260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4" name="Google Shape;304;p11"/>
          <p:cNvCxnSpPr>
            <a:stCxn id="296" idx="0"/>
            <a:endCxn id="293" idx="4"/>
          </p:cNvCxnSpPr>
          <p:nvPr/>
        </p:nvCxnSpPr>
        <p:spPr>
          <a:xfrm rot="10800000">
            <a:off x="4504907" y="2204101"/>
            <a:ext cx="4500" cy="19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305" name="Google Shape;305;p11"/>
          <p:cNvSpPr/>
          <p:nvPr/>
        </p:nvSpPr>
        <p:spPr>
          <a:xfrm>
            <a:off x="5906144" y="2401812"/>
            <a:ext cx="666000" cy="610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days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1"/>
          <p:cNvCxnSpPr>
            <a:stCxn id="305" idx="0"/>
            <a:endCxn id="297" idx="4"/>
          </p:cNvCxnSpPr>
          <p:nvPr/>
        </p:nvCxnSpPr>
        <p:spPr>
          <a:xfrm rot="10800000" flipH="1">
            <a:off x="6239144" y="2204112"/>
            <a:ext cx="300" cy="19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307" name="Google Shape;307;p11"/>
          <p:cNvSpPr/>
          <p:nvPr/>
        </p:nvSpPr>
        <p:spPr>
          <a:xfrm>
            <a:off x="3276025" y="2603300"/>
            <a:ext cx="267600" cy="2790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3100" y="1556375"/>
            <a:ext cx="3126900" cy="2329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ADMISSION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DATE: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EEEEEE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CCCCCC"/>
                </a:highlight>
                <a:latin typeface="Calibri"/>
                <a:ea typeface="Calibri"/>
                <a:cs typeface="Calibri"/>
                <a:sym typeface="Calibri"/>
              </a:rPr>
              <a:t>03/24/97</a:t>
            </a:r>
            <a:endParaRPr sz="1500" b="0" i="0" u="none" strike="noStrike" cap="none">
              <a:solidFill>
                <a:srgbClr val="000000"/>
              </a:solidFill>
              <a:highlight>
                <a:srgbClr val="CCCC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DISCHARGE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DATE: 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CCCCCC"/>
                </a:highlight>
                <a:latin typeface="Calibri"/>
                <a:ea typeface="Calibri"/>
                <a:cs typeface="Calibri"/>
                <a:sym typeface="Calibri"/>
              </a:rPr>
              <a:t>03/28/97</a:t>
            </a:r>
            <a:endParaRPr sz="1500" b="0" i="0" u="none" strike="noStrike" cap="none">
              <a:solidFill>
                <a:srgbClr val="000000"/>
              </a:solidFill>
              <a:highlight>
                <a:srgbClr val="CCCC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patient was 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admitted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her 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EC9D36"/>
                </a:highlight>
                <a:latin typeface="Calibri"/>
                <a:ea typeface="Calibri"/>
                <a:cs typeface="Calibri"/>
                <a:sym typeface="Calibri"/>
              </a:rPr>
              <a:t>gait disorder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…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 was initially placed on  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heparin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" sz="1500" b="0" i="0" u="none" strike="noStrike" cap="none">
                <a:solidFill>
                  <a:srgbClr val="000000"/>
                </a:solidFill>
                <a:highlight>
                  <a:srgbClr val="EAD1DC"/>
                </a:highlight>
                <a:latin typeface="Calibri"/>
                <a:ea typeface="Calibri"/>
                <a:cs typeface="Calibri"/>
                <a:sym typeface="Calibri"/>
              </a:rPr>
              <a:t>two days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until her </a:t>
            </a:r>
            <a:r>
              <a:rPr lang="en" sz="1500" b="0" i="0" u="none" strike="noStrike" cap="none">
                <a:solidFill>
                  <a:srgbClr val="FFFFFF"/>
                </a:solidFill>
                <a:highlight>
                  <a:srgbClr val="3356C5"/>
                </a:highlight>
                <a:latin typeface="Calibri"/>
                <a:ea typeface="Calibri"/>
                <a:cs typeface="Calibri"/>
                <a:sym typeface="Calibri"/>
              </a:rPr>
              <a:t>MRI</a:t>
            </a:r>
            <a:r>
              <a:rPr lang="en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 were obtained.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1"/>
          <p:cNvCxnSpPr>
            <a:stCxn id="295" idx="2"/>
            <a:endCxn id="293" idx="6"/>
          </p:cNvCxnSpPr>
          <p:nvPr/>
        </p:nvCxnSpPr>
        <p:spPr>
          <a:xfrm rot="10800000">
            <a:off x="4837987" y="1898900"/>
            <a:ext cx="164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310" name="Google Shape;310;p11"/>
          <p:cNvCxnSpPr>
            <a:stCxn id="305" idx="6"/>
            <a:endCxn id="298" idx="2"/>
          </p:cNvCxnSpPr>
          <p:nvPr/>
        </p:nvCxnSpPr>
        <p:spPr>
          <a:xfrm>
            <a:off x="6572144" y="2706912"/>
            <a:ext cx="190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11" name="Google Shape;311;p11"/>
          <p:cNvGrpSpPr/>
          <p:nvPr/>
        </p:nvGrpSpPr>
        <p:grpSpPr>
          <a:xfrm>
            <a:off x="7708425" y="1221025"/>
            <a:ext cx="1178250" cy="477900"/>
            <a:chOff x="4050825" y="4269025"/>
            <a:chExt cx="1178250" cy="477900"/>
          </a:xfrm>
        </p:grpSpPr>
        <p:cxnSp>
          <p:nvCxnSpPr>
            <p:cNvPr id="312" name="Google Shape;312;p11"/>
            <p:cNvCxnSpPr/>
            <p:nvPr/>
          </p:nvCxnSpPr>
          <p:spPr>
            <a:xfrm rot="10800000">
              <a:off x="4050825" y="4620725"/>
              <a:ext cx="4527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sp>
          <p:nvSpPr>
            <p:cNvPr id="313" name="Google Shape;313;p11"/>
            <p:cNvSpPr/>
            <p:nvPr/>
          </p:nvSpPr>
          <p:spPr>
            <a:xfrm>
              <a:off x="4493475" y="4269025"/>
              <a:ext cx="7356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3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TLINK</a:t>
              </a:r>
              <a:endParaRPr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Overlap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11"/>
          <p:cNvGrpSpPr/>
          <p:nvPr/>
        </p:nvGrpSpPr>
        <p:grpSpPr>
          <a:xfrm>
            <a:off x="7741675" y="1535500"/>
            <a:ext cx="1093850" cy="364800"/>
            <a:chOff x="5227075" y="4354900"/>
            <a:chExt cx="1093850" cy="364800"/>
          </a:xfrm>
        </p:grpSpPr>
        <p:cxnSp>
          <p:nvCxnSpPr>
            <p:cNvPr id="315" name="Google Shape;315;p11"/>
            <p:cNvCxnSpPr/>
            <p:nvPr/>
          </p:nvCxnSpPr>
          <p:spPr>
            <a:xfrm rot="10800000">
              <a:off x="5227075" y="4549075"/>
              <a:ext cx="4527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sp>
          <p:nvSpPr>
            <p:cNvPr id="316" name="Google Shape;316;p11"/>
            <p:cNvSpPr txBox="1"/>
            <p:nvPr/>
          </p:nvSpPr>
          <p:spPr>
            <a:xfrm>
              <a:off x="5646525" y="4354900"/>
              <a:ext cx="6744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Before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7" name="Google Shape;317;p11"/>
          <p:cNvCxnSpPr/>
          <p:nvPr/>
        </p:nvCxnSpPr>
        <p:spPr>
          <a:xfrm rot="10800000">
            <a:off x="7737363" y="1898900"/>
            <a:ext cx="4527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18" name="Google Shape;318;p11"/>
          <p:cNvSpPr txBox="1"/>
          <p:nvPr/>
        </p:nvSpPr>
        <p:spPr>
          <a:xfrm>
            <a:off x="8181663" y="1716500"/>
            <a:ext cx="674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7818500" y="2230375"/>
            <a:ext cx="1401600" cy="1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PROBLEM     </a:t>
            </a:r>
            <a:endParaRPr sz="1400" b="0" i="0" u="none" strike="noStrike" cap="none">
              <a:solidFill>
                <a:srgbClr val="000000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OCCURRENCE</a:t>
            </a: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BED6AC"/>
                </a:highlight>
                <a:latin typeface="Calibri"/>
                <a:ea typeface="Calibri"/>
                <a:cs typeface="Calibri"/>
                <a:sym typeface="Calibri"/>
              </a:rPr>
              <a:t>TREATMENT</a:t>
            </a:r>
            <a:endParaRPr sz="1400" b="0" i="0" u="none" strike="noStrike" cap="none">
              <a:solidFill>
                <a:srgbClr val="000000"/>
              </a:solidFill>
              <a:highlight>
                <a:srgbClr val="BED6A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highlight>
                  <a:srgbClr val="4158BE"/>
                </a:highlight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1400" b="0" i="0" u="none" strike="noStrike" cap="none">
              <a:solidFill>
                <a:srgbClr val="FFFFFF"/>
              </a:solidFill>
              <a:highlight>
                <a:srgbClr val="4158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highlight>
                <a:srgbClr val="4158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CCCCCC"/>
                </a:highlight>
                <a:latin typeface="Calibri"/>
                <a:ea typeface="Calibri"/>
                <a:cs typeface="Calibri"/>
                <a:sym typeface="Calibri"/>
              </a:rPr>
              <a:t>DATE</a:t>
            </a:r>
            <a:endParaRPr sz="1400" b="0" i="0" u="none" strike="noStrike" cap="none">
              <a:solidFill>
                <a:srgbClr val="000000"/>
              </a:solidFill>
              <a:highlight>
                <a:srgbClr val="CCCC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EAD1DC"/>
                </a:highlight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sz="1400" b="0" i="0" u="none" strike="noStrike" cap="none">
              <a:solidFill>
                <a:srgbClr val="FFFFFF"/>
              </a:solidFill>
              <a:highlight>
                <a:srgbClr val="4158B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7622525" y="1975500"/>
            <a:ext cx="1377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7696200" y="3276600"/>
            <a:ext cx="1346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TimEx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1"/>
          <p:cNvCxnSpPr/>
          <p:nvPr/>
        </p:nvCxnSpPr>
        <p:spPr>
          <a:xfrm flipH="1">
            <a:off x="7646975" y="2022675"/>
            <a:ext cx="13989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p11"/>
          <p:cNvCxnSpPr/>
          <p:nvPr/>
        </p:nvCxnSpPr>
        <p:spPr>
          <a:xfrm flipH="1">
            <a:off x="3387925" y="3958950"/>
            <a:ext cx="40458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324" name="Google Shape;324;p11"/>
          <p:cNvSpPr txBox="1"/>
          <p:nvPr/>
        </p:nvSpPr>
        <p:spPr>
          <a:xfrm>
            <a:off x="5055050" y="3679175"/>
            <a:ext cx="674400" cy="46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2351" y="85192"/>
            <a:ext cx="1093975" cy="16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 txBox="1">
            <a:spLocks noGrp="1"/>
          </p:cNvSpPr>
          <p:nvPr>
            <p:ph type="title"/>
          </p:nvPr>
        </p:nvSpPr>
        <p:spPr>
          <a:xfrm>
            <a:off x="159300" y="152400"/>
            <a:ext cx="41439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2500"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332" name="Google Shape;332;p12"/>
          <p:cNvGrpSpPr/>
          <p:nvPr/>
        </p:nvGrpSpPr>
        <p:grpSpPr>
          <a:xfrm>
            <a:off x="260027" y="977308"/>
            <a:ext cx="7686804" cy="3943449"/>
            <a:chOff x="4899317" y="1750669"/>
            <a:chExt cx="8321753" cy="2883903"/>
          </a:xfrm>
        </p:grpSpPr>
        <p:sp>
          <p:nvSpPr>
            <p:cNvPr id="333" name="Google Shape;333;p12"/>
            <p:cNvSpPr/>
            <p:nvPr/>
          </p:nvSpPr>
          <p:spPr>
            <a:xfrm rot="5420664">
              <a:off x="7609420" y="-926258"/>
              <a:ext cx="2834438" cy="8237756"/>
            </a:xfrm>
            <a:prstGeom prst="roundRect">
              <a:avLst>
                <a:gd name="adj" fmla="val 13345"/>
              </a:avLst>
            </a:prstGeom>
            <a:solidFill>
              <a:srgbClr val="E74C3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5008945" y="1809306"/>
              <a:ext cx="8212125" cy="2800428"/>
            </a:xfrm>
            <a:prstGeom prst="roundRect">
              <a:avLst>
                <a:gd name="adj" fmla="val 12293"/>
              </a:avLst>
            </a:prstGeom>
            <a:solidFill>
              <a:srgbClr val="F5E6E9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457200" marR="0" lvl="0" indent="-3492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Clinical jargon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914400" marR="0" lvl="1" indent="-3492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Char char="○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Abbreviations:</a:t>
              </a:r>
              <a:r>
                <a:rPr lang="en" sz="1800" b="0" i="0" u="none" strike="noStrike" cap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b.i.d (twice a day)</a:t>
              </a:r>
              <a:endParaRPr sz="1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14400" marR="0" lvl="1" indent="-3492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Char char="○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Synonyms</a:t>
              </a:r>
              <a:r>
                <a:rPr lang="en" sz="1800" b="0" i="0" u="none" strike="noStrike" cap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T2DM/T2D/DM2/Diabetes Type 2</a:t>
              </a: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14400" marR="0" lvl="1" indent="-3492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Char char="○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Homonyms (context shapes meaning)</a:t>
              </a:r>
              <a:r>
                <a:rPr lang="en" sz="1800" b="0" i="0" u="none" strike="noStrike" cap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65150" marR="0" lvl="1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DM2 ~ Type 2 Diabetes/Dystrophia Myotonica Type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492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Implicit temporal dependencies:</a:t>
              </a:r>
              <a:r>
                <a:rPr lang="en" sz="1800" b="0" i="0" u="none" strike="noStrike" cap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0795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(A before B) &amp; (B before C) → (A before C)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49250" algn="l" rtl="0">
                <a:lnSpc>
                  <a:spcPct val="15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900"/>
                <a:buFont typeface="Times New Roman"/>
                <a:buChar char="●"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documents, O(n</a:t>
              </a:r>
              <a:r>
                <a:rPr lang="en" sz="1800" b="0" i="0" u="none" strike="noStrike" cap="none" baseline="30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pairs challenge for transformer-based models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 txBox="1">
            <a:spLocks noGrp="1"/>
          </p:cNvSpPr>
          <p:nvPr>
            <p:ph type="title"/>
          </p:nvPr>
        </p:nvSpPr>
        <p:spPr>
          <a:xfrm>
            <a:off x="159300" y="152400"/>
            <a:ext cx="89271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Solution: Graph-based Temporal Relation Extraction (G</a:t>
            </a:r>
            <a:r>
              <a:rPr lang="en" sz="23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RAPH</a:t>
            </a: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TR</a:t>
            </a:r>
            <a:r>
              <a:rPr lang="en" sz="23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EX)</a:t>
            </a:r>
            <a:endParaRPr sz="2300"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 txBox="1">
            <a:spLocks noGrp="1"/>
          </p:cNvSpPr>
          <p:nvPr>
            <p:ph type="body" idx="1"/>
          </p:nvPr>
        </p:nvSpPr>
        <p:spPr>
          <a:xfrm>
            <a:off x="235500" y="892099"/>
            <a:ext cx="8642400" cy="24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clinically pre-trained language models (LPLM)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local, contextualized representations from text but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capture global, long-range dependencies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Neural Networks (GNN)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 in relational reasoning, but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semantic-rich embeddings from LPLMs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304800" y="3471448"/>
            <a:ext cx="8305800" cy="1308035"/>
          </a:xfrm>
          <a:prstGeom prst="rect">
            <a:avLst/>
          </a:prstGeom>
          <a:noFill/>
          <a:ln w="19050" cap="flat" cmpd="sng">
            <a:solidFill>
              <a:srgbClr val="E03A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Solution: G</a:t>
            </a: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RAPH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</a:t>
            </a: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Fuses LPLMs with heterogeneous GNNs for contextual and structured extraction 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sliding windows to handle long document context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4"/>
          <p:cNvGrpSpPr/>
          <p:nvPr/>
        </p:nvGrpSpPr>
        <p:grpSpPr>
          <a:xfrm>
            <a:off x="769120" y="990600"/>
            <a:ext cx="7484100" cy="3458919"/>
            <a:chOff x="769120" y="990600"/>
            <a:chExt cx="7484100" cy="3458919"/>
          </a:xfrm>
        </p:grpSpPr>
        <p:grpSp>
          <p:nvGrpSpPr>
            <p:cNvPr id="349" name="Google Shape;349;p14"/>
            <p:cNvGrpSpPr/>
            <p:nvPr/>
          </p:nvGrpSpPr>
          <p:grpSpPr>
            <a:xfrm>
              <a:off x="1207740" y="3330328"/>
              <a:ext cx="7045480" cy="1119191"/>
              <a:chOff x="1207740" y="3330328"/>
              <a:chExt cx="7045480" cy="1119191"/>
            </a:xfrm>
          </p:grpSpPr>
          <p:grpSp>
            <p:nvGrpSpPr>
              <p:cNvPr id="350" name="Google Shape;350;p14"/>
              <p:cNvGrpSpPr/>
              <p:nvPr/>
            </p:nvGrpSpPr>
            <p:grpSpPr>
              <a:xfrm>
                <a:off x="1420225" y="3659155"/>
                <a:ext cx="588371" cy="790364"/>
                <a:chOff x="843475" y="2964908"/>
                <a:chExt cx="519900" cy="559352"/>
              </a:xfrm>
            </p:grpSpPr>
            <p:sp>
              <p:nvSpPr>
                <p:cNvPr id="351" name="Google Shape;351;p14"/>
                <p:cNvSpPr/>
                <p:nvPr/>
              </p:nvSpPr>
              <p:spPr>
                <a:xfrm>
                  <a:off x="843475" y="3181960"/>
                  <a:ext cx="519900" cy="342300"/>
                </a:xfrm>
                <a:prstGeom prst="triangle">
                  <a:avLst>
                    <a:gd name="adj" fmla="val 53016"/>
                  </a:avLst>
                </a:prstGeom>
                <a:solidFill>
                  <a:srgbClr val="F4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52;p14"/>
                <p:cNvSpPr/>
                <p:nvPr/>
              </p:nvSpPr>
              <p:spPr>
                <a:xfrm>
                  <a:off x="995375" y="2964908"/>
                  <a:ext cx="281100" cy="233700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>
                  <a:solidFill>
                    <a:srgbClr val="A64D7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3" name="Google Shape;353;p14"/>
              <p:cNvSpPr/>
              <p:nvPr/>
            </p:nvSpPr>
            <p:spPr>
              <a:xfrm>
                <a:off x="2503300" y="3892076"/>
                <a:ext cx="1909500" cy="529200"/>
              </a:xfrm>
              <a:prstGeom prst="triangle">
                <a:avLst>
                  <a:gd name="adj" fmla="val 49349"/>
                </a:avLst>
              </a:prstGeom>
              <a:solidFill>
                <a:srgbClr val="F4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4"/>
              <p:cNvSpPr/>
              <p:nvPr/>
            </p:nvSpPr>
            <p:spPr>
              <a:xfrm>
                <a:off x="7509025" y="3766300"/>
                <a:ext cx="588600" cy="683100"/>
              </a:xfrm>
              <a:prstGeom prst="triangle">
                <a:avLst>
                  <a:gd name="adj" fmla="val 47525"/>
                </a:avLst>
              </a:prstGeom>
              <a:solidFill>
                <a:srgbClr val="F4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4"/>
              <p:cNvSpPr/>
              <p:nvPr/>
            </p:nvSpPr>
            <p:spPr>
              <a:xfrm>
                <a:off x="5232525" y="3843050"/>
                <a:ext cx="1431600" cy="560400"/>
              </a:xfrm>
              <a:prstGeom prst="triangle">
                <a:avLst>
                  <a:gd name="adj" fmla="val 49620"/>
                </a:avLst>
              </a:prstGeom>
              <a:solidFill>
                <a:srgbClr val="F4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6" name="Google Shape;356;p14"/>
              <p:cNvCxnSpPr>
                <a:stCxn id="357" idx="4"/>
                <a:endCxn id="352" idx="1"/>
              </p:cNvCxnSpPr>
              <p:nvPr/>
            </p:nvCxnSpPr>
            <p:spPr>
              <a:xfrm>
                <a:off x="1207740" y="3395846"/>
                <a:ext cx="431100" cy="311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58" name="Google Shape;358;p14"/>
              <p:cNvCxnSpPr>
                <a:stCxn id="352" idx="7"/>
                <a:endCxn id="359" idx="3"/>
              </p:cNvCxnSpPr>
              <p:nvPr/>
            </p:nvCxnSpPr>
            <p:spPr>
              <a:xfrm rot="10800000" flipH="1">
                <a:off x="1863664" y="3564714"/>
                <a:ext cx="344100" cy="142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0" name="Google Shape;360;p14"/>
              <p:cNvCxnSpPr>
                <a:stCxn id="359" idx="5"/>
                <a:endCxn id="361" idx="2"/>
              </p:cNvCxnSpPr>
              <p:nvPr/>
            </p:nvCxnSpPr>
            <p:spPr>
              <a:xfrm>
                <a:off x="2432609" y="3564663"/>
                <a:ext cx="852600" cy="327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 rot="10800000" flipH="1">
                <a:off x="3344145" y="3551437"/>
                <a:ext cx="1215000" cy="435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3" name="Google Shape;363;p14"/>
              <p:cNvCxnSpPr>
                <a:stCxn id="364" idx="5"/>
                <a:endCxn id="365" idx="2"/>
              </p:cNvCxnSpPr>
              <p:nvPr/>
            </p:nvCxnSpPr>
            <p:spPr>
              <a:xfrm>
                <a:off x="4784045" y="3455583"/>
                <a:ext cx="1015800" cy="403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6" name="Google Shape;366;p14"/>
              <p:cNvCxnSpPr>
                <a:stCxn id="365" idx="6"/>
                <a:endCxn id="367" idx="4"/>
              </p:cNvCxnSpPr>
              <p:nvPr/>
            </p:nvCxnSpPr>
            <p:spPr>
              <a:xfrm rot="10800000" flipH="1">
                <a:off x="6117913" y="3613528"/>
                <a:ext cx="916800" cy="24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8" name="Google Shape;368;p14"/>
              <p:cNvCxnSpPr>
                <a:stCxn id="367" idx="5"/>
                <a:endCxn id="369" idx="2"/>
              </p:cNvCxnSpPr>
              <p:nvPr/>
            </p:nvCxnSpPr>
            <p:spPr>
              <a:xfrm>
                <a:off x="7147261" y="3564135"/>
                <a:ext cx="480000" cy="295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70" name="Google Shape;370;p14"/>
              <p:cNvCxnSpPr>
                <a:stCxn id="369" idx="6"/>
                <a:endCxn id="371" idx="4"/>
              </p:cNvCxnSpPr>
              <p:nvPr/>
            </p:nvCxnSpPr>
            <p:spPr>
              <a:xfrm rot="10800000" flipH="1">
                <a:off x="7945120" y="3330328"/>
                <a:ext cx="308100" cy="529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41B47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361" name="Google Shape;361;p14"/>
              <p:cNvSpPr/>
              <p:nvPr/>
            </p:nvSpPr>
            <p:spPr>
              <a:xfrm>
                <a:off x="3285082" y="3726537"/>
                <a:ext cx="318000" cy="330000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>
                <a:off x="5799913" y="3694528"/>
                <a:ext cx="318000" cy="330000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4"/>
              <p:cNvSpPr/>
              <p:nvPr/>
            </p:nvSpPr>
            <p:spPr>
              <a:xfrm>
                <a:off x="7627120" y="3694528"/>
                <a:ext cx="318000" cy="330000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2" name="Google Shape;372;p14"/>
            <p:cNvSpPr/>
            <p:nvPr/>
          </p:nvSpPr>
          <p:spPr>
            <a:xfrm>
              <a:off x="769120" y="1103728"/>
              <a:ext cx="318000" cy="330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A64D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4"/>
            <p:cNvSpPr txBox="1"/>
            <p:nvPr/>
          </p:nvSpPr>
          <p:spPr>
            <a:xfrm>
              <a:off x="1087125" y="990600"/>
              <a:ext cx="646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 Nodes: capture context between two entities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74" name="Google Shape;37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375" name="Google Shape;375;p14"/>
          <p:cNvSpPr txBox="1">
            <a:spLocks noGrp="1"/>
          </p:cNvSpPr>
          <p:nvPr>
            <p:ph type="title"/>
          </p:nvPr>
        </p:nvSpPr>
        <p:spPr>
          <a:xfrm>
            <a:off x="235500" y="76200"/>
            <a:ext cx="8520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Heterogeneous Document-Level Graph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 txBox="1"/>
          <p:nvPr/>
        </p:nvSpPr>
        <p:spPr>
          <a:xfrm>
            <a:off x="544025" y="643200"/>
            <a:ext cx="671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Innovative Local and Global Landmarks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8018628" y="1969425"/>
            <a:ext cx="982244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HGT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8" name="Google Shape;378;p14"/>
          <p:cNvCxnSpPr/>
          <p:nvPr/>
        </p:nvCxnSpPr>
        <p:spPr>
          <a:xfrm>
            <a:off x="7660814" y="2210601"/>
            <a:ext cx="235200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9" name="Google Shape;379;p14"/>
          <p:cNvCxnSpPr>
            <a:stCxn id="364" idx="6"/>
            <a:endCxn id="367" idx="2"/>
          </p:cNvCxnSpPr>
          <p:nvPr/>
        </p:nvCxnSpPr>
        <p:spPr>
          <a:xfrm>
            <a:off x="4830615" y="3336365"/>
            <a:ext cx="2045100" cy="108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0" name="Google Shape;380;p14"/>
          <p:cNvCxnSpPr>
            <a:stCxn id="381" idx="6"/>
            <a:endCxn id="382" idx="2"/>
          </p:cNvCxnSpPr>
          <p:nvPr/>
        </p:nvCxnSpPr>
        <p:spPr>
          <a:xfrm>
            <a:off x="786503" y="2559701"/>
            <a:ext cx="4768500" cy="642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dash"/>
            <a:round/>
            <a:headEnd type="none" w="sm" len="sm"/>
            <a:tailEnd type="stealth" w="med" len="med"/>
          </a:ln>
        </p:spPr>
      </p:cxnSp>
      <p:grpSp>
        <p:nvGrpSpPr>
          <p:cNvPr id="383" name="Google Shape;383;p14"/>
          <p:cNvGrpSpPr/>
          <p:nvPr/>
        </p:nvGrpSpPr>
        <p:grpSpPr>
          <a:xfrm>
            <a:off x="301675" y="1145138"/>
            <a:ext cx="8806544" cy="3372138"/>
            <a:chOff x="301675" y="1145138"/>
            <a:chExt cx="8806544" cy="3372138"/>
          </a:xfrm>
        </p:grpSpPr>
        <p:cxnSp>
          <p:nvCxnSpPr>
            <p:cNvPr id="384" name="Google Shape;384;p14"/>
            <p:cNvCxnSpPr/>
            <p:nvPr/>
          </p:nvCxnSpPr>
          <p:spPr>
            <a:xfrm>
              <a:off x="7660814" y="1905801"/>
              <a:ext cx="2352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85" name="Google Shape;385;p14"/>
            <p:cNvSpPr txBox="1"/>
            <p:nvPr/>
          </p:nvSpPr>
          <p:spPr>
            <a:xfrm>
              <a:off x="7504388" y="1145138"/>
              <a:ext cx="1203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" sz="15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Temporal</a:t>
              </a:r>
              <a:r>
                <a:rPr lang="en" sz="1500" b="1" i="0" u="none" strike="noStrike" cap="none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5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Edges </a:t>
              </a:r>
              <a:endParaRPr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p14"/>
            <p:cNvSpPr txBox="1"/>
            <p:nvPr/>
          </p:nvSpPr>
          <p:spPr>
            <a:xfrm>
              <a:off x="7980131" y="1676400"/>
              <a:ext cx="1128088" cy="4154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" sz="15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before HGT</a:t>
              </a:r>
              <a:endParaRPr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87" name="Google Shape;387;p14"/>
            <p:cNvGrpSpPr/>
            <p:nvPr/>
          </p:nvGrpSpPr>
          <p:grpSpPr>
            <a:xfrm>
              <a:off x="301675" y="2992656"/>
              <a:ext cx="8643300" cy="1524620"/>
              <a:chOff x="301675" y="2916456"/>
              <a:chExt cx="8643300" cy="1524620"/>
            </a:xfrm>
          </p:grpSpPr>
          <p:cxnSp>
            <p:nvCxnSpPr>
              <p:cNvPr id="388" name="Google Shape;388;p14"/>
              <p:cNvCxnSpPr>
                <a:stCxn id="357" idx="4"/>
                <a:endCxn id="359" idx="2"/>
              </p:cNvCxnSpPr>
              <p:nvPr/>
            </p:nvCxnSpPr>
            <p:spPr>
              <a:xfrm>
                <a:off x="1207740" y="3319646"/>
                <a:ext cx="953400" cy="4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999999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389" name="Google Shape;389;p14"/>
              <p:cNvCxnSpPr>
                <a:stCxn id="364" idx="1"/>
                <a:endCxn id="357" idx="6"/>
              </p:cNvCxnSpPr>
              <p:nvPr/>
            </p:nvCxnSpPr>
            <p:spPr>
              <a:xfrm flipH="1">
                <a:off x="1366885" y="3140947"/>
                <a:ext cx="3192300" cy="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999999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390" name="Google Shape;390;p14"/>
              <p:cNvCxnSpPr>
                <a:stCxn id="371" idx="2"/>
                <a:endCxn id="357" idx="7"/>
              </p:cNvCxnSpPr>
              <p:nvPr/>
            </p:nvCxnSpPr>
            <p:spPr>
              <a:xfrm rot="10800000">
                <a:off x="1320187" y="3031356"/>
                <a:ext cx="6774000" cy="54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999999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391" name="Google Shape;391;p14"/>
              <p:cNvCxnSpPr>
                <a:stCxn id="371" idx="3"/>
                <a:endCxn id="367" idx="6"/>
              </p:cNvCxnSpPr>
              <p:nvPr/>
            </p:nvCxnSpPr>
            <p:spPr>
              <a:xfrm flipH="1">
                <a:off x="7193957" y="3204786"/>
                <a:ext cx="946800" cy="163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357" name="Google Shape;357;p14"/>
              <p:cNvSpPr/>
              <p:nvPr/>
            </p:nvSpPr>
            <p:spPr>
              <a:xfrm>
                <a:off x="1048740" y="2981846"/>
                <a:ext cx="318000" cy="337800"/>
              </a:xfrm>
              <a:prstGeom prst="ellipse">
                <a:avLst/>
              </a:prstGeom>
              <a:solidFill>
                <a:srgbClr val="FAFB93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4"/>
              <p:cNvSpPr/>
              <p:nvPr/>
            </p:nvSpPr>
            <p:spPr>
              <a:xfrm>
                <a:off x="8094187" y="2916456"/>
                <a:ext cx="318000" cy="337800"/>
              </a:xfrm>
              <a:prstGeom prst="ellipse">
                <a:avLst/>
              </a:prstGeom>
              <a:solidFill>
                <a:srgbClr val="FAFB93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4"/>
              <p:cNvSpPr/>
              <p:nvPr/>
            </p:nvSpPr>
            <p:spPr>
              <a:xfrm>
                <a:off x="6875831" y="3200117"/>
                <a:ext cx="318000" cy="3372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4"/>
              <p:cNvSpPr/>
              <p:nvPr/>
            </p:nvSpPr>
            <p:spPr>
              <a:xfrm>
                <a:off x="4512615" y="3091565"/>
                <a:ext cx="318000" cy="3372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4"/>
              <p:cNvSpPr/>
              <p:nvPr/>
            </p:nvSpPr>
            <p:spPr>
              <a:xfrm>
                <a:off x="2161179" y="3200133"/>
                <a:ext cx="318000" cy="3378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2" name="Google Shape;392;p14"/>
              <p:cNvCxnSpPr>
                <a:stCxn id="364" idx="2"/>
                <a:endCxn id="359" idx="6"/>
              </p:cNvCxnSpPr>
              <p:nvPr/>
            </p:nvCxnSpPr>
            <p:spPr>
              <a:xfrm flipH="1">
                <a:off x="2479215" y="3260165"/>
                <a:ext cx="2033400" cy="108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999999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sp>
            <p:nvSpPr>
              <p:cNvPr id="393" name="Google Shape;393;p14"/>
              <p:cNvSpPr txBox="1"/>
              <p:nvPr/>
            </p:nvSpPr>
            <p:spPr>
              <a:xfrm>
                <a:off x="301675" y="4056176"/>
                <a:ext cx="86433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D4E2F1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[CLS]</a:t>
                </a:r>
                <a:r>
                  <a:rPr lang="en" sz="1300" b="0" i="0" u="none" strike="noStrike" cap="none" baseline="-25000">
                    <a:solidFill>
                      <a:srgbClr val="000000"/>
                    </a:solidFill>
                    <a:highlight>
                      <a:srgbClr val="D4E2F1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D4E2F1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FAFB93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admission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date: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C2C2C2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12/04/18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the patient was initially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FEC102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hypot ##ensive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D4E2F1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[CLS]</a:t>
                </a:r>
                <a:r>
                  <a:rPr lang="en" sz="1300" b="0" i="0" u="none" strike="noStrike" cap="none" baseline="-25000">
                    <a:solidFill>
                      <a:srgbClr val="000000"/>
                    </a:solidFill>
                    <a:highlight>
                      <a:srgbClr val="D4E2F1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r>
                  <a:rPr lang="en" sz="1300" b="0" i="0" u="none" strike="noStrike" cap="none" baseline="300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she had a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FEC102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mechanical fall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after </a:t>
                </a:r>
                <a:r>
                  <a:rPr lang="en" sz="1300" b="0" i="0" u="none" strike="noStrike" cap="none">
                    <a:solidFill>
                      <a:srgbClr val="000000"/>
                    </a:solidFill>
                    <a:highlight>
                      <a:srgbClr val="FAFB93"/>
                    </a:highlight>
                    <a:latin typeface="Calibri"/>
                    <a:ea typeface="Calibri"/>
                    <a:cs typeface="Calibri"/>
                    <a:sym typeface="Calibri"/>
                  </a:rPr>
                  <a:t>admission.</a:t>
                </a:r>
                <a:endParaRPr sz="13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4" name="Google Shape;394;p14"/>
          <p:cNvGrpSpPr/>
          <p:nvPr/>
        </p:nvGrpSpPr>
        <p:grpSpPr>
          <a:xfrm>
            <a:off x="468503" y="1474400"/>
            <a:ext cx="7784798" cy="1802001"/>
            <a:chOff x="468503" y="1474400"/>
            <a:chExt cx="7784798" cy="1802001"/>
          </a:xfrm>
        </p:grpSpPr>
        <p:cxnSp>
          <p:nvCxnSpPr>
            <p:cNvPr id="395" name="Google Shape;395;p14"/>
            <p:cNvCxnSpPr>
              <a:stCxn id="381" idx="4"/>
              <a:endCxn id="357" idx="1"/>
            </p:cNvCxnSpPr>
            <p:nvPr/>
          </p:nvCxnSpPr>
          <p:spPr>
            <a:xfrm>
              <a:off x="627503" y="2728601"/>
              <a:ext cx="467700" cy="378900"/>
            </a:xfrm>
            <a:prstGeom prst="straightConnector1">
              <a:avLst/>
            </a:prstGeom>
            <a:noFill/>
            <a:ln w="28575" cap="flat" cmpd="sng">
              <a:solidFill>
                <a:srgbClr val="CC4125"/>
              </a:solidFill>
              <a:prstDash val="dash"/>
              <a:round/>
              <a:headEnd type="stealth" w="med" len="med"/>
              <a:tailEnd type="none" w="sm" len="sm"/>
            </a:ln>
          </p:spPr>
        </p:cxnSp>
        <p:cxnSp>
          <p:nvCxnSpPr>
            <p:cNvPr id="396" name="Google Shape;396;p14"/>
            <p:cNvCxnSpPr>
              <a:stCxn id="381" idx="4"/>
              <a:endCxn id="359" idx="0"/>
            </p:cNvCxnSpPr>
            <p:nvPr/>
          </p:nvCxnSpPr>
          <p:spPr>
            <a:xfrm>
              <a:off x="627503" y="2728601"/>
              <a:ext cx="1692600" cy="547800"/>
            </a:xfrm>
            <a:prstGeom prst="straightConnector1">
              <a:avLst/>
            </a:prstGeom>
            <a:noFill/>
            <a:ln w="28575" cap="flat" cmpd="sng">
              <a:solidFill>
                <a:srgbClr val="CC4125"/>
              </a:solidFill>
              <a:prstDash val="dash"/>
              <a:round/>
              <a:headEnd type="stealth" w="med" len="med"/>
              <a:tailEnd type="none" w="sm" len="sm"/>
            </a:ln>
          </p:spPr>
        </p:cxnSp>
        <p:cxnSp>
          <p:nvCxnSpPr>
            <p:cNvPr id="397" name="Google Shape;397;p14"/>
            <p:cNvCxnSpPr>
              <a:stCxn id="382" idx="6"/>
              <a:endCxn id="371" idx="0"/>
            </p:cNvCxnSpPr>
            <p:nvPr/>
          </p:nvCxnSpPr>
          <p:spPr>
            <a:xfrm>
              <a:off x="5873101" y="2623813"/>
              <a:ext cx="2380200" cy="368700"/>
            </a:xfrm>
            <a:prstGeom prst="straightConnector1">
              <a:avLst/>
            </a:prstGeom>
            <a:noFill/>
            <a:ln w="28575" cap="flat" cmpd="sng">
              <a:solidFill>
                <a:srgbClr val="CC4125"/>
              </a:solidFill>
              <a:prstDash val="dash"/>
              <a:round/>
              <a:headEnd type="stealth" w="med" len="med"/>
              <a:tailEnd type="none" w="sm" len="sm"/>
            </a:ln>
          </p:spPr>
        </p:cxnSp>
        <p:sp>
          <p:nvSpPr>
            <p:cNvPr id="381" name="Google Shape;381;p14"/>
            <p:cNvSpPr/>
            <p:nvPr/>
          </p:nvSpPr>
          <p:spPr>
            <a:xfrm>
              <a:off x="468503" y="2390801"/>
              <a:ext cx="318000" cy="3378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555101" y="2454913"/>
              <a:ext cx="318000" cy="3378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8" name="Google Shape;398;p14"/>
            <p:cNvCxnSpPr>
              <a:stCxn id="382" idx="4"/>
              <a:endCxn id="367" idx="0"/>
            </p:cNvCxnSpPr>
            <p:nvPr/>
          </p:nvCxnSpPr>
          <p:spPr>
            <a:xfrm>
              <a:off x="5714101" y="2792713"/>
              <a:ext cx="1320600" cy="483600"/>
            </a:xfrm>
            <a:prstGeom prst="straightConnector1">
              <a:avLst/>
            </a:prstGeom>
            <a:noFill/>
            <a:ln w="28575" cap="flat" cmpd="sng">
              <a:solidFill>
                <a:srgbClr val="CC4125"/>
              </a:solidFill>
              <a:prstDash val="dash"/>
              <a:round/>
              <a:headEnd type="stealth" w="med" len="med"/>
              <a:tailEnd type="none" w="sm" len="sm"/>
            </a:ln>
          </p:spPr>
        </p:cxnSp>
        <p:cxnSp>
          <p:nvCxnSpPr>
            <p:cNvPr id="399" name="Google Shape;399;p14"/>
            <p:cNvCxnSpPr>
              <a:stCxn id="381" idx="4"/>
              <a:endCxn id="364" idx="0"/>
            </p:cNvCxnSpPr>
            <p:nvPr/>
          </p:nvCxnSpPr>
          <p:spPr>
            <a:xfrm>
              <a:off x="627503" y="2728601"/>
              <a:ext cx="4044000" cy="439200"/>
            </a:xfrm>
            <a:prstGeom prst="straightConnector1">
              <a:avLst/>
            </a:prstGeom>
            <a:noFill/>
            <a:ln w="28575" cap="flat" cmpd="sng">
              <a:solidFill>
                <a:srgbClr val="CC4125"/>
              </a:solidFill>
              <a:prstDash val="dash"/>
              <a:round/>
              <a:headEnd type="stealth" w="med" len="med"/>
              <a:tailEnd type="none" w="sm" len="sm"/>
            </a:ln>
          </p:spPr>
        </p:cxnSp>
        <p:sp>
          <p:nvSpPr>
            <p:cNvPr id="400" name="Google Shape;400;p14"/>
            <p:cNvSpPr/>
            <p:nvPr/>
          </p:nvSpPr>
          <p:spPr>
            <a:xfrm>
              <a:off x="773303" y="1552601"/>
              <a:ext cx="318000" cy="3378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4"/>
            <p:cNvSpPr txBox="1"/>
            <p:nvPr/>
          </p:nvSpPr>
          <p:spPr>
            <a:xfrm>
              <a:off x="1087125" y="1474400"/>
              <a:ext cx="646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Window Nodes: bridge distant entities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15"/>
          <p:cNvGrpSpPr/>
          <p:nvPr/>
        </p:nvGrpSpPr>
        <p:grpSpPr>
          <a:xfrm>
            <a:off x="183955" y="737225"/>
            <a:ext cx="8676470" cy="3938775"/>
            <a:chOff x="183955" y="661025"/>
            <a:chExt cx="8676470" cy="3938775"/>
          </a:xfrm>
        </p:grpSpPr>
        <p:sp>
          <p:nvSpPr>
            <p:cNvPr id="407" name="Google Shape;407;p15"/>
            <p:cNvSpPr/>
            <p:nvPr/>
          </p:nvSpPr>
          <p:spPr>
            <a:xfrm>
              <a:off x="187375" y="909050"/>
              <a:ext cx="8673050" cy="3690750"/>
            </a:xfrm>
            <a:custGeom>
              <a:avLst/>
              <a:gdLst/>
              <a:ahLst/>
              <a:cxnLst/>
              <a:rect l="l" t="t" r="r" b="b"/>
              <a:pathLst>
                <a:path w="346922" h="143595" extrusionOk="0">
                  <a:moveTo>
                    <a:pt x="603" y="0"/>
                  </a:moveTo>
                  <a:lnTo>
                    <a:pt x="80848" y="0"/>
                  </a:lnTo>
                  <a:lnTo>
                    <a:pt x="80848" y="45250"/>
                  </a:lnTo>
                  <a:lnTo>
                    <a:pt x="121272" y="57921"/>
                  </a:lnTo>
                  <a:lnTo>
                    <a:pt x="121272" y="97138"/>
                  </a:lnTo>
                  <a:lnTo>
                    <a:pt x="346922" y="97138"/>
                  </a:lnTo>
                  <a:lnTo>
                    <a:pt x="346922" y="143595"/>
                  </a:lnTo>
                  <a:lnTo>
                    <a:pt x="0" y="143595"/>
                  </a:lnTo>
                  <a:close/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5"/>
            <p:cNvSpPr txBox="1"/>
            <p:nvPr/>
          </p:nvSpPr>
          <p:spPr>
            <a:xfrm>
              <a:off x="323125" y="661025"/>
              <a:ext cx="988840" cy="38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SpanTREx</a:t>
              </a:r>
              <a:endParaRPr sz="1300" b="0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09" name="Google Shape;409;p15"/>
            <p:cNvSpPr txBox="1"/>
            <p:nvPr/>
          </p:nvSpPr>
          <p:spPr>
            <a:xfrm>
              <a:off x="183955" y="859237"/>
              <a:ext cx="401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(I)</a:t>
              </a:r>
              <a:endParaRPr sz="13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10" name="Google Shape;410;p15"/>
          <p:cNvSpPr txBox="1">
            <a:spLocks noGrp="1"/>
          </p:cNvSpPr>
          <p:nvPr>
            <p:ph type="title"/>
          </p:nvPr>
        </p:nvSpPr>
        <p:spPr>
          <a:xfrm>
            <a:off x="159300" y="152400"/>
            <a:ext cx="8520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Graph-based Temporal Relation Extraction (GraphTREx)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907825" y="1168475"/>
            <a:ext cx="2613900" cy="1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262375" y="2479900"/>
            <a:ext cx="1170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15"/>
          <p:cNvGrpSpPr/>
          <p:nvPr/>
        </p:nvGrpSpPr>
        <p:grpSpPr>
          <a:xfrm>
            <a:off x="560400" y="1184700"/>
            <a:ext cx="2116125" cy="3028875"/>
            <a:chOff x="560400" y="1108500"/>
            <a:chExt cx="2116125" cy="3028875"/>
          </a:xfrm>
        </p:grpSpPr>
        <p:cxnSp>
          <p:nvCxnSpPr>
            <p:cNvPr id="416" name="Google Shape;416;p15"/>
            <p:cNvCxnSpPr>
              <a:stCxn id="417" idx="0"/>
            </p:cNvCxnSpPr>
            <p:nvPr/>
          </p:nvCxnSpPr>
          <p:spPr>
            <a:xfrm rot="10800000">
              <a:off x="1937025" y="2131450"/>
              <a:ext cx="739500" cy="22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18" name="Google Shape;418;p15"/>
            <p:cNvSpPr/>
            <p:nvPr/>
          </p:nvSpPr>
          <p:spPr>
            <a:xfrm>
              <a:off x="829275" y="1108500"/>
              <a:ext cx="1171800" cy="5460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Relation Decoder (</a:t>
              </a:r>
              <a:r>
                <a:rPr lang="en" sz="13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"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19" name="Google Shape;419;p15"/>
            <p:cNvCxnSpPr>
              <a:stCxn id="420" idx="0"/>
            </p:cNvCxnSpPr>
            <p:nvPr/>
          </p:nvCxnSpPr>
          <p:spPr>
            <a:xfrm rot="10800000" flipH="1">
              <a:off x="1762125" y="2101450"/>
              <a:ext cx="144900" cy="25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21" name="Google Shape;421;p15"/>
            <p:cNvCxnSpPr>
              <a:stCxn id="422" idx="1"/>
              <a:endCxn id="423" idx="1"/>
            </p:cNvCxnSpPr>
            <p:nvPr/>
          </p:nvCxnSpPr>
          <p:spPr>
            <a:xfrm rot="10800000">
              <a:off x="560400" y="1930625"/>
              <a:ext cx="1036200" cy="1726800"/>
            </a:xfrm>
            <a:prstGeom prst="bentConnector3">
              <a:avLst>
                <a:gd name="adj1" fmla="val 122973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24" name="Google Shape;424;p15"/>
            <p:cNvCxnSpPr>
              <a:stCxn id="425" idx="1"/>
              <a:endCxn id="423" idx="1"/>
            </p:cNvCxnSpPr>
            <p:nvPr/>
          </p:nvCxnSpPr>
          <p:spPr>
            <a:xfrm rot="10800000">
              <a:off x="560625" y="1930575"/>
              <a:ext cx="155400" cy="2206800"/>
            </a:xfrm>
            <a:prstGeom prst="bentConnector3">
              <a:avLst>
                <a:gd name="adj1" fmla="val 25333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3" name="Google Shape;423;p15"/>
            <p:cNvSpPr txBox="1"/>
            <p:nvPr/>
          </p:nvSpPr>
          <p:spPr>
            <a:xfrm>
              <a:off x="560475" y="1730500"/>
              <a:ext cx="1709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Pair Embedding 𝟄</a:t>
              </a:r>
              <a:r>
                <a:rPr lang="en" sz="1400" b="0" i="0" u="none" strike="noStrike" cap="none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ij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6" name="Google Shape;426;p15"/>
            <p:cNvCxnSpPr/>
            <p:nvPr/>
          </p:nvCxnSpPr>
          <p:spPr>
            <a:xfrm rot="10800000">
              <a:off x="1408200" y="1657425"/>
              <a:ext cx="9600" cy="210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427" name="Google Shape;427;p15"/>
          <p:cNvGrpSpPr/>
          <p:nvPr/>
        </p:nvGrpSpPr>
        <p:grpSpPr>
          <a:xfrm>
            <a:off x="5907825" y="926825"/>
            <a:ext cx="2888462" cy="2495525"/>
            <a:chOff x="5907825" y="850625"/>
            <a:chExt cx="2888462" cy="2495525"/>
          </a:xfrm>
        </p:grpSpPr>
        <p:sp>
          <p:nvSpPr>
            <p:cNvPr id="428" name="Google Shape;428;p15"/>
            <p:cNvSpPr/>
            <p:nvPr/>
          </p:nvSpPr>
          <p:spPr>
            <a:xfrm>
              <a:off x="6636125" y="2758450"/>
              <a:ext cx="1171800" cy="587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Relation Decoder (</a:t>
              </a:r>
              <a:r>
                <a:rPr lang="en" sz="13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"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29" name="Google Shape;429;p15"/>
            <p:cNvCxnSpPr>
              <a:stCxn id="430" idx="3"/>
              <a:endCxn id="428" idx="1"/>
            </p:cNvCxnSpPr>
            <p:nvPr/>
          </p:nvCxnSpPr>
          <p:spPr>
            <a:xfrm>
              <a:off x="6068801" y="3043574"/>
              <a:ext cx="567300" cy="8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31" name="Google Shape;431;p15"/>
            <p:cNvCxnSpPr>
              <a:stCxn id="428" idx="0"/>
              <a:endCxn id="413" idx="2"/>
            </p:cNvCxnSpPr>
            <p:nvPr/>
          </p:nvCxnSpPr>
          <p:spPr>
            <a:xfrm rot="10800000">
              <a:off x="7214825" y="2499250"/>
              <a:ext cx="7200" cy="2592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32" name="Google Shape;432;p15"/>
            <p:cNvSpPr txBox="1"/>
            <p:nvPr/>
          </p:nvSpPr>
          <p:spPr>
            <a:xfrm>
              <a:off x="7262688" y="2386010"/>
              <a:ext cx="604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(V)</a:t>
              </a:r>
              <a:endParaRPr sz="13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33" name="Google Shape;433;p15"/>
            <p:cNvGrpSpPr/>
            <p:nvPr/>
          </p:nvGrpSpPr>
          <p:grpSpPr>
            <a:xfrm>
              <a:off x="5907825" y="850625"/>
              <a:ext cx="2888462" cy="1986600"/>
              <a:chOff x="5907825" y="850625"/>
              <a:chExt cx="2888462" cy="1986600"/>
            </a:xfrm>
          </p:grpSpPr>
          <p:cxnSp>
            <p:nvCxnSpPr>
              <p:cNvPr id="434" name="Google Shape;434;p15"/>
              <p:cNvCxnSpPr>
                <a:stCxn id="435" idx="2"/>
                <a:endCxn id="436" idx="6"/>
              </p:cNvCxnSpPr>
              <p:nvPr/>
            </p:nvCxnSpPr>
            <p:spPr>
              <a:xfrm flipH="1">
                <a:off x="6735950" y="1903125"/>
                <a:ext cx="391500" cy="2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437" name="Google Shape;437;p15"/>
              <p:cNvCxnSpPr>
                <a:stCxn id="438" idx="2"/>
                <a:endCxn id="435" idx="6"/>
              </p:cNvCxnSpPr>
              <p:nvPr/>
            </p:nvCxnSpPr>
            <p:spPr>
              <a:xfrm flipH="1">
                <a:off x="7386726" y="1897124"/>
                <a:ext cx="401400" cy="6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439" name="Google Shape;439;p15"/>
              <p:cNvCxnSpPr>
                <a:stCxn id="440" idx="6"/>
                <a:endCxn id="441" idx="2"/>
              </p:cNvCxnSpPr>
              <p:nvPr/>
            </p:nvCxnSpPr>
            <p:spPr>
              <a:xfrm rot="10800000" flipH="1">
                <a:off x="6459975" y="2285412"/>
                <a:ext cx="1633500" cy="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42" name="Google Shape;442;p15"/>
              <p:cNvCxnSpPr>
                <a:stCxn id="440" idx="7"/>
                <a:endCxn id="436" idx="3"/>
              </p:cNvCxnSpPr>
              <p:nvPr/>
            </p:nvCxnSpPr>
            <p:spPr>
              <a:xfrm rot="10800000" flipH="1">
                <a:off x="6422016" y="1990841"/>
                <a:ext cx="92400" cy="24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443" name="Google Shape;443;p15"/>
              <p:cNvCxnSpPr>
                <a:stCxn id="438" idx="4"/>
                <a:endCxn id="441" idx="0"/>
              </p:cNvCxnSpPr>
              <p:nvPr/>
            </p:nvCxnSpPr>
            <p:spPr>
              <a:xfrm>
                <a:off x="7917726" y="2018024"/>
                <a:ext cx="3267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44" name="Google Shape;444;p15"/>
              <p:cNvCxnSpPr>
                <a:stCxn id="445" idx="6"/>
                <a:endCxn id="446" idx="2"/>
              </p:cNvCxnSpPr>
              <p:nvPr/>
            </p:nvCxnSpPr>
            <p:spPr>
              <a:xfrm rot="10800000" flipH="1">
                <a:off x="6513751" y="1270925"/>
                <a:ext cx="1526100" cy="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AA84F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47" name="Google Shape;447;p15"/>
              <p:cNvCxnSpPr>
                <a:stCxn id="445" idx="5"/>
                <a:endCxn id="435" idx="0"/>
              </p:cNvCxnSpPr>
              <p:nvPr/>
            </p:nvCxnSpPr>
            <p:spPr>
              <a:xfrm>
                <a:off x="6475792" y="1360314"/>
                <a:ext cx="781200" cy="421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4125"/>
                </a:solidFill>
                <a:prstDash val="dash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448" name="Google Shape;448;p15"/>
              <p:cNvCxnSpPr>
                <a:stCxn id="445" idx="4"/>
                <a:endCxn id="436" idx="1"/>
              </p:cNvCxnSpPr>
              <p:nvPr/>
            </p:nvCxnSpPr>
            <p:spPr>
              <a:xfrm>
                <a:off x="6384151" y="1395725"/>
                <a:ext cx="130500" cy="424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4125"/>
                </a:solidFill>
                <a:prstDash val="dash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449" name="Google Shape;449;p15"/>
              <p:cNvCxnSpPr>
                <a:stCxn id="446" idx="3"/>
                <a:endCxn id="438" idx="0"/>
              </p:cNvCxnSpPr>
              <p:nvPr/>
            </p:nvCxnSpPr>
            <p:spPr>
              <a:xfrm flipH="1">
                <a:off x="7917783" y="1356264"/>
                <a:ext cx="159900" cy="420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4125"/>
                </a:solidFill>
                <a:prstDash val="dash"/>
                <a:round/>
                <a:headEnd type="stealth" w="med" len="med"/>
                <a:tailEnd type="none" w="sm" len="sm"/>
              </a:ln>
            </p:spPr>
          </p:cxnSp>
          <p:grpSp>
            <p:nvGrpSpPr>
              <p:cNvPr id="450" name="Google Shape;450;p15"/>
              <p:cNvGrpSpPr/>
              <p:nvPr/>
            </p:nvGrpSpPr>
            <p:grpSpPr>
              <a:xfrm>
                <a:off x="7127450" y="1782225"/>
                <a:ext cx="910898" cy="495375"/>
                <a:chOff x="7737050" y="1782225"/>
                <a:chExt cx="910898" cy="495375"/>
              </a:xfrm>
            </p:grpSpPr>
            <p:sp>
              <p:nvSpPr>
                <p:cNvPr id="435" name="Google Shape;435;p15"/>
                <p:cNvSpPr/>
                <p:nvPr/>
              </p:nvSpPr>
              <p:spPr>
                <a:xfrm>
                  <a:off x="7737050" y="1782225"/>
                  <a:ext cx="259200" cy="241800"/>
                </a:xfrm>
                <a:prstGeom prst="ellipse">
                  <a:avLst/>
                </a:prstGeom>
                <a:solidFill>
                  <a:srgbClr val="FAFB93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51" name="Google Shape;451;p15"/>
                <p:cNvSpPr txBox="1"/>
                <p:nvPr/>
              </p:nvSpPr>
              <p:spPr>
                <a:xfrm>
                  <a:off x="7866749" y="1923600"/>
                  <a:ext cx="781199" cy="35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admission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52" name="Google Shape;452;p15"/>
              <p:cNvGrpSpPr/>
              <p:nvPr/>
            </p:nvGrpSpPr>
            <p:grpSpPr>
              <a:xfrm>
                <a:off x="7157026" y="1484375"/>
                <a:ext cx="890300" cy="533649"/>
                <a:chOff x="7919026" y="1484375"/>
                <a:chExt cx="890300" cy="533649"/>
              </a:xfrm>
            </p:grpSpPr>
            <p:sp>
              <p:nvSpPr>
                <p:cNvPr id="438" name="Google Shape;438;p15"/>
                <p:cNvSpPr/>
                <p:nvPr/>
              </p:nvSpPr>
              <p:spPr>
                <a:xfrm>
                  <a:off x="8550126" y="1776224"/>
                  <a:ext cx="259200" cy="241800"/>
                </a:xfrm>
                <a:prstGeom prst="ellipse">
                  <a:avLst/>
                </a:prstGeom>
                <a:solidFill>
                  <a:srgbClr val="FAFB93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53" name="Google Shape;453;p15"/>
                <p:cNvSpPr txBox="1"/>
                <p:nvPr/>
              </p:nvSpPr>
              <p:spPr>
                <a:xfrm>
                  <a:off x="7919026" y="1484375"/>
                  <a:ext cx="784876" cy="3539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admission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54" name="Google Shape;454;p15"/>
              <p:cNvGrpSpPr/>
              <p:nvPr/>
            </p:nvGrpSpPr>
            <p:grpSpPr>
              <a:xfrm>
                <a:off x="7820105" y="2164950"/>
                <a:ext cx="976182" cy="672275"/>
                <a:chOff x="8480242" y="2421200"/>
                <a:chExt cx="820872" cy="672275"/>
              </a:xfrm>
            </p:grpSpPr>
            <p:sp>
              <p:nvSpPr>
                <p:cNvPr id="441" name="Google Shape;441;p15"/>
                <p:cNvSpPr/>
                <p:nvPr/>
              </p:nvSpPr>
              <p:spPr>
                <a:xfrm>
                  <a:off x="8710100" y="2421200"/>
                  <a:ext cx="254100" cy="2409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55" name="Google Shape;455;p15"/>
                <p:cNvSpPr txBox="1"/>
                <p:nvPr/>
              </p:nvSpPr>
              <p:spPr>
                <a:xfrm>
                  <a:off x="8480242" y="2570275"/>
                  <a:ext cx="820872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mechanical fall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56" name="Google Shape;456;p15"/>
              <p:cNvGrpSpPr/>
              <p:nvPr/>
            </p:nvGrpSpPr>
            <p:grpSpPr>
              <a:xfrm>
                <a:off x="5907825" y="2195862"/>
                <a:ext cx="889500" cy="494014"/>
                <a:chOff x="6671525" y="2397899"/>
                <a:chExt cx="889500" cy="494014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6964475" y="2397899"/>
                  <a:ext cx="259200" cy="2409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57" name="Google Shape;457;p15"/>
                <p:cNvSpPr txBox="1"/>
                <p:nvPr/>
              </p:nvSpPr>
              <p:spPr>
                <a:xfrm>
                  <a:off x="6671525" y="2537913"/>
                  <a:ext cx="889500" cy="35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hypotensive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6114475" y="857100"/>
                <a:ext cx="522900" cy="538625"/>
                <a:chOff x="7112275" y="1066825"/>
                <a:chExt cx="522900" cy="538625"/>
              </a:xfrm>
            </p:grpSpPr>
            <p:sp>
              <p:nvSpPr>
                <p:cNvPr id="445" name="Google Shape;445;p15"/>
                <p:cNvSpPr/>
                <p:nvPr/>
              </p:nvSpPr>
              <p:spPr>
                <a:xfrm>
                  <a:off x="7252351" y="1363650"/>
                  <a:ext cx="259200" cy="241800"/>
                </a:xfrm>
                <a:prstGeom prst="ellipse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 baseline="-250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59" name="Google Shape;459;p15"/>
                <p:cNvSpPr txBox="1"/>
                <p:nvPr/>
              </p:nvSpPr>
              <p:spPr>
                <a:xfrm>
                  <a:off x="7112275" y="1066825"/>
                  <a:ext cx="522900" cy="35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CLS</a:t>
                  </a:r>
                  <a:r>
                    <a:rPr lang="en" sz="1100" b="0" i="0" u="none" strike="noStrike" cap="none" baseline="-250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60" name="Google Shape;460;p15"/>
              <p:cNvGrpSpPr/>
              <p:nvPr/>
            </p:nvGrpSpPr>
            <p:grpSpPr>
              <a:xfrm>
                <a:off x="6476600" y="1614539"/>
                <a:ext cx="804171" cy="411785"/>
                <a:chOff x="7086200" y="1766939"/>
                <a:chExt cx="804171" cy="411785"/>
              </a:xfrm>
            </p:grpSpPr>
            <p:sp>
              <p:nvSpPr>
                <p:cNvPr id="436" name="Google Shape;436;p15"/>
                <p:cNvSpPr/>
                <p:nvPr/>
              </p:nvSpPr>
              <p:spPr>
                <a:xfrm>
                  <a:off x="7086200" y="1936924"/>
                  <a:ext cx="259200" cy="2418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61" name="Google Shape;461;p15"/>
                <p:cNvSpPr txBox="1"/>
                <p:nvPr/>
              </p:nvSpPr>
              <p:spPr>
                <a:xfrm>
                  <a:off x="7174380" y="1766939"/>
                  <a:ext cx="715991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" sz="10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12/04/18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cxnSp>
            <p:nvCxnSpPr>
              <p:cNvPr id="462" name="Google Shape;462;p15"/>
              <p:cNvCxnSpPr>
                <a:stCxn id="446" idx="3"/>
                <a:endCxn id="441" idx="0"/>
              </p:cNvCxnSpPr>
              <p:nvPr/>
            </p:nvCxnSpPr>
            <p:spPr>
              <a:xfrm>
                <a:off x="8077683" y="1356264"/>
                <a:ext cx="166800" cy="808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4125"/>
                </a:solidFill>
                <a:prstDash val="dash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463" name="Google Shape;463;p15"/>
              <p:cNvCxnSpPr>
                <a:stCxn id="440" idx="7"/>
                <a:endCxn id="435" idx="4"/>
              </p:cNvCxnSpPr>
              <p:nvPr/>
            </p:nvCxnSpPr>
            <p:spPr>
              <a:xfrm rot="10800000" flipH="1">
                <a:off x="6422016" y="2024141"/>
                <a:ext cx="834900" cy="20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cxnSp>
          <p:cxnSp>
            <p:nvCxnSpPr>
              <p:cNvPr id="464" name="Google Shape;464;p15"/>
              <p:cNvCxnSpPr>
                <a:stCxn id="445" idx="4"/>
                <a:endCxn id="440" idx="0"/>
              </p:cNvCxnSpPr>
              <p:nvPr/>
            </p:nvCxnSpPr>
            <p:spPr>
              <a:xfrm flipH="1">
                <a:off x="6330451" y="1395725"/>
                <a:ext cx="53700" cy="800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4125"/>
                </a:solidFill>
                <a:prstDash val="dash"/>
                <a:round/>
                <a:headEnd type="stealth" w="med" len="med"/>
                <a:tailEnd type="none" w="sm" len="sm"/>
              </a:ln>
            </p:spPr>
          </p:cxnSp>
          <p:grpSp>
            <p:nvGrpSpPr>
              <p:cNvPr id="465" name="Google Shape;465;p15"/>
              <p:cNvGrpSpPr/>
              <p:nvPr/>
            </p:nvGrpSpPr>
            <p:grpSpPr>
              <a:xfrm>
                <a:off x="7907875" y="850625"/>
                <a:ext cx="522900" cy="541050"/>
                <a:chOff x="8564550" y="1056300"/>
                <a:chExt cx="522900" cy="541050"/>
              </a:xfrm>
            </p:grpSpPr>
            <p:sp>
              <p:nvSpPr>
                <p:cNvPr id="446" name="Google Shape;446;p15"/>
                <p:cNvSpPr/>
                <p:nvPr/>
              </p:nvSpPr>
              <p:spPr>
                <a:xfrm>
                  <a:off x="8696399" y="1355550"/>
                  <a:ext cx="259200" cy="241800"/>
                </a:xfrm>
                <a:prstGeom prst="ellipse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 baseline="-250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66" name="Google Shape;466;p15"/>
                <p:cNvSpPr txBox="1"/>
                <p:nvPr/>
              </p:nvSpPr>
              <p:spPr>
                <a:xfrm>
                  <a:off x="8564550" y="1056300"/>
                  <a:ext cx="522900" cy="35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1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CLS</a:t>
                  </a:r>
                  <a:r>
                    <a:rPr lang="en" sz="1100" b="0" i="0" u="none" strike="noStrike" cap="none" baseline="-250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grpSp>
        <p:nvGrpSpPr>
          <p:cNvPr id="467" name="Google Shape;467;p15"/>
          <p:cNvGrpSpPr/>
          <p:nvPr/>
        </p:nvGrpSpPr>
        <p:grpSpPr>
          <a:xfrm>
            <a:off x="560450" y="2421782"/>
            <a:ext cx="2613891" cy="1119043"/>
            <a:chOff x="560450" y="2345582"/>
            <a:chExt cx="2613891" cy="1119043"/>
          </a:xfrm>
        </p:grpSpPr>
        <p:sp>
          <p:nvSpPr>
            <p:cNvPr id="468" name="Google Shape;468;p15"/>
            <p:cNvSpPr/>
            <p:nvPr/>
          </p:nvSpPr>
          <p:spPr>
            <a:xfrm>
              <a:off x="716025" y="2812725"/>
              <a:ext cx="2079600" cy="461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Entity Decoder (</a:t>
              </a:r>
              <a:r>
                <a:rPr lang="en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9" name="Google Shape;469;p15"/>
            <p:cNvGrpSpPr/>
            <p:nvPr/>
          </p:nvGrpSpPr>
          <p:grpSpPr>
            <a:xfrm>
              <a:off x="560450" y="2345582"/>
              <a:ext cx="2613891" cy="445473"/>
              <a:chOff x="560450" y="2345582"/>
              <a:chExt cx="2613891" cy="445473"/>
            </a:xfrm>
          </p:grpSpPr>
          <p:sp>
            <p:nvSpPr>
              <p:cNvPr id="470" name="Google Shape;470;p15"/>
              <p:cNvSpPr txBox="1"/>
              <p:nvPr/>
            </p:nvSpPr>
            <p:spPr>
              <a:xfrm>
                <a:off x="2284841" y="2452355"/>
                <a:ext cx="889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PROBLEM</a:t>
                </a:r>
                <a:endParaRPr sz="1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" name="Google Shape;471;p15"/>
              <p:cNvSpPr txBox="1"/>
              <p:nvPr/>
            </p:nvSpPr>
            <p:spPr>
              <a:xfrm>
                <a:off x="982093" y="2452355"/>
                <a:ext cx="544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DATE</a:t>
                </a:r>
                <a:endParaRPr sz="1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72" name="Google Shape;472;p15"/>
              <p:cNvCxnSpPr/>
              <p:nvPr/>
            </p:nvCxnSpPr>
            <p:spPr>
              <a:xfrm rot="10800000">
                <a:off x="2673978" y="2647573"/>
                <a:ext cx="3300" cy="12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73" name="Google Shape;473;p15"/>
              <p:cNvCxnSpPr/>
              <p:nvPr/>
            </p:nvCxnSpPr>
            <p:spPr>
              <a:xfrm rot="10800000">
                <a:off x="1271049" y="2655912"/>
                <a:ext cx="3300" cy="12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74" name="Google Shape;474;p15"/>
              <p:cNvSpPr/>
              <p:nvPr/>
            </p:nvSpPr>
            <p:spPr>
              <a:xfrm>
                <a:off x="1224975" y="2352850"/>
                <a:ext cx="159900" cy="138300"/>
              </a:xfrm>
              <a:prstGeom prst="ellipse">
                <a:avLst/>
              </a:prstGeom>
              <a:solidFill>
                <a:srgbClr val="D9D9D9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75" name="Google Shape;475;p15" title="Public Domain Clip Art Image | Cross Out | ID: 13929221412061 ...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98851" y="2345582"/>
                <a:ext cx="129900" cy="1511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6" name="Google Shape;476;p15"/>
              <p:cNvSpPr txBox="1"/>
              <p:nvPr/>
            </p:nvSpPr>
            <p:spPr>
              <a:xfrm>
                <a:off x="560450" y="2452355"/>
                <a:ext cx="582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NONE</a:t>
                </a:r>
                <a:endParaRPr sz="1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77" name="Google Shape;477;p15"/>
              <p:cNvCxnSpPr/>
              <p:nvPr/>
            </p:nvCxnSpPr>
            <p:spPr>
              <a:xfrm rot="10800000">
                <a:off x="838676" y="2655912"/>
                <a:ext cx="3300" cy="12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78" name="Google Shape;478;p15"/>
              <p:cNvSpPr txBox="1"/>
              <p:nvPr/>
            </p:nvSpPr>
            <p:spPr>
              <a:xfrm>
                <a:off x="1352433" y="2452350"/>
                <a:ext cx="1131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OCCURRENCE</a:t>
                </a:r>
                <a:endParaRPr sz="1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79" name="Google Shape;479;p15"/>
              <p:cNvCxnSpPr/>
              <p:nvPr/>
            </p:nvCxnSpPr>
            <p:spPr>
              <a:xfrm rot="10800000">
                <a:off x="1757462" y="2655912"/>
                <a:ext cx="3300" cy="12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20" name="Google Shape;420;p15"/>
              <p:cNvSpPr/>
              <p:nvPr/>
            </p:nvSpPr>
            <p:spPr>
              <a:xfrm>
                <a:off x="1682175" y="2352850"/>
                <a:ext cx="159900" cy="138300"/>
              </a:xfrm>
              <a:prstGeom prst="ellipse">
                <a:avLst/>
              </a:prstGeom>
              <a:solidFill>
                <a:srgbClr val="FBF14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2596575" y="2352850"/>
                <a:ext cx="159900" cy="138300"/>
              </a:xfrm>
              <a:prstGeom prst="ellipse">
                <a:avLst/>
              </a:prstGeom>
              <a:solidFill>
                <a:srgbClr val="E9853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80" name="Google Shape;480;p15"/>
            <p:cNvCxnSpPr/>
            <p:nvPr/>
          </p:nvCxnSpPr>
          <p:spPr>
            <a:xfrm>
              <a:off x="1755825" y="3274425"/>
              <a:ext cx="300" cy="1902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stealth" w="med" len="med"/>
              <a:tailEnd type="none" w="sm" len="sm"/>
            </a:ln>
          </p:spPr>
        </p:cxnSp>
      </p:grpSp>
      <p:grpSp>
        <p:nvGrpSpPr>
          <p:cNvPr id="481" name="Google Shape;481;p15"/>
          <p:cNvGrpSpPr/>
          <p:nvPr/>
        </p:nvGrpSpPr>
        <p:grpSpPr>
          <a:xfrm>
            <a:off x="4450275" y="2243913"/>
            <a:ext cx="1618526" cy="1306787"/>
            <a:chOff x="4450275" y="2167713"/>
            <a:chExt cx="1618526" cy="1306787"/>
          </a:xfrm>
        </p:grpSpPr>
        <p:cxnSp>
          <p:nvCxnSpPr>
            <p:cNvPr id="482" name="Google Shape;482;p15"/>
            <p:cNvCxnSpPr>
              <a:stCxn id="483" idx="3"/>
              <a:endCxn id="430" idx="1"/>
            </p:cNvCxnSpPr>
            <p:nvPr/>
          </p:nvCxnSpPr>
          <p:spPr>
            <a:xfrm>
              <a:off x="4829175" y="3043575"/>
              <a:ext cx="2754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484" name="Google Shape;484;p15"/>
            <p:cNvGrpSpPr/>
            <p:nvPr/>
          </p:nvGrpSpPr>
          <p:grpSpPr>
            <a:xfrm>
              <a:off x="4450275" y="2167713"/>
              <a:ext cx="1618526" cy="1306787"/>
              <a:chOff x="4450275" y="2167713"/>
              <a:chExt cx="1618526" cy="1306787"/>
            </a:xfrm>
          </p:grpSpPr>
          <p:sp>
            <p:nvSpPr>
              <p:cNvPr id="483" name="Google Shape;483;p15"/>
              <p:cNvSpPr txBox="1"/>
              <p:nvPr/>
            </p:nvSpPr>
            <p:spPr>
              <a:xfrm>
                <a:off x="4450275" y="2812725"/>
                <a:ext cx="378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⊕</a:t>
                </a:r>
                <a:endParaRPr sz="1800" b="0" i="0" u="none" strike="noStrike" cap="non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0" name="Google Shape;430;p1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104600" y="2748364"/>
                <a:ext cx="964201" cy="59041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85" name="Google Shape;485;p15"/>
              <p:cNvCxnSpPr>
                <a:stCxn id="486" idx="2"/>
                <a:endCxn id="483" idx="0"/>
              </p:cNvCxnSpPr>
              <p:nvPr/>
            </p:nvCxnSpPr>
            <p:spPr>
              <a:xfrm>
                <a:off x="4626800" y="2167713"/>
                <a:ext cx="12900" cy="645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87" name="Google Shape;487;p15"/>
              <p:cNvCxnSpPr/>
              <p:nvPr/>
            </p:nvCxnSpPr>
            <p:spPr>
              <a:xfrm rot="10800000" flipH="1">
                <a:off x="4643050" y="3274400"/>
                <a:ext cx="3000" cy="200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88" name="Google Shape;488;p15"/>
              <p:cNvSpPr txBox="1"/>
              <p:nvPr/>
            </p:nvSpPr>
            <p:spPr>
              <a:xfrm>
                <a:off x="4618450" y="2588425"/>
                <a:ext cx="7395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1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(IV)</a:t>
                </a:r>
                <a:endParaRPr sz="13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89" name="Google Shape;489;p15"/>
          <p:cNvGrpSpPr/>
          <p:nvPr/>
        </p:nvGrpSpPr>
        <p:grpSpPr>
          <a:xfrm>
            <a:off x="262235" y="3559625"/>
            <a:ext cx="8695265" cy="1116325"/>
            <a:chOff x="262235" y="3483425"/>
            <a:chExt cx="8695265" cy="1116325"/>
          </a:xfrm>
        </p:grpSpPr>
        <p:grpSp>
          <p:nvGrpSpPr>
            <p:cNvPr id="490" name="Google Shape;490;p15"/>
            <p:cNvGrpSpPr/>
            <p:nvPr/>
          </p:nvGrpSpPr>
          <p:grpSpPr>
            <a:xfrm>
              <a:off x="262235" y="3483425"/>
              <a:ext cx="8695265" cy="1116325"/>
              <a:chOff x="262235" y="3483425"/>
              <a:chExt cx="8695265" cy="1116325"/>
            </a:xfrm>
          </p:grpSpPr>
          <p:cxnSp>
            <p:nvCxnSpPr>
              <p:cNvPr id="491" name="Google Shape;491;p15"/>
              <p:cNvCxnSpPr>
                <a:endCxn id="422" idx="2"/>
              </p:cNvCxnSpPr>
              <p:nvPr/>
            </p:nvCxnSpPr>
            <p:spPr>
              <a:xfrm rot="10800000" flipH="1">
                <a:off x="3415500" y="3831425"/>
                <a:ext cx="4500" cy="183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92" name="Google Shape;492;p15"/>
              <p:cNvGrpSpPr/>
              <p:nvPr/>
            </p:nvGrpSpPr>
            <p:grpSpPr>
              <a:xfrm>
                <a:off x="262235" y="3483425"/>
                <a:ext cx="8695265" cy="1116325"/>
                <a:chOff x="262235" y="3483425"/>
                <a:chExt cx="8695265" cy="1116325"/>
              </a:xfrm>
            </p:grpSpPr>
            <p:sp>
              <p:nvSpPr>
                <p:cNvPr id="422" name="Google Shape;422;p15"/>
                <p:cNvSpPr/>
                <p:nvPr/>
              </p:nvSpPr>
              <p:spPr>
                <a:xfrm>
                  <a:off x="1596600" y="3483425"/>
                  <a:ext cx="3646800" cy="348000"/>
                </a:xfrm>
                <a:prstGeom prst="rect">
                  <a:avLst/>
                </a:prstGeom>
                <a:solidFill>
                  <a:srgbClr val="FCE5CD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             Span Embedding   e</a:t>
                  </a:r>
                  <a:r>
                    <a:rPr lang="en" sz="1400" b="0" i="0" u="none" strike="noStrike" cap="none" baseline="-250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sp</a:t>
                  </a:r>
                  <a:endParaRPr sz="1400" b="0" i="0" u="none" strike="noStrike" cap="none" baseline="-250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3" name="Google Shape;493;p15"/>
                <p:cNvSpPr txBox="1"/>
                <p:nvPr/>
              </p:nvSpPr>
              <p:spPr>
                <a:xfrm>
                  <a:off x="262235" y="3891825"/>
                  <a:ext cx="42243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000" b="0" i="0" u="none" strike="noStrike" cap="none">
                    <a:solidFill>
                      <a:srgbClr val="000000"/>
                    </a:solidFill>
                    <a:highlight>
                      <a:srgbClr val="FFFFFF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716025" y="4016925"/>
                  <a:ext cx="7881600" cy="240900"/>
                </a:xfrm>
                <a:prstGeom prst="rect">
                  <a:avLst/>
                </a:prstGeom>
                <a:solidFill>
                  <a:srgbClr val="FCE5CD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BioMedBERT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4" name="Google Shape;494;p15"/>
                <p:cNvSpPr txBox="1"/>
                <p:nvPr/>
              </p:nvSpPr>
              <p:spPr>
                <a:xfrm>
                  <a:off x="673300" y="4199550"/>
                  <a:ext cx="8284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highlight>
                        <a:srgbClr val="FBF14F"/>
                      </a:highlight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admission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date: 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highlight>
                        <a:srgbClr val="EEEEEE"/>
                      </a:highlight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12/04/18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 the patient was initially 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highlight>
                        <a:srgbClr val="EC9D36"/>
                      </a:highlight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hypotensive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… she had a 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highlight>
                        <a:srgbClr val="EC9D36"/>
                      </a:highlight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mechanical fall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after 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highlight>
                        <a:srgbClr val="F7F06B"/>
                      </a:highlight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admission</a:t>
                  </a: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pic>
          <p:nvPicPr>
            <p:cNvPr id="495" name="Google Shape;495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 flipH="1">
              <a:off x="4192112" y="3588337"/>
              <a:ext cx="440667" cy="138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6" name="Google Shape;496;p15"/>
          <p:cNvGrpSpPr/>
          <p:nvPr/>
        </p:nvGrpSpPr>
        <p:grpSpPr>
          <a:xfrm>
            <a:off x="2001075" y="1457700"/>
            <a:ext cx="1924650" cy="829825"/>
            <a:chOff x="2001075" y="1381500"/>
            <a:chExt cx="1924650" cy="829825"/>
          </a:xfrm>
        </p:grpSpPr>
        <p:grpSp>
          <p:nvGrpSpPr>
            <p:cNvPr id="497" name="Google Shape;497;p15"/>
            <p:cNvGrpSpPr/>
            <p:nvPr/>
          </p:nvGrpSpPr>
          <p:grpSpPr>
            <a:xfrm>
              <a:off x="2001075" y="1381500"/>
              <a:ext cx="1924650" cy="829825"/>
              <a:chOff x="2001075" y="1381500"/>
              <a:chExt cx="1924650" cy="829825"/>
            </a:xfrm>
          </p:grpSpPr>
          <p:grpSp>
            <p:nvGrpSpPr>
              <p:cNvPr id="498" name="Google Shape;498;p15"/>
              <p:cNvGrpSpPr/>
              <p:nvPr/>
            </p:nvGrpSpPr>
            <p:grpSpPr>
              <a:xfrm>
                <a:off x="2001075" y="1381500"/>
                <a:ext cx="1141975" cy="829825"/>
                <a:chOff x="2001075" y="1381500"/>
                <a:chExt cx="1141975" cy="829825"/>
              </a:xfrm>
            </p:grpSpPr>
            <p:cxnSp>
              <p:nvCxnSpPr>
                <p:cNvPr id="499" name="Google Shape;499;p15"/>
                <p:cNvCxnSpPr>
                  <a:stCxn id="500" idx="2"/>
                </p:cNvCxnSpPr>
                <p:nvPr/>
              </p:nvCxnSpPr>
              <p:spPr>
                <a:xfrm rot="-5400000" flipH="1">
                  <a:off x="2649073" y="1599823"/>
                  <a:ext cx="149100" cy="399000"/>
                </a:xfrm>
                <a:prstGeom prst="bentConnector2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501" name="Google Shape;501;p15"/>
                <p:cNvCxnSpPr/>
                <p:nvPr/>
              </p:nvCxnSpPr>
              <p:spPr>
                <a:xfrm>
                  <a:off x="2464725" y="1643438"/>
                  <a:ext cx="117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02" name="Google Shape;502;p15"/>
                <p:cNvCxnSpPr/>
                <p:nvPr/>
              </p:nvCxnSpPr>
              <p:spPr>
                <a:xfrm rot="10800000" flipH="1">
                  <a:off x="2465325" y="1729150"/>
                  <a:ext cx="1158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03" name="Google Shape;503;p15"/>
                <p:cNvCxnSpPr>
                  <a:stCxn id="418" idx="3"/>
                  <a:endCxn id="500" idx="0"/>
                </p:cNvCxnSpPr>
                <p:nvPr/>
              </p:nvCxnSpPr>
              <p:spPr>
                <a:xfrm>
                  <a:off x="2001075" y="1381500"/>
                  <a:ext cx="522900" cy="266400"/>
                </a:xfrm>
                <a:prstGeom prst="bentConnector2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pic>
              <p:nvPicPr>
                <p:cNvPr id="500" name="Google Shape;500;p15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2491398" y="1647835"/>
                  <a:ext cx="65450" cy="7693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4" name="Google Shape;504;p15"/>
                <p:cNvSpPr txBox="1"/>
                <p:nvPr/>
              </p:nvSpPr>
              <p:spPr>
                <a:xfrm>
                  <a:off x="2561050" y="1826425"/>
                  <a:ext cx="582000" cy="384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r>
                    <a:rPr lang="en" sz="1300" b="1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(II)</a:t>
                  </a:r>
                  <a:endParaRPr sz="1300" b="1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505" name="Google Shape;505;p15"/>
              <p:cNvSpPr/>
              <p:nvPr/>
            </p:nvSpPr>
            <p:spPr>
              <a:xfrm>
                <a:off x="2783625" y="1465950"/>
                <a:ext cx="1142100" cy="66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p15"/>
            <p:cNvGrpSpPr/>
            <p:nvPr/>
          </p:nvGrpSpPr>
          <p:grpSpPr>
            <a:xfrm>
              <a:off x="2924068" y="1825003"/>
              <a:ext cx="946610" cy="339562"/>
              <a:chOff x="3686175" y="1776224"/>
              <a:chExt cx="2151876" cy="736738"/>
            </a:xfrm>
          </p:grpSpPr>
          <p:cxnSp>
            <p:nvCxnSpPr>
              <p:cNvPr id="507" name="Google Shape;507;p15"/>
              <p:cNvCxnSpPr>
                <a:stCxn id="508" idx="2"/>
                <a:endCxn id="509" idx="6"/>
              </p:cNvCxnSpPr>
              <p:nvPr/>
            </p:nvCxnSpPr>
            <p:spPr>
              <a:xfrm flipH="1">
                <a:off x="4221350" y="1903125"/>
                <a:ext cx="391500" cy="2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0" name="Google Shape;510;p15"/>
              <p:cNvCxnSpPr>
                <a:stCxn id="511" idx="7"/>
                <a:endCxn id="509" idx="3"/>
              </p:cNvCxnSpPr>
              <p:nvPr/>
            </p:nvCxnSpPr>
            <p:spPr>
              <a:xfrm rot="10800000" flipH="1">
                <a:off x="3907416" y="1990841"/>
                <a:ext cx="92400" cy="316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2" name="Google Shape;512;p15"/>
              <p:cNvCxnSpPr>
                <a:stCxn id="513" idx="4"/>
                <a:endCxn id="514" idx="0"/>
              </p:cNvCxnSpPr>
              <p:nvPr/>
            </p:nvCxnSpPr>
            <p:spPr>
              <a:xfrm>
                <a:off x="5403126" y="2018024"/>
                <a:ext cx="305400" cy="22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8" name="Google Shape;508;p15"/>
              <p:cNvSpPr/>
              <p:nvPr/>
            </p:nvSpPr>
            <p:spPr>
              <a:xfrm>
                <a:off x="4612850" y="1782225"/>
                <a:ext cx="259200" cy="241800"/>
              </a:xfrm>
              <a:prstGeom prst="ellipse">
                <a:avLst/>
              </a:prstGeom>
              <a:solidFill>
                <a:srgbClr val="FAFB93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5273526" y="1776224"/>
                <a:ext cx="259200" cy="241800"/>
              </a:xfrm>
              <a:prstGeom prst="ellipse">
                <a:avLst/>
              </a:prstGeom>
              <a:solidFill>
                <a:srgbClr val="FAFB93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5578851" y="2241150"/>
                <a:ext cx="259200" cy="2409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3686175" y="2272062"/>
                <a:ext cx="259200" cy="2409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3962000" y="1784524"/>
                <a:ext cx="259200" cy="2418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15" name="Google Shape;515;p15"/>
              <p:cNvCxnSpPr>
                <a:stCxn id="511" idx="7"/>
                <a:endCxn id="508" idx="4"/>
              </p:cNvCxnSpPr>
              <p:nvPr/>
            </p:nvCxnSpPr>
            <p:spPr>
              <a:xfrm rot="10800000" flipH="1">
                <a:off x="3907416" y="2024141"/>
                <a:ext cx="834900" cy="28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6" name="Google Shape;516;p15"/>
              <p:cNvCxnSpPr/>
              <p:nvPr/>
            </p:nvCxnSpPr>
            <p:spPr>
              <a:xfrm flipH="1">
                <a:off x="4872126" y="1897124"/>
                <a:ext cx="401400" cy="6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517" name="Google Shape;517;p15"/>
          <p:cNvGrpSpPr/>
          <p:nvPr/>
        </p:nvGrpSpPr>
        <p:grpSpPr>
          <a:xfrm>
            <a:off x="2643800" y="1053063"/>
            <a:ext cx="2485800" cy="2506562"/>
            <a:chOff x="2643800" y="976863"/>
            <a:chExt cx="2485800" cy="2506562"/>
          </a:xfrm>
        </p:grpSpPr>
        <p:grpSp>
          <p:nvGrpSpPr>
            <p:cNvPr id="518" name="Google Shape;518;p15"/>
            <p:cNvGrpSpPr/>
            <p:nvPr/>
          </p:nvGrpSpPr>
          <p:grpSpPr>
            <a:xfrm>
              <a:off x="2643800" y="976863"/>
              <a:ext cx="2485800" cy="2506562"/>
              <a:chOff x="2643800" y="976863"/>
              <a:chExt cx="2485800" cy="2506562"/>
            </a:xfrm>
          </p:grpSpPr>
          <p:grpSp>
            <p:nvGrpSpPr>
              <p:cNvPr id="519" name="Google Shape;519;p15"/>
              <p:cNvGrpSpPr/>
              <p:nvPr/>
            </p:nvGrpSpPr>
            <p:grpSpPr>
              <a:xfrm>
                <a:off x="2795625" y="1580013"/>
                <a:ext cx="2333975" cy="1903412"/>
                <a:chOff x="2795625" y="1580013"/>
                <a:chExt cx="2333975" cy="1903412"/>
              </a:xfrm>
            </p:grpSpPr>
            <p:grpSp>
              <p:nvGrpSpPr>
                <p:cNvPr id="520" name="Google Shape;520;p15"/>
                <p:cNvGrpSpPr/>
                <p:nvPr/>
              </p:nvGrpSpPr>
              <p:grpSpPr>
                <a:xfrm>
                  <a:off x="2795625" y="1580013"/>
                  <a:ext cx="2333975" cy="1903412"/>
                  <a:chOff x="2795625" y="1580013"/>
                  <a:chExt cx="2333975" cy="1903412"/>
                </a:xfrm>
              </p:grpSpPr>
              <p:pic>
                <p:nvPicPr>
                  <p:cNvPr id="521" name="Google Shape;521;p15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/>
                  <a:stretch/>
                </p:blipFill>
                <p:spPr>
                  <a:xfrm>
                    <a:off x="3530275" y="2190375"/>
                    <a:ext cx="964201" cy="964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86" name="Google Shape;486;p15"/>
                  <p:cNvSpPr/>
                  <p:nvPr/>
                </p:nvSpPr>
                <p:spPr>
                  <a:xfrm>
                    <a:off x="4124000" y="1580013"/>
                    <a:ext cx="1005600" cy="587700"/>
                  </a:xfrm>
                  <a:prstGeom prst="rect">
                    <a:avLst/>
                  </a:prstGeom>
                  <a:solidFill>
                    <a:srgbClr val="FCE5CD"/>
                  </a:soli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" sz="13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HGT</a:t>
                    </a:r>
                    <a:endParaRPr sz="13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cxnSp>
                <p:nvCxnSpPr>
                  <p:cNvPr id="522" name="Google Shape;522;p15"/>
                  <p:cNvCxnSpPr>
                    <a:stCxn id="422" idx="0"/>
                  </p:cNvCxnSpPr>
                  <p:nvPr/>
                </p:nvCxnSpPr>
                <p:spPr>
                  <a:xfrm rot="10800000">
                    <a:off x="3405300" y="2177825"/>
                    <a:ext cx="14700" cy="1305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stealth" w="med" len="med"/>
                  </a:ln>
                </p:spPr>
              </p:cxnSp>
              <p:cxnSp>
                <p:nvCxnSpPr>
                  <p:cNvPr id="523" name="Google Shape;523;p15"/>
                  <p:cNvCxnSpPr>
                    <a:endCxn id="486" idx="1"/>
                  </p:cNvCxnSpPr>
                  <p:nvPr/>
                </p:nvCxnSpPr>
                <p:spPr>
                  <a:xfrm>
                    <a:off x="3887300" y="1873863"/>
                    <a:ext cx="2367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stealth" w="med" len="med"/>
                  </a:ln>
                </p:spPr>
              </p:cxnSp>
              <p:cxnSp>
                <p:nvCxnSpPr>
                  <p:cNvPr id="524" name="Google Shape;524;p15"/>
                  <p:cNvCxnSpPr>
                    <a:stCxn id="468" idx="3"/>
                  </p:cNvCxnSpPr>
                  <p:nvPr/>
                </p:nvCxnSpPr>
                <p:spPr>
                  <a:xfrm>
                    <a:off x="2795625" y="3043575"/>
                    <a:ext cx="604500" cy="81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</p:grpSp>
            <p:sp>
              <p:nvSpPr>
                <p:cNvPr id="525" name="Google Shape;525;p15"/>
                <p:cNvSpPr txBox="1"/>
                <p:nvPr/>
              </p:nvSpPr>
              <p:spPr>
                <a:xfrm>
                  <a:off x="3751288" y="2462450"/>
                  <a:ext cx="544200" cy="384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r>
                    <a:rPr lang="en" sz="1300" b="1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(III)</a:t>
                  </a:r>
                  <a:endParaRPr sz="1300" b="1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526" name="Google Shape;526;p15"/>
              <p:cNvSpPr txBox="1"/>
              <p:nvPr/>
            </p:nvSpPr>
            <p:spPr>
              <a:xfrm>
                <a:off x="2643800" y="976863"/>
                <a:ext cx="1506300" cy="3849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rgbClr val="AAC4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Landmarks Nodes</a:t>
                </a: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27" name="Google Shape;527;p15"/>
              <p:cNvCxnSpPr>
                <a:stCxn id="526" idx="2"/>
              </p:cNvCxnSpPr>
              <p:nvPr/>
            </p:nvCxnSpPr>
            <p:spPr>
              <a:xfrm>
                <a:off x="3396950" y="1361763"/>
                <a:ext cx="8100" cy="20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528" name="Google Shape;528;p15"/>
            <p:cNvGrpSpPr/>
            <p:nvPr/>
          </p:nvGrpSpPr>
          <p:grpSpPr>
            <a:xfrm>
              <a:off x="2947723" y="1536319"/>
              <a:ext cx="899320" cy="517215"/>
              <a:chOff x="3739951" y="1149875"/>
              <a:chExt cx="2044373" cy="1122185"/>
            </a:xfrm>
          </p:grpSpPr>
          <p:sp>
            <p:nvSpPr>
              <p:cNvPr id="529" name="Google Shape;529;p15"/>
              <p:cNvSpPr/>
              <p:nvPr/>
            </p:nvSpPr>
            <p:spPr>
              <a:xfrm>
                <a:off x="3739951" y="1153925"/>
                <a:ext cx="259200" cy="241800"/>
              </a:xfrm>
              <a:prstGeom prst="ellipse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5525124" y="1149875"/>
                <a:ext cx="259200" cy="241800"/>
              </a:xfrm>
              <a:prstGeom prst="ellipse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31" name="Google Shape;531;p15"/>
              <p:cNvCxnSpPr>
                <a:stCxn id="530" idx="2"/>
                <a:endCxn id="529" idx="6"/>
              </p:cNvCxnSpPr>
              <p:nvPr/>
            </p:nvCxnSpPr>
            <p:spPr>
              <a:xfrm flipH="1">
                <a:off x="3999024" y="1270775"/>
                <a:ext cx="1526100" cy="4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2" name="Google Shape;532;p15"/>
              <p:cNvCxnSpPr>
                <a:stCxn id="509" idx="0"/>
                <a:endCxn id="529" idx="4"/>
              </p:cNvCxnSpPr>
              <p:nvPr/>
            </p:nvCxnSpPr>
            <p:spPr>
              <a:xfrm rot="10800000">
                <a:off x="3869602" y="1395723"/>
                <a:ext cx="222000" cy="388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3" name="Google Shape;533;p15"/>
              <p:cNvCxnSpPr>
                <a:stCxn id="511" idx="0"/>
                <a:endCxn id="529" idx="3"/>
              </p:cNvCxnSpPr>
              <p:nvPr/>
            </p:nvCxnSpPr>
            <p:spPr>
              <a:xfrm rot="10800000">
                <a:off x="3777977" y="1360360"/>
                <a:ext cx="37800" cy="911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4" name="Google Shape;534;p15"/>
              <p:cNvCxnSpPr>
                <a:stCxn id="513" idx="0"/>
                <a:endCxn id="530" idx="4"/>
              </p:cNvCxnSpPr>
              <p:nvPr/>
            </p:nvCxnSpPr>
            <p:spPr>
              <a:xfrm rot="10800000" flipH="1">
                <a:off x="5403127" y="1391623"/>
                <a:ext cx="251700" cy="384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15"/>
              <p:cNvCxnSpPr>
                <a:stCxn id="508" idx="1"/>
                <a:endCxn id="529" idx="4"/>
              </p:cNvCxnSpPr>
              <p:nvPr/>
            </p:nvCxnSpPr>
            <p:spPr>
              <a:xfrm rot="10800000">
                <a:off x="3869611" y="1395835"/>
                <a:ext cx="781200" cy="421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p15"/>
              <p:cNvCxnSpPr>
                <a:stCxn id="514" idx="0"/>
                <a:endCxn id="530" idx="4"/>
              </p:cNvCxnSpPr>
              <p:nvPr/>
            </p:nvCxnSpPr>
            <p:spPr>
              <a:xfrm rot="10800000">
                <a:off x="5654752" y="1391548"/>
                <a:ext cx="53700" cy="84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6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4084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 dirty="0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2500" b="1" dirty="0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 txBox="1">
            <a:spLocks noGrp="1"/>
          </p:cNvSpPr>
          <p:nvPr>
            <p:ph type="body" idx="1"/>
          </p:nvPr>
        </p:nvSpPr>
        <p:spPr>
          <a:xfrm>
            <a:off x="998829" y="1526650"/>
            <a:ext cx="3092121" cy="226745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274300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I2B2 2012 Corpus</a:t>
            </a:r>
            <a:r>
              <a:rPr lang="en" sz="2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sz="20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310 discharge summaries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~35K entities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~61K relations</a:t>
            </a:r>
            <a:endParaRPr sz="2000" baseline="3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16"/>
          <p:cNvSpPr txBox="1"/>
          <p:nvPr/>
        </p:nvSpPr>
        <p:spPr>
          <a:xfrm>
            <a:off x="464100" y="4571700"/>
            <a:ext cx="8131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[1] Sun, Rumshisky &amp; Uzuner ”Annotating temporal information in clinical narratives”. JBI. 2013.</a:t>
            </a:r>
            <a:endParaRPr sz="10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[2]  Magnini et al. European clinical case corpus. In European Language Grid: A Language Technology Platform for Multilingual Europe. 2022</a:t>
            </a:r>
            <a:endParaRPr sz="10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545" name="Google Shape;545;p16"/>
          <p:cNvSpPr txBox="1">
            <a:spLocks noGrp="1"/>
          </p:cNvSpPr>
          <p:nvPr>
            <p:ph type="body" idx="1"/>
          </p:nvPr>
        </p:nvSpPr>
        <p:spPr>
          <a:xfrm>
            <a:off x="5101442" y="1613974"/>
            <a:ext cx="2674933" cy="2087357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E3C Corpus</a:t>
            </a:r>
            <a:r>
              <a:rPr lang="en" sz="2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sz="20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 clinical case reports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~5K entities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~4K relations</a:t>
            </a:r>
            <a:endParaRPr sz="2000" baseline="3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6" name="Google Shape;54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0792" y="1820324"/>
            <a:ext cx="418200" cy="4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6" y="1788808"/>
            <a:ext cx="41819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2025-6CF6-1E7A-A3F8-7CF148DD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Tempeval … evaluation: T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ink F1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7A2C53-037B-7FAB-01B6-4564FA9CFA5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IT" dirty="0"/>
                  <a:t>Temporal order can be described in different ways:</a:t>
                </a:r>
              </a:p>
              <a:p>
                <a:pPr marL="114300" indent="0">
                  <a:buNone/>
                </a:pPr>
                <a:endParaRPr lang="en-IT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T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𝑠𝑦𝑠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𝐺𝑜𝑙𝑑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𝑠𝑦𝑠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𝐺𝑜𝑙𝑑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𝑠𝑦𝑠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𝐺𝑜𝑙𝑑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IT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IT" dirty="0"/>
                  <a:t>: closure of  G that makes implicit relations explicit (transitivity, invertibility)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IT" dirty="0"/>
                  <a:t> reduced G after removing redundant relations</a:t>
                </a:r>
              </a:p>
              <a:p>
                <a:pPr marL="114300" indent="0">
                  <a:buNone/>
                </a:pPr>
                <a:endParaRPr lang="en-IT" dirty="0"/>
              </a:p>
              <a:p>
                <a:pPr marL="114300" indent="0">
                  <a:buNone/>
                </a:pPr>
                <a:endParaRPr lang="en-IT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7A2C53-037B-7FAB-01B6-4564FA9CF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1351C-38AE-C17F-9028-138E02D6A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6912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"/>
          <p:cNvSpPr txBox="1">
            <a:spLocks noGrp="1"/>
          </p:cNvSpPr>
          <p:nvPr>
            <p:ph type="title"/>
          </p:nvPr>
        </p:nvSpPr>
        <p:spPr>
          <a:xfrm>
            <a:off x="159300" y="76200"/>
            <a:ext cx="35040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554" name="Google Shape;554;p17"/>
          <p:cNvSpPr txBox="1"/>
          <p:nvPr/>
        </p:nvSpPr>
        <p:spPr>
          <a:xfrm>
            <a:off x="429950" y="3523924"/>
            <a:ext cx="871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state-of-the-art 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I2B2 2012 end-to-end relation extraction &gt; 5% improvement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improvements on E3C corpus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5" name="Google Shape;555;p17"/>
          <p:cNvGraphicFramePr/>
          <p:nvPr/>
        </p:nvGraphicFramePr>
        <p:xfrm>
          <a:off x="563225" y="766588"/>
          <a:ext cx="7874800" cy="2560170"/>
        </p:xfrm>
        <a:graphic>
          <a:graphicData uri="http://schemas.openxmlformats.org/drawingml/2006/table">
            <a:tbl>
              <a:tblPr>
                <a:noFill/>
                <a:tableStyleId>{C1652948-DBA9-4125-993E-DDE8C3FD3089}</a:tableStyleId>
              </a:tblPr>
              <a:tblGrid>
                <a:gridCol w="47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10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I2B2 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Tempeval</a:t>
                      </a:r>
                      <a:r>
                        <a:rPr lang="en" sz="1800" b="1" u="none" strike="noStrike" cap="none" baseline="3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[3] </a:t>
                      </a: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lang="en" sz="1800" b="1" u="none" strike="noStrike" cap="none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b="1" u="none" strike="noStrike" cap="none" baseline="-25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E3C 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 F</a:t>
                      </a:r>
                      <a:r>
                        <a:rPr lang="en" sz="1800" b="1" u="none" strike="noStrike" cap="none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b="1" u="none" strike="noStrike" cap="none" baseline="-25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550">
                <a:tc vMerge="1"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Rules +ML Hybrid </a:t>
                      </a:r>
                      <a:r>
                        <a:rPr lang="en" sz="1800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[1]</a:t>
                      </a:r>
                      <a:endParaRPr sz="1800" u="none" strike="noStrike" cap="none"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63.4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550">
                <a:tc vMerge="1"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SPERT</a:t>
                      </a:r>
                      <a:r>
                        <a:rPr lang="en" sz="1800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[2]</a:t>
                      </a:r>
                      <a:endParaRPr sz="1800" u="none" strike="noStrike" cap="none"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61.1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55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</a:t>
                      </a: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 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66.6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550">
                <a:tc vMerge="1"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RAPH</a:t>
                      </a: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68.8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6" name="Google Shape;556;p17"/>
          <p:cNvSpPr txBox="1"/>
          <p:nvPr/>
        </p:nvSpPr>
        <p:spPr>
          <a:xfrm rot="-5398430">
            <a:off x="137675" y="1442950"/>
            <a:ext cx="131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Baselines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17"/>
          <p:cNvSpPr txBox="1"/>
          <p:nvPr/>
        </p:nvSpPr>
        <p:spPr>
          <a:xfrm rot="-5398083">
            <a:off x="256475" y="2476150"/>
            <a:ext cx="107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Ours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17"/>
          <p:cNvSpPr txBox="1"/>
          <p:nvPr/>
        </p:nvSpPr>
        <p:spPr>
          <a:xfrm>
            <a:off x="76200" y="4342073"/>
            <a:ext cx="9068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[1] Xu Y, Wang Y, Liu T, Tsujii J, Chang EI. An end-to-end system to identify temporal relation in discharge summaries: 2012 i2b2 challenge. JAMIA. 2013.</a:t>
            </a:r>
            <a:endParaRPr sz="10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[2] Eberts M, Ulges A. Span-based joint entity and relation extraction with transformer pre-training. ECAI. 2020.</a:t>
            </a:r>
            <a:endParaRPr sz="10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[3] UzZaman N, Allen J. Temporal evaluation. ACL. 2011. </a:t>
            </a:r>
            <a:endParaRPr sz="10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63"/>
          <p:cNvSpPr txBox="1">
            <a:spLocks noGrp="1"/>
          </p:cNvSpPr>
          <p:nvPr>
            <p:ph type="title"/>
          </p:nvPr>
        </p:nvSpPr>
        <p:spPr>
          <a:xfrm>
            <a:off x="235500" y="216425"/>
            <a:ext cx="728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 b="1">
                <a:solidFill>
                  <a:srgbClr val="363684"/>
                </a:solidFill>
                <a:latin typeface="Calibri"/>
                <a:ea typeface="Calibri"/>
                <a:cs typeface="Calibri"/>
                <a:sym typeface="Calibri"/>
              </a:rPr>
              <a:t>Performance Across Relation Types</a:t>
            </a:r>
            <a:endParaRPr sz="2500" b="1">
              <a:solidFill>
                <a:srgbClr val="3636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1452" name="Google Shape;1452;p63"/>
          <p:cNvSpPr txBox="1"/>
          <p:nvPr/>
        </p:nvSpPr>
        <p:spPr>
          <a:xfrm>
            <a:off x="1741825" y="4343400"/>
            <a:ext cx="607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3" name="Google Shape;145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5525" y="1330100"/>
            <a:ext cx="4724848" cy="24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728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 b="1">
                <a:solidFill>
                  <a:srgbClr val="363684"/>
                </a:solidFill>
                <a:latin typeface="Calibri"/>
                <a:ea typeface="Calibri"/>
                <a:cs typeface="Calibri"/>
                <a:sym typeface="Calibri"/>
              </a:rPr>
              <a:t>What makes GraphTREx Work: Landmark Nodes</a:t>
            </a:r>
            <a:endParaRPr sz="2500" b="1">
              <a:solidFill>
                <a:srgbClr val="3636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573" name="Google Shape;573;p19"/>
          <p:cNvSpPr txBox="1"/>
          <p:nvPr/>
        </p:nvSpPr>
        <p:spPr>
          <a:xfrm>
            <a:off x="1597893" y="3573558"/>
            <a:ext cx="59112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I2B2 2012: Both landmark nodes enhance performance</a:t>
            </a: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E3C: short documents, window nodes create noise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74" name="Google Shape;574;p19"/>
          <p:cNvGraphicFramePr/>
          <p:nvPr/>
        </p:nvGraphicFramePr>
        <p:xfrm>
          <a:off x="1436256" y="899502"/>
          <a:ext cx="5748375" cy="2651580"/>
        </p:xfrm>
        <a:graphic>
          <a:graphicData uri="http://schemas.openxmlformats.org/drawingml/2006/table">
            <a:tbl>
              <a:tblPr>
                <a:noFill/>
                <a:tableStyleId>{C1652948-DBA9-4125-993E-DDE8C3FD3089}</a:tableStyleId>
              </a:tblPr>
              <a:tblGrid>
                <a:gridCol w="97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39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Entity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Landmark Nodes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IMP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75">
                <a:tc vMerge="1"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I2B2 2012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E3C</a:t>
                      </a:r>
                      <a:endParaRPr sz="17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-3.3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1.9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4.1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7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3.7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2.3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1.9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5" name="Google Shape;575;p19"/>
          <p:cNvSpPr txBox="1"/>
          <p:nvPr/>
        </p:nvSpPr>
        <p:spPr>
          <a:xfrm>
            <a:off x="146550" y="4425250"/>
            <a:ext cx="854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robustness experiments across base encoders, pair embedding approaches</a:t>
            </a: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19">
            <a:hlinkClick r:id="rId3" action="ppaction://hlinksldjump"/>
          </p:cNvPr>
          <p:cNvSpPr/>
          <p:nvPr/>
        </p:nvSpPr>
        <p:spPr>
          <a:xfrm>
            <a:off x="7737699" y="4484349"/>
            <a:ext cx="870300" cy="326400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12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Details »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8"/>
          <p:cNvSpPr txBox="1">
            <a:spLocks noGrp="1"/>
          </p:cNvSpPr>
          <p:nvPr>
            <p:ph type="title"/>
          </p:nvPr>
        </p:nvSpPr>
        <p:spPr>
          <a:xfrm>
            <a:off x="159300" y="228600"/>
            <a:ext cx="72888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Performance Across Distant Entities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565" name="Google Shape;565;p18"/>
          <p:cNvSpPr txBox="1"/>
          <p:nvPr/>
        </p:nvSpPr>
        <p:spPr>
          <a:xfrm>
            <a:off x="3588300" y="1463050"/>
            <a:ext cx="5433000" cy="23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improvement (%IMP) from G</a:t>
            </a: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RAPH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 S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across: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d=0: Nearby pairs (within the same window)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d&gt;0: Distant pairs (spanning different windows)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d&gt;1: Farther pairs (across two or more windows)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66" name="Google Shape;566;p18"/>
          <p:cNvGraphicFramePr/>
          <p:nvPr/>
        </p:nvGraphicFramePr>
        <p:xfrm>
          <a:off x="491075" y="1707650"/>
          <a:ext cx="2982725" cy="2102800"/>
        </p:xfrm>
        <a:graphic>
          <a:graphicData uri="http://schemas.openxmlformats.org/drawingml/2006/table">
            <a:tbl>
              <a:tblPr>
                <a:noFill/>
                <a:tableStyleId>{C1652948-DBA9-4125-993E-DDE8C3FD3089}</a:tableStyleId>
              </a:tblPr>
              <a:tblGrid>
                <a:gridCol w="157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Pair Distance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IMP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d=0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d&gt;0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d&gt;1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8.9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0"/>
          <p:cNvSpPr txBox="1">
            <a:spLocks noGrp="1"/>
          </p:cNvSpPr>
          <p:nvPr>
            <p:ph type="title"/>
          </p:nvPr>
        </p:nvSpPr>
        <p:spPr>
          <a:xfrm>
            <a:off x="159300" y="0"/>
            <a:ext cx="85947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Case Study: Temporal Graphs from a Snippet from I2B2 2012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cxnSp>
        <p:nvCxnSpPr>
          <p:cNvPr id="583" name="Google Shape;583;p20"/>
          <p:cNvCxnSpPr>
            <a:stCxn id="584" idx="0"/>
            <a:endCxn id="585" idx="4"/>
          </p:cNvCxnSpPr>
          <p:nvPr/>
        </p:nvCxnSpPr>
        <p:spPr>
          <a:xfrm rot="10800000">
            <a:off x="4997962" y="2226645"/>
            <a:ext cx="0" cy="267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86" name="Google Shape;586;p20"/>
          <p:cNvCxnSpPr>
            <a:stCxn id="585" idx="0"/>
            <a:endCxn id="587" idx="4"/>
          </p:cNvCxnSpPr>
          <p:nvPr/>
        </p:nvCxnSpPr>
        <p:spPr>
          <a:xfrm rot="10800000">
            <a:off x="4979349" y="1537468"/>
            <a:ext cx="18600" cy="267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88" name="Google Shape;588;p20"/>
          <p:cNvCxnSpPr>
            <a:stCxn id="589" idx="0"/>
            <a:endCxn id="590" idx="4"/>
          </p:cNvCxnSpPr>
          <p:nvPr/>
        </p:nvCxnSpPr>
        <p:spPr>
          <a:xfrm rot="10800000">
            <a:off x="4997962" y="3607652"/>
            <a:ext cx="0" cy="270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91" name="Google Shape;591;p20"/>
          <p:cNvCxnSpPr>
            <a:stCxn id="590" idx="0"/>
            <a:endCxn id="584" idx="4"/>
          </p:cNvCxnSpPr>
          <p:nvPr/>
        </p:nvCxnSpPr>
        <p:spPr>
          <a:xfrm rot="10800000">
            <a:off x="4997962" y="2915649"/>
            <a:ext cx="0" cy="270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92" name="Google Shape;592;p20"/>
          <p:cNvCxnSpPr>
            <a:stCxn id="587" idx="3"/>
            <a:endCxn id="584" idx="1"/>
          </p:cNvCxnSpPr>
          <p:nvPr/>
        </p:nvCxnSpPr>
        <p:spPr>
          <a:xfrm>
            <a:off x="4729779" y="1475576"/>
            <a:ext cx="18600" cy="1080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93" name="Google Shape;593;p20"/>
          <p:cNvCxnSpPr>
            <a:stCxn id="587" idx="5"/>
            <a:endCxn id="590" idx="7"/>
          </p:cNvCxnSpPr>
          <p:nvPr/>
        </p:nvCxnSpPr>
        <p:spPr>
          <a:xfrm>
            <a:off x="5228713" y="1475576"/>
            <a:ext cx="18600" cy="17718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94" name="Google Shape;594;p20"/>
          <p:cNvCxnSpPr>
            <a:stCxn id="595" idx="0"/>
            <a:endCxn id="596" idx="4"/>
          </p:cNvCxnSpPr>
          <p:nvPr/>
        </p:nvCxnSpPr>
        <p:spPr>
          <a:xfrm rot="10800000">
            <a:off x="3619800" y="3520800"/>
            <a:ext cx="0" cy="2919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97" name="Google Shape;597;p20"/>
          <p:cNvCxnSpPr>
            <a:stCxn id="596" idx="7"/>
            <a:endCxn id="598" idx="5"/>
          </p:cNvCxnSpPr>
          <p:nvPr/>
        </p:nvCxnSpPr>
        <p:spPr>
          <a:xfrm rot="10800000">
            <a:off x="3847067" y="1970385"/>
            <a:ext cx="22200" cy="11901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99" name="Google Shape;599;p20"/>
          <p:cNvCxnSpPr>
            <a:stCxn id="600" idx="0"/>
            <a:endCxn id="598" idx="4"/>
          </p:cNvCxnSpPr>
          <p:nvPr/>
        </p:nvCxnSpPr>
        <p:spPr>
          <a:xfrm rot="10800000">
            <a:off x="3597587" y="2032093"/>
            <a:ext cx="22200" cy="3681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01" name="Google Shape;601;p20"/>
          <p:cNvCxnSpPr>
            <a:stCxn id="596" idx="0"/>
            <a:endCxn id="600" idx="4"/>
          </p:cNvCxnSpPr>
          <p:nvPr/>
        </p:nvCxnSpPr>
        <p:spPr>
          <a:xfrm rot="10800000">
            <a:off x="3619800" y="2822370"/>
            <a:ext cx="0" cy="2763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02" name="Google Shape;602;p20"/>
          <p:cNvCxnSpPr>
            <a:stCxn id="600" idx="1"/>
            <a:endCxn id="603" idx="3"/>
          </p:cNvCxnSpPr>
          <p:nvPr/>
        </p:nvCxnSpPr>
        <p:spPr>
          <a:xfrm rot="10800000">
            <a:off x="3348120" y="1400308"/>
            <a:ext cx="22200" cy="10617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04" name="Google Shape;604;p20"/>
          <p:cNvCxnSpPr>
            <a:stCxn id="595" idx="6"/>
            <a:endCxn id="590" idx="3"/>
          </p:cNvCxnSpPr>
          <p:nvPr/>
        </p:nvCxnSpPr>
        <p:spPr>
          <a:xfrm rot="10800000" flipH="1">
            <a:off x="3972600" y="3545850"/>
            <a:ext cx="775800" cy="477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5" name="Google Shape;605;p20"/>
          <p:cNvCxnSpPr>
            <a:stCxn id="596" idx="6"/>
            <a:endCxn id="590" idx="3"/>
          </p:cNvCxnSpPr>
          <p:nvPr/>
        </p:nvCxnSpPr>
        <p:spPr>
          <a:xfrm>
            <a:off x="3972600" y="3309720"/>
            <a:ext cx="775800" cy="236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" name="Google Shape;606;p20"/>
          <p:cNvCxnSpPr>
            <a:stCxn id="600" idx="6"/>
            <a:endCxn id="590" idx="2"/>
          </p:cNvCxnSpPr>
          <p:nvPr/>
        </p:nvCxnSpPr>
        <p:spPr>
          <a:xfrm>
            <a:off x="3972587" y="2611243"/>
            <a:ext cx="672600" cy="785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8" name="Google Shape;598;p20"/>
          <p:cNvSpPr/>
          <p:nvPr/>
        </p:nvSpPr>
        <p:spPr>
          <a:xfrm>
            <a:off x="3244685" y="1610044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 days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3267000" y="3098670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3266987" y="2400193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DTIC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4645149" y="1804468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4626446" y="1115291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4645162" y="2493645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3244698" y="1040091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4645162" y="3877652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4645162" y="3185649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3267000" y="3812700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20"/>
          <p:cNvCxnSpPr>
            <a:stCxn id="608" idx="0"/>
            <a:endCxn id="609" idx="4"/>
          </p:cNvCxnSpPr>
          <p:nvPr/>
        </p:nvCxnSpPr>
        <p:spPr>
          <a:xfrm rot="10800000">
            <a:off x="6503875" y="3148474"/>
            <a:ext cx="22200" cy="2919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0" name="Google Shape;610;p20"/>
          <p:cNvCxnSpPr>
            <a:stCxn id="608" idx="7"/>
            <a:endCxn id="611" idx="5"/>
          </p:cNvCxnSpPr>
          <p:nvPr/>
        </p:nvCxnSpPr>
        <p:spPr>
          <a:xfrm rot="10800000">
            <a:off x="6753342" y="2520889"/>
            <a:ext cx="22200" cy="9813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2" name="Google Shape;612;p20"/>
          <p:cNvCxnSpPr>
            <a:stCxn id="613" idx="0"/>
            <a:endCxn id="608" idx="4"/>
          </p:cNvCxnSpPr>
          <p:nvPr/>
        </p:nvCxnSpPr>
        <p:spPr>
          <a:xfrm rot="10800000">
            <a:off x="6526088" y="3862552"/>
            <a:ext cx="0" cy="2763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4" name="Google Shape;614;p20"/>
          <p:cNvCxnSpPr>
            <a:stCxn id="613" idx="1"/>
            <a:endCxn id="611" idx="3"/>
          </p:cNvCxnSpPr>
          <p:nvPr/>
        </p:nvCxnSpPr>
        <p:spPr>
          <a:xfrm rot="10800000">
            <a:off x="6254421" y="2520667"/>
            <a:ext cx="22200" cy="1680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5" name="Google Shape;615;p20"/>
          <p:cNvCxnSpPr>
            <a:stCxn id="616" idx="0"/>
            <a:endCxn id="617" idx="4"/>
          </p:cNvCxnSpPr>
          <p:nvPr/>
        </p:nvCxnSpPr>
        <p:spPr>
          <a:xfrm rot="10800000">
            <a:off x="8056651" y="3710969"/>
            <a:ext cx="0" cy="270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8" name="Google Shape;618;p20"/>
          <p:cNvCxnSpPr>
            <a:stCxn id="619" idx="0"/>
            <a:endCxn id="620" idx="4"/>
          </p:cNvCxnSpPr>
          <p:nvPr/>
        </p:nvCxnSpPr>
        <p:spPr>
          <a:xfrm rot="10800000">
            <a:off x="8056651" y="2482362"/>
            <a:ext cx="0" cy="3432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1" name="Google Shape;621;p20"/>
          <p:cNvCxnSpPr>
            <a:stCxn id="622" idx="5"/>
            <a:endCxn id="619" idx="7"/>
          </p:cNvCxnSpPr>
          <p:nvPr/>
        </p:nvCxnSpPr>
        <p:spPr>
          <a:xfrm>
            <a:off x="8287401" y="1731293"/>
            <a:ext cx="18600" cy="11562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3" name="Google Shape;623;p20"/>
          <p:cNvCxnSpPr>
            <a:stCxn id="620" idx="0"/>
            <a:endCxn id="622" idx="4"/>
          </p:cNvCxnSpPr>
          <p:nvPr/>
        </p:nvCxnSpPr>
        <p:spPr>
          <a:xfrm rot="10800000">
            <a:off x="8038038" y="1793185"/>
            <a:ext cx="18600" cy="2670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4" name="Google Shape;624;p20"/>
          <p:cNvCxnSpPr>
            <a:stCxn id="608" idx="7"/>
            <a:endCxn id="622" idx="3"/>
          </p:cNvCxnSpPr>
          <p:nvPr/>
        </p:nvCxnSpPr>
        <p:spPr>
          <a:xfrm rot="10800000" flipH="1">
            <a:off x="6775542" y="1731289"/>
            <a:ext cx="1012800" cy="1770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5" name="Google Shape;625;p20"/>
          <p:cNvCxnSpPr>
            <a:stCxn id="613" idx="7"/>
            <a:endCxn id="617" idx="3"/>
          </p:cNvCxnSpPr>
          <p:nvPr/>
        </p:nvCxnSpPr>
        <p:spPr>
          <a:xfrm rot="10800000" flipH="1">
            <a:off x="6775555" y="3649267"/>
            <a:ext cx="1031700" cy="551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6" name="Google Shape;626;p20"/>
          <p:cNvCxnSpPr>
            <a:stCxn id="613" idx="7"/>
            <a:endCxn id="622" idx="3"/>
          </p:cNvCxnSpPr>
          <p:nvPr/>
        </p:nvCxnSpPr>
        <p:spPr>
          <a:xfrm rot="10800000" flipH="1">
            <a:off x="6775555" y="1731367"/>
            <a:ext cx="1012800" cy="2469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7" name="Google Shape;627;p20"/>
          <p:cNvCxnSpPr>
            <a:stCxn id="628" idx="6"/>
            <a:endCxn id="622" idx="2"/>
          </p:cNvCxnSpPr>
          <p:nvPr/>
        </p:nvCxnSpPr>
        <p:spPr>
          <a:xfrm>
            <a:off x="6875126" y="1138610"/>
            <a:ext cx="810000" cy="44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9" name="Google Shape;629;p20"/>
          <p:cNvCxnSpPr>
            <a:stCxn id="630" idx="6"/>
            <a:endCxn id="622" idx="2"/>
          </p:cNvCxnSpPr>
          <p:nvPr/>
        </p:nvCxnSpPr>
        <p:spPr>
          <a:xfrm rot="10800000" flipH="1">
            <a:off x="6875126" y="1581977"/>
            <a:ext cx="810000" cy="27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1" name="Google Shape;631;p20"/>
          <p:cNvCxnSpPr>
            <a:stCxn id="630" idx="5"/>
            <a:endCxn id="619" idx="2"/>
          </p:cNvCxnSpPr>
          <p:nvPr/>
        </p:nvCxnSpPr>
        <p:spPr>
          <a:xfrm>
            <a:off x="6771793" y="2007812"/>
            <a:ext cx="932100" cy="1028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9" name="Google Shape;609;p20"/>
          <p:cNvSpPr/>
          <p:nvPr/>
        </p:nvSpPr>
        <p:spPr>
          <a:xfrm>
            <a:off x="6150974" y="2726426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6173288" y="4138852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6173275" y="3440374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DTIC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7703838" y="2060185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7685134" y="1371008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6169526" y="927560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6169526" y="1647527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6150986" y="2160485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 days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7703851" y="3980969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7703851" y="3288966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20"/>
          <p:cNvCxnSpPr>
            <a:stCxn id="633" idx="6"/>
            <a:endCxn id="634" idx="1"/>
          </p:cNvCxnSpPr>
          <p:nvPr/>
        </p:nvCxnSpPr>
        <p:spPr>
          <a:xfrm>
            <a:off x="1006352" y="993260"/>
            <a:ext cx="779700" cy="1638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5" name="Google Shape;635;p20"/>
          <p:cNvCxnSpPr>
            <a:stCxn id="636" idx="6"/>
            <a:endCxn id="637" idx="2"/>
          </p:cNvCxnSpPr>
          <p:nvPr/>
        </p:nvCxnSpPr>
        <p:spPr>
          <a:xfrm>
            <a:off x="1010102" y="2992243"/>
            <a:ext cx="672600" cy="556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8" name="Google Shape;638;p20"/>
          <p:cNvCxnSpPr>
            <a:stCxn id="639" idx="5"/>
            <a:endCxn id="637" idx="1"/>
          </p:cNvCxnSpPr>
          <p:nvPr/>
        </p:nvCxnSpPr>
        <p:spPr>
          <a:xfrm>
            <a:off x="903019" y="1870328"/>
            <a:ext cx="882900" cy="1529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0" name="Google Shape;640;p20"/>
          <p:cNvCxnSpPr>
            <a:stCxn id="641" idx="7"/>
            <a:endCxn id="637" idx="3"/>
          </p:cNvCxnSpPr>
          <p:nvPr/>
        </p:nvCxnSpPr>
        <p:spPr>
          <a:xfrm rot="10800000" flipH="1">
            <a:off x="906782" y="3698290"/>
            <a:ext cx="879300" cy="529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2" name="Google Shape;642;p20"/>
          <p:cNvCxnSpPr>
            <a:stCxn id="643" idx="7"/>
            <a:endCxn id="637" idx="3"/>
          </p:cNvCxnSpPr>
          <p:nvPr/>
        </p:nvCxnSpPr>
        <p:spPr>
          <a:xfrm>
            <a:off x="906782" y="3541486"/>
            <a:ext cx="879300" cy="156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4" name="Google Shape;644;p20"/>
          <p:cNvCxnSpPr>
            <a:stCxn id="633" idx="5"/>
            <a:endCxn id="634" idx="2"/>
          </p:cNvCxnSpPr>
          <p:nvPr/>
        </p:nvCxnSpPr>
        <p:spPr>
          <a:xfrm>
            <a:off x="903019" y="1142495"/>
            <a:ext cx="779700" cy="1638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5" name="Google Shape;645;p20"/>
          <p:cNvCxnSpPr>
            <a:stCxn id="639" idx="0"/>
            <a:endCxn id="646" idx="2"/>
          </p:cNvCxnSpPr>
          <p:nvPr/>
        </p:nvCxnSpPr>
        <p:spPr>
          <a:xfrm rot="10800000" flipH="1">
            <a:off x="653552" y="1235243"/>
            <a:ext cx="5100" cy="2748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47" name="Google Shape;647;p20"/>
          <p:cNvCxnSpPr>
            <a:stCxn id="634" idx="0"/>
            <a:endCxn id="648" idx="4"/>
          </p:cNvCxnSpPr>
          <p:nvPr/>
        </p:nvCxnSpPr>
        <p:spPr>
          <a:xfrm rot="10800000">
            <a:off x="2035477" y="2074245"/>
            <a:ext cx="0" cy="4956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49" name="Google Shape;649;p20"/>
          <p:cNvCxnSpPr>
            <a:stCxn id="648" idx="0"/>
            <a:endCxn id="650" idx="4"/>
          </p:cNvCxnSpPr>
          <p:nvPr/>
        </p:nvCxnSpPr>
        <p:spPr>
          <a:xfrm rot="10800000">
            <a:off x="2016864" y="1308868"/>
            <a:ext cx="18600" cy="3432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51" name="Google Shape;651;p20"/>
          <p:cNvCxnSpPr>
            <a:stCxn id="652" idx="0"/>
            <a:endCxn id="637" idx="4"/>
          </p:cNvCxnSpPr>
          <p:nvPr/>
        </p:nvCxnSpPr>
        <p:spPr>
          <a:xfrm rot="10800000">
            <a:off x="2035477" y="3760052"/>
            <a:ext cx="0" cy="3462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53" name="Google Shape;653;p20"/>
          <p:cNvCxnSpPr>
            <a:stCxn id="637" idx="0"/>
            <a:endCxn id="634" idx="4"/>
          </p:cNvCxnSpPr>
          <p:nvPr/>
        </p:nvCxnSpPr>
        <p:spPr>
          <a:xfrm rot="10800000">
            <a:off x="2035477" y="2991849"/>
            <a:ext cx="0" cy="3462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54" name="Google Shape;654;p20"/>
          <p:cNvCxnSpPr>
            <a:stCxn id="636" idx="0"/>
            <a:endCxn id="655" idx="4"/>
          </p:cNvCxnSpPr>
          <p:nvPr/>
        </p:nvCxnSpPr>
        <p:spPr>
          <a:xfrm rot="10800000">
            <a:off x="635102" y="2489293"/>
            <a:ext cx="22200" cy="2919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56" name="Google Shape;656;p20"/>
          <p:cNvCxnSpPr>
            <a:stCxn id="643" idx="0"/>
            <a:endCxn id="636" idx="4"/>
          </p:cNvCxnSpPr>
          <p:nvPr/>
        </p:nvCxnSpPr>
        <p:spPr>
          <a:xfrm rot="10800000">
            <a:off x="657315" y="3203371"/>
            <a:ext cx="0" cy="2763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57" name="Google Shape;657;p20"/>
          <p:cNvCxnSpPr>
            <a:stCxn id="641" idx="0"/>
            <a:endCxn id="643" idx="4"/>
          </p:cNvCxnSpPr>
          <p:nvPr/>
        </p:nvCxnSpPr>
        <p:spPr>
          <a:xfrm rot="10800000">
            <a:off x="657315" y="3901675"/>
            <a:ext cx="0" cy="2643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55" name="Google Shape;655;p20"/>
          <p:cNvSpPr/>
          <p:nvPr/>
        </p:nvSpPr>
        <p:spPr>
          <a:xfrm>
            <a:off x="282200" y="2067244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304515" y="3479671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304502" y="2781193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DTIC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1682664" y="1652068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1663961" y="886691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300752" y="1510043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300752" y="782210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1682677" y="2569845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1682677" y="4106252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1682677" y="3338049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304515" y="4165975"/>
            <a:ext cx="705600" cy="4221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0"/>
          <p:cNvSpPr txBox="1"/>
          <p:nvPr/>
        </p:nvSpPr>
        <p:spPr>
          <a:xfrm>
            <a:off x="268050" y="2038350"/>
            <a:ext cx="7545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for four days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0"/>
          <p:cNvSpPr txBox="1"/>
          <p:nvPr/>
        </p:nvSpPr>
        <p:spPr>
          <a:xfrm>
            <a:off x="233600" y="3502125"/>
            <a:ext cx="8628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Adriamycin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20"/>
          <p:cNvCxnSpPr>
            <a:stCxn id="628" idx="4"/>
            <a:endCxn id="630" idx="0"/>
          </p:cNvCxnSpPr>
          <p:nvPr/>
        </p:nvCxnSpPr>
        <p:spPr>
          <a:xfrm>
            <a:off x="6522326" y="1349660"/>
            <a:ext cx="0" cy="2979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61" name="Google Shape;661;p20"/>
          <p:cNvSpPr txBox="1"/>
          <p:nvPr/>
        </p:nvSpPr>
        <p:spPr>
          <a:xfrm>
            <a:off x="279275" y="4196550"/>
            <a:ext cx="7545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hydrated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0"/>
          <p:cNvSpPr txBox="1"/>
          <p:nvPr/>
        </p:nvSpPr>
        <p:spPr>
          <a:xfrm>
            <a:off x="318750" y="1539152"/>
            <a:ext cx="7056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tolerated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0"/>
          <p:cNvSpPr txBox="1"/>
          <p:nvPr/>
        </p:nvSpPr>
        <p:spPr>
          <a:xfrm>
            <a:off x="281400" y="813225"/>
            <a:ext cx="7545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treatment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0"/>
          <p:cNvSpPr txBox="1"/>
          <p:nvPr/>
        </p:nvSpPr>
        <p:spPr>
          <a:xfrm>
            <a:off x="1641150" y="919200"/>
            <a:ext cx="754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10/9/95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0"/>
          <p:cNvSpPr txBox="1"/>
          <p:nvPr/>
        </p:nvSpPr>
        <p:spPr>
          <a:xfrm>
            <a:off x="1545375" y="1691563"/>
            <a:ext cx="982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DISCHARGE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0"/>
          <p:cNvSpPr txBox="1"/>
          <p:nvPr/>
        </p:nvSpPr>
        <p:spPr>
          <a:xfrm>
            <a:off x="1620375" y="2584550"/>
            <a:ext cx="8628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discharged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0"/>
          <p:cNvSpPr txBox="1"/>
          <p:nvPr/>
        </p:nvSpPr>
        <p:spPr>
          <a:xfrm>
            <a:off x="1577325" y="3371525"/>
            <a:ext cx="918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10/5/95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0"/>
          <p:cNvSpPr txBox="1"/>
          <p:nvPr/>
        </p:nvSpPr>
        <p:spPr>
          <a:xfrm>
            <a:off x="1604800" y="4135450"/>
            <a:ext cx="8628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0"/>
          <p:cNvSpPr txBox="1"/>
          <p:nvPr/>
        </p:nvSpPr>
        <p:spPr>
          <a:xfrm>
            <a:off x="3205400" y="3121125"/>
            <a:ext cx="8628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Adriamycin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0"/>
          <p:cNvSpPr txBox="1"/>
          <p:nvPr/>
        </p:nvSpPr>
        <p:spPr>
          <a:xfrm>
            <a:off x="3251075" y="3815550"/>
            <a:ext cx="7545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hydrated well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0"/>
          <p:cNvSpPr txBox="1"/>
          <p:nvPr/>
        </p:nvSpPr>
        <p:spPr>
          <a:xfrm>
            <a:off x="4576600" y="3906850"/>
            <a:ext cx="8628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0"/>
          <p:cNvSpPr txBox="1"/>
          <p:nvPr/>
        </p:nvSpPr>
        <p:spPr>
          <a:xfrm>
            <a:off x="4592175" y="2508350"/>
            <a:ext cx="8472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discharged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0"/>
          <p:cNvSpPr txBox="1"/>
          <p:nvPr/>
        </p:nvSpPr>
        <p:spPr>
          <a:xfrm>
            <a:off x="4549125" y="3219125"/>
            <a:ext cx="918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10/5/95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0"/>
          <p:cNvSpPr txBox="1"/>
          <p:nvPr/>
        </p:nvSpPr>
        <p:spPr>
          <a:xfrm>
            <a:off x="4517175" y="1843963"/>
            <a:ext cx="982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DISCHARGE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0"/>
          <p:cNvSpPr txBox="1"/>
          <p:nvPr/>
        </p:nvSpPr>
        <p:spPr>
          <a:xfrm>
            <a:off x="4612950" y="1147800"/>
            <a:ext cx="754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10/9/95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0"/>
          <p:cNvSpPr txBox="1"/>
          <p:nvPr/>
        </p:nvSpPr>
        <p:spPr>
          <a:xfrm>
            <a:off x="6101000" y="4169025"/>
            <a:ext cx="8628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Adriamycin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0"/>
          <p:cNvSpPr txBox="1"/>
          <p:nvPr/>
        </p:nvSpPr>
        <p:spPr>
          <a:xfrm>
            <a:off x="7624600" y="4001950"/>
            <a:ext cx="8628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0"/>
          <p:cNvSpPr txBox="1"/>
          <p:nvPr/>
        </p:nvSpPr>
        <p:spPr>
          <a:xfrm>
            <a:off x="7597125" y="3317825"/>
            <a:ext cx="9183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10/5/95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8" name="Google Shape;678;p20"/>
          <p:cNvGrpSpPr/>
          <p:nvPr/>
        </p:nvGrpSpPr>
        <p:grpSpPr>
          <a:xfrm>
            <a:off x="7640175" y="2825562"/>
            <a:ext cx="847200" cy="464288"/>
            <a:chOff x="7640175" y="3130362"/>
            <a:chExt cx="847200" cy="464288"/>
          </a:xfrm>
        </p:grpSpPr>
        <p:sp>
          <p:nvSpPr>
            <p:cNvPr id="619" name="Google Shape;619;p20"/>
            <p:cNvSpPr/>
            <p:nvPr/>
          </p:nvSpPr>
          <p:spPr>
            <a:xfrm>
              <a:off x="7703851" y="3130362"/>
              <a:ext cx="705600" cy="422100"/>
            </a:xfrm>
            <a:prstGeom prst="ellipse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0"/>
            <p:cNvSpPr txBox="1"/>
            <p:nvPr/>
          </p:nvSpPr>
          <p:spPr>
            <a:xfrm>
              <a:off x="7640175" y="3154550"/>
              <a:ext cx="8472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discharged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0" name="Google Shape;680;p20"/>
          <p:cNvSpPr txBox="1"/>
          <p:nvPr/>
        </p:nvSpPr>
        <p:spPr>
          <a:xfrm>
            <a:off x="7660950" y="1398000"/>
            <a:ext cx="754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10/9/95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0"/>
          <p:cNvSpPr txBox="1"/>
          <p:nvPr/>
        </p:nvSpPr>
        <p:spPr>
          <a:xfrm>
            <a:off x="7565175" y="2095075"/>
            <a:ext cx="9822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DISCHARGE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0"/>
          <p:cNvSpPr txBox="1"/>
          <p:nvPr/>
        </p:nvSpPr>
        <p:spPr>
          <a:xfrm>
            <a:off x="6148800" y="1676025"/>
            <a:ext cx="7545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treatment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0"/>
          <p:cNvSpPr txBox="1"/>
          <p:nvPr/>
        </p:nvSpPr>
        <p:spPr>
          <a:xfrm>
            <a:off x="6186150" y="1017750"/>
            <a:ext cx="7056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tolerated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20"/>
          <p:cNvCxnSpPr/>
          <p:nvPr/>
        </p:nvCxnSpPr>
        <p:spPr>
          <a:xfrm>
            <a:off x="7658250" y="730150"/>
            <a:ext cx="3987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85" name="Google Shape;685;p20"/>
          <p:cNvCxnSpPr/>
          <p:nvPr/>
        </p:nvCxnSpPr>
        <p:spPr>
          <a:xfrm rot="10800000">
            <a:off x="7671450" y="963750"/>
            <a:ext cx="3855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686" name="Google Shape;686;p20"/>
          <p:cNvSpPr txBox="1"/>
          <p:nvPr/>
        </p:nvSpPr>
        <p:spPr>
          <a:xfrm>
            <a:off x="8116125" y="534050"/>
            <a:ext cx="125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OVERLAP</a:t>
            </a:r>
            <a:endParaRPr sz="1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endParaRPr sz="1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20"/>
          <p:cNvSpPr txBox="1"/>
          <p:nvPr/>
        </p:nvSpPr>
        <p:spPr>
          <a:xfrm>
            <a:off x="457200" y="4648200"/>
            <a:ext cx="20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RUTH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20"/>
          <p:cNvSpPr txBox="1"/>
          <p:nvPr/>
        </p:nvSpPr>
        <p:spPr>
          <a:xfrm>
            <a:off x="3581400" y="4648200"/>
            <a:ext cx="1518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</a:t>
            </a: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REX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20"/>
          <p:cNvSpPr txBox="1"/>
          <p:nvPr/>
        </p:nvSpPr>
        <p:spPr>
          <a:xfrm>
            <a:off x="6477000" y="4648200"/>
            <a:ext cx="170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RAPH</a:t>
            </a: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REX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"/>
          <p:cNvSpPr txBox="1"/>
          <p:nvPr/>
        </p:nvSpPr>
        <p:spPr>
          <a:xfrm>
            <a:off x="347150" y="2365700"/>
            <a:ext cx="8577600" cy="229800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588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Groundwork for Event Sequencing in Clinical Narratives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1"/>
          <p:cNvSpPr txBox="1">
            <a:spLocks noGrp="1"/>
          </p:cNvSpPr>
          <p:nvPr>
            <p:ph type="body" idx="1"/>
          </p:nvPr>
        </p:nvSpPr>
        <p:spPr>
          <a:xfrm>
            <a:off x="269025" y="746237"/>
            <a:ext cx="8752200" cy="13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G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RAPH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novel integration of GNNs and LPLMs with innovative landmark nodes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SOTA on End-to-end clinical temporal relation extraction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Especially improves predictions on long-range relations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697" name="Google Shape;697;p21"/>
          <p:cNvSpPr txBox="1">
            <a:spLocks noGrp="1"/>
          </p:cNvSpPr>
          <p:nvPr>
            <p:ph type="title"/>
          </p:nvPr>
        </p:nvSpPr>
        <p:spPr>
          <a:xfrm>
            <a:off x="159300" y="147775"/>
            <a:ext cx="85206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Key Contributions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397565" y="2937066"/>
            <a:ext cx="8476090" cy="16643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⮚"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TREx models be integrated into clinical decision support to improve patient representation hence health-risk prediction? (RQ2)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99" name="Google Shape;699;p21"/>
          <p:cNvGrpSpPr/>
          <p:nvPr/>
        </p:nvGrpSpPr>
        <p:grpSpPr>
          <a:xfrm>
            <a:off x="830306" y="3770044"/>
            <a:ext cx="7681023" cy="741582"/>
            <a:chOff x="900157" y="2968646"/>
            <a:chExt cx="6652938" cy="1177472"/>
          </a:xfrm>
        </p:grpSpPr>
        <p:sp>
          <p:nvSpPr>
            <p:cNvPr id="700" name="Google Shape;700;p21"/>
            <p:cNvSpPr/>
            <p:nvPr/>
          </p:nvSpPr>
          <p:spPr>
            <a:xfrm rot="5418185">
              <a:off x="3655462" y="233888"/>
              <a:ext cx="1142327" cy="6646988"/>
            </a:xfrm>
            <a:prstGeom prst="roundRect">
              <a:avLst>
                <a:gd name="adj" fmla="val 16667"/>
              </a:avLst>
            </a:prstGeom>
            <a:solidFill>
              <a:srgbClr val="7268E3"/>
            </a:solidFill>
            <a:ln w="9525" cap="flat" cmpd="sng">
              <a:solidFill>
                <a:srgbClr val="786E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857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1" name="Google Shape;701;p21"/>
            <p:cNvSpPr/>
            <p:nvPr/>
          </p:nvSpPr>
          <p:spPr>
            <a:xfrm>
              <a:off x="989474" y="3031610"/>
              <a:ext cx="6514038" cy="1087799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 w="9525" cap="flat" cmpd="sng">
              <a:solidFill>
                <a:srgbClr val="786EE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Noto Sans Symbols"/>
                <a:buChar char="⮚"/>
              </a:pPr>
              <a:r>
                <a:rPr lang="en" sz="17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How well do TREx models transfer to a new setting with real-world data </a:t>
              </a:r>
              <a:endPara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2"/>
          <p:cNvSpPr/>
          <p:nvPr/>
        </p:nvSpPr>
        <p:spPr>
          <a:xfrm>
            <a:off x="415014" y="1045597"/>
            <a:ext cx="4393499" cy="3558208"/>
          </a:xfrm>
          <a:prstGeom prst="rect">
            <a:avLst/>
          </a:prstGeom>
          <a:solidFill>
            <a:srgbClr val="F7F8FD"/>
          </a:solidFill>
          <a:ln w="25400" cap="flat" cmpd="sng">
            <a:solidFill>
              <a:srgbClr val="F7F8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2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Transfering TREx Models: from I2B2 to UI Health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709" name="Google Shape;709;p22"/>
          <p:cNvSpPr txBox="1">
            <a:spLocks noGrp="1"/>
          </p:cNvSpPr>
          <p:nvPr>
            <p:ph type="body" idx="1"/>
          </p:nvPr>
        </p:nvSpPr>
        <p:spPr>
          <a:xfrm>
            <a:off x="5021775" y="1564700"/>
            <a:ext cx="3584400" cy="175800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Health Sample</a:t>
            </a:r>
            <a:endParaRPr sz="20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clinical notes</a:t>
            </a:r>
            <a:endParaRPr/>
          </a:p>
          <a:p>
            <a:pPr marL="9144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patients</a:t>
            </a:r>
            <a:endParaRPr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Collaboration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0" name="Google Shape;710;p22"/>
          <p:cNvPicPr preferRelativeResize="0"/>
          <p:nvPr/>
        </p:nvPicPr>
        <p:blipFill rotWithShape="1">
          <a:blip r:embed="rId3">
            <a:alphaModFix/>
          </a:blip>
          <a:srcRect l="19540" t="14315" r="54100" b="49572"/>
          <a:stretch/>
        </p:blipFill>
        <p:spPr>
          <a:xfrm>
            <a:off x="5111632" y="1681762"/>
            <a:ext cx="387229" cy="33761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22"/>
          <p:cNvSpPr txBox="1"/>
          <p:nvPr/>
        </p:nvSpPr>
        <p:spPr>
          <a:xfrm>
            <a:off x="550747" y="1142167"/>
            <a:ext cx="42857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Differences in Data Distribution: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2" name="Google Shape;712;p22"/>
          <p:cNvGrpSpPr/>
          <p:nvPr/>
        </p:nvGrpSpPr>
        <p:grpSpPr>
          <a:xfrm>
            <a:off x="617436" y="1676230"/>
            <a:ext cx="4072160" cy="1146623"/>
            <a:chOff x="4917627" y="1676230"/>
            <a:chExt cx="4072160" cy="1146623"/>
          </a:xfrm>
        </p:grpSpPr>
        <p:sp>
          <p:nvSpPr>
            <p:cNvPr id="713" name="Google Shape;713;p22"/>
            <p:cNvSpPr/>
            <p:nvPr/>
          </p:nvSpPr>
          <p:spPr>
            <a:xfrm rot="5420664">
              <a:off x="6361451" y="247766"/>
              <a:ext cx="1122578" cy="4003550"/>
            </a:xfrm>
            <a:prstGeom prst="roundRect">
              <a:avLst>
                <a:gd name="adj" fmla="val 10204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4985066" y="1748050"/>
              <a:ext cx="4004721" cy="1062736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I2B2:</a:t>
              </a: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subsections of discharge summaries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UI Health</a:t>
              </a: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Progress notes, family medicine, endocrinology notes, etc.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15" name="Google Shape;715;p22"/>
          <p:cNvGrpSpPr/>
          <p:nvPr/>
        </p:nvGrpSpPr>
        <p:grpSpPr>
          <a:xfrm>
            <a:off x="618765" y="2972903"/>
            <a:ext cx="4072160" cy="634919"/>
            <a:chOff x="4917627" y="1676230"/>
            <a:chExt cx="4072160" cy="1156507"/>
          </a:xfrm>
        </p:grpSpPr>
        <p:sp>
          <p:nvSpPr>
            <p:cNvPr id="716" name="Google Shape;716;p22"/>
            <p:cNvSpPr/>
            <p:nvPr/>
          </p:nvSpPr>
          <p:spPr>
            <a:xfrm rot="5420664">
              <a:off x="6361451" y="247766"/>
              <a:ext cx="1122578" cy="4003550"/>
            </a:xfrm>
            <a:prstGeom prst="roundRect">
              <a:avLst>
                <a:gd name="adj" fmla="val 10204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4985066" y="1748050"/>
              <a:ext cx="4004721" cy="1084687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Institutional Factors: </a:t>
              </a: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hospitals, EHR, authors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18" name="Google Shape;718;p22"/>
          <p:cNvGrpSpPr/>
          <p:nvPr/>
        </p:nvGrpSpPr>
        <p:grpSpPr>
          <a:xfrm>
            <a:off x="616689" y="3777261"/>
            <a:ext cx="4072160" cy="530402"/>
            <a:chOff x="4917627" y="1676230"/>
            <a:chExt cx="4072160" cy="1156507"/>
          </a:xfrm>
        </p:grpSpPr>
        <p:sp>
          <p:nvSpPr>
            <p:cNvPr id="719" name="Google Shape;719;p22"/>
            <p:cNvSpPr/>
            <p:nvPr/>
          </p:nvSpPr>
          <p:spPr>
            <a:xfrm rot="5420664">
              <a:off x="6361451" y="247766"/>
              <a:ext cx="1122578" cy="4003550"/>
            </a:xfrm>
            <a:prstGeom prst="roundRect">
              <a:avLst>
                <a:gd name="adj" fmla="val 10204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4985066" y="1748050"/>
              <a:ext cx="4004721" cy="1084687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Patient Demographics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6" name="Google Shape;746;p23"/>
          <p:cNvCxnSpPr>
            <a:stCxn id="747" idx="3"/>
            <a:endCxn id="748" idx="3"/>
          </p:cNvCxnSpPr>
          <p:nvPr/>
        </p:nvCxnSpPr>
        <p:spPr>
          <a:xfrm>
            <a:off x="2218272" y="2241530"/>
            <a:ext cx="6822600" cy="14700"/>
          </a:xfrm>
          <a:prstGeom prst="straightConnector1">
            <a:avLst/>
          </a:prstGeom>
          <a:noFill/>
          <a:ln w="19050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9" name="Google Shape;749;p23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Annotation Categories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747" name="Google Shape;747;p23"/>
          <p:cNvSpPr txBox="1">
            <a:spLocks noGrp="1"/>
          </p:cNvSpPr>
          <p:nvPr>
            <p:ph type="body" idx="1"/>
          </p:nvPr>
        </p:nvSpPr>
        <p:spPr>
          <a:xfrm>
            <a:off x="223572" y="1298780"/>
            <a:ext cx="1994700" cy="188550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Deidentification</a:t>
            </a:r>
            <a:endParaRPr dirty="0"/>
          </a:p>
          <a:p>
            <a:pPr marL="1143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 removal (HIPAA)</a:t>
            </a:r>
            <a:endParaRPr dirty="0"/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Realistic substitution</a:t>
            </a:r>
            <a:endParaRPr dirty="0"/>
          </a:p>
        </p:txBody>
      </p:sp>
      <p:sp>
        <p:nvSpPr>
          <p:cNvPr id="751" name="Google Shape;751;p23"/>
          <p:cNvSpPr txBox="1"/>
          <p:nvPr/>
        </p:nvSpPr>
        <p:spPr>
          <a:xfrm>
            <a:off x="2359200" y="1298779"/>
            <a:ext cx="2045700" cy="267870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Annotation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Events, TimEx</a:t>
            </a: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0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Silver Standard with SpanTREx</a:t>
            </a:r>
            <a:endParaRPr sz="1700" b="0" i="1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Annotation guidelines extended from I2B2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3"/>
          <p:cNvSpPr txBox="1"/>
          <p:nvPr/>
        </p:nvSpPr>
        <p:spPr>
          <a:xfrm>
            <a:off x="4551775" y="1305399"/>
            <a:ext cx="2171100" cy="232140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Coreference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0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Silver standard linking: Events (Metamap), Date (Microsoft Recognizers text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3"/>
          <p:cNvSpPr txBox="1"/>
          <p:nvPr/>
        </p:nvSpPr>
        <p:spPr>
          <a:xfrm>
            <a:off x="6869750" y="1592774"/>
            <a:ext cx="2171100" cy="1326900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(TLINK)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relations</a:t>
            </a:r>
            <a:b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Cross-document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65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Entity/Coreference Annotation Interface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1470" name="Google Shape;1470;p65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4010"/>
            <a:ext cx="9144000" cy="376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65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6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Timeline Annotation Interface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1478" name="Google Shape;1478;p66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20742"/>
            <a:ext cx="9144000" cy="3702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66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8" name="Google Shape;758;p26"/>
          <p:cNvCxnSpPr>
            <a:stCxn id="759" idx="1"/>
            <a:endCxn id="760" idx="0"/>
          </p:cNvCxnSpPr>
          <p:nvPr/>
        </p:nvCxnSpPr>
        <p:spPr>
          <a:xfrm>
            <a:off x="643976" y="1770056"/>
            <a:ext cx="6297300" cy="798000"/>
          </a:xfrm>
          <a:prstGeom prst="bentConnector4">
            <a:avLst>
              <a:gd name="adj1" fmla="val 99844"/>
              <a:gd name="adj2" fmla="val 2277"/>
            </a:avLst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1" name="Google Shape;761;p26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Annotation Statistics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759" name="Google Shape;759;p26"/>
          <p:cNvSpPr txBox="1">
            <a:spLocks noGrp="1"/>
          </p:cNvSpPr>
          <p:nvPr>
            <p:ph type="body" idx="1"/>
          </p:nvPr>
        </p:nvSpPr>
        <p:spPr>
          <a:xfrm>
            <a:off x="643976" y="1132397"/>
            <a:ext cx="1484864" cy="1275318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1"/>
                </a:solidFill>
              </a:rPr>
              <a:t>10,936 Tokens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26"/>
          <p:cNvSpPr txBox="1"/>
          <p:nvPr/>
        </p:nvSpPr>
        <p:spPr>
          <a:xfrm>
            <a:off x="2514195" y="1298407"/>
            <a:ext cx="1294262" cy="971359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1,857 entities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6"/>
          <p:cNvSpPr txBox="1"/>
          <p:nvPr/>
        </p:nvSpPr>
        <p:spPr>
          <a:xfrm>
            <a:off x="4205105" y="1363040"/>
            <a:ext cx="1186052" cy="804441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558 Coref Pairs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6"/>
          <p:cNvSpPr txBox="1"/>
          <p:nvPr/>
        </p:nvSpPr>
        <p:spPr>
          <a:xfrm>
            <a:off x="6022363" y="1283015"/>
            <a:ext cx="1836624" cy="905745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700 head entities to timeline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6"/>
          <p:cNvSpPr txBox="1"/>
          <p:nvPr/>
        </p:nvSpPr>
        <p:spPr>
          <a:xfrm>
            <a:off x="5891209" y="2568167"/>
            <a:ext cx="2100263" cy="1437372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279,560</a:t>
            </a: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non-Vague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TLinks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 txBox="1">
            <a:spLocks noGrp="1"/>
          </p:cNvSpPr>
          <p:nvPr>
            <p:ph type="title"/>
          </p:nvPr>
        </p:nvSpPr>
        <p:spPr>
          <a:xfrm>
            <a:off x="159300" y="76200"/>
            <a:ext cx="35040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772" name="Google Shape;772;p27"/>
          <p:cNvSpPr txBox="1"/>
          <p:nvPr/>
        </p:nvSpPr>
        <p:spPr>
          <a:xfrm>
            <a:off x="429950" y="3667050"/>
            <a:ext cx="8714400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7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Extraction:</a:t>
            </a:r>
            <a:r>
              <a:rPr lang="e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SPANTREX slightly outperforms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7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Relations:</a:t>
            </a:r>
            <a:r>
              <a:rPr lang="e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GRAPHTREX achieves </a:t>
            </a:r>
            <a:r>
              <a:rPr lang="en" sz="17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14% improvement </a:t>
            </a:r>
            <a:r>
              <a:rPr lang="e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TLink F₁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3" name="Google Shape;773;p27"/>
          <p:cNvGraphicFramePr/>
          <p:nvPr/>
        </p:nvGraphicFramePr>
        <p:xfrm>
          <a:off x="734679" y="1252370"/>
          <a:ext cx="7399600" cy="1645830"/>
        </p:xfrm>
        <a:graphic>
          <a:graphicData uri="http://schemas.openxmlformats.org/drawingml/2006/table">
            <a:tbl>
              <a:tblPr>
                <a:noFill/>
                <a:tableStyleId>{C1652948-DBA9-4125-993E-DDE8C3FD3089}</a:tableStyleId>
              </a:tblPr>
              <a:tblGrid>
                <a:gridCol w="17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(F1)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Timex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(F1)</a:t>
                      </a:r>
                      <a:endParaRPr sz="1800" b="1" u="none" strike="noStrike" cap="none" baseline="-25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TLINK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(F1)</a:t>
                      </a:r>
                      <a:endParaRPr sz="1800" b="1" u="none" strike="noStrike" cap="none" baseline="-25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568BE2">
                            <a:alpha val="58431"/>
                          </a:srgbClr>
                        </a:gs>
                        <a:gs pos="100000">
                          <a:srgbClr val="113D8A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</a:t>
                      </a: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 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74.4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69.5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RAPH</a:t>
                      </a:r>
                      <a:r>
                        <a:rPr lang="en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</a:t>
                      </a:r>
                      <a:r>
                        <a:rPr lang="en"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73.5</a:t>
                      </a:r>
                      <a:endParaRPr sz="18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68.4</a:t>
                      </a:r>
                      <a:endParaRPr sz="18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52.0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FFF6DB"/>
                        </a:gs>
                        <a:gs pos="100000">
                          <a:srgbClr val="FAD15C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790F1"/>
            </a:gs>
            <a:gs pos="100000">
              <a:srgbClr val="6E63E1"/>
            </a:gs>
          </a:gsLst>
          <a:lin ang="16200000" scaled="0"/>
        </a:grad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8"/>
          <p:cNvSpPr txBox="1">
            <a:spLocks noGrp="1"/>
          </p:cNvSpPr>
          <p:nvPr>
            <p:ph type="ctrTitle"/>
          </p:nvPr>
        </p:nvSpPr>
        <p:spPr>
          <a:xfrm>
            <a:off x="311708" y="311227"/>
            <a:ext cx="8520600" cy="155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Part 3</a:t>
            </a:r>
            <a:endParaRPr/>
          </a:p>
        </p:txBody>
      </p:sp>
      <p:sp>
        <p:nvSpPr>
          <p:cNvPr id="779" name="Google Shape;779;p28"/>
          <p:cNvSpPr txBox="1">
            <a:spLocks noGrp="1"/>
          </p:cNvSpPr>
          <p:nvPr>
            <p:ph type="subTitle" idx="1"/>
          </p:nvPr>
        </p:nvSpPr>
        <p:spPr>
          <a:xfrm>
            <a:off x="311700" y="2046375"/>
            <a:ext cx="8520600" cy="25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13"/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 Risk Prediction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13"/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13"/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Graphs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13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0" name="Google Shape;78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grpSp>
        <p:nvGrpSpPr>
          <p:cNvPr id="781" name="Google Shape;781;p28"/>
          <p:cNvGrpSpPr/>
          <p:nvPr/>
        </p:nvGrpSpPr>
        <p:grpSpPr>
          <a:xfrm>
            <a:off x="3336200" y="4170975"/>
            <a:ext cx="3723100" cy="527700"/>
            <a:chOff x="4326800" y="3332775"/>
            <a:chExt cx="3723100" cy="527700"/>
          </a:xfrm>
        </p:grpSpPr>
        <p:sp>
          <p:nvSpPr>
            <p:cNvPr id="782" name="Google Shape;782;p28"/>
            <p:cNvSpPr/>
            <p:nvPr/>
          </p:nvSpPr>
          <p:spPr>
            <a:xfrm>
              <a:off x="4326800" y="3332775"/>
              <a:ext cx="635100" cy="527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3" name="Google Shape;783;p28"/>
            <p:cNvCxnSpPr>
              <a:stCxn id="784" idx="6"/>
              <a:endCxn id="785" idx="2"/>
            </p:cNvCxnSpPr>
            <p:nvPr/>
          </p:nvCxnSpPr>
          <p:spPr>
            <a:xfrm rot="10800000" flipH="1">
              <a:off x="4560795" y="3712119"/>
              <a:ext cx="210000" cy="4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786" name="Google Shape;786;p28"/>
            <p:cNvCxnSpPr>
              <a:stCxn id="787" idx="6"/>
              <a:endCxn id="788" idx="2"/>
            </p:cNvCxnSpPr>
            <p:nvPr/>
          </p:nvCxnSpPr>
          <p:spPr>
            <a:xfrm rot="10800000" flipH="1">
              <a:off x="4485542" y="3424697"/>
              <a:ext cx="262800" cy="9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789" name="Google Shape;789;p28"/>
            <p:cNvCxnSpPr>
              <a:stCxn id="788" idx="5"/>
              <a:endCxn id="785" idx="1"/>
            </p:cNvCxnSpPr>
            <p:nvPr/>
          </p:nvCxnSpPr>
          <p:spPr>
            <a:xfrm flipH="1">
              <a:off x="4785574" y="3463364"/>
              <a:ext cx="48300" cy="20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grpSp>
          <p:nvGrpSpPr>
            <p:cNvPr id="790" name="Google Shape;790;p28"/>
            <p:cNvGrpSpPr/>
            <p:nvPr/>
          </p:nvGrpSpPr>
          <p:grpSpPr>
            <a:xfrm>
              <a:off x="4385432" y="3370313"/>
              <a:ext cx="485480" cy="447310"/>
              <a:chOff x="1233453" y="3785636"/>
              <a:chExt cx="733242" cy="608088"/>
            </a:xfrm>
          </p:grpSpPr>
          <p:sp>
            <p:nvSpPr>
              <p:cNvPr id="784" name="Google Shape;784;p28"/>
              <p:cNvSpPr/>
              <p:nvPr/>
            </p:nvSpPr>
            <p:spPr>
              <a:xfrm>
                <a:off x="1347112" y="4239824"/>
                <a:ext cx="151200" cy="153900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8" name="Google Shape;788;p28"/>
              <p:cNvSpPr/>
              <p:nvPr/>
            </p:nvSpPr>
            <p:spPr>
              <a:xfrm>
                <a:off x="1781697" y="3785636"/>
                <a:ext cx="151200" cy="148200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1233453" y="3905117"/>
                <a:ext cx="151200" cy="1536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5" name="Google Shape;785;p28"/>
              <p:cNvSpPr/>
              <p:nvPr/>
            </p:nvSpPr>
            <p:spPr>
              <a:xfrm>
                <a:off x="1815495" y="4173376"/>
                <a:ext cx="151200" cy="153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791" name="Google Shape;791;p28"/>
            <p:cNvSpPr/>
            <p:nvPr/>
          </p:nvSpPr>
          <p:spPr>
            <a:xfrm>
              <a:off x="5165000" y="3332775"/>
              <a:ext cx="635100" cy="527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6079400" y="3332775"/>
              <a:ext cx="635100" cy="527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3" name="Google Shape;793;p28"/>
            <p:cNvGrpSpPr/>
            <p:nvPr/>
          </p:nvGrpSpPr>
          <p:grpSpPr>
            <a:xfrm>
              <a:off x="5223631" y="3446864"/>
              <a:ext cx="548686" cy="335387"/>
              <a:chOff x="-3043442" y="5010459"/>
              <a:chExt cx="733243" cy="421658"/>
            </a:xfrm>
          </p:grpSpPr>
          <p:sp>
            <p:nvSpPr>
              <p:cNvPr id="794" name="Google Shape;794;p28"/>
              <p:cNvSpPr/>
              <p:nvPr/>
            </p:nvSpPr>
            <p:spPr>
              <a:xfrm>
                <a:off x="-2929785" y="5269819"/>
                <a:ext cx="151200" cy="132900"/>
              </a:xfrm>
              <a:prstGeom prst="ellipse">
                <a:avLst/>
              </a:prstGeom>
              <a:solidFill>
                <a:srgbClr val="FFFF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" name="Google Shape;795;p28"/>
              <p:cNvSpPr/>
              <p:nvPr/>
            </p:nvSpPr>
            <p:spPr>
              <a:xfrm>
                <a:off x="-2571393" y="5010459"/>
                <a:ext cx="151200" cy="132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" name="Google Shape;796;p28"/>
              <p:cNvSpPr/>
              <p:nvPr/>
            </p:nvSpPr>
            <p:spPr>
              <a:xfrm>
                <a:off x="-3043442" y="5076513"/>
                <a:ext cx="151200" cy="132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" name="Google Shape;797;p28"/>
              <p:cNvSpPr/>
              <p:nvPr/>
            </p:nvSpPr>
            <p:spPr>
              <a:xfrm>
                <a:off x="-2461399" y="5278217"/>
                <a:ext cx="151200" cy="1539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798" name="Google Shape;798;p28"/>
            <p:cNvCxnSpPr>
              <a:stCxn id="796" idx="6"/>
              <a:endCxn id="795" idx="2"/>
            </p:cNvCxnSpPr>
            <p:nvPr/>
          </p:nvCxnSpPr>
          <p:spPr>
            <a:xfrm rot="10800000" flipH="1">
              <a:off x="5336774" y="3499638"/>
              <a:ext cx="240000" cy="5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799" name="Google Shape;799;p28"/>
            <p:cNvCxnSpPr>
              <a:stCxn id="794" idx="7"/>
              <a:endCxn id="795" idx="4"/>
            </p:cNvCxnSpPr>
            <p:nvPr/>
          </p:nvCxnSpPr>
          <p:spPr>
            <a:xfrm rot="10800000" flipH="1">
              <a:off x="5405254" y="3552540"/>
              <a:ext cx="228300" cy="116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00" name="Google Shape;800;p28"/>
            <p:cNvCxnSpPr>
              <a:stCxn id="794" idx="5"/>
              <a:endCxn id="797" idx="3"/>
            </p:cNvCxnSpPr>
            <p:nvPr/>
          </p:nvCxnSpPr>
          <p:spPr>
            <a:xfrm>
              <a:off x="5405254" y="3743387"/>
              <a:ext cx="270600" cy="2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grpSp>
          <p:nvGrpSpPr>
            <p:cNvPr id="801" name="Google Shape;801;p28"/>
            <p:cNvGrpSpPr/>
            <p:nvPr/>
          </p:nvGrpSpPr>
          <p:grpSpPr>
            <a:xfrm>
              <a:off x="6138075" y="3397426"/>
              <a:ext cx="548693" cy="437596"/>
              <a:chOff x="-3043442" y="5010459"/>
              <a:chExt cx="733253" cy="488061"/>
            </a:xfrm>
          </p:grpSpPr>
          <p:sp>
            <p:nvSpPr>
              <p:cNvPr id="802" name="Google Shape;802;p28"/>
              <p:cNvSpPr/>
              <p:nvPr/>
            </p:nvSpPr>
            <p:spPr>
              <a:xfrm>
                <a:off x="-2827955" y="5365620"/>
                <a:ext cx="151200" cy="1329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3" name="Google Shape;803;p28"/>
              <p:cNvSpPr/>
              <p:nvPr/>
            </p:nvSpPr>
            <p:spPr>
              <a:xfrm>
                <a:off x="-2673224" y="5010459"/>
                <a:ext cx="151200" cy="132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4" name="Google Shape;804;p28"/>
              <p:cNvSpPr/>
              <p:nvPr/>
            </p:nvSpPr>
            <p:spPr>
              <a:xfrm>
                <a:off x="-3043442" y="5076513"/>
                <a:ext cx="151200" cy="132600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5" name="Google Shape;805;p28"/>
              <p:cNvSpPr/>
              <p:nvPr/>
            </p:nvSpPr>
            <p:spPr>
              <a:xfrm>
                <a:off x="-2461389" y="5299496"/>
                <a:ext cx="151200" cy="1326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806" name="Google Shape;806;p28"/>
            <p:cNvCxnSpPr>
              <a:stCxn id="805" idx="0"/>
              <a:endCxn id="803" idx="4"/>
            </p:cNvCxnSpPr>
            <p:nvPr/>
          </p:nvCxnSpPr>
          <p:spPr>
            <a:xfrm rot="10800000">
              <a:off x="6471797" y="3516477"/>
              <a:ext cx="158400" cy="14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cxnSp>
          <p:nvCxnSpPr>
            <p:cNvPr id="807" name="Google Shape;807;p28"/>
            <p:cNvCxnSpPr>
              <a:stCxn id="802" idx="1"/>
              <a:endCxn id="804" idx="4"/>
            </p:cNvCxnSpPr>
            <p:nvPr/>
          </p:nvCxnSpPr>
          <p:spPr>
            <a:xfrm rot="10800000">
              <a:off x="6194693" y="3575514"/>
              <a:ext cx="121200" cy="15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08" name="Google Shape;808;p28"/>
            <p:cNvCxnSpPr>
              <a:stCxn id="802" idx="7"/>
              <a:endCxn id="803" idx="3"/>
            </p:cNvCxnSpPr>
            <p:nvPr/>
          </p:nvCxnSpPr>
          <p:spPr>
            <a:xfrm rot="10800000" flipH="1">
              <a:off x="6395897" y="3499014"/>
              <a:ext cx="35700" cy="23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809" name="Google Shape;809;p28"/>
            <p:cNvCxnSpPr>
              <a:stCxn id="804" idx="6"/>
              <a:endCxn id="805" idx="2"/>
            </p:cNvCxnSpPr>
            <p:nvPr/>
          </p:nvCxnSpPr>
          <p:spPr>
            <a:xfrm>
              <a:off x="6251218" y="3516095"/>
              <a:ext cx="3225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grpSp>
          <p:nvGrpSpPr>
            <p:cNvPr id="810" name="Google Shape;810;p28"/>
            <p:cNvGrpSpPr/>
            <p:nvPr/>
          </p:nvGrpSpPr>
          <p:grpSpPr>
            <a:xfrm>
              <a:off x="4553613" y="3332775"/>
              <a:ext cx="3496287" cy="433388"/>
              <a:chOff x="4934613" y="1199175"/>
              <a:chExt cx="3496287" cy="433388"/>
            </a:xfrm>
          </p:grpSpPr>
          <p:sp>
            <p:nvSpPr>
              <p:cNvPr id="811" name="Google Shape;811;p28"/>
              <p:cNvSpPr/>
              <p:nvPr/>
            </p:nvSpPr>
            <p:spPr>
              <a:xfrm>
                <a:off x="4934613" y="1199175"/>
                <a:ext cx="149100" cy="861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8"/>
              <p:cNvSpPr/>
              <p:nvPr/>
            </p:nvSpPr>
            <p:spPr>
              <a:xfrm>
                <a:off x="5763213" y="1199175"/>
                <a:ext cx="149100" cy="861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28"/>
              <p:cNvSpPr/>
              <p:nvPr/>
            </p:nvSpPr>
            <p:spPr>
              <a:xfrm>
                <a:off x="6682100" y="1199175"/>
                <a:ext cx="149100" cy="861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4" name="Google Shape;814;p28"/>
              <p:cNvCxnSpPr>
                <a:stCxn id="811" idx="0"/>
                <a:endCxn id="812" idx="0"/>
              </p:cNvCxnSpPr>
              <p:nvPr/>
            </p:nvCxnSpPr>
            <p:spPr>
              <a:xfrm rot="-5400000" flipH="1">
                <a:off x="5423163" y="785175"/>
                <a:ext cx="600" cy="828600"/>
              </a:xfrm>
              <a:prstGeom prst="bentConnector3">
                <a:avLst>
                  <a:gd name="adj1" fmla="val -3952875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815" name="Google Shape;815;p28"/>
              <p:cNvCxnSpPr>
                <a:stCxn id="812" idx="7"/>
                <a:endCxn id="813" idx="0"/>
              </p:cNvCxnSpPr>
              <p:nvPr/>
            </p:nvCxnSpPr>
            <p:spPr>
              <a:xfrm rot="-5400000">
                <a:off x="6317228" y="772434"/>
                <a:ext cx="12600" cy="866100"/>
              </a:xfrm>
              <a:prstGeom prst="bentConnector3">
                <a:avLst>
                  <a:gd name="adj1" fmla="val 18923286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816" name="Google Shape;816;p28"/>
              <p:cNvSpPr txBox="1"/>
              <p:nvPr/>
            </p:nvSpPr>
            <p:spPr>
              <a:xfrm>
                <a:off x="7292700" y="1278563"/>
                <a:ext cx="11382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 b="0" i="0" u="none" strike="noStrike" cap="none">
                    <a:solidFill>
                      <a:schemeClr val="accent2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T2D</a:t>
                </a:r>
                <a:endParaRPr sz="11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817" name="Google Shape;817;p28"/>
              <p:cNvCxnSpPr>
                <a:stCxn id="792" idx="3"/>
                <a:endCxn id="816" idx="1"/>
              </p:cNvCxnSpPr>
              <p:nvPr/>
            </p:nvCxnSpPr>
            <p:spPr>
              <a:xfrm rot="10800000" flipH="1">
                <a:off x="7095500" y="1455525"/>
                <a:ext cx="197100" cy="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29"/>
          <p:cNvGrpSpPr/>
          <p:nvPr/>
        </p:nvGrpSpPr>
        <p:grpSpPr>
          <a:xfrm>
            <a:off x="1048049" y="1578085"/>
            <a:ext cx="6952645" cy="1283905"/>
            <a:chOff x="899698" y="2968918"/>
            <a:chExt cx="6952645" cy="1283905"/>
          </a:xfrm>
        </p:grpSpPr>
        <p:sp>
          <p:nvSpPr>
            <p:cNvPr id="823" name="Google Shape;823;p29"/>
            <p:cNvSpPr/>
            <p:nvPr/>
          </p:nvSpPr>
          <p:spPr>
            <a:xfrm rot="5418185">
              <a:off x="3701342" y="188621"/>
              <a:ext cx="1247717" cy="6844500"/>
            </a:xfrm>
            <a:prstGeom prst="roundRect">
              <a:avLst>
                <a:gd name="adj" fmla="val 16667"/>
              </a:avLst>
            </a:prstGeom>
            <a:solidFill>
              <a:srgbClr val="51D5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1053743" y="3056863"/>
              <a:ext cx="6798600" cy="1087800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RQ2 : Can fine-grained temporal information improve patient </a:t>
              </a:r>
              <a:endParaRPr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representations hence risk prediction?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</a:t>
              </a:r>
              <a:r>
                <a:rPr lang="en" sz="18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Hit-GNN (similar to </a:t>
              </a:r>
              <a:r>
                <a:rPr lang="en" sz="1800" b="0" i="0" u="none" strike="noStrike" cap="none" dirty="0" err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GraphTrex</a:t>
              </a:r>
              <a:r>
                <a:rPr lang="en" sz="18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1002826" y="3478482"/>
              <a:ext cx="142483" cy="185732"/>
            </a:xfrm>
            <a:custGeom>
              <a:avLst/>
              <a:gdLst/>
              <a:ahLst/>
              <a:cxnLst/>
              <a:rect l="l" t="t" r="r" b="b"/>
              <a:pathLst>
                <a:path w="276113" h="239123" extrusionOk="0">
                  <a:moveTo>
                    <a:pt x="207093" y="0"/>
                  </a:moveTo>
                  <a:lnTo>
                    <a:pt x="69021" y="0"/>
                  </a:lnTo>
                  <a:lnTo>
                    <a:pt x="0" y="119562"/>
                  </a:lnTo>
                  <a:lnTo>
                    <a:pt x="69021" y="239123"/>
                  </a:lnTo>
                  <a:lnTo>
                    <a:pt x="207093" y="239123"/>
                  </a:lnTo>
                  <a:lnTo>
                    <a:pt x="276114" y="119562"/>
                  </a:lnTo>
                  <a:lnTo>
                    <a:pt x="207093" y="0"/>
                  </a:lnTo>
                  <a:close/>
                </a:path>
              </a:pathLst>
            </a:custGeom>
            <a:solidFill>
              <a:srgbClr val="46B87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826" name="Google Shape;8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827" name="Google Shape;827;p29"/>
          <p:cNvSpPr txBox="1"/>
          <p:nvPr/>
        </p:nvSpPr>
        <p:spPr>
          <a:xfrm>
            <a:off x="133953" y="304800"/>
            <a:ext cx="863605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Complementary Perspectives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8" name="Google Shape;828;p29"/>
          <p:cNvGrpSpPr/>
          <p:nvPr/>
        </p:nvGrpSpPr>
        <p:grpSpPr>
          <a:xfrm>
            <a:off x="1005640" y="3145830"/>
            <a:ext cx="6952645" cy="1283905"/>
            <a:chOff x="899698" y="2968918"/>
            <a:chExt cx="6952645" cy="1283905"/>
          </a:xfrm>
        </p:grpSpPr>
        <p:sp>
          <p:nvSpPr>
            <p:cNvPr id="829" name="Google Shape;829;p29"/>
            <p:cNvSpPr/>
            <p:nvPr/>
          </p:nvSpPr>
          <p:spPr>
            <a:xfrm rot="5418185">
              <a:off x="3701342" y="188621"/>
              <a:ext cx="1247717" cy="6844500"/>
            </a:xfrm>
            <a:prstGeom prst="roundRect">
              <a:avLst>
                <a:gd name="adj" fmla="val 16667"/>
              </a:avLst>
            </a:prstGeom>
            <a:solidFill>
              <a:srgbClr val="B1CD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1053743" y="3056863"/>
              <a:ext cx="6798600" cy="1087800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RQ3 : How to adapt LLMs demonstrating excellent reasoning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abilities in low-resource settings?</a:t>
              </a: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1002826" y="3498362"/>
              <a:ext cx="142483" cy="185732"/>
            </a:xfrm>
            <a:custGeom>
              <a:avLst/>
              <a:gdLst/>
              <a:ahLst/>
              <a:cxnLst/>
              <a:rect l="l" t="t" r="r" b="b"/>
              <a:pathLst>
                <a:path w="276113" h="239123" extrusionOk="0">
                  <a:moveTo>
                    <a:pt x="207093" y="0"/>
                  </a:moveTo>
                  <a:lnTo>
                    <a:pt x="69021" y="0"/>
                  </a:lnTo>
                  <a:lnTo>
                    <a:pt x="0" y="119562"/>
                  </a:lnTo>
                  <a:lnTo>
                    <a:pt x="69021" y="239123"/>
                  </a:lnTo>
                  <a:lnTo>
                    <a:pt x="207093" y="239123"/>
                  </a:lnTo>
                  <a:lnTo>
                    <a:pt x="276114" y="119562"/>
                  </a:lnTo>
                  <a:lnTo>
                    <a:pt x="207093" y="0"/>
                  </a:lnTo>
                  <a:close/>
                </a:path>
              </a:pathLst>
            </a:custGeom>
            <a:solidFill>
              <a:srgbClr val="B1CD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1"/>
          <p:cNvSpPr/>
          <p:nvPr/>
        </p:nvSpPr>
        <p:spPr>
          <a:xfrm>
            <a:off x="173232" y="854765"/>
            <a:ext cx="8834864" cy="3927946"/>
          </a:xfrm>
          <a:prstGeom prst="rect">
            <a:avLst/>
          </a:prstGeom>
          <a:solidFill>
            <a:srgbClr val="F7F8FD"/>
          </a:solidFill>
          <a:ln w="25400" cap="flat" cmpd="sng">
            <a:solidFill>
              <a:srgbClr val="F7F8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1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ReVeAL: Reasoning with Verifier Aided Labeling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956" name="Google Shape;956;p31"/>
          <p:cNvSpPr txBox="1">
            <a:spLocks noGrp="1"/>
          </p:cNvSpPr>
          <p:nvPr>
            <p:ph type="body" idx="1"/>
          </p:nvPr>
        </p:nvSpPr>
        <p:spPr>
          <a:xfrm>
            <a:off x="249047" y="1789416"/>
            <a:ext cx="3691581" cy="2538747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Reasoner (Llama3.1 8B)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predictions </a:t>
            </a:r>
            <a:r>
              <a:rPr lang="en" sz="1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explanations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with </a:t>
            </a:r>
            <a:r>
              <a:rPr lang="en" sz="1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diverse reasoning paths 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5/training example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10/test example</a:t>
            </a:r>
            <a:endParaRPr/>
          </a:p>
        </p:txBody>
      </p:sp>
      <p:grpSp>
        <p:nvGrpSpPr>
          <p:cNvPr id="957" name="Google Shape;957;p31"/>
          <p:cNvGrpSpPr/>
          <p:nvPr/>
        </p:nvGrpSpPr>
        <p:grpSpPr>
          <a:xfrm>
            <a:off x="458668" y="934634"/>
            <a:ext cx="7760532" cy="739048"/>
            <a:chOff x="4917627" y="1675003"/>
            <a:chExt cx="3694726" cy="1144726"/>
          </a:xfrm>
        </p:grpSpPr>
        <p:sp>
          <p:nvSpPr>
            <p:cNvPr id="958" name="Google Shape;958;p31"/>
            <p:cNvSpPr/>
            <p:nvPr/>
          </p:nvSpPr>
          <p:spPr>
            <a:xfrm rot="5420664">
              <a:off x="6203701" y="403344"/>
              <a:ext cx="1122578" cy="3688045"/>
            </a:xfrm>
            <a:prstGeom prst="roundRect">
              <a:avLst>
                <a:gd name="adj" fmla="val 10204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4985066" y="1748050"/>
              <a:ext cx="3623895" cy="1062735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333489"/>
                  </a:solidFill>
                  <a:latin typeface="Calibri"/>
                  <a:ea typeface="Calibri"/>
                  <a:cs typeface="Calibri"/>
                  <a:sym typeface="Calibri"/>
                </a:rPr>
                <a:t>Inference time scaling framework for Explainable Disease Prediction with LLMs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60" name="Google Shape;960;p31"/>
          <p:cNvSpPr txBox="1"/>
          <p:nvPr/>
        </p:nvSpPr>
        <p:spPr>
          <a:xfrm>
            <a:off x="4079962" y="1789415"/>
            <a:ext cx="4845592" cy="2905351"/>
          </a:xfrm>
          <a:prstGeom prst="rect">
            <a:avLst/>
          </a:prstGeom>
          <a:gradFill>
            <a:gsLst>
              <a:gs pos="0">
                <a:srgbClr val="9790F1"/>
              </a:gs>
              <a:gs pos="100000">
                <a:srgbClr val="6E63E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Verifier (Llama3.2 1B)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Validates reasoning from larger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Fine-tuned </a:t>
            </a: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LoRA</a:t>
            </a:r>
            <a:endParaRPr sz="1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+ reasoning from large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Assigns confidence scores (normalized token probability of correct/incorrect)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with hard cases (reasoner answers mix of true/false over different paths)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with top-k (3) majority vote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1" name="Google Shape;961;p31" descr="Meta's New LLaMA AI Model: A Game Changer in the AI Landscape - Crypto  Marketing Center"/>
          <p:cNvPicPr preferRelativeResize="0"/>
          <p:nvPr/>
        </p:nvPicPr>
        <p:blipFill rotWithShape="1">
          <a:blip r:embed="rId3">
            <a:alphaModFix/>
          </a:blip>
          <a:srcRect l="32803" r="33369"/>
          <a:stretch/>
        </p:blipFill>
        <p:spPr>
          <a:xfrm>
            <a:off x="7407733" y="677691"/>
            <a:ext cx="701696" cy="1085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31" descr="Running Llama 3.1 Locally with Ollama: A Step-by-Step Guide | by Paulo  Batista | Medium"/>
          <p:cNvPicPr preferRelativeResize="0"/>
          <p:nvPr/>
        </p:nvPicPr>
        <p:blipFill rotWithShape="1">
          <a:blip r:embed="rId4">
            <a:alphaModFix/>
          </a:blip>
          <a:srcRect l="18562" t="22779" r="17906" b="11465"/>
          <a:stretch/>
        </p:blipFill>
        <p:spPr>
          <a:xfrm>
            <a:off x="8385147" y="1877213"/>
            <a:ext cx="440263" cy="42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31" descr="3+ Thousand Llama Outline Royalty-Free Images, Stock Photos &amp; Pictures |  Shutterstock"/>
          <p:cNvPicPr preferRelativeResize="0"/>
          <p:nvPr/>
        </p:nvPicPr>
        <p:blipFill rotWithShape="1">
          <a:blip r:embed="rId5">
            <a:alphaModFix/>
          </a:blip>
          <a:srcRect l="26907" t="13298" r="26937" b="41008"/>
          <a:stretch/>
        </p:blipFill>
        <p:spPr>
          <a:xfrm>
            <a:off x="3426092" y="1881567"/>
            <a:ext cx="438149" cy="435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2"/>
          <p:cNvSpPr/>
          <p:nvPr/>
        </p:nvSpPr>
        <p:spPr>
          <a:xfrm>
            <a:off x="235500" y="784850"/>
            <a:ext cx="8661600" cy="3878400"/>
          </a:xfrm>
          <a:prstGeom prst="rect">
            <a:avLst/>
          </a:prstGeom>
          <a:solidFill>
            <a:srgbClr val="F7F8FD"/>
          </a:solidFill>
          <a:ln w="25400" cap="flat" cmpd="sng">
            <a:solidFill>
              <a:srgbClr val="F7F8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2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LLM Baselines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grpSp>
        <p:nvGrpSpPr>
          <p:cNvPr id="971" name="Google Shape;971;p32"/>
          <p:cNvGrpSpPr/>
          <p:nvPr/>
        </p:nvGrpSpPr>
        <p:grpSpPr>
          <a:xfrm>
            <a:off x="456234" y="875297"/>
            <a:ext cx="8232958" cy="565953"/>
            <a:chOff x="4917627" y="1675003"/>
            <a:chExt cx="3694726" cy="1144726"/>
          </a:xfrm>
        </p:grpSpPr>
        <p:sp>
          <p:nvSpPr>
            <p:cNvPr id="972" name="Google Shape;972;p32"/>
            <p:cNvSpPr/>
            <p:nvPr/>
          </p:nvSpPr>
          <p:spPr>
            <a:xfrm rot="5420664">
              <a:off x="6203701" y="403344"/>
              <a:ext cx="1122578" cy="3688045"/>
            </a:xfrm>
            <a:prstGeom prst="roundRect">
              <a:avLst>
                <a:gd name="adj" fmla="val 10204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4985066" y="1748050"/>
              <a:ext cx="3623895" cy="1062735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Comparisons with Llama3.1-8b: zero-shot/self consistency</a:t>
              </a:r>
              <a:r>
                <a:rPr lang="en" sz="1600" b="0" i="0" u="none" strike="noStrike" cap="none" baseline="30000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(10 reasoning paths)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74" name="Google Shape;974;p32"/>
          <p:cNvGrpSpPr/>
          <p:nvPr/>
        </p:nvGrpSpPr>
        <p:grpSpPr>
          <a:xfrm>
            <a:off x="456777" y="1520082"/>
            <a:ext cx="8218918" cy="486165"/>
            <a:chOff x="4917627" y="1675003"/>
            <a:chExt cx="3694726" cy="1144726"/>
          </a:xfrm>
        </p:grpSpPr>
        <p:sp>
          <p:nvSpPr>
            <p:cNvPr id="975" name="Google Shape;975;p32"/>
            <p:cNvSpPr/>
            <p:nvPr/>
          </p:nvSpPr>
          <p:spPr>
            <a:xfrm rot="5420664">
              <a:off x="6203701" y="403344"/>
              <a:ext cx="1122578" cy="3688045"/>
            </a:xfrm>
            <a:prstGeom prst="roundRect">
              <a:avLst>
                <a:gd name="adj" fmla="val 10204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4985066" y="1748050"/>
              <a:ext cx="3623895" cy="1062735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Comparisons with Llama3.2-1b: zero-shot/fine-tuned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77" name="Google Shape;977;p32"/>
          <p:cNvGrpSpPr/>
          <p:nvPr/>
        </p:nvGrpSpPr>
        <p:grpSpPr>
          <a:xfrm>
            <a:off x="451763" y="2127735"/>
            <a:ext cx="8229542" cy="2388570"/>
            <a:chOff x="4912352" y="1674969"/>
            <a:chExt cx="3700001" cy="1176404"/>
          </a:xfrm>
        </p:grpSpPr>
        <p:sp>
          <p:nvSpPr>
            <p:cNvPr id="978" name="Google Shape;978;p32"/>
            <p:cNvSpPr/>
            <p:nvPr/>
          </p:nvSpPr>
          <p:spPr>
            <a:xfrm rot="5420664">
              <a:off x="6201063" y="400688"/>
              <a:ext cx="1122578" cy="3693320"/>
            </a:xfrm>
            <a:prstGeom prst="roundRect">
              <a:avLst>
                <a:gd name="adj" fmla="val 13143"/>
              </a:avLst>
            </a:prstGeom>
            <a:solidFill>
              <a:srgbClr val="247D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4981583" y="1706714"/>
              <a:ext cx="3623232" cy="1144659"/>
            </a:xfrm>
            <a:prstGeom prst="roundRect">
              <a:avLst>
                <a:gd name="adj" fmla="val 12293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Prompting Strategy: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CC00"/>
                </a:buClr>
                <a:buSzPts val="1100"/>
                <a:buFont typeface="Noto Sans Symbols"/>
                <a:buChar char="⮚"/>
              </a:pP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Prompts include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Patient demographic attributes (age, race/ethnicity, gender),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Last n notes with visit dates (chronological order)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C00"/>
                </a:buClr>
                <a:buSzPts val="1100"/>
                <a:buFont typeface="Noto Sans Symbols"/>
                <a:buChar char="⮚"/>
              </a:pPr>
              <a:r>
                <a:rPr lang="en" sz="1600" b="1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Reasoner:</a:t>
              </a: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asked to generate explanation + risk (True/False)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C00"/>
                </a:buClr>
                <a:buSzPts val="1100"/>
                <a:buFont typeface="Noto Sans Symbols"/>
                <a:buChar char="⮚"/>
              </a:pPr>
              <a:r>
                <a:rPr lang="en" sz="1600" b="1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Fine-tuned model: </a:t>
              </a: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only generates risk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C00"/>
                </a:buClr>
                <a:buSzPts val="1100"/>
                <a:buFont typeface="Noto Sans Symbols"/>
                <a:buChar char="⮚"/>
              </a:pPr>
              <a:r>
                <a:rPr lang="en" sz="1600" b="1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Verifier</a:t>
              </a:r>
              <a:r>
                <a:rPr lang="en" sz="1600" b="0" i="0" u="none" strike="noStrike" cap="none">
                  <a:solidFill>
                    <a:srgbClr val="3334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(in ReVeAL): reads above inputs + reasoner output (explanation &amp; classification) and generates verification (correct/incorrect)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81" name="Google Shape;981;p32"/>
          <p:cNvSpPr txBox="1"/>
          <p:nvPr/>
        </p:nvSpPr>
        <p:spPr>
          <a:xfrm>
            <a:off x="152400" y="4724400"/>
            <a:ext cx="89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[1] Wang et al. "Self-Consistency Improves Chain of Thought Reasoning in Language Models." </a:t>
            </a:r>
            <a:r>
              <a:rPr lang="en" sz="1000" b="0" i="1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ICLR 2023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75"/>
          <p:cNvSpPr txBox="1">
            <a:spLocks noGrp="1"/>
          </p:cNvSpPr>
          <p:nvPr>
            <p:ph type="title"/>
          </p:nvPr>
        </p:nvSpPr>
        <p:spPr>
          <a:xfrm>
            <a:off x="255094" y="400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1691" name="Google Shape;1691;p75"/>
          <p:cNvPicPr preferRelativeResize="0"/>
          <p:nvPr/>
        </p:nvPicPr>
        <p:blipFill rotWithShape="1">
          <a:blip r:embed="rId3">
            <a:alphaModFix/>
          </a:blip>
          <a:srcRect t="40224"/>
          <a:stretch/>
        </p:blipFill>
        <p:spPr>
          <a:xfrm>
            <a:off x="2290501" y="2237582"/>
            <a:ext cx="4667490" cy="2334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75"/>
          <p:cNvPicPr preferRelativeResize="0"/>
          <p:nvPr/>
        </p:nvPicPr>
        <p:blipFill rotWithShape="1">
          <a:blip r:embed="rId3">
            <a:alphaModFix/>
          </a:blip>
          <a:srcRect b="62494"/>
          <a:stretch/>
        </p:blipFill>
        <p:spPr>
          <a:xfrm>
            <a:off x="1912325" y="613955"/>
            <a:ext cx="5350472" cy="1679122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75"/>
          <p:cNvSpPr txBox="1"/>
          <p:nvPr/>
        </p:nvSpPr>
        <p:spPr>
          <a:xfrm>
            <a:off x="535577" y="4516088"/>
            <a:ext cx="826878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Fine-tuned LLM verifier prompt to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the prediction of a large reasoner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patient demographics and sequence of clinical notes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reasoner explanation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4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Dataset Characteristics and Insights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grpSp>
        <p:nvGrpSpPr>
          <p:cNvPr id="1001" name="Google Shape;1001;p34"/>
          <p:cNvGrpSpPr/>
          <p:nvPr/>
        </p:nvGrpSpPr>
        <p:grpSpPr>
          <a:xfrm>
            <a:off x="380550" y="831985"/>
            <a:ext cx="8063597" cy="1269837"/>
            <a:chOff x="4917627" y="1676587"/>
            <a:chExt cx="4169360" cy="1147579"/>
          </a:xfrm>
        </p:grpSpPr>
        <p:sp>
          <p:nvSpPr>
            <p:cNvPr id="1002" name="Google Shape;1002;p34"/>
            <p:cNvSpPr/>
            <p:nvPr/>
          </p:nvSpPr>
          <p:spPr>
            <a:xfrm rot="5420664">
              <a:off x="6441018" y="169033"/>
              <a:ext cx="1122578" cy="4162688"/>
            </a:xfrm>
            <a:prstGeom prst="roundRect">
              <a:avLst>
                <a:gd name="adj" fmla="val 10204"/>
              </a:avLst>
            </a:prstGeom>
            <a:solidFill>
              <a:srgbClr val="667E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4953425" y="1748050"/>
              <a:ext cx="4132896" cy="1062736"/>
            </a:xfrm>
            <a:prstGeom prst="roundRect">
              <a:avLst>
                <a:gd name="adj" fmla="val 12293"/>
              </a:avLst>
            </a:prstGeom>
            <a:solidFill>
              <a:srgbClr val="ECE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3CB3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UI Health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3332 (712 in test set) patients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Strengths</a:t>
              </a: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Rich longitudinal histories, diverse note types, ideal for chronic disease modeling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Limitation</a:t>
              </a: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Private data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04" name="Google Shape;1004;p34"/>
          <p:cNvGrpSpPr/>
          <p:nvPr/>
        </p:nvGrpSpPr>
        <p:grpSpPr>
          <a:xfrm>
            <a:off x="375804" y="2201602"/>
            <a:ext cx="8069052" cy="2051603"/>
            <a:chOff x="4917199" y="1703685"/>
            <a:chExt cx="3970991" cy="1254342"/>
          </a:xfrm>
        </p:grpSpPr>
        <p:sp>
          <p:nvSpPr>
            <p:cNvPr id="1005" name="Google Shape;1005;p34"/>
            <p:cNvSpPr/>
            <p:nvPr/>
          </p:nvSpPr>
          <p:spPr>
            <a:xfrm rot="5420664">
              <a:off x="6312908" y="323388"/>
              <a:ext cx="1179573" cy="3963972"/>
            </a:xfrm>
            <a:prstGeom prst="roundRect">
              <a:avLst>
                <a:gd name="adj" fmla="val 10204"/>
              </a:avLst>
            </a:prstGeom>
            <a:solidFill>
              <a:srgbClr val="667E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4954452" y="1735316"/>
              <a:ext cx="3930229" cy="1222711"/>
            </a:xfrm>
            <a:prstGeom prst="roundRect">
              <a:avLst>
                <a:gd name="adj" fmla="val 12293"/>
              </a:avLst>
            </a:prstGeom>
            <a:solidFill>
              <a:srgbClr val="ECEFFF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MIMIC-IV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5802 (291 in test set) patients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Strength</a:t>
              </a: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Public data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Limitations</a:t>
              </a: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ICU-focus (omit large parts of a patient’s overall hospitalization timeline)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Narrower temporal windows limit exposure to longitudinal patterns (84.5% single visits)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Missing temporal anchors (dates redacted for de-identification)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7" name="Google Shape;1007;p34"/>
          <p:cNvPicPr preferRelativeResize="0"/>
          <p:nvPr/>
        </p:nvPicPr>
        <p:blipFill rotWithShape="1">
          <a:blip r:embed="rId3">
            <a:alphaModFix/>
          </a:blip>
          <a:srcRect l="19540" t="14315" r="54100" b="49572"/>
          <a:stretch/>
        </p:blipFill>
        <p:spPr>
          <a:xfrm>
            <a:off x="1564325" y="982000"/>
            <a:ext cx="287240" cy="266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34"/>
          <p:cNvSpPr txBox="1"/>
          <p:nvPr/>
        </p:nvSpPr>
        <p:spPr>
          <a:xfrm>
            <a:off x="417350" y="4413302"/>
            <a:ext cx="7986000" cy="446400"/>
          </a:xfrm>
          <a:prstGeom prst="rect">
            <a:avLst/>
          </a:prstGeom>
          <a:gradFill>
            <a:gsLst>
              <a:gs pos="0">
                <a:srgbClr val="FF9CA1"/>
              </a:gs>
              <a:gs pos="63000">
                <a:srgbClr val="FF9CA1"/>
              </a:gs>
              <a:gs pos="100000">
                <a:srgbClr val="FDC6E7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MIMIC-IV results would represent a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bound 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achievable real-world performance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5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8236958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Model Evaluations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1015" name="Google Shape;1015;p35"/>
          <p:cNvSpPr txBox="1">
            <a:spLocks noGrp="1"/>
          </p:cNvSpPr>
          <p:nvPr>
            <p:ph type="body" idx="1"/>
          </p:nvPr>
        </p:nvSpPr>
        <p:spPr>
          <a:xfrm>
            <a:off x="531600" y="890550"/>
            <a:ext cx="8040000" cy="1491000"/>
          </a:xfrm>
          <a:prstGeom prst="rect">
            <a:avLst/>
          </a:prstGeom>
          <a:gradFill>
            <a:gsLst>
              <a:gs pos="0">
                <a:srgbClr val="C9C6F1">
                  <a:alpha val="66274"/>
                </a:srgbClr>
              </a:gs>
              <a:gs pos="58000">
                <a:srgbClr val="8B82E4">
                  <a:alpha val="67058"/>
                </a:srgbClr>
              </a:gs>
              <a:gs pos="100000">
                <a:srgbClr val="6D60EE">
                  <a:alpha val="87058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UI-Health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HiT-GNN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achieves best AUC (72.2%), +4% over CLSTM (Part1)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LLMs: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Llama-1b-ft (AUC: 65.1%)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ReVeAL (F1: 65.2%)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35"/>
          <p:cNvSpPr txBox="1"/>
          <p:nvPr/>
        </p:nvSpPr>
        <p:spPr>
          <a:xfrm>
            <a:off x="528825" y="2476900"/>
            <a:ext cx="8040000" cy="1041600"/>
          </a:xfrm>
          <a:prstGeom prst="rect">
            <a:avLst/>
          </a:prstGeom>
          <a:gradFill>
            <a:gsLst>
              <a:gs pos="0">
                <a:srgbClr val="C9C6F1">
                  <a:alpha val="66274"/>
                </a:srgbClr>
              </a:gs>
              <a:gs pos="58000">
                <a:srgbClr val="8B82E4">
                  <a:alpha val="67058"/>
                </a:srgbClr>
              </a:gs>
              <a:gs pos="100000">
                <a:srgbClr val="6D60EE">
                  <a:alpha val="87058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MIMIC-IV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HiT-GNN leads in T2D recall</a:t>
            </a: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(63.3%)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LLM: Llama-1b-ft (AUC 64.4%, 1.5% &gt; HiTGNN)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35"/>
          <p:cNvSpPr txBox="1"/>
          <p:nvPr/>
        </p:nvSpPr>
        <p:spPr>
          <a:xfrm>
            <a:off x="531594" y="3613867"/>
            <a:ext cx="8047863" cy="671886"/>
          </a:xfrm>
          <a:prstGeom prst="rect">
            <a:avLst/>
          </a:prstGeom>
          <a:gradFill>
            <a:gsLst>
              <a:gs pos="0">
                <a:srgbClr val="C9C6F1">
                  <a:alpha val="66274"/>
                </a:srgbClr>
              </a:gs>
              <a:gs pos="58000">
                <a:srgbClr val="8B82E4">
                  <a:alpha val="67058"/>
                </a:srgbClr>
              </a:gs>
              <a:gs pos="100000">
                <a:srgbClr val="6D60EE">
                  <a:alpha val="87058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55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Llama-1b is the weakest model without fine-tuning; but fine-tuning sacrifices explainability. ReVeAL provides a balanced trade-off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endParaRPr sz="1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35">
            <a:hlinkClick r:id="rId3" action="ppaction://hlinksldjump"/>
          </p:cNvPr>
          <p:cNvSpPr/>
          <p:nvPr/>
        </p:nvSpPr>
        <p:spPr>
          <a:xfrm>
            <a:off x="7820142" y="450928"/>
            <a:ext cx="870300" cy="326400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12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Details »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6d8b2c9232_0_192"/>
          <p:cNvSpPr txBox="1"/>
          <p:nvPr/>
        </p:nvSpPr>
        <p:spPr>
          <a:xfrm>
            <a:off x="0" y="269968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Conclusion &amp; Key Contributions</a:t>
            </a:r>
            <a:endParaRPr sz="26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g36d8b2c9232_0_192"/>
          <p:cNvSpPr/>
          <p:nvPr/>
        </p:nvSpPr>
        <p:spPr>
          <a:xfrm>
            <a:off x="94250" y="1440250"/>
            <a:ext cx="8927100" cy="3540900"/>
          </a:xfrm>
          <a:prstGeom prst="rect">
            <a:avLst/>
          </a:prstGeom>
          <a:solidFill>
            <a:srgbClr val="F7F8FD"/>
          </a:solidFill>
          <a:ln w="25400" cap="flat" cmpd="sng">
            <a:solidFill>
              <a:srgbClr val="F7F8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" sz="19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Algorithmic Innovations</a:t>
            </a:r>
            <a:endParaRPr sz="19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State-of-the-Art TREx methods (SpanTREx, GraphTREx)</a:t>
            </a:r>
            <a:r>
              <a:rPr lang="e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innovative landmark nodes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🧱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Temporal Modeling (HiT-GNN): 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application of TREx for risk detection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🤖Inference-Time LLM Adaptation (ReVeAL):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scalable and robust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reasoning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Translational Value in Real Clinical Settings</a:t>
            </a:r>
            <a:endParaRPr sz="19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🌍</a:t>
            </a:r>
            <a:r>
              <a:rPr lang="en" sz="1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densely annotated sample 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real-clinical notes validating model portability</a:t>
            </a:r>
            <a:endParaRPr sz="17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🏥 Improving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T2D opportunistic screening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notes, especially for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risk horizon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🔐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Scalable, privacy-aware framework 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rigorous data curation ensuring temporal integrity and balanced demographic representation for </a:t>
            </a:r>
            <a:r>
              <a:rPr lang="en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evaluation</a:t>
            </a:r>
            <a:r>
              <a:rPr lang="en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0" name="Google Shape;1110;g36d8b2c9232_0_1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1111" name="Google Shape;1111;g36d8b2c9232_0_192"/>
          <p:cNvSpPr txBox="1"/>
          <p:nvPr/>
        </p:nvSpPr>
        <p:spPr>
          <a:xfrm>
            <a:off x="234150" y="870501"/>
            <a:ext cx="8657400" cy="459600"/>
          </a:xfrm>
          <a:prstGeom prst="rect">
            <a:avLst/>
          </a:prstGeom>
          <a:gradFill>
            <a:gsLst>
              <a:gs pos="0">
                <a:srgbClr val="FF9CA1"/>
              </a:gs>
              <a:gs pos="63000">
                <a:srgbClr val="FF9CA1"/>
              </a:gs>
              <a:gs pos="100000">
                <a:srgbClr val="FDC6E7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Unlocking the temporal structure from clinical narratives leads to improved patient representations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6"/>
          <p:cNvSpPr txBox="1">
            <a:spLocks noGrp="1"/>
          </p:cNvSpPr>
          <p:nvPr>
            <p:ph type="title"/>
          </p:nvPr>
        </p:nvSpPr>
        <p:spPr>
          <a:xfrm>
            <a:off x="235500" y="224025"/>
            <a:ext cx="34221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 b="1">
                <a:solidFill>
                  <a:srgbClr val="333489"/>
                </a:solidFill>
                <a:latin typeface="Calibri"/>
                <a:ea typeface="Calibri"/>
                <a:cs typeface="Calibri"/>
                <a:sym typeface="Calibri"/>
              </a:rPr>
              <a:t>Publications</a:t>
            </a:r>
            <a:endParaRPr sz="2500" b="1">
              <a:solidFill>
                <a:srgbClr val="33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grpSp>
        <p:nvGrpSpPr>
          <p:cNvPr id="1148" name="Google Shape;1148;p46"/>
          <p:cNvGrpSpPr/>
          <p:nvPr/>
        </p:nvGrpSpPr>
        <p:grpSpPr>
          <a:xfrm>
            <a:off x="398874" y="1898291"/>
            <a:ext cx="8280495" cy="713749"/>
            <a:chOff x="4913870" y="1688243"/>
            <a:chExt cx="4017706" cy="2178720"/>
          </a:xfrm>
        </p:grpSpPr>
        <p:sp>
          <p:nvSpPr>
            <p:cNvPr id="1149" name="Google Shape;1149;p46"/>
            <p:cNvSpPr/>
            <p:nvPr/>
          </p:nvSpPr>
          <p:spPr>
            <a:xfrm rot="5420664">
              <a:off x="5844904" y="757209"/>
              <a:ext cx="2141481" cy="4003550"/>
            </a:xfrm>
            <a:prstGeom prst="roundRect">
              <a:avLst>
                <a:gd name="adj" fmla="val 10204"/>
              </a:avLst>
            </a:prstGeom>
            <a:solidFill>
              <a:srgbClr val="5AA45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0" name="Google Shape;1150;p46"/>
            <p:cNvSpPr/>
            <p:nvPr/>
          </p:nvSpPr>
          <p:spPr>
            <a:xfrm>
              <a:off x="4925672" y="1746363"/>
              <a:ext cx="4005904" cy="2120600"/>
            </a:xfrm>
            <a:prstGeom prst="roundRect">
              <a:avLst>
                <a:gd name="adj" fmla="val 8392"/>
              </a:avLst>
            </a:prstGeom>
            <a:solidFill>
              <a:srgbClr val="F8F9FA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Temporal Relation Extraction in Clinical Texts: A Span-based Graph Transformer Approach.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Chaturvedi R, </a:t>
              </a:r>
              <a:r>
                <a:rPr lang="en" sz="1400" b="0" i="0" u="none" strike="noStrike" cap="none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Baghershahi</a:t>
              </a:r>
              <a:r>
                <a:rPr lang="en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P, Medya S, Di Eugenio B.</a:t>
              </a:r>
              <a:r>
                <a:rPr lang="en" sz="1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 dirty="0">
                  <a:solidFill>
                    <a:srgbClr val="6E7EE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ACL 2025</a:t>
              </a:r>
              <a:r>
                <a:rPr lang="en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" sz="1400" b="0" i="0" u="none" strike="noStrike" cap="none" dirty="0" err="1">
                  <a:solidFill>
                    <a:srgbClr val="6C73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SpanTrex</a:t>
              </a:r>
              <a:r>
                <a:rPr lang="en" sz="1400" b="0" i="0" u="none" strike="noStrike" cap="none" dirty="0">
                  <a:solidFill>
                    <a:srgbClr val="6C73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lang="en" sz="1400" b="0" i="0" u="none" strike="noStrike" cap="none" dirty="0" err="1">
                  <a:solidFill>
                    <a:srgbClr val="6C73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GraphTrex</a:t>
              </a:r>
              <a:r>
                <a:rPr lang="en" sz="1400" b="0" i="0" u="none" strike="noStrike" cap="none" dirty="0">
                  <a:solidFill>
                    <a:srgbClr val="6C73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frameworks)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46"/>
          <p:cNvGrpSpPr/>
          <p:nvPr/>
        </p:nvGrpSpPr>
        <p:grpSpPr>
          <a:xfrm>
            <a:off x="366235" y="880666"/>
            <a:ext cx="8296310" cy="714302"/>
            <a:chOff x="4913870" y="1688243"/>
            <a:chExt cx="4025380" cy="2180407"/>
          </a:xfrm>
        </p:grpSpPr>
        <p:sp>
          <p:nvSpPr>
            <p:cNvPr id="1152" name="Google Shape;1152;p46"/>
            <p:cNvSpPr/>
            <p:nvPr/>
          </p:nvSpPr>
          <p:spPr>
            <a:xfrm rot="5420664">
              <a:off x="5844904" y="757209"/>
              <a:ext cx="2141481" cy="4003550"/>
            </a:xfrm>
            <a:prstGeom prst="roundRect">
              <a:avLst>
                <a:gd name="adj" fmla="val 10204"/>
              </a:avLst>
            </a:prstGeom>
            <a:solidFill>
              <a:srgbClr val="5AA45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3" name="Google Shape;1153;p46"/>
            <p:cNvSpPr/>
            <p:nvPr/>
          </p:nvSpPr>
          <p:spPr>
            <a:xfrm>
              <a:off x="4933346" y="1748049"/>
              <a:ext cx="4005904" cy="2120601"/>
            </a:xfrm>
            <a:prstGeom prst="roundRect">
              <a:avLst>
                <a:gd name="adj" fmla="val 8392"/>
              </a:avLst>
            </a:prstGeom>
            <a:solidFill>
              <a:srgbClr val="F8F9FA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Sequential Representation of Sparse Heterogeneous Data for Diabetes Risk Prediction</a:t>
              </a:r>
              <a:endParaRPr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Chaturvedi R, Rashid M, Layden BT, Boyd A, Cinar A, Di Eugenio B. 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 dirty="0">
                  <a:solidFill>
                    <a:srgbClr val="6E7EE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IEEE BIBM 2023</a:t>
              </a:r>
              <a:r>
                <a:rPr lang="en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400" b="0" i="0" u="none" strike="noStrike" cap="none" dirty="0">
                  <a:solidFill>
                    <a:srgbClr val="6C73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(Foundational work establishing motivation for fine-grained temporal modeling)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4" name="Google Shape;1154;p46"/>
          <p:cNvGrpSpPr/>
          <p:nvPr/>
        </p:nvGrpSpPr>
        <p:grpSpPr>
          <a:xfrm>
            <a:off x="355263" y="3044868"/>
            <a:ext cx="8324105" cy="780282"/>
            <a:chOff x="4907470" y="1676230"/>
            <a:chExt cx="4038866" cy="2192420"/>
          </a:xfrm>
        </p:grpSpPr>
        <p:sp>
          <p:nvSpPr>
            <p:cNvPr id="1155" name="Google Shape;1155;p46"/>
            <p:cNvSpPr/>
            <p:nvPr/>
          </p:nvSpPr>
          <p:spPr>
            <a:xfrm rot="5420664">
              <a:off x="5844904" y="757209"/>
              <a:ext cx="2141481" cy="4003550"/>
            </a:xfrm>
            <a:prstGeom prst="roundRect">
              <a:avLst>
                <a:gd name="adj" fmla="val 10204"/>
              </a:avLst>
            </a:prstGeom>
            <a:solidFill>
              <a:srgbClr val="5AA45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47DB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6" name="Google Shape;1156;p46"/>
            <p:cNvSpPr/>
            <p:nvPr/>
          </p:nvSpPr>
          <p:spPr>
            <a:xfrm>
              <a:off x="4940432" y="1748050"/>
              <a:ext cx="4005904" cy="2120600"/>
            </a:xfrm>
            <a:prstGeom prst="roundRect">
              <a:avLst>
                <a:gd name="adj" fmla="val 8392"/>
              </a:avLst>
            </a:prstGeom>
            <a:solidFill>
              <a:srgbClr val="F8F9FA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Unlocking Temporal and Semantic knowledge from Clinical Narratives for Chronic Disease prediction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Chaturvedi R, Zhou Y, Di Eugenio B.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b="1" dirty="0">
                  <a:solidFill>
                    <a:srgbClr val="6E7EE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Accepted for </a:t>
              </a:r>
              <a:r>
                <a:rPr lang="en" sz="1400" b="1" i="0" u="none" strike="noStrike" cap="none" dirty="0">
                  <a:solidFill>
                    <a:srgbClr val="6E7EE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TACL </a:t>
              </a:r>
              <a:r>
                <a:rPr lang="en" sz="1400" b="0" i="0" u="none" strike="noStrike" cap="none" dirty="0">
                  <a:solidFill>
                    <a:srgbClr val="6C73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(Early version in WWW 2024 Companion Proceedings)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49"/>
          <p:cNvSpPr txBox="1">
            <a:spLocks noGrp="1"/>
          </p:cNvSpPr>
          <p:nvPr>
            <p:ph type="title"/>
          </p:nvPr>
        </p:nvSpPr>
        <p:spPr>
          <a:xfrm>
            <a:off x="0" y="1410229"/>
            <a:ext cx="9144000" cy="572700"/>
          </a:xfrm>
          <a:prstGeom prst="rect">
            <a:avLst/>
          </a:prstGeom>
          <a:solidFill>
            <a:srgbClr val="75B94C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>
                <a:solidFill>
                  <a:schemeClr val="bg1"/>
                </a:solidFill>
              </a:rPr>
              <a:t>Additional Materials – Parts 1 and 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80" name="Google Shape;1180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43"/>
              <a:buNone/>
            </a:pPr>
            <a:r>
              <a:rPr lang="en" sz="3333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Structured Data: Demographics</a:t>
            </a:r>
            <a:endParaRPr sz="3333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4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6" name="Google Shape;118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550" y="1120675"/>
            <a:ext cx="7779451" cy="29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50"/>
          <p:cNvSpPr txBox="1"/>
          <p:nvPr/>
        </p:nvSpPr>
        <p:spPr>
          <a:xfrm>
            <a:off x="311700" y="4034050"/>
            <a:ext cx="8777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Females, and Black Americans are the majority groups across outcome classes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Adult group are majority for NoD and Middle-age group are the majority for T2D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sp>
        <p:nvSpPr>
          <p:cNvPr id="1189" name="Google Shape;1189;p50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Interpretability Analysis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59"/>
          <p:cNvSpPr txBox="1"/>
          <p:nvPr/>
        </p:nvSpPr>
        <p:spPr>
          <a:xfrm>
            <a:off x="180900" y="4537200"/>
            <a:ext cx="873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[1] S. Bach, A. Binder, G. Montavon, F. Klauschen, K.-R. Muller, and W. Samek, “On pixel-wise explanations for non-linear classifier decisions by layer-wise relevance propagation,” PloS one. 2015.</a:t>
            </a:r>
            <a:endParaRPr sz="11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13" name="Google Shape;1413;p59"/>
          <p:cNvGrpSpPr/>
          <p:nvPr/>
        </p:nvGrpSpPr>
        <p:grpSpPr>
          <a:xfrm>
            <a:off x="311688" y="1662900"/>
            <a:ext cx="8831813" cy="1589750"/>
            <a:chOff x="235525" y="2805900"/>
            <a:chExt cx="8908425" cy="1589750"/>
          </a:xfrm>
        </p:grpSpPr>
        <p:pic>
          <p:nvPicPr>
            <p:cNvPr id="1414" name="Google Shape;1414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5525" y="2805900"/>
              <a:ext cx="8719726" cy="814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5" name="Google Shape;1415;p59"/>
            <p:cNvGrpSpPr/>
            <p:nvPr/>
          </p:nvGrpSpPr>
          <p:grpSpPr>
            <a:xfrm>
              <a:off x="6961750" y="3854550"/>
              <a:ext cx="2182200" cy="541100"/>
              <a:chOff x="6961750" y="4006950"/>
              <a:chExt cx="2182200" cy="541100"/>
            </a:xfrm>
          </p:grpSpPr>
          <p:sp>
            <p:nvSpPr>
              <p:cNvPr id="1416" name="Google Shape;1416;p59"/>
              <p:cNvSpPr/>
              <p:nvPr/>
            </p:nvSpPr>
            <p:spPr>
              <a:xfrm>
                <a:off x="7180675" y="4006950"/>
                <a:ext cx="1651500" cy="210600"/>
              </a:xfrm>
              <a:prstGeom prst="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0000FF"/>
                  </a:gs>
                </a:gsLst>
                <a:lin ang="10800025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9"/>
              <p:cNvSpPr txBox="1"/>
              <p:nvPr/>
            </p:nvSpPr>
            <p:spPr>
              <a:xfrm>
                <a:off x="6961750" y="4224950"/>
                <a:ext cx="21822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No Diabetes              Type 2 Diabetes</a:t>
                </a: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8" name="Google Shape;1418;p59"/>
          <p:cNvSpPr txBox="1"/>
          <p:nvPr/>
        </p:nvSpPr>
        <p:spPr>
          <a:xfrm>
            <a:off x="180900" y="3144700"/>
            <a:ext cx="8962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Layerwise Relevance Propagation (LRP)</a:t>
            </a:r>
            <a:r>
              <a:rPr lang="en" sz="20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Heatmap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Chronic kidney disease contributes highly towards positive prediction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Unemployment also contributes positively–an important social determinant of health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1420" name="Google Shape;1420;p59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28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 b="1">
                <a:solidFill>
                  <a:srgbClr val="363684"/>
                </a:solidFill>
                <a:latin typeface="Calibri"/>
                <a:ea typeface="Calibri"/>
                <a:cs typeface="Calibri"/>
                <a:sym typeface="Calibri"/>
              </a:rPr>
              <a:t>Ablation Across Different Encoders</a:t>
            </a:r>
            <a:endParaRPr sz="2500" b="1">
              <a:solidFill>
                <a:srgbClr val="3636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1443" name="Google Shape;1443;p62"/>
          <p:cNvSpPr txBox="1"/>
          <p:nvPr/>
        </p:nvSpPr>
        <p:spPr>
          <a:xfrm>
            <a:off x="1589425" y="4419600"/>
            <a:ext cx="607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with Different Base Encoders on I2B2 2012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4" name="Google Shape;1444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2275" y="955500"/>
            <a:ext cx="5807100" cy="34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62">
            <a:hlinkClick r:id="rId4" action="ppaction://hlinksldjump"/>
          </p:cNvPr>
          <p:cNvSpPr/>
          <p:nvPr/>
        </p:nvSpPr>
        <p:spPr>
          <a:xfrm>
            <a:off x="8104472" y="192249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67"/>
          <p:cNvSpPr txBox="1">
            <a:spLocks noGrp="1"/>
          </p:cNvSpPr>
          <p:nvPr>
            <p:ph type="title"/>
          </p:nvPr>
        </p:nvSpPr>
        <p:spPr>
          <a:xfrm>
            <a:off x="0" y="1410229"/>
            <a:ext cx="9144000" cy="572700"/>
          </a:xfrm>
          <a:prstGeom prst="rect">
            <a:avLst/>
          </a:prstGeom>
          <a:solidFill>
            <a:srgbClr val="75B94C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solidFill>
                  <a:schemeClr val="lt1"/>
                </a:solidFill>
              </a:rPr>
              <a:t>Additional Materials:  Part 3</a:t>
            </a:r>
            <a:endParaRPr dirty="0"/>
          </a:p>
        </p:txBody>
      </p:sp>
      <p:sp>
        <p:nvSpPr>
          <p:cNvPr id="1499" name="Google Shape;1499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g36ef6629279_0_0"/>
          <p:cNvGrpSpPr/>
          <p:nvPr/>
        </p:nvGrpSpPr>
        <p:grpSpPr>
          <a:xfrm>
            <a:off x="-63589" y="1697019"/>
            <a:ext cx="2340226" cy="704055"/>
            <a:chOff x="-36375" y="1100004"/>
            <a:chExt cx="2340226" cy="704055"/>
          </a:xfrm>
        </p:grpSpPr>
        <p:pic>
          <p:nvPicPr>
            <p:cNvPr id="837" name="Google Shape;837;g36ef6629279_0_0"/>
            <p:cNvPicPr preferRelativeResize="0"/>
            <p:nvPr/>
          </p:nvPicPr>
          <p:blipFill rotWithShape="1">
            <a:blip r:embed="rId3">
              <a:alphaModFix/>
            </a:blip>
            <a:srcRect t="84977" b="5"/>
            <a:stretch/>
          </p:blipFill>
          <p:spPr>
            <a:xfrm>
              <a:off x="-36375" y="1622259"/>
              <a:ext cx="2340226" cy="18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g36ef6629279_0_0"/>
            <p:cNvSpPr/>
            <p:nvPr/>
          </p:nvSpPr>
          <p:spPr>
            <a:xfrm>
              <a:off x="190241" y="1100004"/>
              <a:ext cx="589800" cy="505200"/>
            </a:xfrm>
            <a:prstGeom prst="rect">
              <a:avLst/>
            </a:prstGeom>
            <a:solidFill>
              <a:srgbClr val="F3F8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Note</a:t>
              </a:r>
              <a:r>
                <a:rPr lang="en" sz="1000" b="0" i="0" u="none" strike="noStrike" cap="none" baseline="-250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sz="1000" b="0" i="0" u="none" strike="noStrike" cap="none" baseline="-25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39" name="Google Shape;839;g36ef6629279_0_0"/>
            <p:cNvCxnSpPr/>
            <p:nvPr/>
          </p:nvCxnSpPr>
          <p:spPr>
            <a:xfrm rot="10800000" flipH="1">
              <a:off x="279041" y="13506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rgbClr val="75B94C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840" name="Google Shape;840;g36ef6629279_0_0"/>
            <p:cNvCxnSpPr/>
            <p:nvPr/>
          </p:nvCxnSpPr>
          <p:spPr>
            <a:xfrm rot="10800000" flipH="1">
              <a:off x="279041" y="14268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841" name="Google Shape;841;g36ef6629279_0_0"/>
            <p:cNvCxnSpPr/>
            <p:nvPr/>
          </p:nvCxnSpPr>
          <p:spPr>
            <a:xfrm rot="10800000" flipH="1">
              <a:off x="279041" y="15030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rgbClr val="E17055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842" name="Google Shape;842;g36ef6629279_0_0"/>
            <p:cNvSpPr/>
            <p:nvPr/>
          </p:nvSpPr>
          <p:spPr>
            <a:xfrm>
              <a:off x="843100" y="1100004"/>
              <a:ext cx="589800" cy="505200"/>
            </a:xfrm>
            <a:prstGeom prst="rect">
              <a:avLst/>
            </a:prstGeom>
            <a:solidFill>
              <a:srgbClr val="F3F8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Note</a:t>
              </a:r>
              <a:r>
                <a:rPr lang="en" sz="1000" b="0" i="0" u="none" strike="noStrike" cap="none" baseline="-250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</a:t>
              </a:r>
              <a:endParaRPr sz="1000" b="0" i="0" u="none" strike="noStrike" cap="none" baseline="-25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43" name="Google Shape;843;g36ef6629279_0_0"/>
            <p:cNvCxnSpPr/>
            <p:nvPr/>
          </p:nvCxnSpPr>
          <p:spPr>
            <a:xfrm rot="10800000" flipH="1">
              <a:off x="931900" y="13506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rgbClr val="75B94C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844" name="Google Shape;844;g36ef6629279_0_0"/>
            <p:cNvCxnSpPr/>
            <p:nvPr/>
          </p:nvCxnSpPr>
          <p:spPr>
            <a:xfrm rot="10800000" flipH="1">
              <a:off x="931900" y="14268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845" name="Google Shape;845;g36ef6629279_0_0"/>
            <p:cNvCxnSpPr/>
            <p:nvPr/>
          </p:nvCxnSpPr>
          <p:spPr>
            <a:xfrm rot="10800000" flipH="1">
              <a:off x="931900" y="15030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rgbClr val="E17055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846" name="Google Shape;846;g36ef6629279_0_0"/>
            <p:cNvSpPr/>
            <p:nvPr/>
          </p:nvSpPr>
          <p:spPr>
            <a:xfrm>
              <a:off x="1491928" y="1100004"/>
              <a:ext cx="589800" cy="505200"/>
            </a:xfrm>
            <a:prstGeom prst="rect">
              <a:avLst/>
            </a:prstGeom>
            <a:solidFill>
              <a:srgbClr val="F3F8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Note</a:t>
              </a:r>
              <a:r>
                <a:rPr lang="en" sz="1000" b="0" i="0" u="none" strike="noStrike" cap="none" baseline="-250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3</a:t>
              </a:r>
              <a:endParaRPr sz="1000" b="0" i="0" u="none" strike="noStrike" cap="none" baseline="-25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47" name="Google Shape;847;g36ef6629279_0_0"/>
            <p:cNvCxnSpPr/>
            <p:nvPr/>
          </p:nvCxnSpPr>
          <p:spPr>
            <a:xfrm rot="10800000" flipH="1">
              <a:off x="1580728" y="13506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rgbClr val="75B94C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848" name="Google Shape;848;g36ef6629279_0_0"/>
            <p:cNvCxnSpPr/>
            <p:nvPr/>
          </p:nvCxnSpPr>
          <p:spPr>
            <a:xfrm rot="10800000" flipH="1">
              <a:off x="1580728" y="14268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849" name="Google Shape;849;g36ef6629279_0_0"/>
            <p:cNvCxnSpPr/>
            <p:nvPr/>
          </p:nvCxnSpPr>
          <p:spPr>
            <a:xfrm rot="10800000" flipH="1">
              <a:off x="1578013" y="1503054"/>
              <a:ext cx="412200" cy="3900"/>
            </a:xfrm>
            <a:prstGeom prst="straightConnector1">
              <a:avLst/>
            </a:prstGeom>
            <a:noFill/>
            <a:ln w="9525" cap="flat" cmpd="sng">
              <a:solidFill>
                <a:srgbClr val="E17055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850" name="Google Shape;850;g36ef6629279_0_0"/>
          <p:cNvGrpSpPr/>
          <p:nvPr/>
        </p:nvGrpSpPr>
        <p:grpSpPr>
          <a:xfrm>
            <a:off x="5375382" y="1630178"/>
            <a:ext cx="2744928" cy="855195"/>
            <a:chOff x="5836167" y="1599893"/>
            <a:chExt cx="2744928" cy="855195"/>
          </a:xfrm>
        </p:grpSpPr>
        <p:pic>
          <p:nvPicPr>
            <p:cNvPr id="851" name="Google Shape;851;g36ef6629279_0_0"/>
            <p:cNvPicPr preferRelativeResize="0"/>
            <p:nvPr/>
          </p:nvPicPr>
          <p:blipFill rotWithShape="1">
            <a:blip r:embed="rId3">
              <a:alphaModFix/>
            </a:blip>
            <a:srcRect l="45390" t="51281" r="43093" b="1534"/>
            <a:stretch/>
          </p:blipFill>
          <p:spPr>
            <a:xfrm rot="10800000">
              <a:off x="8023181" y="2223365"/>
              <a:ext cx="177720" cy="231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2" name="Google Shape;852;g36ef6629279_0_0"/>
            <p:cNvPicPr preferRelativeResize="0"/>
            <p:nvPr/>
          </p:nvPicPr>
          <p:blipFill rotWithShape="1">
            <a:blip r:embed="rId3">
              <a:alphaModFix/>
            </a:blip>
            <a:srcRect l="45390" t="51281" r="43093" b="1534"/>
            <a:stretch/>
          </p:blipFill>
          <p:spPr>
            <a:xfrm rot="10800000">
              <a:off x="7108808" y="2222884"/>
              <a:ext cx="177720" cy="231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3" name="Google Shape;853;g36ef6629279_0_0"/>
            <p:cNvPicPr preferRelativeResize="0"/>
            <p:nvPr/>
          </p:nvPicPr>
          <p:blipFill rotWithShape="1">
            <a:blip r:embed="rId3">
              <a:alphaModFix/>
            </a:blip>
            <a:srcRect l="45390" t="51281" r="43093" b="1534"/>
            <a:stretch/>
          </p:blipFill>
          <p:spPr>
            <a:xfrm rot="10800000">
              <a:off x="6213105" y="2215337"/>
              <a:ext cx="177720" cy="23172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54" name="Google Shape;854;g36ef6629279_0_0"/>
            <p:cNvCxnSpPr/>
            <p:nvPr/>
          </p:nvCxnSpPr>
          <p:spPr>
            <a:xfrm>
              <a:off x="8190084" y="1887167"/>
              <a:ext cx="1500" cy="2499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855" name="Google Shape;855;g36ef6629279_0_0"/>
            <p:cNvCxnSpPr/>
            <p:nvPr/>
          </p:nvCxnSpPr>
          <p:spPr>
            <a:xfrm>
              <a:off x="7178202" y="1891881"/>
              <a:ext cx="1500" cy="2499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856" name="Google Shape;856;g36ef6629279_0_0"/>
            <p:cNvCxnSpPr>
              <a:endCxn id="857" idx="3"/>
            </p:cNvCxnSpPr>
            <p:nvPr/>
          </p:nvCxnSpPr>
          <p:spPr>
            <a:xfrm>
              <a:off x="6213878" y="1889110"/>
              <a:ext cx="3900" cy="2109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sp>
          <p:nvSpPr>
            <p:cNvPr id="858" name="Google Shape;858;g36ef6629279_0_0"/>
            <p:cNvSpPr/>
            <p:nvPr/>
          </p:nvSpPr>
          <p:spPr>
            <a:xfrm>
              <a:off x="7975869" y="2021993"/>
              <a:ext cx="177600" cy="171300"/>
            </a:xfrm>
            <a:prstGeom prst="roundRect">
              <a:avLst>
                <a:gd name="adj" fmla="val 16667"/>
              </a:avLst>
            </a:prstGeom>
            <a:solidFill>
              <a:srgbClr val="DAE8FC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9" name="Google Shape;859;g36ef6629279_0_0"/>
            <p:cNvSpPr/>
            <p:nvPr/>
          </p:nvSpPr>
          <p:spPr>
            <a:xfrm>
              <a:off x="8151203" y="2022483"/>
              <a:ext cx="269400" cy="170700"/>
            </a:xfrm>
            <a:prstGeom prst="roundRect">
              <a:avLst>
                <a:gd name="adj" fmla="val 16667"/>
              </a:avLst>
            </a:prstGeom>
            <a:solidFill>
              <a:srgbClr val="CDEB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0" name="Google Shape;860;g36ef6629279_0_0"/>
            <p:cNvSpPr/>
            <p:nvPr/>
          </p:nvSpPr>
          <p:spPr>
            <a:xfrm>
              <a:off x="6997970" y="2022474"/>
              <a:ext cx="177600" cy="171300"/>
            </a:xfrm>
            <a:prstGeom prst="roundRect">
              <a:avLst>
                <a:gd name="adj" fmla="val 16667"/>
              </a:avLst>
            </a:prstGeom>
            <a:solidFill>
              <a:srgbClr val="DAE8FC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1" name="Google Shape;861;g36ef6629279_0_0"/>
            <p:cNvSpPr/>
            <p:nvPr/>
          </p:nvSpPr>
          <p:spPr>
            <a:xfrm>
              <a:off x="7173304" y="2022964"/>
              <a:ext cx="269400" cy="170700"/>
            </a:xfrm>
            <a:prstGeom prst="roundRect">
              <a:avLst>
                <a:gd name="adj" fmla="val 16667"/>
              </a:avLst>
            </a:prstGeom>
            <a:solidFill>
              <a:srgbClr val="CDEB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7" name="Google Shape;857;g36ef6629279_0_0"/>
            <p:cNvSpPr/>
            <p:nvPr/>
          </p:nvSpPr>
          <p:spPr>
            <a:xfrm>
              <a:off x="6040178" y="2014360"/>
              <a:ext cx="177600" cy="171300"/>
            </a:xfrm>
            <a:prstGeom prst="roundRect">
              <a:avLst>
                <a:gd name="adj" fmla="val 16667"/>
              </a:avLst>
            </a:prstGeom>
            <a:solidFill>
              <a:srgbClr val="DAE8FC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2" name="Google Shape;862;g36ef6629279_0_0"/>
            <p:cNvSpPr/>
            <p:nvPr/>
          </p:nvSpPr>
          <p:spPr>
            <a:xfrm>
              <a:off x="6215512" y="2014850"/>
              <a:ext cx="269400" cy="170700"/>
            </a:xfrm>
            <a:prstGeom prst="roundRect">
              <a:avLst>
                <a:gd name="adj" fmla="val 16667"/>
              </a:avLst>
            </a:prstGeom>
            <a:solidFill>
              <a:srgbClr val="CDEB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3" name="Google Shape;863;g36ef6629279_0_0"/>
            <p:cNvSpPr/>
            <p:nvPr/>
          </p:nvSpPr>
          <p:spPr>
            <a:xfrm>
              <a:off x="5836167" y="1601310"/>
              <a:ext cx="755700" cy="281700"/>
            </a:xfrm>
            <a:prstGeom prst="roundRect">
              <a:avLst>
                <a:gd name="adj" fmla="val 16667"/>
              </a:avLst>
            </a:prstGeom>
            <a:solidFill>
              <a:srgbClr val="FFCC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BiLSTM</a:t>
              </a:r>
              <a:endPara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4" name="Google Shape;864;g36ef6629279_0_0"/>
            <p:cNvSpPr/>
            <p:nvPr/>
          </p:nvSpPr>
          <p:spPr>
            <a:xfrm>
              <a:off x="6828377" y="1605141"/>
              <a:ext cx="755700" cy="281700"/>
            </a:xfrm>
            <a:prstGeom prst="roundRect">
              <a:avLst>
                <a:gd name="adj" fmla="val 16667"/>
              </a:avLst>
            </a:prstGeom>
            <a:solidFill>
              <a:srgbClr val="FFCC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BiLSTM</a:t>
              </a:r>
              <a:endPara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65" name="Google Shape;865;g36ef6629279_0_0"/>
            <p:cNvCxnSpPr>
              <a:stCxn id="863" idx="3"/>
              <a:endCxn id="864" idx="1"/>
            </p:cNvCxnSpPr>
            <p:nvPr/>
          </p:nvCxnSpPr>
          <p:spPr>
            <a:xfrm>
              <a:off x="6591867" y="1742160"/>
              <a:ext cx="236400" cy="39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66" name="Google Shape;866;g36ef6629279_0_0"/>
            <p:cNvCxnSpPr>
              <a:stCxn id="867" idx="1"/>
              <a:endCxn id="864" idx="3"/>
            </p:cNvCxnSpPr>
            <p:nvPr/>
          </p:nvCxnSpPr>
          <p:spPr>
            <a:xfrm flipH="1">
              <a:off x="7584195" y="1740743"/>
              <a:ext cx="241200" cy="51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67" name="Google Shape;867;g36ef6629279_0_0"/>
            <p:cNvSpPr/>
            <p:nvPr/>
          </p:nvSpPr>
          <p:spPr>
            <a:xfrm>
              <a:off x="7825395" y="1599893"/>
              <a:ext cx="755700" cy="281700"/>
            </a:xfrm>
            <a:prstGeom prst="roundRect">
              <a:avLst>
                <a:gd name="adj" fmla="val 16667"/>
              </a:avLst>
            </a:prstGeom>
            <a:solidFill>
              <a:srgbClr val="FFCC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BiLSTM</a:t>
              </a:r>
              <a:endPara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68" name="Google Shape;868;g36ef6629279_0_0"/>
          <p:cNvSpPr/>
          <p:nvPr/>
        </p:nvSpPr>
        <p:spPr>
          <a:xfrm rot="5420317">
            <a:off x="3444381" y="-628065"/>
            <a:ext cx="2030435" cy="8039245"/>
          </a:xfrm>
          <a:prstGeom prst="roundRect">
            <a:avLst>
              <a:gd name="adj" fmla="val 10204"/>
            </a:avLst>
          </a:prstGeom>
          <a:solidFill>
            <a:schemeClr val="lt1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247D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g36ef6629279_0_0"/>
          <p:cNvSpPr/>
          <p:nvPr/>
        </p:nvSpPr>
        <p:spPr>
          <a:xfrm>
            <a:off x="1893824" y="4007140"/>
            <a:ext cx="3961500" cy="306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5C86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0" name="Google Shape;870;g36ef6629279_0_0"/>
          <p:cNvGrpSpPr/>
          <p:nvPr/>
        </p:nvGrpSpPr>
        <p:grpSpPr>
          <a:xfrm>
            <a:off x="1735099" y="1515565"/>
            <a:ext cx="2887501" cy="1873520"/>
            <a:chOff x="1472053" y="1690250"/>
            <a:chExt cx="2887501" cy="1873520"/>
          </a:xfrm>
        </p:grpSpPr>
        <p:sp>
          <p:nvSpPr>
            <p:cNvPr id="871" name="Google Shape;871;g36ef6629279_0_0"/>
            <p:cNvSpPr/>
            <p:nvPr/>
          </p:nvSpPr>
          <p:spPr>
            <a:xfrm>
              <a:off x="3196754" y="1690250"/>
              <a:ext cx="1162800" cy="782400"/>
            </a:xfrm>
            <a:prstGeom prst="can">
              <a:avLst>
                <a:gd name="adj" fmla="val 17977"/>
              </a:avLst>
            </a:prstGeom>
            <a:solidFill>
              <a:srgbClr val="75B94C"/>
            </a:solidFill>
            <a:ln w="25400" cap="flat" cmpd="sng">
              <a:solidFill>
                <a:srgbClr val="628D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2" name="Google Shape;872;g36ef6629279_0_0"/>
            <p:cNvGrpSpPr/>
            <p:nvPr/>
          </p:nvGrpSpPr>
          <p:grpSpPr>
            <a:xfrm>
              <a:off x="1472053" y="1849193"/>
              <a:ext cx="2868226" cy="1714577"/>
              <a:chOff x="1472053" y="1768722"/>
              <a:chExt cx="2868226" cy="1714577"/>
            </a:xfrm>
          </p:grpSpPr>
          <p:sp>
            <p:nvSpPr>
              <p:cNvPr id="873" name="Google Shape;873;g36ef6629279_0_0"/>
              <p:cNvSpPr/>
              <p:nvPr/>
            </p:nvSpPr>
            <p:spPr>
              <a:xfrm>
                <a:off x="1472053" y="2839199"/>
                <a:ext cx="1191000" cy="644100"/>
              </a:xfrm>
              <a:prstGeom prst="roundRect">
                <a:avLst>
                  <a:gd name="adj" fmla="val 12293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sx="102000" sy="102000" algn="ctr" rotWithShape="0">
                  <a:srgbClr val="000000">
                    <a:alpha val="941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Entity Normalization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4" name="Google Shape;874;g36ef6629279_0_0" descr="Making Connections and Enabling Discoverability – Celebrating 30 Years of  UMLS – NLM Musings from the Mezzanine"/>
              <p:cNvPicPr preferRelativeResize="0"/>
              <p:nvPr/>
            </p:nvPicPr>
            <p:blipFill rotWithShape="1">
              <a:blip r:embed="rId4">
                <a:alphaModFix/>
              </a:blip>
              <a:srcRect r="31488"/>
              <a:stretch/>
            </p:blipFill>
            <p:spPr>
              <a:xfrm>
                <a:off x="3214004" y="1768722"/>
                <a:ext cx="1126275" cy="57624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75" name="Google Shape;875;g36ef6629279_0_0"/>
              <p:cNvCxnSpPr>
                <a:stCxn id="873" idx="0"/>
                <a:endCxn id="874" idx="1"/>
              </p:cNvCxnSpPr>
              <p:nvPr/>
            </p:nvCxnSpPr>
            <p:spPr>
              <a:xfrm rot="-5400000">
                <a:off x="2249653" y="1874699"/>
                <a:ext cx="782400" cy="1146600"/>
              </a:xfrm>
              <a:prstGeom prst="bentConnector2">
                <a:avLst/>
              </a:pr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stealth" w="sm" len="sm"/>
                <a:tailEnd type="stealth" w="med" len="med"/>
              </a:ln>
            </p:spPr>
          </p:cxnSp>
        </p:grpSp>
      </p:grpSp>
      <p:sp>
        <p:nvSpPr>
          <p:cNvPr id="876" name="Google Shape;876;g36ef6629279_0_0"/>
          <p:cNvSpPr txBox="1"/>
          <p:nvPr/>
        </p:nvSpPr>
        <p:spPr>
          <a:xfrm rot="-5400000">
            <a:off x="-592827" y="2863165"/>
            <a:ext cx="1723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Note</a:t>
            </a:r>
            <a:r>
              <a:rPr lang="en" sz="13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7" name="Google Shape;877;g36ef6629279_0_0"/>
          <p:cNvGrpSpPr/>
          <p:nvPr/>
        </p:nvGrpSpPr>
        <p:grpSpPr>
          <a:xfrm>
            <a:off x="6220746" y="2435362"/>
            <a:ext cx="2207523" cy="1149522"/>
            <a:chOff x="5695972" y="2150411"/>
            <a:chExt cx="2207523" cy="1149522"/>
          </a:xfrm>
        </p:grpSpPr>
        <p:sp>
          <p:nvSpPr>
            <p:cNvPr id="878" name="Google Shape;878;g36ef6629279_0_0"/>
            <p:cNvSpPr/>
            <p:nvPr/>
          </p:nvSpPr>
          <p:spPr>
            <a:xfrm>
              <a:off x="6712495" y="2571533"/>
              <a:ext cx="1191000" cy="728400"/>
            </a:xfrm>
            <a:prstGeom prst="roundRect">
              <a:avLst>
                <a:gd name="adj" fmla="val 12293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GNN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Aggregation, </a:t>
              </a: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 Pooling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36ef6629279_0_0"/>
            <p:cNvSpPr/>
            <p:nvPr/>
          </p:nvSpPr>
          <p:spPr>
            <a:xfrm>
              <a:off x="7002747" y="2209947"/>
              <a:ext cx="177600" cy="171300"/>
            </a:xfrm>
            <a:prstGeom prst="roundRect">
              <a:avLst>
                <a:gd name="adj" fmla="val 16667"/>
              </a:avLst>
            </a:prstGeom>
            <a:solidFill>
              <a:srgbClr val="DAE8FC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0" name="Google Shape;880;g36ef6629279_0_0"/>
            <p:cNvSpPr/>
            <p:nvPr/>
          </p:nvSpPr>
          <p:spPr>
            <a:xfrm>
              <a:off x="7180343" y="2210237"/>
              <a:ext cx="269400" cy="170700"/>
            </a:xfrm>
            <a:prstGeom prst="roundRect">
              <a:avLst>
                <a:gd name="adj" fmla="val 16667"/>
              </a:avLst>
            </a:prstGeom>
            <a:solidFill>
              <a:srgbClr val="CDEB8B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1" name="Google Shape;881;g36ef6629279_0_0"/>
            <p:cNvSpPr txBox="1"/>
            <p:nvPr/>
          </p:nvSpPr>
          <p:spPr>
            <a:xfrm>
              <a:off x="5695972" y="2150411"/>
              <a:ext cx="1449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Graph</a:t>
              </a:r>
              <a:r>
                <a:rPr lang="en" sz="1200" b="0" i="0" u="none" strike="noStrike" cap="none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Embedding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2" name="Google Shape;882;g36ef6629279_0_0"/>
            <p:cNvCxnSpPr>
              <a:stCxn id="878" idx="0"/>
              <a:endCxn id="880" idx="2"/>
            </p:cNvCxnSpPr>
            <p:nvPr/>
          </p:nvCxnSpPr>
          <p:spPr>
            <a:xfrm rot="10800000" flipH="1">
              <a:off x="7307995" y="2381033"/>
              <a:ext cx="6900" cy="1905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883" name="Google Shape;883;g36ef6629279_0_0"/>
          <p:cNvGrpSpPr/>
          <p:nvPr/>
        </p:nvGrpSpPr>
        <p:grpSpPr>
          <a:xfrm>
            <a:off x="8120300" y="1114357"/>
            <a:ext cx="981000" cy="931443"/>
            <a:chOff x="8120300" y="1152676"/>
            <a:chExt cx="981000" cy="1344268"/>
          </a:xfrm>
        </p:grpSpPr>
        <p:cxnSp>
          <p:nvCxnSpPr>
            <p:cNvPr id="884" name="Google Shape;884;g36ef6629279_0_0"/>
            <p:cNvCxnSpPr>
              <a:stCxn id="885" idx="2"/>
              <a:endCxn id="886" idx="0"/>
            </p:cNvCxnSpPr>
            <p:nvPr/>
          </p:nvCxnSpPr>
          <p:spPr>
            <a:xfrm>
              <a:off x="8687862" y="1552576"/>
              <a:ext cx="9300" cy="188100"/>
            </a:xfrm>
            <a:prstGeom prst="straightConnector1">
              <a:avLst/>
            </a:prstGeom>
            <a:noFill/>
            <a:ln w="9525" cap="flat" cmpd="sng">
              <a:solidFill>
                <a:srgbClr val="3B7FF2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grpSp>
          <p:nvGrpSpPr>
            <p:cNvPr id="887" name="Google Shape;887;g36ef6629279_0_0"/>
            <p:cNvGrpSpPr/>
            <p:nvPr/>
          </p:nvGrpSpPr>
          <p:grpSpPr>
            <a:xfrm>
              <a:off x="8120300" y="1152676"/>
              <a:ext cx="981000" cy="1344268"/>
              <a:chOff x="8120300" y="1152676"/>
              <a:chExt cx="981000" cy="1344268"/>
            </a:xfrm>
          </p:grpSpPr>
          <p:cxnSp>
            <p:nvCxnSpPr>
              <p:cNvPr id="888" name="Google Shape;888;g36ef6629279_0_0"/>
              <p:cNvCxnSpPr>
                <a:stCxn id="886" idx="1"/>
                <a:endCxn id="867" idx="3"/>
              </p:cNvCxnSpPr>
              <p:nvPr/>
            </p:nvCxnSpPr>
            <p:spPr>
              <a:xfrm rot="10800000">
                <a:off x="8120300" y="2100494"/>
                <a:ext cx="172800" cy="18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B7FF2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sp>
            <p:nvSpPr>
              <p:cNvPr id="885" name="Google Shape;885;g36ef6629279_0_0"/>
              <p:cNvSpPr txBox="1"/>
              <p:nvPr/>
            </p:nvSpPr>
            <p:spPr>
              <a:xfrm>
                <a:off x="8283762" y="1152676"/>
                <a:ext cx="808200" cy="39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T2D/NoD</a:t>
                </a:r>
                <a:endParaRPr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6" name="Google Shape;886;g36ef6629279_0_0"/>
              <p:cNvSpPr/>
              <p:nvPr/>
            </p:nvSpPr>
            <p:spPr>
              <a:xfrm>
                <a:off x="8293100" y="1740644"/>
                <a:ext cx="808200" cy="756300"/>
              </a:xfrm>
              <a:prstGeom prst="roundRect">
                <a:avLst>
                  <a:gd name="adj" fmla="val 16667"/>
                </a:avLst>
              </a:prstGeom>
              <a:solidFill>
                <a:srgbClr val="D8E6FC"/>
              </a:solidFill>
              <a:ln w="9525" cap="flat" cmpd="sng">
                <a:solidFill>
                  <a:srgbClr val="1B386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FC </a:t>
                </a:r>
                <a:endParaRPr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rtl="0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</a:t>
                </a:r>
                <a:endParaRPr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rtl="0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Sigmoid</a:t>
                </a:r>
                <a:endParaRPr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89" name="Google Shape;889;g36ef6629279_0_0"/>
          <p:cNvGrpSpPr/>
          <p:nvPr/>
        </p:nvGrpSpPr>
        <p:grpSpPr>
          <a:xfrm>
            <a:off x="490615" y="2382740"/>
            <a:ext cx="1244634" cy="1564988"/>
            <a:chOff x="533735" y="2621336"/>
            <a:chExt cx="1244634" cy="1564988"/>
          </a:xfrm>
        </p:grpSpPr>
        <p:cxnSp>
          <p:nvCxnSpPr>
            <p:cNvPr id="890" name="Google Shape;890;g36ef6629279_0_0"/>
            <p:cNvCxnSpPr>
              <a:stCxn id="891" idx="6"/>
              <a:endCxn id="892" idx="2"/>
            </p:cNvCxnSpPr>
            <p:nvPr/>
          </p:nvCxnSpPr>
          <p:spPr>
            <a:xfrm rot="10800000" flipH="1">
              <a:off x="950994" y="3890674"/>
              <a:ext cx="240900" cy="2187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93" name="Google Shape;893;g36ef6629279_0_0"/>
            <p:cNvCxnSpPr>
              <a:stCxn id="894" idx="6"/>
              <a:endCxn id="895" idx="2"/>
            </p:cNvCxnSpPr>
            <p:nvPr/>
          </p:nvCxnSpPr>
          <p:spPr>
            <a:xfrm rot="10800000" flipH="1">
              <a:off x="684935" y="3545917"/>
              <a:ext cx="168600" cy="3048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896" name="Google Shape;896;g36ef6629279_0_0"/>
            <p:cNvCxnSpPr>
              <a:stCxn id="895" idx="5"/>
              <a:endCxn id="892" idx="1"/>
            </p:cNvCxnSpPr>
            <p:nvPr/>
          </p:nvCxnSpPr>
          <p:spPr>
            <a:xfrm>
              <a:off x="982451" y="3600206"/>
              <a:ext cx="231600" cy="2358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cxnSp>
          <p:nvCxnSpPr>
            <p:cNvPr id="897" name="Google Shape;897;g36ef6629279_0_0"/>
            <p:cNvCxnSpPr>
              <a:stCxn id="895" idx="3"/>
              <a:endCxn id="891" idx="0"/>
            </p:cNvCxnSpPr>
            <p:nvPr/>
          </p:nvCxnSpPr>
          <p:spPr>
            <a:xfrm>
              <a:off x="875537" y="3600206"/>
              <a:ext cx="0" cy="4323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grpSp>
          <p:nvGrpSpPr>
            <p:cNvPr id="898" name="Google Shape;898;g36ef6629279_0_0"/>
            <p:cNvGrpSpPr/>
            <p:nvPr/>
          </p:nvGrpSpPr>
          <p:grpSpPr>
            <a:xfrm>
              <a:off x="533735" y="2621336"/>
              <a:ext cx="1244634" cy="1564988"/>
              <a:chOff x="533735" y="2621336"/>
              <a:chExt cx="1244634" cy="1564988"/>
            </a:xfrm>
          </p:grpSpPr>
          <p:grpSp>
            <p:nvGrpSpPr>
              <p:cNvPr id="899" name="Google Shape;899;g36ef6629279_0_0"/>
              <p:cNvGrpSpPr/>
              <p:nvPr/>
            </p:nvGrpSpPr>
            <p:grpSpPr>
              <a:xfrm>
                <a:off x="533735" y="3468844"/>
                <a:ext cx="809442" cy="717480"/>
                <a:chOff x="1233453" y="3600044"/>
                <a:chExt cx="809442" cy="717480"/>
              </a:xfrm>
            </p:grpSpPr>
            <p:sp>
              <p:nvSpPr>
                <p:cNvPr id="891" name="Google Shape;891;g36ef6629279_0_0"/>
                <p:cNvSpPr/>
                <p:nvPr/>
              </p:nvSpPr>
              <p:spPr>
                <a:xfrm>
                  <a:off x="1499512" y="4163624"/>
                  <a:ext cx="151200" cy="1539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5" name="Google Shape;895;g36ef6629279_0_0"/>
                <p:cNvSpPr/>
                <p:nvPr/>
              </p:nvSpPr>
              <p:spPr>
                <a:xfrm>
                  <a:off x="1553112" y="3600044"/>
                  <a:ext cx="151200" cy="153900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4" name="Google Shape;894;g36ef6629279_0_0"/>
                <p:cNvSpPr/>
                <p:nvPr/>
              </p:nvSpPr>
              <p:spPr>
                <a:xfrm>
                  <a:off x="1233453" y="3905117"/>
                  <a:ext cx="151200" cy="1536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2" name="Google Shape;892;g36ef6629279_0_0"/>
                <p:cNvSpPr/>
                <p:nvPr/>
              </p:nvSpPr>
              <p:spPr>
                <a:xfrm>
                  <a:off x="1891695" y="3944776"/>
                  <a:ext cx="151200" cy="153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cxnSp>
            <p:nvCxnSpPr>
              <p:cNvPr id="900" name="Google Shape;900;g36ef6629279_0_0"/>
              <p:cNvCxnSpPr>
                <a:stCxn id="901" idx="2"/>
                <a:endCxn id="873" idx="1"/>
              </p:cNvCxnSpPr>
              <p:nvPr/>
            </p:nvCxnSpPr>
            <p:spPr>
              <a:xfrm rot="-5400000" flipH="1">
                <a:off x="1387769" y="2915036"/>
                <a:ext cx="83400" cy="697800"/>
              </a:xfrm>
              <a:prstGeom prst="bentConnector2">
                <a:avLst/>
              </a:prstGeom>
              <a:noFill/>
              <a:ln w="9525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901" name="Google Shape;901;g36ef6629279_0_0"/>
              <p:cNvSpPr/>
              <p:nvPr/>
            </p:nvSpPr>
            <p:spPr>
              <a:xfrm>
                <a:off x="610019" y="2621336"/>
                <a:ext cx="941100" cy="600900"/>
              </a:xfrm>
              <a:prstGeom prst="roundRect">
                <a:avLst>
                  <a:gd name="adj" fmla="val 12293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27000" sx="102000" sy="102000" algn="ctr" rotWithShape="0">
                  <a:srgbClr val="000000">
                    <a:alpha val="941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Document Level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TREx</a:t>
                </a:r>
                <a:endParaRPr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02" name="Google Shape;902;g36ef6629279_0_0"/>
          <p:cNvSpPr/>
          <p:nvPr/>
        </p:nvSpPr>
        <p:spPr>
          <a:xfrm>
            <a:off x="5223507" y="2845767"/>
            <a:ext cx="1389600" cy="750900"/>
          </a:xfrm>
          <a:prstGeom prst="roundRect">
            <a:avLst>
              <a:gd name="adj" fmla="val 12293"/>
            </a:avLst>
          </a:prstGeom>
          <a:solidFill>
            <a:schemeClr val="accent1"/>
          </a:solidFill>
          <a:ln>
            <a:noFill/>
          </a:ln>
          <a:effectLst>
            <a:outerShdw blurRad="127000" sx="102000" sy="102000" algn="ctr" rotWithShape="0">
              <a:srgbClr val="000000">
                <a:alpha val="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Timegraph</a:t>
            </a:r>
            <a:endParaRPr sz="1300" b="0" i="0" u="none" strike="noStrike" cap="none" baseline="3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(Reduced, consistent graph)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3" name="Google Shape;903;g36ef6629279_0_0"/>
          <p:cNvGrpSpPr/>
          <p:nvPr/>
        </p:nvGrpSpPr>
        <p:grpSpPr>
          <a:xfrm>
            <a:off x="6603169" y="3592681"/>
            <a:ext cx="982304" cy="602790"/>
            <a:chOff x="6442143" y="3793061"/>
            <a:chExt cx="982304" cy="602790"/>
          </a:xfrm>
        </p:grpSpPr>
        <p:cxnSp>
          <p:nvCxnSpPr>
            <p:cNvPr id="904" name="Google Shape;904;g36ef6629279_0_0"/>
            <p:cNvCxnSpPr>
              <a:stCxn id="905" idx="7"/>
              <a:endCxn id="906" idx="1"/>
            </p:cNvCxnSpPr>
            <p:nvPr/>
          </p:nvCxnSpPr>
          <p:spPr>
            <a:xfrm rot="10800000" flipH="1">
              <a:off x="7037292" y="4155503"/>
              <a:ext cx="258000" cy="106500"/>
            </a:xfrm>
            <a:prstGeom prst="straightConnector1">
              <a:avLst/>
            </a:prstGeom>
            <a:noFill/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07" name="Google Shape;907;g36ef6629279_0_0"/>
            <p:cNvCxnSpPr>
              <a:stCxn id="905" idx="1"/>
              <a:endCxn id="908" idx="4"/>
            </p:cNvCxnSpPr>
            <p:nvPr/>
          </p:nvCxnSpPr>
          <p:spPr>
            <a:xfrm rot="10800000">
              <a:off x="6870078" y="4072103"/>
              <a:ext cx="60300" cy="189900"/>
            </a:xfrm>
            <a:prstGeom prst="straightConnector1">
              <a:avLst/>
            </a:prstGeom>
            <a:noFill/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09" name="Google Shape;909;g36ef6629279_0_0"/>
            <p:cNvCxnSpPr>
              <a:stCxn id="910" idx="4"/>
              <a:endCxn id="911" idx="3"/>
            </p:cNvCxnSpPr>
            <p:nvPr/>
          </p:nvCxnSpPr>
          <p:spPr>
            <a:xfrm rot="10800000" flipH="1">
              <a:off x="6479343" y="3867551"/>
              <a:ext cx="30600" cy="379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2" name="Google Shape;912;g36ef6629279_0_0"/>
            <p:cNvCxnSpPr>
              <a:stCxn id="908" idx="1"/>
              <a:endCxn id="911" idx="0"/>
            </p:cNvCxnSpPr>
            <p:nvPr/>
          </p:nvCxnSpPr>
          <p:spPr>
            <a:xfrm rot="10800000">
              <a:off x="6675419" y="3867512"/>
              <a:ext cx="141300" cy="82200"/>
            </a:xfrm>
            <a:prstGeom prst="straightConnector1">
              <a:avLst/>
            </a:prstGeom>
            <a:noFill/>
            <a:ln w="19050" cap="flat" cmpd="sng">
              <a:solidFill>
                <a:srgbClr val="7030A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3" name="Google Shape;913;g36ef6629279_0_0"/>
            <p:cNvCxnSpPr>
              <a:stCxn id="905" idx="3"/>
              <a:endCxn id="910" idx="0"/>
            </p:cNvCxnSpPr>
            <p:nvPr/>
          </p:nvCxnSpPr>
          <p:spPr>
            <a:xfrm rot="10800000">
              <a:off x="6607578" y="4321315"/>
              <a:ext cx="322800" cy="42300"/>
            </a:xfrm>
            <a:prstGeom prst="straightConnector1">
              <a:avLst/>
            </a:prstGeom>
            <a:noFill/>
            <a:ln w="19050" cap="flat" cmpd="sng">
              <a:solidFill>
                <a:srgbClr val="7030A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0" name="Google Shape;910;g36ef6629279_0_0"/>
            <p:cNvSpPr/>
            <p:nvPr/>
          </p:nvSpPr>
          <p:spPr>
            <a:xfrm>
              <a:off x="6442143" y="4247051"/>
              <a:ext cx="165300" cy="1488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92D05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5" name="Google Shape;905;g36ef6629279_0_0"/>
            <p:cNvSpPr/>
            <p:nvPr/>
          </p:nvSpPr>
          <p:spPr>
            <a:xfrm>
              <a:off x="6908235" y="4240959"/>
              <a:ext cx="151200" cy="143700"/>
            </a:xfrm>
            <a:prstGeom prst="ellipse">
              <a:avLst/>
            </a:prstGeom>
            <a:solidFill>
              <a:srgbClr val="92D050">
                <a:alpha val="89803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8" name="Google Shape;908;g36ef6629279_0_0"/>
            <p:cNvSpPr/>
            <p:nvPr/>
          </p:nvSpPr>
          <p:spPr>
            <a:xfrm>
              <a:off x="6794576" y="3928712"/>
              <a:ext cx="151200" cy="143400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g36ef6629279_0_0"/>
            <p:cNvSpPr/>
            <p:nvPr/>
          </p:nvSpPr>
          <p:spPr>
            <a:xfrm>
              <a:off x="7273247" y="4134461"/>
              <a:ext cx="151200" cy="143700"/>
            </a:xfrm>
            <a:prstGeom prst="ellipse">
              <a:avLst/>
            </a:prstGeom>
            <a:solidFill>
              <a:srgbClr val="EEEEEE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g36ef6629279_0_0"/>
            <p:cNvSpPr/>
            <p:nvPr/>
          </p:nvSpPr>
          <p:spPr>
            <a:xfrm>
              <a:off x="6510004" y="3793061"/>
              <a:ext cx="165300" cy="1488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9900"/>
            </a:solidFill>
            <a:ln w="9525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14" name="Google Shape;914;g36ef6629279_0_0"/>
          <p:cNvCxnSpPr>
            <a:stCxn id="902" idx="3"/>
            <a:endCxn id="878" idx="1"/>
          </p:cNvCxnSpPr>
          <p:nvPr/>
        </p:nvCxnSpPr>
        <p:spPr>
          <a:xfrm rot="10800000" flipH="1">
            <a:off x="6613107" y="3220617"/>
            <a:ext cx="624300" cy="60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15" name="Google Shape;915;g36ef6629279_0_0"/>
          <p:cNvGrpSpPr/>
          <p:nvPr/>
        </p:nvGrpSpPr>
        <p:grpSpPr>
          <a:xfrm>
            <a:off x="2872761" y="2518682"/>
            <a:ext cx="629871" cy="435886"/>
            <a:chOff x="2818572" y="2348963"/>
            <a:chExt cx="629871" cy="435886"/>
          </a:xfrm>
        </p:grpSpPr>
        <p:grpSp>
          <p:nvGrpSpPr>
            <p:cNvPr id="916" name="Google Shape;916;g36ef6629279_0_0"/>
            <p:cNvGrpSpPr/>
            <p:nvPr/>
          </p:nvGrpSpPr>
          <p:grpSpPr>
            <a:xfrm>
              <a:off x="2818572" y="2348963"/>
              <a:ext cx="629871" cy="435886"/>
              <a:chOff x="1032133" y="3894799"/>
              <a:chExt cx="629871" cy="488607"/>
            </a:xfrm>
          </p:grpSpPr>
          <p:sp>
            <p:nvSpPr>
              <p:cNvPr id="917" name="Google Shape;917;g36ef6629279_0_0"/>
              <p:cNvSpPr/>
              <p:nvPr/>
            </p:nvSpPr>
            <p:spPr>
              <a:xfrm>
                <a:off x="1221992" y="4229506"/>
                <a:ext cx="151200" cy="153900"/>
              </a:xfrm>
              <a:prstGeom prst="ellipse">
                <a:avLst/>
              </a:prstGeom>
              <a:solidFill>
                <a:srgbClr val="92D050">
                  <a:alpha val="89803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8" name="Google Shape;918;g36ef6629279_0_0"/>
              <p:cNvSpPr/>
              <p:nvPr/>
            </p:nvSpPr>
            <p:spPr>
              <a:xfrm>
                <a:off x="1032133" y="3894799"/>
                <a:ext cx="151200" cy="153600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9" name="Google Shape;919;g36ef6629279_0_0"/>
              <p:cNvSpPr/>
              <p:nvPr/>
            </p:nvSpPr>
            <p:spPr>
              <a:xfrm>
                <a:off x="1510804" y="4029932"/>
                <a:ext cx="151200" cy="153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920" name="Google Shape;920;g36ef6629279_0_0"/>
            <p:cNvCxnSpPr>
              <a:stCxn id="917" idx="7"/>
              <a:endCxn id="919" idx="2"/>
            </p:cNvCxnSpPr>
            <p:nvPr/>
          </p:nvCxnSpPr>
          <p:spPr>
            <a:xfrm rot="10800000" flipH="1">
              <a:off x="3137488" y="2538061"/>
              <a:ext cx="159900" cy="1296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921;g36ef6629279_0_0"/>
            <p:cNvCxnSpPr>
              <a:stCxn id="917" idx="1"/>
              <a:endCxn id="918" idx="4"/>
            </p:cNvCxnSpPr>
            <p:nvPr/>
          </p:nvCxnSpPr>
          <p:spPr>
            <a:xfrm rot="10800000">
              <a:off x="2894074" y="2485861"/>
              <a:ext cx="136500" cy="1818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2" name="Google Shape;922;g36ef6629279_0_0"/>
            <p:cNvCxnSpPr>
              <a:stCxn id="919" idx="4"/>
              <a:endCxn id="917" idx="6"/>
            </p:cNvCxnSpPr>
            <p:nvPr/>
          </p:nvCxnSpPr>
          <p:spPr>
            <a:xfrm flipH="1">
              <a:off x="3159543" y="2606809"/>
              <a:ext cx="213300" cy="10950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dash"/>
              <a:round/>
              <a:headEnd type="stealth" w="med" len="med"/>
              <a:tailEnd type="stealth" w="med" len="med"/>
            </a:ln>
          </p:spPr>
        </p:cxnSp>
      </p:grpSp>
      <p:cxnSp>
        <p:nvCxnSpPr>
          <p:cNvPr id="923" name="Google Shape;923;g36ef6629279_0_0"/>
          <p:cNvCxnSpPr>
            <a:stCxn id="873" idx="3"/>
            <a:endCxn id="924" idx="1"/>
          </p:cNvCxnSpPr>
          <p:nvPr/>
        </p:nvCxnSpPr>
        <p:spPr>
          <a:xfrm>
            <a:off x="2926099" y="3067035"/>
            <a:ext cx="604200" cy="5700"/>
          </a:xfrm>
          <a:prstGeom prst="straightConnector1">
            <a:avLst/>
          </a:prstGeom>
          <a:noFill/>
          <a:ln w="9525" cap="flat" cmpd="sng">
            <a:solidFill>
              <a:srgbClr val="5C86E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25" name="Google Shape;925;g36ef6629279_0_0"/>
          <p:cNvCxnSpPr>
            <a:stCxn id="926" idx="7"/>
            <a:endCxn id="927" idx="1"/>
          </p:cNvCxnSpPr>
          <p:nvPr/>
        </p:nvCxnSpPr>
        <p:spPr>
          <a:xfrm rot="10800000" flipH="1">
            <a:off x="3544402" y="3694488"/>
            <a:ext cx="258000" cy="1017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28" name="Google Shape;928;g36ef6629279_0_0"/>
          <p:cNvCxnSpPr>
            <a:stCxn id="926" idx="1"/>
            <a:endCxn id="929" idx="4"/>
          </p:cNvCxnSpPr>
          <p:nvPr/>
        </p:nvCxnSpPr>
        <p:spPr>
          <a:xfrm rot="10800000">
            <a:off x="3377188" y="3614388"/>
            <a:ext cx="60300" cy="1818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30" name="Google Shape;930;g36ef6629279_0_0"/>
          <p:cNvCxnSpPr>
            <a:stCxn id="931" idx="4"/>
            <a:endCxn id="932" idx="3"/>
          </p:cNvCxnSpPr>
          <p:nvPr/>
        </p:nvCxnSpPr>
        <p:spPr>
          <a:xfrm rot="10800000" flipH="1">
            <a:off x="2984781" y="3418908"/>
            <a:ext cx="32400" cy="36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33" name="Google Shape;933;g36ef6629279_0_0"/>
          <p:cNvCxnSpPr>
            <a:stCxn id="929" idx="1"/>
            <a:endCxn id="932" idx="0"/>
          </p:cNvCxnSpPr>
          <p:nvPr/>
        </p:nvCxnSpPr>
        <p:spPr>
          <a:xfrm rot="10800000">
            <a:off x="3182529" y="3418956"/>
            <a:ext cx="141300" cy="78600"/>
          </a:xfrm>
          <a:prstGeom prst="straightConnector1">
            <a:avLst/>
          </a:prstGeom>
          <a:noFill/>
          <a:ln w="19050" cap="flat" cmpd="sng">
            <a:solidFill>
              <a:srgbClr val="7030A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34" name="Google Shape;934;g36ef6629279_0_0"/>
          <p:cNvCxnSpPr>
            <a:stCxn id="926" idx="3"/>
            <a:endCxn id="931" idx="0"/>
          </p:cNvCxnSpPr>
          <p:nvPr/>
        </p:nvCxnSpPr>
        <p:spPr>
          <a:xfrm rot="10800000">
            <a:off x="3114688" y="3853069"/>
            <a:ext cx="322800" cy="40200"/>
          </a:xfrm>
          <a:prstGeom prst="straightConnector1">
            <a:avLst/>
          </a:prstGeom>
          <a:noFill/>
          <a:ln w="19050" cap="flat" cmpd="sng">
            <a:solidFill>
              <a:srgbClr val="7030A0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935" name="Google Shape;935;g36ef6629279_0_0"/>
          <p:cNvGrpSpPr/>
          <p:nvPr/>
        </p:nvGrpSpPr>
        <p:grpSpPr>
          <a:xfrm>
            <a:off x="2949253" y="3347770"/>
            <a:ext cx="982304" cy="576249"/>
            <a:chOff x="3293721" y="3114604"/>
            <a:chExt cx="982304" cy="645947"/>
          </a:xfrm>
        </p:grpSpPr>
        <p:sp>
          <p:nvSpPr>
            <p:cNvPr id="931" name="Google Shape;931;g36ef6629279_0_0"/>
            <p:cNvSpPr/>
            <p:nvPr/>
          </p:nvSpPr>
          <p:spPr>
            <a:xfrm>
              <a:off x="3293721" y="3601251"/>
              <a:ext cx="165300" cy="159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92D05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36" name="Google Shape;936;g36ef6629279_0_0"/>
            <p:cNvGrpSpPr/>
            <p:nvPr/>
          </p:nvGrpSpPr>
          <p:grpSpPr>
            <a:xfrm>
              <a:off x="3361582" y="3114604"/>
              <a:ext cx="914443" cy="634016"/>
              <a:chOff x="3361582" y="3114604"/>
              <a:chExt cx="914443" cy="634016"/>
            </a:xfrm>
          </p:grpSpPr>
          <p:grpSp>
            <p:nvGrpSpPr>
              <p:cNvPr id="937" name="Google Shape;937;g36ef6629279_0_0"/>
              <p:cNvGrpSpPr/>
              <p:nvPr/>
            </p:nvGrpSpPr>
            <p:grpSpPr>
              <a:xfrm>
                <a:off x="3646154" y="3260013"/>
                <a:ext cx="629871" cy="488607"/>
                <a:chOff x="1108333" y="3894799"/>
                <a:chExt cx="629871" cy="488607"/>
              </a:xfrm>
            </p:grpSpPr>
            <p:sp>
              <p:nvSpPr>
                <p:cNvPr id="926" name="Google Shape;926;g36ef6629279_0_0"/>
                <p:cNvSpPr/>
                <p:nvPr/>
              </p:nvSpPr>
              <p:spPr>
                <a:xfrm>
                  <a:off x="1221992" y="4229506"/>
                  <a:ext cx="151200" cy="153900"/>
                </a:xfrm>
                <a:prstGeom prst="ellipse">
                  <a:avLst/>
                </a:prstGeom>
                <a:solidFill>
                  <a:srgbClr val="92D050">
                    <a:alpha val="89803"/>
                  </a:srgb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29" name="Google Shape;929;g36ef6629279_0_0"/>
                <p:cNvSpPr/>
                <p:nvPr/>
              </p:nvSpPr>
              <p:spPr>
                <a:xfrm>
                  <a:off x="1108333" y="3894799"/>
                  <a:ext cx="151200" cy="153600"/>
                </a:xfrm>
                <a:prstGeom prst="ellipse">
                  <a:avLst/>
                </a:prstGeom>
                <a:solidFill>
                  <a:srgbClr val="FF9900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91425" rIns="0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27" name="Google Shape;927;g36ef6629279_0_0"/>
                <p:cNvSpPr/>
                <p:nvPr/>
              </p:nvSpPr>
              <p:spPr>
                <a:xfrm>
                  <a:off x="1587004" y="4115348"/>
                  <a:ext cx="151200" cy="153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932" name="Google Shape;932;g36ef6629279_0_0"/>
              <p:cNvSpPr/>
              <p:nvPr/>
            </p:nvSpPr>
            <p:spPr>
              <a:xfrm>
                <a:off x="3361582" y="3114604"/>
                <a:ext cx="165300" cy="1593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9900"/>
              </a:solidFill>
              <a:ln w="9525" cap="flat" cmpd="sng">
                <a:solidFill>
                  <a:srgbClr val="1B386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38" name="Google Shape;938;g36ef6629279_0_0"/>
              <p:cNvCxnSpPr>
                <a:stCxn id="927" idx="4"/>
                <a:endCxn id="926" idx="5"/>
              </p:cNvCxnSpPr>
              <p:nvPr/>
            </p:nvCxnSpPr>
            <p:spPr>
              <a:xfrm flipH="1">
                <a:off x="3888725" y="3634462"/>
                <a:ext cx="311700" cy="9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999999"/>
                </a:solidFill>
                <a:prstDash val="dash"/>
                <a:round/>
                <a:headEnd type="stealth" w="med" len="med"/>
                <a:tailEnd type="stealth" w="med" len="med"/>
              </a:ln>
            </p:spPr>
          </p:cxnSp>
        </p:grpSp>
      </p:grpSp>
      <p:sp>
        <p:nvSpPr>
          <p:cNvPr id="924" name="Google Shape;924;g36ef6629279_0_0"/>
          <p:cNvSpPr/>
          <p:nvPr/>
        </p:nvSpPr>
        <p:spPr>
          <a:xfrm>
            <a:off x="3530152" y="2745999"/>
            <a:ext cx="1030800" cy="653700"/>
          </a:xfrm>
          <a:prstGeom prst="roundRect">
            <a:avLst>
              <a:gd name="adj" fmla="val 12293"/>
            </a:avLst>
          </a:prstGeom>
          <a:solidFill>
            <a:schemeClr val="accent1"/>
          </a:solidFill>
          <a:ln>
            <a:noFill/>
          </a:ln>
          <a:effectLst>
            <a:outerShdw blurRad="127000" sx="102000" sy="102000" algn="ctr" rotWithShape="0">
              <a:srgbClr val="000000">
                <a:alpha val="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9" name="Google Shape;939;g36ef6629279_0_0"/>
          <p:cNvGrpSpPr/>
          <p:nvPr/>
        </p:nvGrpSpPr>
        <p:grpSpPr>
          <a:xfrm>
            <a:off x="1908997" y="3596773"/>
            <a:ext cx="4009459" cy="717298"/>
            <a:chOff x="1728523" y="4105259"/>
            <a:chExt cx="4009459" cy="717298"/>
          </a:xfrm>
        </p:grpSpPr>
        <p:grpSp>
          <p:nvGrpSpPr>
            <p:cNvPr id="940" name="Google Shape;940;g36ef6629279_0_0"/>
            <p:cNvGrpSpPr/>
            <p:nvPr/>
          </p:nvGrpSpPr>
          <p:grpSpPr>
            <a:xfrm>
              <a:off x="1728523" y="4105259"/>
              <a:ext cx="4009459" cy="713948"/>
              <a:chOff x="1779324" y="4247578"/>
              <a:chExt cx="4009459" cy="713948"/>
            </a:xfrm>
          </p:grpSpPr>
          <p:grpSp>
            <p:nvGrpSpPr>
              <p:cNvPr id="941" name="Google Shape;941;g36ef6629279_0_0"/>
              <p:cNvGrpSpPr/>
              <p:nvPr/>
            </p:nvGrpSpPr>
            <p:grpSpPr>
              <a:xfrm>
                <a:off x="4015324" y="4247578"/>
                <a:ext cx="1773459" cy="713948"/>
                <a:chOff x="4015324" y="4247578"/>
                <a:chExt cx="1773459" cy="713948"/>
              </a:xfrm>
            </p:grpSpPr>
            <p:sp>
              <p:nvSpPr>
                <p:cNvPr id="942" name="Google Shape;942;g36ef6629279_0_0"/>
                <p:cNvSpPr txBox="1"/>
                <p:nvPr/>
              </p:nvSpPr>
              <p:spPr>
                <a:xfrm>
                  <a:off x="4015324" y="4669026"/>
                  <a:ext cx="1710000" cy="292500"/>
                </a:xfrm>
                <a:prstGeom prst="rect">
                  <a:avLst/>
                </a:prstGeom>
                <a:solidFill>
                  <a:srgbClr val="ED654A"/>
                </a:solidFill>
                <a:ln w="9525" cap="flat" cmpd="sng">
                  <a:solidFill>
                    <a:srgbClr val="5C86E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00"/>
                    <a:buFont typeface="Arial"/>
                    <a:buNone/>
                  </a:pPr>
                  <a:r>
                    <a:rPr lang="en" sz="1300" b="0" i="0" u="none" strike="noStrike" cap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BioMedBERT</a:t>
                  </a:r>
                  <a:endParaRPr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pic>
              <p:nvPicPr>
                <p:cNvPr id="943" name="Google Shape;943;g36ef6629279_0_0" descr="DrBERT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5096331" y="4316425"/>
                  <a:ext cx="643552" cy="63990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44" name="Google Shape;944;g36ef6629279_0_0"/>
                <p:cNvCxnSpPr>
                  <a:stCxn id="943" idx="3"/>
                  <a:endCxn id="902" idx="2"/>
                </p:cNvCxnSpPr>
                <p:nvPr/>
              </p:nvCxnSpPr>
              <p:spPr>
                <a:xfrm rot="10800000" flipH="1">
                  <a:off x="5739883" y="4247578"/>
                  <a:ext cx="48900" cy="388800"/>
                </a:xfrm>
                <a:prstGeom prst="bentConnector2">
                  <a:avLst/>
                </a:prstGeom>
                <a:noFill/>
                <a:ln w="9525" cap="flat" cmpd="sng">
                  <a:solidFill>
                    <a:srgbClr val="3B7FF2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  <p:sp>
            <p:nvSpPr>
              <p:cNvPr id="945" name="Google Shape;945;g36ef6629279_0_0"/>
              <p:cNvSpPr txBox="1"/>
              <p:nvPr/>
            </p:nvSpPr>
            <p:spPr>
              <a:xfrm>
                <a:off x="1779324" y="4662826"/>
                <a:ext cx="2063700" cy="292500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rgbClr val="5C86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" sz="1300" b="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KG Embedding (pretrained)</a:t>
                </a:r>
                <a:endParaRPr sz="1400" b="0" i="0" u="none" strike="noStrike" cap="none" baseline="30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46" name="Google Shape;946;g36ef6629279_0_0"/>
            <p:cNvPicPr preferRelativeResize="0"/>
            <p:nvPr/>
          </p:nvPicPr>
          <p:blipFill rotWithShape="1">
            <a:blip r:embed="rId6">
              <a:alphaModFix/>
            </a:blip>
            <a:srcRect l="29123" t="31241" r="68269" b="36458"/>
            <a:stretch/>
          </p:blipFill>
          <p:spPr>
            <a:xfrm>
              <a:off x="3782278" y="4564607"/>
              <a:ext cx="157500" cy="2579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47" name="Google Shape;947;g36ef6629279_0_0"/>
          <p:cNvCxnSpPr>
            <a:stCxn id="871" idx="3"/>
            <a:endCxn id="924" idx="0"/>
          </p:cNvCxnSpPr>
          <p:nvPr/>
        </p:nvCxnSpPr>
        <p:spPr>
          <a:xfrm>
            <a:off x="4041200" y="2297965"/>
            <a:ext cx="4500" cy="4479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48" name="Google Shape;948;g36ef6629279_0_0"/>
          <p:cNvCxnSpPr>
            <a:stCxn id="924" idx="2"/>
            <a:endCxn id="946" idx="0"/>
          </p:cNvCxnSpPr>
          <p:nvPr/>
        </p:nvCxnSpPr>
        <p:spPr>
          <a:xfrm flipH="1">
            <a:off x="4041652" y="3399699"/>
            <a:ext cx="3900" cy="656400"/>
          </a:xfrm>
          <a:prstGeom prst="straightConnector1">
            <a:avLst/>
          </a:prstGeom>
          <a:noFill/>
          <a:ln w="9525" cap="flat" cmpd="sng">
            <a:solidFill>
              <a:srgbClr val="5C86E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938B56-A209-CC60-E6E4-DEF8C7E4BEF3}"/>
              </a:ext>
            </a:extLst>
          </p:cNvPr>
          <p:cNvSpPr txBox="1"/>
          <p:nvPr/>
        </p:nvSpPr>
        <p:spPr>
          <a:xfrm>
            <a:off x="293688" y="246001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dirty="0">
                <a:solidFill>
                  <a:srgbClr val="0070C0"/>
                </a:solidFill>
              </a:rPr>
              <a:t>HiT-GNN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MIMIC-IV Data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70"/>
          <p:cNvSpPr txBox="1"/>
          <p:nvPr/>
        </p:nvSpPr>
        <p:spPr>
          <a:xfrm>
            <a:off x="381900" y="1284125"/>
            <a:ext cx="7425000" cy="3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Large, </a:t>
            </a:r>
            <a:r>
              <a:rPr lang="e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publicly available </a:t>
            </a: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of </a:t>
            </a:r>
            <a:r>
              <a:rPr lang="e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de-identified </a:t>
            </a: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 health records (EHRs)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admitted to the Beth Israel Deaconess Medical Center in Boston between 2008 and 2019.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 to earlier releases MIMIC-II and MIMIC-III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Exclusion Criteria for data curation: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Diagnosis of  Type 1 diabetes or other types of diabetes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6" name="Google Shape;1576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sp>
        <p:nvSpPr>
          <p:cNvPr id="1577" name="Google Shape;1577;p70">
            <a:hlinkClick r:id="rId3" action="ppaction://hlinksldjump"/>
          </p:cNvPr>
          <p:cNvSpPr/>
          <p:nvPr/>
        </p:nvSpPr>
        <p:spPr>
          <a:xfrm>
            <a:off x="8204455" y="178625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71"/>
          <p:cNvSpPr txBox="1">
            <a:spLocks noGrp="1"/>
          </p:cNvSpPr>
          <p:nvPr>
            <p:ph type="title"/>
          </p:nvPr>
        </p:nvSpPr>
        <p:spPr>
          <a:xfrm>
            <a:off x="364649" y="104975"/>
            <a:ext cx="4639775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Data Filtering: MIMIC-IV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71"/>
          <p:cNvSpPr txBox="1"/>
          <p:nvPr/>
        </p:nvSpPr>
        <p:spPr>
          <a:xfrm>
            <a:off x="5606906" y="1225289"/>
            <a:ext cx="123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84" name="Google Shape;1584;p71"/>
          <p:cNvGrpSpPr/>
          <p:nvPr/>
        </p:nvGrpSpPr>
        <p:grpSpPr>
          <a:xfrm>
            <a:off x="129631" y="2947893"/>
            <a:ext cx="7975574" cy="437937"/>
            <a:chOff x="147047" y="3694647"/>
            <a:chExt cx="7975574" cy="437937"/>
          </a:xfrm>
        </p:grpSpPr>
        <p:sp>
          <p:nvSpPr>
            <p:cNvPr id="1585" name="Google Shape;1585;p71"/>
            <p:cNvSpPr txBox="1"/>
            <p:nvPr/>
          </p:nvSpPr>
          <p:spPr>
            <a:xfrm>
              <a:off x="459323" y="3756948"/>
              <a:ext cx="38775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Drop duplicated and non-verbal notes</a:t>
              </a: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6" name="Google Shape;1586;p71"/>
            <p:cNvSpPr/>
            <p:nvPr/>
          </p:nvSpPr>
          <p:spPr>
            <a:xfrm>
              <a:off x="147047" y="3845857"/>
              <a:ext cx="171600" cy="151200"/>
            </a:xfrm>
            <a:prstGeom prst="ellipse">
              <a:avLst/>
            </a:prstGeom>
            <a:solidFill>
              <a:srgbClr val="335E95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7" name="Google Shape;1587;p71"/>
            <p:cNvSpPr/>
            <p:nvPr/>
          </p:nvSpPr>
          <p:spPr>
            <a:xfrm rot="5400000">
              <a:off x="214456" y="3897011"/>
              <a:ext cx="50100" cy="489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88" name="Google Shape;1588;p71"/>
            <p:cNvGrpSpPr/>
            <p:nvPr/>
          </p:nvGrpSpPr>
          <p:grpSpPr>
            <a:xfrm>
              <a:off x="4884350" y="3694647"/>
              <a:ext cx="3238271" cy="437937"/>
              <a:chOff x="4731953" y="3587993"/>
              <a:chExt cx="3238271" cy="539399"/>
            </a:xfrm>
          </p:grpSpPr>
          <p:sp>
            <p:nvSpPr>
              <p:cNvPr id="1589" name="Google Shape;1589;p71"/>
              <p:cNvSpPr/>
              <p:nvPr/>
            </p:nvSpPr>
            <p:spPr>
              <a:xfrm>
                <a:off x="4731953" y="3664727"/>
                <a:ext cx="3238271" cy="405807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1223" extrusionOk="0">
                    <a:moveTo>
                      <a:pt x="4679" y="1222"/>
                    </a:moveTo>
                    <a:lnTo>
                      <a:pt x="401" y="1222"/>
                    </a:lnTo>
                    <a:lnTo>
                      <a:pt x="0" y="0"/>
                    </a:lnTo>
                    <a:lnTo>
                      <a:pt x="5079" y="6"/>
                    </a:lnTo>
                    <a:lnTo>
                      <a:pt x="4679" y="1222"/>
                    </a:lnTo>
                  </a:path>
                </a:pathLst>
              </a:custGeom>
              <a:solidFill>
                <a:srgbClr val="335E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0" name="Google Shape;1590;p71"/>
              <p:cNvSpPr/>
              <p:nvPr/>
            </p:nvSpPr>
            <p:spPr>
              <a:xfrm>
                <a:off x="4731953" y="3587993"/>
                <a:ext cx="3238271" cy="145369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137" y="640"/>
                      <a:pt x="2540" y="640"/>
                    </a:cubicBezTo>
                    <a:lnTo>
                      <a:pt x="2540" y="640"/>
                    </a:lnTo>
                    <a:cubicBezTo>
                      <a:pt x="3942" y="640"/>
                      <a:pt x="5079" y="497"/>
                      <a:pt x="5079" y="320"/>
                    </a:cubicBezTo>
                    <a:lnTo>
                      <a:pt x="5079" y="320"/>
                    </a:lnTo>
                    <a:cubicBezTo>
                      <a:pt x="5079" y="143"/>
                      <a:pt x="3942" y="0"/>
                      <a:pt x="2540" y="0"/>
                    </a:cubicBezTo>
                    <a:lnTo>
                      <a:pt x="2540" y="0"/>
                    </a:lnTo>
                    <a:cubicBezTo>
                      <a:pt x="1137" y="0"/>
                      <a:pt x="0" y="143"/>
                      <a:pt x="0" y="320"/>
                    </a:cubicBezTo>
                  </a:path>
                </a:pathLst>
              </a:custGeom>
              <a:solidFill>
                <a:srgbClr val="26466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1" name="Google Shape;1591;p71"/>
              <p:cNvSpPr txBox="1"/>
              <p:nvPr/>
            </p:nvSpPr>
            <p:spPr>
              <a:xfrm>
                <a:off x="5064027" y="3691497"/>
                <a:ext cx="2505300" cy="435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Arial"/>
                  <a:buNone/>
                </a:pPr>
                <a:r>
                  <a:rPr lang="en" sz="17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184,421 | 5,272 | 54,803</a:t>
                </a:r>
                <a:endParaRPr sz="17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592" name="Google Shape;1592;p71"/>
          <p:cNvGrpSpPr/>
          <p:nvPr/>
        </p:nvGrpSpPr>
        <p:grpSpPr>
          <a:xfrm>
            <a:off x="137463" y="4025254"/>
            <a:ext cx="7685662" cy="477300"/>
            <a:chOff x="137463" y="4654447"/>
            <a:chExt cx="7685662" cy="477300"/>
          </a:xfrm>
        </p:grpSpPr>
        <p:sp>
          <p:nvSpPr>
            <p:cNvPr id="1593" name="Google Shape;1593;p71"/>
            <p:cNvSpPr txBox="1"/>
            <p:nvPr/>
          </p:nvSpPr>
          <p:spPr>
            <a:xfrm>
              <a:off x="445418" y="4654447"/>
              <a:ext cx="3172500" cy="4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Drop duplicated sections</a:t>
              </a:r>
              <a:r>
                <a:rPr lang="en"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(adjusts Earliest_dx_Date)</a:t>
              </a:r>
              <a:endParaRPr sz="13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4" name="Google Shape;1594;p71"/>
            <p:cNvSpPr/>
            <p:nvPr/>
          </p:nvSpPr>
          <p:spPr>
            <a:xfrm>
              <a:off x="137463" y="4778202"/>
              <a:ext cx="169200" cy="151200"/>
            </a:xfrm>
            <a:prstGeom prst="ellipse">
              <a:avLst/>
            </a:prstGeom>
            <a:solidFill>
              <a:srgbClr val="0A8485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5" name="Google Shape;1595;p71"/>
            <p:cNvSpPr/>
            <p:nvPr/>
          </p:nvSpPr>
          <p:spPr>
            <a:xfrm rot="5400000">
              <a:off x="203655" y="4825305"/>
              <a:ext cx="50100" cy="483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6" name="Google Shape;1596;p71"/>
            <p:cNvSpPr/>
            <p:nvPr/>
          </p:nvSpPr>
          <p:spPr>
            <a:xfrm>
              <a:off x="5218450" y="4726675"/>
              <a:ext cx="2508721" cy="354000"/>
            </a:xfrm>
            <a:custGeom>
              <a:avLst/>
              <a:gdLst/>
              <a:ahLst/>
              <a:cxnLst/>
              <a:rect l="l" t="t" r="r" b="b"/>
              <a:pathLst>
                <a:path w="4245" h="1223" extrusionOk="0">
                  <a:moveTo>
                    <a:pt x="3843" y="1222"/>
                  </a:moveTo>
                  <a:lnTo>
                    <a:pt x="401" y="1222"/>
                  </a:lnTo>
                  <a:lnTo>
                    <a:pt x="0" y="0"/>
                  </a:lnTo>
                  <a:lnTo>
                    <a:pt x="4244" y="5"/>
                  </a:lnTo>
                  <a:lnTo>
                    <a:pt x="3843" y="1222"/>
                  </a:lnTo>
                </a:path>
              </a:pathLst>
            </a:custGeom>
            <a:solidFill>
              <a:srgbClr val="0A84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7" name="Google Shape;1597;p71"/>
            <p:cNvSpPr/>
            <p:nvPr/>
          </p:nvSpPr>
          <p:spPr>
            <a:xfrm>
              <a:off x="5218450" y="4673600"/>
              <a:ext cx="2508721" cy="100251"/>
            </a:xfrm>
            <a:custGeom>
              <a:avLst/>
              <a:gdLst/>
              <a:ahLst/>
              <a:cxnLst/>
              <a:rect l="l" t="t" r="r" b="b"/>
              <a:pathLst>
                <a:path w="4245" h="641" extrusionOk="0">
                  <a:moveTo>
                    <a:pt x="0" y="320"/>
                  </a:moveTo>
                  <a:lnTo>
                    <a:pt x="0" y="320"/>
                  </a:lnTo>
                  <a:cubicBezTo>
                    <a:pt x="0" y="497"/>
                    <a:pt x="949" y="640"/>
                    <a:pt x="2121" y="640"/>
                  </a:cubicBezTo>
                  <a:lnTo>
                    <a:pt x="2121" y="640"/>
                  </a:lnTo>
                  <a:cubicBezTo>
                    <a:pt x="3293" y="640"/>
                    <a:pt x="4244" y="497"/>
                    <a:pt x="4244" y="320"/>
                  </a:cubicBezTo>
                  <a:lnTo>
                    <a:pt x="4244" y="320"/>
                  </a:lnTo>
                  <a:cubicBezTo>
                    <a:pt x="4244" y="143"/>
                    <a:pt x="3293" y="0"/>
                    <a:pt x="2121" y="0"/>
                  </a:cubicBezTo>
                  <a:lnTo>
                    <a:pt x="2121" y="0"/>
                  </a:lnTo>
                  <a:cubicBezTo>
                    <a:pt x="949" y="0"/>
                    <a:pt x="0" y="143"/>
                    <a:pt x="0" y="320"/>
                  </a:cubicBezTo>
                </a:path>
              </a:pathLst>
            </a:custGeom>
            <a:solidFill>
              <a:srgbClr val="07636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8" name="Google Shape;1598;p71"/>
            <p:cNvSpPr txBox="1"/>
            <p:nvPr/>
          </p:nvSpPr>
          <p:spPr>
            <a:xfrm>
              <a:off x="5087125" y="4709800"/>
              <a:ext cx="2736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174,995 | 5,207 | 106222</a:t>
              </a:r>
              <a:endParaRPr sz="1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99" name="Google Shape;1599;p71"/>
          <p:cNvGrpSpPr/>
          <p:nvPr/>
        </p:nvGrpSpPr>
        <p:grpSpPr>
          <a:xfrm>
            <a:off x="137221" y="3485992"/>
            <a:ext cx="7903144" cy="455176"/>
            <a:chOff x="137221" y="4230569"/>
            <a:chExt cx="7903144" cy="455176"/>
          </a:xfrm>
        </p:grpSpPr>
        <p:grpSp>
          <p:nvGrpSpPr>
            <p:cNvPr id="1600" name="Google Shape;1600;p71"/>
            <p:cNvGrpSpPr/>
            <p:nvPr/>
          </p:nvGrpSpPr>
          <p:grpSpPr>
            <a:xfrm>
              <a:off x="5127250" y="4258600"/>
              <a:ext cx="2913115" cy="427145"/>
              <a:chOff x="4974850" y="4258600"/>
              <a:chExt cx="2913115" cy="427145"/>
            </a:xfrm>
          </p:grpSpPr>
          <p:sp>
            <p:nvSpPr>
              <p:cNvPr id="1601" name="Google Shape;1601;p71"/>
              <p:cNvSpPr/>
              <p:nvPr/>
            </p:nvSpPr>
            <p:spPr>
              <a:xfrm>
                <a:off x="4974853" y="4301225"/>
                <a:ext cx="2761120" cy="369300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1223" extrusionOk="0">
                    <a:moveTo>
                      <a:pt x="4679" y="1222"/>
                    </a:moveTo>
                    <a:lnTo>
                      <a:pt x="401" y="1222"/>
                    </a:lnTo>
                    <a:lnTo>
                      <a:pt x="0" y="0"/>
                    </a:lnTo>
                    <a:lnTo>
                      <a:pt x="5079" y="6"/>
                    </a:lnTo>
                    <a:lnTo>
                      <a:pt x="4679" y="1222"/>
                    </a:lnTo>
                  </a:path>
                </a:pathLst>
              </a:custGeom>
              <a:solidFill>
                <a:srgbClr val="3377C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02" name="Google Shape;1602;p71"/>
              <p:cNvSpPr/>
              <p:nvPr/>
            </p:nvSpPr>
            <p:spPr>
              <a:xfrm>
                <a:off x="4974850" y="4258600"/>
                <a:ext cx="2761120" cy="89878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137" y="640"/>
                      <a:pt x="2540" y="640"/>
                    </a:cubicBezTo>
                    <a:lnTo>
                      <a:pt x="2540" y="640"/>
                    </a:lnTo>
                    <a:cubicBezTo>
                      <a:pt x="3942" y="640"/>
                      <a:pt x="5079" y="497"/>
                      <a:pt x="5079" y="320"/>
                    </a:cubicBezTo>
                    <a:lnTo>
                      <a:pt x="5079" y="320"/>
                    </a:lnTo>
                    <a:cubicBezTo>
                      <a:pt x="5079" y="143"/>
                      <a:pt x="3942" y="0"/>
                      <a:pt x="2540" y="0"/>
                    </a:cubicBezTo>
                    <a:lnTo>
                      <a:pt x="2540" y="0"/>
                    </a:lnTo>
                    <a:cubicBezTo>
                      <a:pt x="1137" y="0"/>
                      <a:pt x="0" y="143"/>
                      <a:pt x="0" y="320"/>
                    </a:cubicBezTo>
                  </a:path>
                </a:pathLst>
              </a:custGeom>
              <a:solidFill>
                <a:srgbClr val="285D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03" name="Google Shape;1603;p71"/>
              <p:cNvSpPr txBox="1"/>
              <p:nvPr/>
            </p:nvSpPr>
            <p:spPr>
              <a:xfrm>
                <a:off x="5187665" y="4331842"/>
                <a:ext cx="2700300" cy="3539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Arial"/>
                  <a:buNone/>
                </a:pPr>
                <a:r>
                  <a:rPr lang="en" sz="17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175,201 | 5,207 | 54,170</a:t>
                </a:r>
                <a:endParaRPr sz="17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04" name="Google Shape;1604;p71"/>
            <p:cNvSpPr txBox="1"/>
            <p:nvPr/>
          </p:nvSpPr>
          <p:spPr>
            <a:xfrm>
              <a:off x="453531" y="4230569"/>
              <a:ext cx="36743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 length within .05-.95 quantile</a:t>
              </a:r>
              <a:endParaRPr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5" name="Google Shape;1605;p71"/>
            <p:cNvSpPr/>
            <p:nvPr/>
          </p:nvSpPr>
          <p:spPr>
            <a:xfrm>
              <a:off x="137221" y="4325217"/>
              <a:ext cx="166800" cy="151200"/>
            </a:xfrm>
            <a:prstGeom prst="ellipse">
              <a:avLst/>
            </a:prstGeom>
            <a:solidFill>
              <a:srgbClr val="3377C1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6" name="Google Shape;1606;p71"/>
            <p:cNvSpPr/>
            <p:nvPr/>
          </p:nvSpPr>
          <p:spPr>
            <a:xfrm rot="5400000">
              <a:off x="202066" y="4376976"/>
              <a:ext cx="50100" cy="477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07" name="Google Shape;1607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sp>
        <p:nvSpPr>
          <p:cNvPr id="1608" name="Google Shape;1608;p71"/>
          <p:cNvSpPr txBox="1"/>
          <p:nvPr/>
        </p:nvSpPr>
        <p:spPr>
          <a:xfrm>
            <a:off x="4875707" y="689922"/>
            <a:ext cx="4254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Notes | T2D Patients| NoD Patients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9" name="Google Shape;1609;p71"/>
          <p:cNvGrpSpPr/>
          <p:nvPr/>
        </p:nvGrpSpPr>
        <p:grpSpPr>
          <a:xfrm>
            <a:off x="150985" y="1137488"/>
            <a:ext cx="8774095" cy="477054"/>
            <a:chOff x="150985" y="2062772"/>
            <a:chExt cx="8774095" cy="477054"/>
          </a:xfrm>
        </p:grpSpPr>
        <p:grpSp>
          <p:nvGrpSpPr>
            <p:cNvPr id="1610" name="Google Shape;1610;p71"/>
            <p:cNvGrpSpPr/>
            <p:nvPr/>
          </p:nvGrpSpPr>
          <p:grpSpPr>
            <a:xfrm>
              <a:off x="3999291" y="2090947"/>
              <a:ext cx="4925789" cy="439671"/>
              <a:chOff x="3846891" y="2090947"/>
              <a:chExt cx="4925789" cy="439671"/>
            </a:xfrm>
          </p:grpSpPr>
          <p:sp>
            <p:nvSpPr>
              <p:cNvPr id="1611" name="Google Shape;1611;p71"/>
              <p:cNvSpPr/>
              <p:nvPr/>
            </p:nvSpPr>
            <p:spPr>
              <a:xfrm>
                <a:off x="3853543" y="2133773"/>
                <a:ext cx="4919137" cy="384578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1217" extrusionOk="0">
                    <a:moveTo>
                      <a:pt x="6348" y="1216"/>
                    </a:moveTo>
                    <a:lnTo>
                      <a:pt x="399" y="1216"/>
                    </a:lnTo>
                    <a:lnTo>
                      <a:pt x="0" y="0"/>
                    </a:lnTo>
                    <a:lnTo>
                      <a:pt x="6747" y="0"/>
                    </a:lnTo>
                    <a:lnTo>
                      <a:pt x="6348" y="1216"/>
                    </a:lnTo>
                  </a:path>
                </a:pathLst>
              </a:custGeom>
              <a:solidFill>
                <a:srgbClr val="E03A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2" name="Google Shape;1612;p71"/>
              <p:cNvSpPr/>
              <p:nvPr/>
            </p:nvSpPr>
            <p:spPr>
              <a:xfrm>
                <a:off x="3846891" y="2090947"/>
                <a:ext cx="4887806" cy="111279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510" y="640"/>
                      <a:pt x="3374" y="640"/>
                    </a:cubicBezTo>
                    <a:lnTo>
                      <a:pt x="3374" y="640"/>
                    </a:lnTo>
                    <a:cubicBezTo>
                      <a:pt x="5236" y="640"/>
                      <a:pt x="6747" y="497"/>
                      <a:pt x="6747" y="320"/>
                    </a:cubicBezTo>
                    <a:lnTo>
                      <a:pt x="6747" y="320"/>
                    </a:lnTo>
                    <a:cubicBezTo>
                      <a:pt x="6747" y="143"/>
                      <a:pt x="5236" y="0"/>
                      <a:pt x="3374" y="0"/>
                    </a:cubicBezTo>
                    <a:lnTo>
                      <a:pt x="3374" y="0"/>
                    </a:lnTo>
                    <a:cubicBezTo>
                      <a:pt x="1510" y="0"/>
                      <a:pt x="0" y="143"/>
                      <a:pt x="0" y="320"/>
                    </a:cubicBezTo>
                  </a:path>
                </a:pathLst>
              </a:custGeom>
              <a:solidFill>
                <a:srgbClr val="B3211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3" name="Google Shape;1613;p71"/>
              <p:cNvSpPr txBox="1"/>
              <p:nvPr/>
            </p:nvSpPr>
            <p:spPr>
              <a:xfrm>
                <a:off x="4537166" y="2161327"/>
                <a:ext cx="3722914" cy="369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4,033,399 | 14,101 | 142,412</a:t>
                </a:r>
                <a:endParaRPr sz="1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14" name="Google Shape;1614;p71"/>
            <p:cNvSpPr txBox="1"/>
            <p:nvPr/>
          </p:nvSpPr>
          <p:spPr>
            <a:xfrm>
              <a:off x="404824" y="2062772"/>
              <a:ext cx="3557575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 Data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(excluding other types of Diabetes,  RACE=Others)</a:t>
              </a:r>
              <a:endParaRPr sz="13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15" name="Google Shape;1615;p71"/>
            <p:cNvGrpSpPr/>
            <p:nvPr/>
          </p:nvGrpSpPr>
          <p:grpSpPr>
            <a:xfrm>
              <a:off x="150985" y="2151680"/>
              <a:ext cx="171486" cy="151329"/>
              <a:chOff x="7309936" y="117921"/>
              <a:chExt cx="324600" cy="324600"/>
            </a:xfrm>
          </p:grpSpPr>
          <p:sp>
            <p:nvSpPr>
              <p:cNvPr id="1616" name="Google Shape;1616;p71"/>
              <p:cNvSpPr/>
              <p:nvPr/>
            </p:nvSpPr>
            <p:spPr>
              <a:xfrm>
                <a:off x="7309936" y="117921"/>
                <a:ext cx="324600" cy="324600"/>
              </a:xfrm>
              <a:prstGeom prst="ellipse">
                <a:avLst/>
              </a:prstGeom>
              <a:solidFill>
                <a:srgbClr val="E54747"/>
              </a:solidFill>
              <a:ln>
                <a:noFill/>
              </a:ln>
              <a:effectLst>
                <a:outerShdw blurRad="177800" dist="63500" dir="5400000" algn="ctr" rotWithShape="0">
                  <a:srgbClr val="000000">
                    <a:alpha val="2470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7" name="Google Shape;1617;p71"/>
              <p:cNvSpPr/>
              <p:nvPr/>
            </p:nvSpPr>
            <p:spPr>
              <a:xfrm rot="5400000">
                <a:off x="7431029" y="233859"/>
                <a:ext cx="107700" cy="927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618" name="Google Shape;1618;p71"/>
          <p:cNvGrpSpPr/>
          <p:nvPr/>
        </p:nvGrpSpPr>
        <p:grpSpPr>
          <a:xfrm>
            <a:off x="172969" y="1718291"/>
            <a:ext cx="8487832" cy="507900"/>
            <a:chOff x="172969" y="2600034"/>
            <a:chExt cx="8487832" cy="507900"/>
          </a:xfrm>
        </p:grpSpPr>
        <p:grpSp>
          <p:nvGrpSpPr>
            <p:cNvPr id="1619" name="Google Shape;1619;p71"/>
            <p:cNvGrpSpPr/>
            <p:nvPr/>
          </p:nvGrpSpPr>
          <p:grpSpPr>
            <a:xfrm>
              <a:off x="172969" y="2600034"/>
              <a:ext cx="3450325" cy="507900"/>
              <a:chOff x="172969" y="2523834"/>
              <a:chExt cx="3450325" cy="507900"/>
            </a:xfrm>
          </p:grpSpPr>
          <p:sp>
            <p:nvSpPr>
              <p:cNvPr id="1620" name="Google Shape;1620;p71"/>
              <p:cNvSpPr txBox="1"/>
              <p:nvPr/>
            </p:nvSpPr>
            <p:spPr>
              <a:xfrm>
                <a:off x="408794" y="2523834"/>
                <a:ext cx="32145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1" i="0" u="none" strike="noStrike" cap="none">
                    <a:solidFill>
                      <a:srgbClr val="26262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Drop Pre-Diagnosed </a:t>
                </a:r>
                <a:r>
                  <a:rPr lang="en" sz="1500" b="1" i="0" u="none" strike="noStrike" cap="none">
                    <a:solidFill>
                      <a:srgbClr val="26262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" sz="1500" b="0" i="0" u="none" strike="noStrike" cap="none">
                    <a:solidFill>
                      <a:srgbClr val="26262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Earliest_Dx_Date)</a:t>
                </a:r>
                <a:endParaRPr sz="15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1" name="Google Shape;1621;p71"/>
              <p:cNvSpPr/>
              <p:nvPr/>
            </p:nvSpPr>
            <p:spPr>
              <a:xfrm>
                <a:off x="172969" y="2612755"/>
                <a:ext cx="171600" cy="1512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77800" dist="63500" dir="5400000" algn="ctr" rotWithShape="0">
                  <a:srgbClr val="000000">
                    <a:alpha val="2470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2" name="Google Shape;1622;p71"/>
              <p:cNvSpPr/>
              <p:nvPr/>
            </p:nvSpPr>
            <p:spPr>
              <a:xfrm rot="5400000">
                <a:off x="240386" y="2663914"/>
                <a:ext cx="50100" cy="489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23" name="Google Shape;1623;p71"/>
            <p:cNvGrpSpPr/>
            <p:nvPr/>
          </p:nvGrpSpPr>
          <p:grpSpPr>
            <a:xfrm>
              <a:off x="4406200" y="2626516"/>
              <a:ext cx="4254601" cy="395908"/>
              <a:chOff x="461429" y="2397668"/>
              <a:chExt cx="2253735" cy="395908"/>
            </a:xfrm>
          </p:grpSpPr>
          <p:sp>
            <p:nvSpPr>
              <p:cNvPr id="1624" name="Google Shape;1624;p71"/>
              <p:cNvSpPr/>
              <p:nvPr/>
            </p:nvSpPr>
            <p:spPr>
              <a:xfrm>
                <a:off x="461429" y="2463321"/>
                <a:ext cx="2246274" cy="270779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1217" extrusionOk="0">
                    <a:moveTo>
                      <a:pt x="6348" y="1216"/>
                    </a:moveTo>
                    <a:lnTo>
                      <a:pt x="399" y="1216"/>
                    </a:lnTo>
                    <a:lnTo>
                      <a:pt x="0" y="0"/>
                    </a:lnTo>
                    <a:lnTo>
                      <a:pt x="6747" y="0"/>
                    </a:lnTo>
                    <a:lnTo>
                      <a:pt x="6348" y="1216"/>
                    </a:lnTo>
                  </a:path>
                </a:pathLst>
              </a:custGeom>
              <a:solidFill>
                <a:srgbClr val="FFC000"/>
              </a:solidFill>
              <a:ln w="9525" cap="flat" cmpd="sng">
                <a:solidFill>
                  <a:srgbClr val="FF99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5" name="Google Shape;1625;p71"/>
              <p:cNvSpPr/>
              <p:nvPr/>
            </p:nvSpPr>
            <p:spPr>
              <a:xfrm>
                <a:off x="461433" y="2397668"/>
                <a:ext cx="2253731" cy="95892"/>
              </a:xfrm>
              <a:custGeom>
                <a:avLst/>
                <a:gdLst/>
                <a:ahLst/>
                <a:cxnLst/>
                <a:rect l="l" t="t" r="r" b="b"/>
                <a:pathLst>
                  <a:path w="6748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510" y="640"/>
                      <a:pt x="3374" y="640"/>
                    </a:cubicBezTo>
                    <a:lnTo>
                      <a:pt x="3374" y="640"/>
                    </a:lnTo>
                    <a:cubicBezTo>
                      <a:pt x="5236" y="640"/>
                      <a:pt x="6747" y="497"/>
                      <a:pt x="6747" y="320"/>
                    </a:cubicBezTo>
                    <a:lnTo>
                      <a:pt x="6747" y="320"/>
                    </a:lnTo>
                    <a:cubicBezTo>
                      <a:pt x="6747" y="143"/>
                      <a:pt x="5236" y="0"/>
                      <a:pt x="3374" y="0"/>
                    </a:cubicBezTo>
                    <a:lnTo>
                      <a:pt x="3374" y="0"/>
                    </a:lnTo>
                    <a:cubicBezTo>
                      <a:pt x="1510" y="0"/>
                      <a:pt x="0" y="143"/>
                      <a:pt x="0" y="320"/>
                    </a:cubicBezTo>
                  </a:path>
                </a:pathLst>
              </a:custGeom>
              <a:solidFill>
                <a:srgbClr val="DBA5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6" name="Google Shape;1626;p71"/>
              <p:cNvSpPr txBox="1"/>
              <p:nvPr/>
            </p:nvSpPr>
            <p:spPr>
              <a:xfrm>
                <a:off x="800666" y="2431776"/>
                <a:ext cx="1405800" cy="36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50"/>
                  <a:buFont typeface="Arial"/>
                  <a:buNone/>
                </a:pPr>
                <a:r>
                  <a:rPr lang="en" sz="175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3,220,793 | 5,952 |142,412</a:t>
                </a:r>
                <a:endParaRPr sz="17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627" name="Google Shape;1627;p71"/>
          <p:cNvGrpSpPr/>
          <p:nvPr/>
        </p:nvGrpSpPr>
        <p:grpSpPr>
          <a:xfrm>
            <a:off x="151473" y="2337763"/>
            <a:ext cx="8212655" cy="510872"/>
            <a:chOff x="151473" y="3115000"/>
            <a:chExt cx="8212655" cy="510872"/>
          </a:xfrm>
        </p:grpSpPr>
        <p:grpSp>
          <p:nvGrpSpPr>
            <p:cNvPr id="1628" name="Google Shape;1628;p71"/>
            <p:cNvGrpSpPr/>
            <p:nvPr/>
          </p:nvGrpSpPr>
          <p:grpSpPr>
            <a:xfrm>
              <a:off x="4646950" y="3115000"/>
              <a:ext cx="3717178" cy="441725"/>
              <a:chOff x="4494550" y="3115000"/>
              <a:chExt cx="3717178" cy="441725"/>
            </a:xfrm>
          </p:grpSpPr>
          <p:sp>
            <p:nvSpPr>
              <p:cNvPr id="1629" name="Google Shape;1629;p71"/>
              <p:cNvSpPr/>
              <p:nvPr/>
            </p:nvSpPr>
            <p:spPr>
              <a:xfrm>
                <a:off x="4494550" y="3155625"/>
                <a:ext cx="3717178" cy="369301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1222" extrusionOk="0">
                    <a:moveTo>
                      <a:pt x="5516" y="1221"/>
                    </a:moveTo>
                    <a:lnTo>
                      <a:pt x="402" y="1221"/>
                    </a:lnTo>
                    <a:lnTo>
                      <a:pt x="0" y="0"/>
                    </a:lnTo>
                    <a:lnTo>
                      <a:pt x="5916" y="7"/>
                    </a:lnTo>
                    <a:lnTo>
                      <a:pt x="5516" y="1221"/>
                    </a:lnTo>
                  </a:path>
                </a:pathLst>
              </a:custGeom>
              <a:solidFill>
                <a:srgbClr val="77A12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0" name="Google Shape;1630;p71"/>
              <p:cNvSpPr/>
              <p:nvPr/>
            </p:nvSpPr>
            <p:spPr>
              <a:xfrm>
                <a:off x="4494550" y="3115000"/>
                <a:ext cx="3717178" cy="10065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641" extrusionOk="0">
                    <a:moveTo>
                      <a:pt x="0" y="320"/>
                    </a:moveTo>
                    <a:lnTo>
                      <a:pt x="0" y="320"/>
                    </a:lnTo>
                    <a:cubicBezTo>
                      <a:pt x="0" y="497"/>
                      <a:pt x="1324" y="640"/>
                      <a:pt x="2958" y="640"/>
                    </a:cubicBezTo>
                    <a:lnTo>
                      <a:pt x="2958" y="640"/>
                    </a:lnTo>
                    <a:cubicBezTo>
                      <a:pt x="4592" y="640"/>
                      <a:pt x="5916" y="497"/>
                      <a:pt x="5916" y="320"/>
                    </a:cubicBezTo>
                    <a:lnTo>
                      <a:pt x="5916" y="320"/>
                    </a:lnTo>
                    <a:cubicBezTo>
                      <a:pt x="5916" y="143"/>
                      <a:pt x="4592" y="0"/>
                      <a:pt x="2958" y="0"/>
                    </a:cubicBezTo>
                    <a:lnTo>
                      <a:pt x="2958" y="0"/>
                    </a:lnTo>
                    <a:cubicBezTo>
                      <a:pt x="1324" y="0"/>
                      <a:pt x="0" y="143"/>
                      <a:pt x="0" y="320"/>
                    </a:cubicBezTo>
                  </a:path>
                </a:pathLst>
              </a:custGeom>
              <a:solidFill>
                <a:srgbClr val="59781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1" name="Google Shape;1631;p71"/>
              <p:cNvSpPr txBox="1"/>
              <p:nvPr/>
            </p:nvSpPr>
            <p:spPr>
              <a:xfrm>
                <a:off x="5054525" y="3187425"/>
                <a:ext cx="25326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235,727 | 5,847  | 59,566</a:t>
                </a:r>
                <a:endParaRPr sz="1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32" name="Google Shape;1632;p71"/>
            <p:cNvGrpSpPr/>
            <p:nvPr/>
          </p:nvGrpSpPr>
          <p:grpSpPr>
            <a:xfrm>
              <a:off x="151473" y="3215640"/>
              <a:ext cx="171600" cy="151200"/>
              <a:chOff x="3275673" y="3063240"/>
              <a:chExt cx="171600" cy="151200"/>
            </a:xfrm>
          </p:grpSpPr>
          <p:sp>
            <p:nvSpPr>
              <p:cNvPr id="1633" name="Google Shape;1633;p71"/>
              <p:cNvSpPr/>
              <p:nvPr/>
            </p:nvSpPr>
            <p:spPr>
              <a:xfrm>
                <a:off x="3275673" y="3063240"/>
                <a:ext cx="171600" cy="151200"/>
              </a:xfrm>
              <a:prstGeom prst="ellipse">
                <a:avLst/>
              </a:prstGeom>
              <a:solidFill>
                <a:srgbClr val="77A123"/>
              </a:solidFill>
              <a:ln>
                <a:noFill/>
              </a:ln>
              <a:effectLst>
                <a:outerShdw blurRad="177800" dist="63500" dir="5400000" algn="ctr" rotWithShape="0">
                  <a:srgbClr val="000000">
                    <a:alpha val="2470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4" name="Google Shape;1634;p71"/>
              <p:cNvSpPr/>
              <p:nvPr/>
            </p:nvSpPr>
            <p:spPr>
              <a:xfrm rot="5400000">
                <a:off x="3343082" y="3114394"/>
                <a:ext cx="50100" cy="489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35" name="Google Shape;1635;p71"/>
            <p:cNvSpPr txBox="1"/>
            <p:nvPr/>
          </p:nvSpPr>
          <p:spPr>
            <a:xfrm>
              <a:off x="408800" y="3133429"/>
              <a:ext cx="3214500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Drop if &gt;20 Admissions</a:t>
              </a:r>
              <a:r>
                <a:rPr lang="en" sz="14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(already high risk patients)</a:t>
              </a:r>
              <a:endParaRPr sz="14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36" name="Google Shape;1636;p71"/>
          <p:cNvSpPr txBox="1"/>
          <p:nvPr/>
        </p:nvSpPr>
        <p:spPr>
          <a:xfrm>
            <a:off x="30975" y="656925"/>
            <a:ext cx="400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 First Filtration Criteria: </a:t>
            </a:r>
            <a:r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Only consider patients with some notes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7" name="Google Shape;1637;p71"/>
          <p:cNvGrpSpPr/>
          <p:nvPr/>
        </p:nvGrpSpPr>
        <p:grpSpPr>
          <a:xfrm>
            <a:off x="120046" y="4553856"/>
            <a:ext cx="7437310" cy="488379"/>
            <a:chOff x="137463" y="4673600"/>
            <a:chExt cx="7437310" cy="488379"/>
          </a:xfrm>
        </p:grpSpPr>
        <p:sp>
          <p:nvSpPr>
            <p:cNvPr id="1638" name="Google Shape;1638;p71"/>
            <p:cNvSpPr txBox="1"/>
            <p:nvPr/>
          </p:nvSpPr>
          <p:spPr>
            <a:xfrm>
              <a:off x="445417" y="4684925"/>
              <a:ext cx="4261565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LLM + Matched Control sampling</a:t>
              </a:r>
              <a:r>
                <a:rPr lang="en" sz="18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" sz="1300" b="0" i="0" u="none" strike="noStrike" cap="none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(adjusts Earliest_dx_Date)</a:t>
              </a:r>
              <a:endParaRPr sz="13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9" name="Google Shape;1639;p71"/>
            <p:cNvSpPr/>
            <p:nvPr/>
          </p:nvSpPr>
          <p:spPr>
            <a:xfrm>
              <a:off x="137463" y="4773846"/>
              <a:ext cx="169200" cy="151200"/>
            </a:xfrm>
            <a:prstGeom prst="ellipse">
              <a:avLst/>
            </a:prstGeom>
            <a:solidFill>
              <a:srgbClr val="FF9CA1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0" name="Google Shape;1640;p71"/>
            <p:cNvSpPr/>
            <p:nvPr/>
          </p:nvSpPr>
          <p:spPr>
            <a:xfrm rot="5400000">
              <a:off x="203655" y="4825305"/>
              <a:ext cx="50100" cy="483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1" name="Google Shape;1641;p71"/>
            <p:cNvSpPr/>
            <p:nvPr/>
          </p:nvSpPr>
          <p:spPr>
            <a:xfrm>
              <a:off x="5368836" y="4726675"/>
              <a:ext cx="2205937" cy="354000"/>
            </a:xfrm>
            <a:custGeom>
              <a:avLst/>
              <a:gdLst/>
              <a:ahLst/>
              <a:cxnLst/>
              <a:rect l="l" t="t" r="r" b="b"/>
              <a:pathLst>
                <a:path w="4245" h="1223" extrusionOk="0">
                  <a:moveTo>
                    <a:pt x="3843" y="1222"/>
                  </a:moveTo>
                  <a:lnTo>
                    <a:pt x="401" y="1222"/>
                  </a:lnTo>
                  <a:lnTo>
                    <a:pt x="0" y="0"/>
                  </a:lnTo>
                  <a:lnTo>
                    <a:pt x="4244" y="5"/>
                  </a:lnTo>
                  <a:lnTo>
                    <a:pt x="3843" y="1222"/>
                  </a:lnTo>
                </a:path>
              </a:pathLst>
            </a:custGeom>
            <a:solidFill>
              <a:srgbClr val="FECBE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2" name="Google Shape;1642;p71"/>
            <p:cNvSpPr/>
            <p:nvPr/>
          </p:nvSpPr>
          <p:spPr>
            <a:xfrm>
              <a:off x="5368836" y="4673600"/>
              <a:ext cx="2205937" cy="126144"/>
            </a:xfrm>
            <a:custGeom>
              <a:avLst/>
              <a:gdLst/>
              <a:ahLst/>
              <a:cxnLst/>
              <a:rect l="l" t="t" r="r" b="b"/>
              <a:pathLst>
                <a:path w="4245" h="641" extrusionOk="0">
                  <a:moveTo>
                    <a:pt x="0" y="320"/>
                  </a:moveTo>
                  <a:lnTo>
                    <a:pt x="0" y="320"/>
                  </a:lnTo>
                  <a:cubicBezTo>
                    <a:pt x="0" y="497"/>
                    <a:pt x="949" y="640"/>
                    <a:pt x="2121" y="640"/>
                  </a:cubicBezTo>
                  <a:lnTo>
                    <a:pt x="2121" y="640"/>
                  </a:lnTo>
                  <a:cubicBezTo>
                    <a:pt x="3293" y="640"/>
                    <a:pt x="4244" y="497"/>
                    <a:pt x="4244" y="320"/>
                  </a:cubicBezTo>
                  <a:lnTo>
                    <a:pt x="4244" y="320"/>
                  </a:lnTo>
                  <a:cubicBezTo>
                    <a:pt x="4244" y="143"/>
                    <a:pt x="3293" y="0"/>
                    <a:pt x="2121" y="0"/>
                  </a:cubicBezTo>
                  <a:lnTo>
                    <a:pt x="2121" y="0"/>
                  </a:lnTo>
                  <a:cubicBezTo>
                    <a:pt x="949" y="0"/>
                    <a:pt x="0" y="143"/>
                    <a:pt x="0" y="320"/>
                  </a:cubicBezTo>
                </a:path>
              </a:pathLst>
            </a:custGeom>
            <a:solidFill>
              <a:srgbClr val="FF9CA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3" name="Google Shape;1643;p71"/>
            <p:cNvSpPr txBox="1"/>
            <p:nvPr/>
          </p:nvSpPr>
          <p:spPr>
            <a:xfrm>
              <a:off x="5364480" y="4748986"/>
              <a:ext cx="2205937" cy="3539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14,957 | 2,909 | 2,909</a:t>
              </a:r>
              <a:endPara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44" name="Google Shape;1644;p71">
            <a:hlinkClick r:id="rId3" action="ppaction://hlinksldjump"/>
          </p:cNvPr>
          <p:cNvSpPr/>
          <p:nvPr/>
        </p:nvSpPr>
        <p:spPr>
          <a:xfrm>
            <a:off x="8204455" y="178625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36e4999d795_0_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  <p:sp>
        <p:nvSpPr>
          <p:cNvPr id="1700" name="Google Shape;1700;g36e4999d795_0_54"/>
          <p:cNvSpPr txBox="1">
            <a:spLocks noGrp="1"/>
          </p:cNvSpPr>
          <p:nvPr>
            <p:ph type="title"/>
          </p:nvPr>
        </p:nvSpPr>
        <p:spPr>
          <a:xfrm>
            <a:off x="255094" y="400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Part-3 Results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1" name="Google Shape;1701;g36e4999d795_0_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65177"/>
            <a:ext cx="8716489" cy="3745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g36e4999d795_0_54">
            <a:hlinkClick r:id="rId4" action="ppaction://hlinksldjump"/>
          </p:cNvPr>
          <p:cNvSpPr/>
          <p:nvPr/>
        </p:nvSpPr>
        <p:spPr>
          <a:xfrm>
            <a:off x="8204455" y="178625"/>
            <a:ext cx="816600" cy="444600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12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73"/>
          <p:cNvSpPr txBox="1">
            <a:spLocks noGrp="1"/>
          </p:cNvSpPr>
          <p:nvPr>
            <p:ph type="title"/>
          </p:nvPr>
        </p:nvSpPr>
        <p:spPr>
          <a:xfrm>
            <a:off x="176717" y="7491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pic>
        <p:nvPicPr>
          <p:cNvPr id="1672" name="Google Shape;1672;p73"/>
          <p:cNvPicPr preferRelativeResize="0"/>
          <p:nvPr/>
        </p:nvPicPr>
        <p:blipFill rotWithShape="1">
          <a:blip r:embed="rId3">
            <a:alphaModFix/>
          </a:blip>
          <a:srcRect t="41160"/>
          <a:stretch/>
        </p:blipFill>
        <p:spPr>
          <a:xfrm>
            <a:off x="2277292" y="2292883"/>
            <a:ext cx="4478906" cy="217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73"/>
          <p:cNvSpPr txBox="1"/>
          <p:nvPr/>
        </p:nvSpPr>
        <p:spPr>
          <a:xfrm>
            <a:off x="265612" y="4464824"/>
            <a:ext cx="87259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instructing an LLM to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future risk of Type 2 Diabetes with explanation </a:t>
            </a: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patient demographics and sequence of clinical notes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4" name="Google Shape;1674;p73"/>
          <p:cNvPicPr preferRelativeResize="0"/>
          <p:nvPr/>
        </p:nvPicPr>
        <p:blipFill rotWithShape="1">
          <a:blip r:embed="rId3">
            <a:alphaModFix/>
          </a:blip>
          <a:srcRect b="62481"/>
          <a:stretch/>
        </p:blipFill>
        <p:spPr>
          <a:xfrm>
            <a:off x="1658984" y="576564"/>
            <a:ext cx="5589874" cy="1729381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73">
            <a:hlinkClick r:id="rId4" action="ppaction://hlinksldjump"/>
          </p:cNvPr>
          <p:cNvSpPr/>
          <p:nvPr/>
        </p:nvSpPr>
        <p:spPr>
          <a:xfrm>
            <a:off x="8204455" y="178625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74"/>
          <p:cNvSpPr txBox="1">
            <a:spLocks noGrp="1"/>
          </p:cNvSpPr>
          <p:nvPr>
            <p:ph type="title"/>
          </p:nvPr>
        </p:nvSpPr>
        <p:spPr>
          <a:xfrm>
            <a:off x="176717" y="7491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>
                <a:solidFill>
                  <a:srgbClr val="1B786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000" b="1"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60</a:t>
            </a:fld>
            <a:endParaRPr/>
          </a:p>
        </p:txBody>
      </p:sp>
      <p:pic>
        <p:nvPicPr>
          <p:cNvPr id="1682" name="Google Shape;1682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786" y="1380309"/>
            <a:ext cx="6204854" cy="19594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74"/>
          <p:cNvSpPr txBox="1"/>
          <p:nvPr/>
        </p:nvSpPr>
        <p:spPr>
          <a:xfrm>
            <a:off x="535577" y="3501537"/>
            <a:ext cx="826878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Fine-tuned LLM prompt to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future risk of Type 2 Diabetes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patient demographics and sequence of clinical notes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74">
            <a:hlinkClick r:id="rId4" action="ppaction://hlinksldjump"/>
          </p:cNvPr>
          <p:cNvSpPr/>
          <p:nvPr/>
        </p:nvSpPr>
        <p:spPr>
          <a:xfrm>
            <a:off x="8204455" y="178625"/>
            <a:ext cx="816703" cy="444475"/>
          </a:xfrm>
          <a:prstGeom prst="bevel">
            <a:avLst>
              <a:gd name="adj" fmla="val 12500"/>
            </a:avLst>
          </a:prstGeom>
          <a:gradFill>
            <a:gsLst>
              <a:gs pos="0">
                <a:srgbClr val="F3F8FF"/>
              </a:gs>
              <a:gs pos="74000">
                <a:srgbClr val="A8C7FA"/>
              </a:gs>
              <a:gs pos="83000">
                <a:srgbClr val="A8C7FA"/>
              </a:gs>
              <a:gs pos="100000">
                <a:srgbClr val="C5D9FB"/>
              </a:gs>
            </a:gsLst>
            <a:lin ang="5400000" scaled="0"/>
          </a:gradFill>
          <a:ln w="9525" cap="flat" cmpd="sng">
            <a:solidFill>
              <a:srgbClr val="F3F8FF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19050" dir="5400000" algn="bl" rotWithShape="0">
              <a:srgbClr val="000000">
                <a:alpha val="18823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» Back</a:t>
            </a:r>
            <a:endParaRPr sz="1100" b="1" i="0" u="none" strike="noStrike" cap="none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4076</TotalTime>
  <Words>3515</Words>
  <Application>Microsoft Macintosh PowerPoint</Application>
  <PresentationFormat>On-screen Show (16:9)</PresentationFormat>
  <Paragraphs>684</Paragraphs>
  <Slides>60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Calibri</vt:lpstr>
      <vt:lpstr>Noto Sans Symbols</vt:lpstr>
      <vt:lpstr>Cambria Math</vt:lpstr>
      <vt:lpstr>Helvetica Neue</vt:lpstr>
      <vt:lpstr>Times New Roman</vt:lpstr>
      <vt:lpstr>Georgia</vt:lpstr>
      <vt:lpstr>Comic Sans MS</vt:lpstr>
      <vt:lpstr>Quattrocento Sans</vt:lpstr>
      <vt:lpstr>Roboto</vt:lpstr>
      <vt:lpstr>EB Garamond</vt:lpstr>
      <vt:lpstr>Simple Light</vt:lpstr>
      <vt:lpstr>Temporal Reasoning in Clinical Narratives:  From Information Extraction to Early Disease Detection</vt:lpstr>
      <vt:lpstr>PowerPoint Presentation</vt:lpstr>
      <vt:lpstr>PowerPoint Presentation</vt:lpstr>
      <vt:lpstr>PowerPoint Presentation</vt:lpstr>
      <vt:lpstr>PowerPoint Presentation</vt:lpstr>
      <vt:lpstr>Part 1</vt:lpstr>
      <vt:lpstr>UI Health Data  </vt:lpstr>
      <vt:lpstr>Data Filtering: UI Health</vt:lpstr>
      <vt:lpstr>Data Cleaning Prompts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</vt:lpstr>
      <vt:lpstr>Temporal Relation Extraction (TREx)</vt:lpstr>
      <vt:lpstr>Challenges</vt:lpstr>
      <vt:lpstr>Solution: Graph-based Temporal Relation Extraction (GRAPHTREX)</vt:lpstr>
      <vt:lpstr>Heterogeneous Document-Level Graph</vt:lpstr>
      <vt:lpstr>Graph-based Temporal Relation Extraction (GraphTREx)</vt:lpstr>
      <vt:lpstr>Dataset Overview</vt:lpstr>
      <vt:lpstr>Tempeval … evaluation: TLink F1</vt:lpstr>
      <vt:lpstr>Evaluation</vt:lpstr>
      <vt:lpstr>Performance Across Relation Types</vt:lpstr>
      <vt:lpstr>What makes GraphTREx Work: Landmark Nodes</vt:lpstr>
      <vt:lpstr>Performance Across Distant Entities</vt:lpstr>
      <vt:lpstr>Case Study: Temporal Graphs from a Snippet from I2B2 2012</vt:lpstr>
      <vt:lpstr>Key Contributions</vt:lpstr>
      <vt:lpstr>Transfering TREx Models: from I2B2 to UI Health</vt:lpstr>
      <vt:lpstr>Annotation Categories</vt:lpstr>
      <vt:lpstr>Entity/Coreference Annotation Interface</vt:lpstr>
      <vt:lpstr>Timeline Annotation Interface</vt:lpstr>
      <vt:lpstr>Annotation Statistics</vt:lpstr>
      <vt:lpstr>Evaluation</vt:lpstr>
      <vt:lpstr>Part 3</vt:lpstr>
      <vt:lpstr>PowerPoint Presentation</vt:lpstr>
      <vt:lpstr>ReVeAL: Reasoning with Verifier Aided Labeling</vt:lpstr>
      <vt:lpstr>LLM Baselines</vt:lpstr>
      <vt:lpstr>Prompts  </vt:lpstr>
      <vt:lpstr>Dataset Characteristics and Insights</vt:lpstr>
      <vt:lpstr>Model Evaluations</vt:lpstr>
      <vt:lpstr>PowerPoint Presentation</vt:lpstr>
      <vt:lpstr>Publications</vt:lpstr>
      <vt:lpstr>Additional Materials – Parts 1 and 2</vt:lpstr>
      <vt:lpstr>Structured Data: Demographics </vt:lpstr>
      <vt:lpstr>Interpretability Analysis</vt:lpstr>
      <vt:lpstr>Ablation Across Different Encoders</vt:lpstr>
      <vt:lpstr>Additional Materials:  Part 3</vt:lpstr>
      <vt:lpstr>PowerPoint Presentation</vt:lpstr>
      <vt:lpstr>MIMIC-IV Data  </vt:lpstr>
      <vt:lpstr>Data Filtering: MIMIC-IV</vt:lpstr>
      <vt:lpstr>Part-3 Results</vt:lpstr>
      <vt:lpstr>Prompts  </vt:lpstr>
      <vt:lpstr>Prompts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Rochana Chaturvedi</dc:creator>
  <cp:lastModifiedBy>Di Eugenio, Barbara</cp:lastModifiedBy>
  <cp:revision>6</cp:revision>
  <cp:lastPrinted>2026-05-10T01:09:08Z</cp:lastPrinted>
  <dcterms:modified xsi:type="dcterms:W3CDTF">2026-05-11T20:17:20Z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0x010100AFE7145DA9EA0F4FA2D431A2D95C9B42</vt:lpwstr>
  </property>
</Properties>
</file>