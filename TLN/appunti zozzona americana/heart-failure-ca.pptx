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29" r:id="rId1"/>
  </p:sldMasterIdLst>
  <p:notesMasterIdLst>
    <p:notesMasterId r:id="rId26"/>
  </p:notesMasterIdLst>
  <p:sldIdLst>
    <p:sldId id="579" r:id="rId2"/>
    <p:sldId id="583" r:id="rId3"/>
    <p:sldId id="627" r:id="rId4"/>
    <p:sldId id="602" r:id="rId5"/>
    <p:sldId id="603" r:id="rId6"/>
    <p:sldId id="604" r:id="rId7"/>
    <p:sldId id="672" r:id="rId8"/>
    <p:sldId id="669" r:id="rId9"/>
    <p:sldId id="681" r:id="rId10"/>
    <p:sldId id="656" r:id="rId11"/>
    <p:sldId id="657" r:id="rId12"/>
    <p:sldId id="655" r:id="rId13"/>
    <p:sldId id="682" r:id="rId14"/>
    <p:sldId id="658" r:id="rId15"/>
    <p:sldId id="683" r:id="rId16"/>
    <p:sldId id="659" r:id="rId17"/>
    <p:sldId id="684" r:id="rId18"/>
    <p:sldId id="685" r:id="rId19"/>
    <p:sldId id="680" r:id="rId20"/>
    <p:sldId id="686" r:id="rId21"/>
    <p:sldId id="629" r:id="rId22"/>
    <p:sldId id="670" r:id="rId23"/>
    <p:sldId id="675" r:id="rId24"/>
    <p:sldId id="676" r:id="rId25"/>
  </p:sldIdLst>
  <p:sldSz cx="12192000" cy="6858000"/>
  <p:notesSz cx="6858000" cy="9144000"/>
  <p:defaultText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502"/>
    <p:restoredTop sz="96327"/>
  </p:normalViewPr>
  <p:slideViewPr>
    <p:cSldViewPr snapToGrid="0" snapToObjects="1">
      <p:cViewPr varScale="1">
        <p:scale>
          <a:sx n="83" d="100"/>
          <a:sy n="83" d="100"/>
        </p:scale>
        <p:origin x="200" y="1136"/>
      </p:cViewPr>
      <p:guideLst/>
    </p:cSldViewPr>
  </p:slideViewPr>
  <p:notesTextViewPr>
    <p:cViewPr>
      <p:scale>
        <a:sx n="1" d="1"/>
        <a:sy n="1" d="1"/>
      </p:scale>
      <p:origin x="0" y="0"/>
    </p:cViewPr>
  </p:notesTextViewPr>
  <p:sorterViewPr>
    <p:cViewPr>
      <p:scale>
        <a:sx n="95" d="100"/>
        <a:sy n="95" d="100"/>
      </p:scale>
      <p:origin x="0" y="0"/>
    </p:cViewPr>
  </p:sorterViewPr>
  <p:notesViewPr>
    <p:cSldViewPr snapToGrid="0" snapToObjects="1">
      <p:cViewPr varScale="1">
        <p:scale>
          <a:sx n="95" d="100"/>
          <a:sy n="95" d="100"/>
        </p:scale>
        <p:origin x="4008"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5B5603-95FD-2549-91E1-2F0404487A39}" type="datetimeFigureOut">
              <a:rPr lang="en-IT" smtClean="0"/>
              <a:t>14/05/26</a:t>
            </a:fld>
            <a:endParaRPr lang="en-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AE790B-BCBB-D045-8167-9E17F7CFDC9D}" type="slidenum">
              <a:rPr lang="en-IT" smtClean="0"/>
              <a:t>‹#›</a:t>
            </a:fld>
            <a:endParaRPr lang="en-IT"/>
          </a:p>
        </p:txBody>
      </p:sp>
    </p:spTree>
    <p:extLst>
      <p:ext uri="{BB962C8B-B14F-4D97-AF65-F5344CB8AC3E}">
        <p14:creationId xmlns:p14="http://schemas.microsoft.com/office/powerpoint/2010/main" val="32172032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21ED056-C1B6-40ED-A405-D343EDEC2FF0}"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221946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13AE790B-BCBB-D045-8167-9E17F7CFDC9D}" type="slidenum">
              <a:rPr lang="en-IT" smtClean="0"/>
              <a:t>2</a:t>
            </a:fld>
            <a:endParaRPr lang="en-IT"/>
          </a:p>
        </p:txBody>
      </p:sp>
    </p:spTree>
    <p:extLst>
      <p:ext uri="{BB962C8B-B14F-4D97-AF65-F5344CB8AC3E}">
        <p14:creationId xmlns:p14="http://schemas.microsoft.com/office/powerpoint/2010/main" val="2716293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13AE790B-BCBB-D045-8167-9E17F7CFDC9D}" type="slidenum">
              <a:rPr lang="en-IT" smtClean="0"/>
              <a:t>3</a:t>
            </a:fld>
            <a:endParaRPr lang="en-IT"/>
          </a:p>
        </p:txBody>
      </p:sp>
    </p:spTree>
    <p:extLst>
      <p:ext uri="{BB962C8B-B14F-4D97-AF65-F5344CB8AC3E}">
        <p14:creationId xmlns:p14="http://schemas.microsoft.com/office/powerpoint/2010/main" val="4527325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13AE790B-BCBB-D045-8167-9E17F7CFDC9D}" type="slidenum">
              <a:rPr lang="en-IT" smtClean="0"/>
              <a:t>4</a:t>
            </a:fld>
            <a:endParaRPr lang="en-IT"/>
          </a:p>
        </p:txBody>
      </p:sp>
    </p:spTree>
    <p:extLst>
      <p:ext uri="{BB962C8B-B14F-4D97-AF65-F5344CB8AC3E}">
        <p14:creationId xmlns:p14="http://schemas.microsoft.com/office/powerpoint/2010/main" val="2756328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IT" sz="1200" dirty="0"/>
              <a:t>Patient educator: specific figure</a:t>
            </a:r>
          </a:p>
          <a:p>
            <a:r>
              <a:rPr lang="en-IT" dirty="0"/>
              <a:t>18 AA/ 2H – 1AA/1H/1W</a:t>
            </a:r>
          </a:p>
        </p:txBody>
      </p:sp>
      <p:sp>
        <p:nvSpPr>
          <p:cNvPr id="4" name="Slide Number Placeholder 3"/>
          <p:cNvSpPr>
            <a:spLocks noGrp="1"/>
          </p:cNvSpPr>
          <p:nvPr>
            <p:ph type="sldNum" sz="quarter" idx="5"/>
          </p:nvPr>
        </p:nvSpPr>
        <p:spPr/>
        <p:txBody>
          <a:bodyPr/>
          <a:lstStyle/>
          <a:p>
            <a:fld id="{13AE790B-BCBB-D045-8167-9E17F7CFDC9D}" type="slidenum">
              <a:rPr lang="en-IT" smtClean="0"/>
              <a:t>5</a:t>
            </a:fld>
            <a:endParaRPr lang="en-IT"/>
          </a:p>
        </p:txBody>
      </p:sp>
    </p:spTree>
    <p:extLst>
      <p:ext uri="{BB962C8B-B14F-4D97-AF65-F5344CB8AC3E}">
        <p14:creationId xmlns:p14="http://schemas.microsoft.com/office/powerpoint/2010/main" val="36953972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13AE790B-BCBB-D045-8167-9E17F7CFDC9D}" type="slidenum">
              <a:rPr lang="en-IT" smtClean="0"/>
              <a:t>6</a:t>
            </a:fld>
            <a:endParaRPr lang="en-IT"/>
          </a:p>
        </p:txBody>
      </p:sp>
    </p:spTree>
    <p:extLst>
      <p:ext uri="{BB962C8B-B14F-4D97-AF65-F5344CB8AC3E}">
        <p14:creationId xmlns:p14="http://schemas.microsoft.com/office/powerpoint/2010/main" val="19152603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13AE790B-BCBB-D045-8167-9E17F7CFDC9D}" type="slidenum">
              <a:rPr lang="en-IT" smtClean="0"/>
              <a:t>7</a:t>
            </a:fld>
            <a:endParaRPr lang="en-IT"/>
          </a:p>
        </p:txBody>
      </p:sp>
    </p:spTree>
    <p:extLst>
      <p:ext uri="{BB962C8B-B14F-4D97-AF65-F5344CB8AC3E}">
        <p14:creationId xmlns:p14="http://schemas.microsoft.com/office/powerpoint/2010/main" val="14369896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IT" dirty="0"/>
              <a:t>Misaligned: </a:t>
            </a:r>
            <a:r>
              <a:rPr lang="en-GB" i="1" dirty="0"/>
              <a:t>The user provides information unrelated to the system’s query</a:t>
            </a:r>
          </a:p>
          <a:p>
            <a:endParaRPr lang="en-GB" i="1" dirty="0"/>
          </a:p>
          <a:p>
            <a:r>
              <a:rPr lang="en-GB" i="1" dirty="0"/>
              <a:t>Potentially SKIP. – can skip this one and not next. If skip this one, say on next – trained on 87,000K artificial conversations</a:t>
            </a:r>
          </a:p>
          <a:p>
            <a:endParaRPr lang="en-GB" dirty="0"/>
          </a:p>
          <a:p>
            <a:endParaRPr lang="en-IT" dirty="0"/>
          </a:p>
          <a:p>
            <a:endParaRPr lang="en-IT" dirty="0"/>
          </a:p>
        </p:txBody>
      </p:sp>
      <p:sp>
        <p:nvSpPr>
          <p:cNvPr id="4" name="Slide Number Placeholder 3"/>
          <p:cNvSpPr>
            <a:spLocks noGrp="1"/>
          </p:cNvSpPr>
          <p:nvPr>
            <p:ph type="sldNum" sz="quarter" idx="5"/>
          </p:nvPr>
        </p:nvSpPr>
        <p:spPr/>
        <p:txBody>
          <a:bodyPr/>
          <a:lstStyle/>
          <a:p>
            <a:fld id="{13AE790B-BCBB-D045-8167-9E17F7CFDC9D}" type="slidenum">
              <a:rPr lang="en-IT" smtClean="0"/>
              <a:t>8</a:t>
            </a:fld>
            <a:endParaRPr lang="en-IT"/>
          </a:p>
        </p:txBody>
      </p:sp>
    </p:spTree>
    <p:extLst>
      <p:ext uri="{BB962C8B-B14F-4D97-AF65-F5344CB8AC3E}">
        <p14:creationId xmlns:p14="http://schemas.microsoft.com/office/powerpoint/2010/main" val="32645041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sz="1200" kern="0" dirty="0">
                <a:ea typeface="Calibri" panose="020F0502020204030204" pitchFamily="34" charset="0"/>
                <a:cs typeface="`ÎÎ04"/>
              </a:rPr>
              <a:t>D</a:t>
            </a:r>
            <a:r>
              <a:rPr lang="en-GB" sz="1200" kern="0" dirty="0">
                <a:effectLst/>
                <a:ea typeface="Calibri" panose="020F0502020204030204" pitchFamily="34" charset="0"/>
                <a:cs typeface="`ÎÎ04"/>
              </a:rPr>
              <a:t>ataset of 87,000 conversations to train</a:t>
            </a:r>
          </a:p>
          <a:p>
            <a:endParaRPr lang="en-GB" kern="0" dirty="0">
              <a:ea typeface="Calibri" panose="020F0502020204030204" pitchFamily="34" charset="0"/>
              <a:cs typeface="`ÎÎ04"/>
            </a:endParaRPr>
          </a:p>
          <a:p>
            <a:r>
              <a:rPr lang="en-GB" sz="1200" kern="0" dirty="0">
                <a:effectLst/>
                <a:ea typeface="Calibri" panose="020F0502020204030204" pitchFamily="34" charset="0"/>
                <a:cs typeface="`ÎÎ04"/>
              </a:rPr>
              <a:t>Potentially skip </a:t>
            </a:r>
          </a:p>
          <a:p>
            <a:endParaRPr lang="en-GB" sz="1200" kern="0" dirty="0">
              <a:effectLst/>
              <a:ea typeface="Calibri" panose="020F0502020204030204" pitchFamily="34" charset="0"/>
              <a:cs typeface="`ÎÎ04"/>
            </a:endParaRPr>
          </a:p>
          <a:p>
            <a:endParaRPr lang="en-IT" dirty="0"/>
          </a:p>
        </p:txBody>
      </p:sp>
      <p:sp>
        <p:nvSpPr>
          <p:cNvPr id="4" name="Slide Number Placeholder 3"/>
          <p:cNvSpPr>
            <a:spLocks noGrp="1"/>
          </p:cNvSpPr>
          <p:nvPr>
            <p:ph type="sldNum" sz="quarter" idx="5"/>
          </p:nvPr>
        </p:nvSpPr>
        <p:spPr/>
        <p:txBody>
          <a:bodyPr/>
          <a:lstStyle/>
          <a:p>
            <a:fld id="{13AE790B-BCBB-D045-8167-9E17F7CFDC9D}" type="slidenum">
              <a:rPr lang="en-IT" smtClean="0"/>
              <a:t>10</a:t>
            </a:fld>
            <a:endParaRPr lang="en-IT"/>
          </a:p>
        </p:txBody>
      </p:sp>
    </p:spTree>
    <p:extLst>
      <p:ext uri="{BB962C8B-B14F-4D97-AF65-F5344CB8AC3E}">
        <p14:creationId xmlns:p14="http://schemas.microsoft.com/office/powerpoint/2010/main" val="35604220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13AE790B-BCBB-D045-8167-9E17F7CFDC9D}" type="slidenum">
              <a:rPr lang="en-IT" smtClean="0"/>
              <a:t>11</a:t>
            </a:fld>
            <a:endParaRPr lang="en-IT"/>
          </a:p>
        </p:txBody>
      </p:sp>
    </p:spTree>
    <p:extLst>
      <p:ext uri="{BB962C8B-B14F-4D97-AF65-F5344CB8AC3E}">
        <p14:creationId xmlns:p14="http://schemas.microsoft.com/office/powerpoint/2010/main" val="37025641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13AE790B-BCBB-D045-8167-9E17F7CFDC9D}" type="slidenum">
              <a:rPr lang="en-IT" smtClean="0"/>
              <a:t>12</a:t>
            </a:fld>
            <a:endParaRPr lang="en-IT"/>
          </a:p>
        </p:txBody>
      </p:sp>
    </p:spTree>
    <p:extLst>
      <p:ext uri="{BB962C8B-B14F-4D97-AF65-F5344CB8AC3E}">
        <p14:creationId xmlns:p14="http://schemas.microsoft.com/office/powerpoint/2010/main" val="4595531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13AE790B-BCBB-D045-8167-9E17F7CFDC9D}" type="slidenum">
              <a:rPr lang="en-IT" smtClean="0"/>
              <a:t>14</a:t>
            </a:fld>
            <a:endParaRPr lang="en-IT"/>
          </a:p>
        </p:txBody>
      </p:sp>
    </p:spTree>
    <p:extLst>
      <p:ext uri="{BB962C8B-B14F-4D97-AF65-F5344CB8AC3E}">
        <p14:creationId xmlns:p14="http://schemas.microsoft.com/office/powerpoint/2010/main" val="42358235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13AE790B-BCBB-D045-8167-9E17F7CFDC9D}" type="slidenum">
              <a:rPr lang="en-IT" smtClean="0"/>
              <a:t>16</a:t>
            </a:fld>
            <a:endParaRPr lang="en-IT"/>
          </a:p>
        </p:txBody>
      </p:sp>
    </p:spTree>
    <p:extLst>
      <p:ext uri="{BB962C8B-B14F-4D97-AF65-F5344CB8AC3E}">
        <p14:creationId xmlns:p14="http://schemas.microsoft.com/office/powerpoint/2010/main" val="13679378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(AI summary) </a:t>
            </a:r>
          </a:p>
          <a:p>
            <a:endParaRPr lang="en-GB" dirty="0"/>
          </a:p>
          <a:p>
            <a:r>
              <a:rPr lang="en-GB" dirty="0"/>
              <a:t>The Flesch-Kincaid Grade Level (FKGL) and the Simple Measure of Gobbledygook (SMOG) are both readability formulas used to estimate the U.S. school grade level required for a reader to understand a text</a:t>
            </a:r>
          </a:p>
          <a:p>
            <a:r>
              <a:rPr lang="en-GB" dirty="0"/>
              <a:t>. While both are common in assessing health information, they differ in their metrics, focus, and strictness. </a:t>
            </a:r>
          </a:p>
          <a:p>
            <a:r>
              <a:rPr lang="en-GB" b="1" dirty="0"/>
              <a:t>Key Differences:</a:t>
            </a:r>
            <a:endParaRPr lang="en-GB" dirty="0"/>
          </a:p>
          <a:p>
            <a:r>
              <a:rPr lang="en-GB" b="1" dirty="0"/>
              <a:t>Metric Focus:</a:t>
            </a:r>
            <a:r>
              <a:rPr lang="en-GB" dirty="0"/>
              <a:t> FKGL measures average sentence length and average syllables per word. SMOG focuses on the percentage of words with three or more syllables (polysyllabic words).</a:t>
            </a:r>
          </a:p>
          <a:p>
            <a:r>
              <a:rPr lang="en-GB" b="1" dirty="0"/>
              <a:t>Sensitivity:</a:t>
            </a:r>
            <a:r>
              <a:rPr lang="en-GB" dirty="0"/>
              <a:t> SMOG is generally considered more accurate for health applications as it correlates with 100% comprehension, whereas FKGL is broader.</a:t>
            </a:r>
          </a:p>
          <a:p>
            <a:r>
              <a:rPr lang="en-GB" b="1" dirty="0"/>
              <a:t>Scoring Tendencies:</a:t>
            </a:r>
            <a:r>
              <a:rPr lang="en-GB" dirty="0"/>
              <a:t> SMOG often yields a higher grade level (i.e., indicates the text is harder to read) than FKGL, frequently by 2–3 grades.</a:t>
            </a:r>
          </a:p>
          <a:p>
            <a:r>
              <a:rPr lang="en-GB" b="1" dirty="0"/>
              <a:t>Recommended Use:</a:t>
            </a:r>
            <a:r>
              <a:rPr lang="en-GB" dirty="0"/>
              <a:t> While FKGL is widely used, SMOG is preferred for healthcare materials because it ensures higher readability standards (100% comprehension). </a:t>
            </a:r>
          </a:p>
          <a:p>
            <a:endParaRPr lang="en-IT" dirty="0"/>
          </a:p>
        </p:txBody>
      </p:sp>
      <p:sp>
        <p:nvSpPr>
          <p:cNvPr id="4" name="Slide Number Placeholder 3"/>
          <p:cNvSpPr>
            <a:spLocks noGrp="1"/>
          </p:cNvSpPr>
          <p:nvPr>
            <p:ph type="sldNum" sz="quarter" idx="5"/>
          </p:nvPr>
        </p:nvSpPr>
        <p:spPr/>
        <p:txBody>
          <a:bodyPr/>
          <a:lstStyle/>
          <a:p>
            <a:fld id="{13AE790B-BCBB-D045-8167-9E17F7CFDC9D}" type="slidenum">
              <a:rPr lang="en-IT" smtClean="0"/>
              <a:t>19</a:t>
            </a:fld>
            <a:endParaRPr lang="en-IT"/>
          </a:p>
        </p:txBody>
      </p:sp>
    </p:spTree>
    <p:extLst>
      <p:ext uri="{BB962C8B-B14F-4D97-AF65-F5344CB8AC3E}">
        <p14:creationId xmlns:p14="http://schemas.microsoft.com/office/powerpoint/2010/main" val="18578909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73585-B05F-72BE-8BF9-2467444897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130192-0307-85D0-AE62-F159B7CD60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98C69E-8DE9-3A40-0186-B4F071DC1907}"/>
              </a:ext>
            </a:extLst>
          </p:cNvPr>
          <p:cNvSpPr>
            <a:spLocks noGrp="1"/>
          </p:cNvSpPr>
          <p:nvPr>
            <p:ph type="body" idx="1"/>
          </p:nvPr>
        </p:nvSpPr>
        <p:spPr/>
        <p:txBody>
          <a:bodyPr/>
          <a:lstStyle/>
          <a:p>
            <a:r>
              <a:rPr lang="en-GB" dirty="0"/>
              <a:t>(AI summary) </a:t>
            </a:r>
          </a:p>
          <a:p>
            <a:endParaRPr lang="en-GB" dirty="0"/>
          </a:p>
          <a:p>
            <a:r>
              <a:rPr lang="en-GB" dirty="0"/>
              <a:t>The Flesch-Kincaid Grade Level (FKGL) and the Simple Measure of Gobbledygook (SMOG) are both readability formulas used to estimate the U.S. school grade level required for a reader to understand a text</a:t>
            </a:r>
          </a:p>
          <a:p>
            <a:r>
              <a:rPr lang="en-GB" dirty="0"/>
              <a:t>. While both are common in assessing health information, they differ in their metrics, focus, and strictness. </a:t>
            </a:r>
          </a:p>
          <a:p>
            <a:r>
              <a:rPr lang="en-GB" b="1" dirty="0"/>
              <a:t>Key Differences:</a:t>
            </a:r>
            <a:endParaRPr lang="en-GB" dirty="0"/>
          </a:p>
          <a:p>
            <a:r>
              <a:rPr lang="en-GB" b="1" dirty="0"/>
              <a:t>Metric Focus:</a:t>
            </a:r>
            <a:r>
              <a:rPr lang="en-GB" dirty="0"/>
              <a:t> FKGL measures average sentence length and average syllables per word. SMOG focuses on the percentage of words with three or more syllables (polysyllabic words).</a:t>
            </a:r>
          </a:p>
          <a:p>
            <a:r>
              <a:rPr lang="en-GB" b="1" dirty="0"/>
              <a:t>Sensitivity:</a:t>
            </a:r>
            <a:r>
              <a:rPr lang="en-GB" dirty="0"/>
              <a:t> SMOG is generally considered more accurate for health applications as it correlates with 100% comprehension, whereas FKGL is broader.</a:t>
            </a:r>
          </a:p>
          <a:p>
            <a:r>
              <a:rPr lang="en-GB" b="1" dirty="0"/>
              <a:t>Scoring Tendencies:</a:t>
            </a:r>
            <a:r>
              <a:rPr lang="en-GB" dirty="0"/>
              <a:t> SMOG often yields a higher grade level (i.e., indicates the text is harder to read) than FKGL, frequently by 2–3 grades.</a:t>
            </a:r>
          </a:p>
          <a:p>
            <a:r>
              <a:rPr lang="en-GB" b="1" dirty="0"/>
              <a:t>Recommended Use:</a:t>
            </a:r>
            <a:r>
              <a:rPr lang="en-GB" dirty="0"/>
              <a:t> While FKGL is widely used, SMOG is preferred for healthcare materials because it ensures higher readability standards (100% comprehension). </a:t>
            </a:r>
          </a:p>
          <a:p>
            <a:endParaRPr lang="en-IT" dirty="0"/>
          </a:p>
        </p:txBody>
      </p:sp>
      <p:sp>
        <p:nvSpPr>
          <p:cNvPr id="4" name="Slide Number Placeholder 3">
            <a:extLst>
              <a:ext uri="{FF2B5EF4-FFF2-40B4-BE49-F238E27FC236}">
                <a16:creationId xmlns:a16="http://schemas.microsoft.com/office/drawing/2014/main" id="{A641E7B1-16B3-1E5F-E122-2F5DD4942564}"/>
              </a:ext>
            </a:extLst>
          </p:cNvPr>
          <p:cNvSpPr>
            <a:spLocks noGrp="1"/>
          </p:cNvSpPr>
          <p:nvPr>
            <p:ph type="sldNum" sz="quarter" idx="5"/>
          </p:nvPr>
        </p:nvSpPr>
        <p:spPr/>
        <p:txBody>
          <a:bodyPr/>
          <a:lstStyle/>
          <a:p>
            <a:fld id="{13AE790B-BCBB-D045-8167-9E17F7CFDC9D}" type="slidenum">
              <a:rPr lang="en-IT" smtClean="0"/>
              <a:t>20</a:t>
            </a:fld>
            <a:endParaRPr lang="en-IT"/>
          </a:p>
        </p:txBody>
      </p:sp>
    </p:spTree>
    <p:extLst>
      <p:ext uri="{BB962C8B-B14F-4D97-AF65-F5344CB8AC3E}">
        <p14:creationId xmlns:p14="http://schemas.microsoft.com/office/powerpoint/2010/main" val="17655591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13AE790B-BCBB-D045-8167-9E17F7CFDC9D}" type="slidenum">
              <a:rPr lang="en-IT" smtClean="0"/>
              <a:t>21</a:t>
            </a:fld>
            <a:endParaRPr lang="en-IT"/>
          </a:p>
        </p:txBody>
      </p:sp>
    </p:spTree>
    <p:extLst>
      <p:ext uri="{BB962C8B-B14F-4D97-AF65-F5344CB8AC3E}">
        <p14:creationId xmlns:p14="http://schemas.microsoft.com/office/powerpoint/2010/main" val="24425349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13AE790B-BCBB-D045-8167-9E17F7CFDC9D}" type="slidenum">
              <a:rPr lang="en-IT" smtClean="0"/>
              <a:t>22</a:t>
            </a:fld>
            <a:endParaRPr lang="en-IT"/>
          </a:p>
        </p:txBody>
      </p:sp>
    </p:spTree>
    <p:extLst>
      <p:ext uri="{BB962C8B-B14F-4D97-AF65-F5344CB8AC3E}">
        <p14:creationId xmlns:p14="http://schemas.microsoft.com/office/powerpoint/2010/main" val="42758324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8"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T" sz="1800"/>
          </a:p>
        </p:txBody>
      </p:sp>
      <p:sp>
        <p:nvSpPr>
          <p:cNvPr id="8" name="Rectangle 7"/>
          <p:cNvSpPr/>
          <p:nvPr/>
        </p:nvSpPr>
        <p:spPr>
          <a:xfrm>
            <a:off x="18"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T" sz="1800"/>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A0DBFF4-F0B8-6B49-AE20-16B50D0FD8F0}" type="datetime1">
              <a:rPr lang="it-IT" smtClean="0"/>
              <a:t>14/05/26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8979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65FA2E-D182-054E-BA6E-E578A21B5BBE}" type="datetime1">
              <a:rPr lang="it-IT" smtClean="0"/>
              <a:t>14/05/26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extLst>
      <p:ext uri="{BB962C8B-B14F-4D97-AF65-F5344CB8AC3E}">
        <p14:creationId xmlns:p14="http://schemas.microsoft.com/office/powerpoint/2010/main" val="3515165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8"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8"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FFE742-D922-6842-BF54-51983F93DFBF}" type="datetime1">
              <a:rPr lang="it-IT" smtClean="0"/>
              <a:t>14/05/26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8040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7"/>
            <a:ext cx="10058400" cy="1450757"/>
          </a:xfrm>
        </p:spPr>
        <p:txBody>
          <a:bodyPr/>
          <a:lstStyle/>
          <a:p>
            <a:r>
              <a:rPr lang="en-US" dirty="0"/>
              <a:t>Click to edit Master title style</a:t>
            </a:r>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493304-2AC2-2348-9439-C1904DF26387}" type="datetime1">
              <a:rPr lang="it-IT" smtClean="0"/>
              <a:t>14/05/26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552244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7"/>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01B0573-8349-D84D-9100-74C897D9B083}" type="datetime1">
              <a:rPr lang="it-IT" smtClean="0"/>
              <a:t>14/05/26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636114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2C3B72B-DCFA-E04A-8285-49B3C784CF22}" type="datetime1">
              <a:rPr lang="it-IT" smtClean="0"/>
              <a:t>14/05/26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900768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8"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T" sz="1800"/>
          </a:p>
        </p:txBody>
      </p:sp>
      <p:sp>
        <p:nvSpPr>
          <p:cNvPr id="6" name="Rectangle 5"/>
          <p:cNvSpPr/>
          <p:nvPr/>
        </p:nvSpPr>
        <p:spPr>
          <a:xfrm>
            <a:off x="18"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T" sz="1800"/>
          </a:p>
        </p:txBody>
      </p:sp>
      <p:sp>
        <p:nvSpPr>
          <p:cNvPr id="7" name="Date Placeholder 6"/>
          <p:cNvSpPr>
            <a:spLocks noGrp="1"/>
          </p:cNvSpPr>
          <p:nvPr>
            <p:ph type="dt" sz="half" idx="10"/>
          </p:nvPr>
        </p:nvSpPr>
        <p:spPr/>
        <p:txBody>
          <a:bodyPr/>
          <a:lstStyle/>
          <a:p>
            <a:fld id="{3FAD7A0D-3B45-3548-B3C2-4D25743133C0}" type="datetime1">
              <a:rPr lang="it-IT" smtClean="0"/>
              <a:t>14/05/26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2170593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9"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27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465514" y="6459789"/>
            <a:ext cx="2618511" cy="365125"/>
          </a:xfrm>
        </p:spPr>
        <p:txBody>
          <a:bodyPr/>
          <a:lstStyle>
            <a:lvl1pPr algn="l">
              <a:defRPr/>
            </a:lvl1pPr>
          </a:lstStyle>
          <a:p>
            <a:fld id="{10188FEF-4EF5-A948-8679-5CD36180D72C}" type="datetime1">
              <a:rPr lang="it-IT" smtClean="0"/>
              <a:t>14/05/26</a:t>
            </a:fld>
            <a:endParaRPr lang="en-US" dirty="0"/>
          </a:p>
        </p:txBody>
      </p:sp>
      <p:sp>
        <p:nvSpPr>
          <p:cNvPr id="6" name="Footer Placeholder 5"/>
          <p:cNvSpPr>
            <a:spLocks noGrp="1"/>
          </p:cNvSpPr>
          <p:nvPr>
            <p:ph type="ftr" sz="quarter" idx="11"/>
          </p:nvPr>
        </p:nvSpPr>
        <p:spPr>
          <a:xfrm>
            <a:off x="4800600" y="6459789"/>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836087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2"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8"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27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8" y="0"/>
            <a:ext cx="12191985" cy="4915076"/>
          </a:xfrm>
          <a:blipFill>
            <a:blip r:embed="rId2"/>
            <a:stretch>
              <a:fillRect/>
            </a:stretch>
          </a:blipFill>
        </p:spPr>
        <p:txBody>
          <a:bodyPr lIns="457200" tIns="457200" anchor="t"/>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450"/>
              </a:spcAft>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7F5D0A7-D26E-FB43-882F-A17ACE3D75A8}" type="datetime1">
              <a:rPr lang="it-IT" smtClean="0"/>
              <a:t>14/05/26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648243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7D5C97-DBE8-FF46-AE96-6ADFD7D41704}" type="datetime1">
              <a:rPr lang="it-IT" smtClean="0"/>
              <a:t>14/05/26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41299018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8"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8"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2" y="414781"/>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2"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9D3734-51B0-A54B-8FA5-32A1E75B0CC3}" type="datetime1">
              <a:rPr lang="it-IT" smtClean="0"/>
              <a:t>14/05/26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650876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T" sz="1800"/>
          </a:p>
        </p:txBody>
      </p:sp>
      <p:sp>
        <p:nvSpPr>
          <p:cNvPr id="9" name="Rectangle 8"/>
          <p:cNvSpPr/>
          <p:nvPr/>
        </p:nvSpPr>
        <p:spPr>
          <a:xfrm>
            <a:off x="2"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T" sz="1800"/>
          </a:p>
        </p:txBody>
      </p:sp>
      <p:sp>
        <p:nvSpPr>
          <p:cNvPr id="2" name="Title Placeholder 1"/>
          <p:cNvSpPr>
            <a:spLocks noGrp="1"/>
          </p:cNvSpPr>
          <p:nvPr>
            <p:ph type="title"/>
          </p:nvPr>
        </p:nvSpPr>
        <p:spPr>
          <a:xfrm>
            <a:off x="1097280" y="286607"/>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3" y="6459789"/>
            <a:ext cx="2472271" cy="365125"/>
          </a:xfrm>
          <a:prstGeom prst="rect">
            <a:avLst/>
          </a:prstGeom>
        </p:spPr>
        <p:txBody>
          <a:bodyPr vert="horz" lIns="91440" tIns="45720" rIns="91440" bIns="45720" rtlCol="0" anchor="ctr"/>
          <a:lstStyle>
            <a:lvl1pPr algn="l">
              <a:defRPr sz="675">
                <a:solidFill>
                  <a:srgbClr val="FFFFFF"/>
                </a:solidFill>
              </a:defRPr>
            </a:lvl1pPr>
          </a:lstStyle>
          <a:p>
            <a:fld id="{3EBE14A6-C720-8046-A44B-2454921CA463}" type="datetime1">
              <a:rPr lang="it-IT" smtClean="0"/>
              <a:t>14/05/26</a:t>
            </a:fld>
            <a:endParaRPr lang="en-US" dirty="0"/>
          </a:p>
        </p:txBody>
      </p:sp>
      <p:sp>
        <p:nvSpPr>
          <p:cNvPr id="5" name="Footer Placeholder 4"/>
          <p:cNvSpPr>
            <a:spLocks noGrp="1"/>
          </p:cNvSpPr>
          <p:nvPr>
            <p:ph type="ftr" sz="quarter" idx="3"/>
          </p:nvPr>
        </p:nvSpPr>
        <p:spPr>
          <a:xfrm>
            <a:off x="3686186" y="6459789"/>
            <a:ext cx="4822804" cy="365125"/>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61" y="6459789"/>
            <a:ext cx="1312025" cy="365125"/>
          </a:xfrm>
          <a:prstGeom prst="rect">
            <a:avLst/>
          </a:prstGeom>
        </p:spPr>
        <p:txBody>
          <a:bodyPr vert="horz" lIns="91440" tIns="45720" rIns="91440" bIns="45720" rtlCol="0" anchor="ctr"/>
          <a:lstStyle>
            <a:lvl1pPr algn="r">
              <a:defRPr sz="788">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1861906"/>
      </p:ext>
    </p:extLst>
  </p:cSld>
  <p:clrMap bg1="lt1" tx1="dk1" bg2="lt2" tx2="dk2" accent1="accent1" accent2="accent2" accent3="accent3" accent4="accent4" accent5="accent5" accent6="accent6" hlink="hlink" folHlink="folHlink"/>
  <p:sldLayoutIdLst>
    <p:sldLayoutId id="2147484030" r:id="rId1"/>
    <p:sldLayoutId id="2147484031" r:id="rId2"/>
    <p:sldLayoutId id="2147484032" r:id="rId3"/>
    <p:sldLayoutId id="2147484033" r:id="rId4"/>
    <p:sldLayoutId id="2147484034" r:id="rId5"/>
    <p:sldLayoutId id="2147484035" r:id="rId6"/>
    <p:sldLayoutId id="2147484036" r:id="rId7"/>
    <p:sldLayoutId id="2147484037" r:id="rId8"/>
    <p:sldLayoutId id="2147484038" r:id="rId9"/>
    <p:sldLayoutId id="2147484039" r:id="rId10"/>
    <p:sldLayoutId id="2147484040" r:id="rId11"/>
  </p:sldLayoutIdLst>
  <p:hf hdr="0" ftr="0" dt="0"/>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jpeg"/><Relationship Id="rId11" Type="http://schemas.openxmlformats.org/officeDocument/2006/relationships/image" Target="../media/image3.PNG"/><Relationship Id="rId5" Type="http://schemas.openxmlformats.org/officeDocument/2006/relationships/image" Target="../media/image6.jpeg"/><Relationship Id="rId10" Type="http://schemas.openxmlformats.org/officeDocument/2006/relationships/image" Target="../media/image11.jpeg"/><Relationship Id="rId4" Type="http://schemas.openxmlformats.org/officeDocument/2006/relationships/image" Target="../media/image5.jpe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dialogflow.cloud.google.com/"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4.jpe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38740" y="1679715"/>
            <a:ext cx="8607286" cy="2393523"/>
          </a:xfrm>
        </p:spPr>
        <p:txBody>
          <a:bodyPr>
            <a:normAutofit fontScale="90000"/>
          </a:bodyPr>
          <a:lstStyle/>
          <a:p>
            <a:pPr algn="ct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br>
              <a:rPr lang="en-US" sz="3300" b="1" dirty="0">
                <a:solidFill>
                  <a:schemeClr val="bg2">
                    <a:lumMod val="50000"/>
                  </a:schemeClr>
                </a:solidFill>
              </a:rPr>
            </a:br>
            <a:r>
              <a:rPr lang="en-GB" sz="4900" b="1" dirty="0">
                <a:solidFill>
                  <a:srgbClr val="00B0F0"/>
                </a:solidFill>
                <a:latin typeface="+mn-lt"/>
              </a:rPr>
              <a:t>Engaging the Patient in Healthcare:</a:t>
            </a:r>
            <a:br>
              <a:rPr lang="en-GB" sz="4900" b="1" dirty="0">
                <a:solidFill>
                  <a:srgbClr val="00B0F0"/>
                </a:solidFill>
                <a:latin typeface="+mn-lt"/>
              </a:rPr>
            </a:br>
            <a:r>
              <a:rPr lang="en-GB" sz="4900" b="1" dirty="0">
                <a:solidFill>
                  <a:srgbClr val="00B0F0"/>
                </a:solidFill>
                <a:latin typeface="+mn-lt"/>
              </a:rPr>
              <a:t>Conversational Assistants  </a:t>
            </a:r>
            <a:br>
              <a:rPr lang="en-GB" sz="4900" b="1" dirty="0">
                <a:solidFill>
                  <a:srgbClr val="00B0F0"/>
                </a:solidFill>
                <a:latin typeface="+mn-lt"/>
              </a:rPr>
            </a:br>
            <a:r>
              <a:rPr lang="en-GB" sz="4900" b="1" dirty="0">
                <a:solidFill>
                  <a:srgbClr val="00B0F0"/>
                </a:solidFill>
                <a:latin typeface="+mn-lt"/>
              </a:rPr>
              <a:t>in the era of LLMs</a:t>
            </a:r>
            <a:br>
              <a:rPr lang="en-US" sz="4900" b="1" dirty="0">
                <a:solidFill>
                  <a:srgbClr val="00B0F0"/>
                </a:solidFill>
                <a:highlight>
                  <a:srgbClr val="00FFFF"/>
                </a:highlight>
                <a:latin typeface="+mn-lt"/>
              </a:rPr>
            </a:br>
            <a:endParaRPr lang="en-US" sz="4900" b="1" dirty="0">
              <a:solidFill>
                <a:srgbClr val="00B0F0"/>
              </a:solidFill>
              <a:highlight>
                <a:srgbClr val="00FFFF"/>
              </a:highlight>
              <a:latin typeface="+mn-lt"/>
            </a:endParaRPr>
          </a:p>
        </p:txBody>
      </p:sp>
      <p:sp>
        <p:nvSpPr>
          <p:cNvPr id="3" name="Subtitle 2"/>
          <p:cNvSpPr>
            <a:spLocks noGrp="1"/>
          </p:cNvSpPr>
          <p:nvPr>
            <p:ph type="subTitle" idx="1"/>
          </p:nvPr>
        </p:nvSpPr>
        <p:spPr>
          <a:xfrm>
            <a:off x="1194954" y="4417749"/>
            <a:ext cx="10235046" cy="1979503"/>
          </a:xfrm>
        </p:spPr>
        <p:txBody>
          <a:bodyPr>
            <a:noAutofit/>
          </a:bodyPr>
          <a:lstStyle/>
          <a:p>
            <a:pPr algn="ctr">
              <a:lnSpc>
                <a:spcPct val="80000"/>
              </a:lnSpc>
            </a:pPr>
            <a:r>
              <a:rPr lang="en-US" sz="3200" dirty="0"/>
              <a:t>Barbara Di Eugenio</a:t>
            </a:r>
          </a:p>
          <a:p>
            <a:pPr algn="ctr">
              <a:lnSpc>
                <a:spcPct val="80000"/>
              </a:lnSpc>
            </a:pPr>
            <a:r>
              <a:rPr lang="en-US" sz="3200" b="1" dirty="0"/>
              <a:t>University of Illinois Chicago </a:t>
            </a:r>
            <a:endParaRPr lang="en-US" sz="3200" dirty="0">
              <a:cs typeface="Calibri Light"/>
            </a:endParaRPr>
          </a:p>
          <a:p>
            <a:pPr algn="ctr">
              <a:lnSpc>
                <a:spcPct val="80000"/>
              </a:lnSpc>
            </a:pPr>
            <a:r>
              <a:rPr lang="en-US" sz="3200" dirty="0"/>
              <a:t>Chicago, IL, USA</a:t>
            </a:r>
          </a:p>
          <a:p>
            <a:pPr algn="ctr">
              <a:lnSpc>
                <a:spcPct val="80000"/>
              </a:lnSpc>
            </a:pPr>
            <a:r>
              <a:rPr lang="en-US" dirty="0"/>
              <a:t> </a:t>
            </a:r>
            <a:endParaRPr lang="en-US" dirty="0">
              <a:cs typeface="Calibri Light"/>
            </a:endParaRPr>
          </a:p>
          <a:p>
            <a:pPr algn="ctr"/>
            <a:endParaRPr lang="en-US" b="1" dirty="0"/>
          </a:p>
        </p:txBody>
      </p:sp>
      <p:sp>
        <p:nvSpPr>
          <p:cNvPr id="4" name="Slide Number Placeholder 3">
            <a:extLst>
              <a:ext uri="{FF2B5EF4-FFF2-40B4-BE49-F238E27FC236}">
                <a16:creationId xmlns:a16="http://schemas.microsoft.com/office/drawing/2014/main" id="{A07283CB-C69A-24BA-9847-54D81A354EAA}"/>
              </a:ext>
            </a:extLst>
          </p:cNvPr>
          <p:cNvSpPr>
            <a:spLocks noGrp="1"/>
          </p:cNvSpPr>
          <p:nvPr>
            <p:ph type="sldNum" sz="quarter" idx="12"/>
          </p:nvPr>
        </p:nvSpPr>
        <p:spPr>
          <a:noFill/>
        </p:spPr>
        <p:txBody>
          <a:bodyPr/>
          <a:lstStyle/>
          <a:p>
            <a:r>
              <a:rPr lang="en-US" dirty="0"/>
              <a:t>1</a:t>
            </a:r>
          </a:p>
          <a:p>
            <a:endParaRPr lang="en-US" dirty="0"/>
          </a:p>
        </p:txBody>
      </p:sp>
      <p:pic>
        <p:nvPicPr>
          <p:cNvPr id="7" name="Graphic 6">
            <a:extLst>
              <a:ext uri="{FF2B5EF4-FFF2-40B4-BE49-F238E27FC236}">
                <a16:creationId xmlns:a16="http://schemas.microsoft.com/office/drawing/2014/main" id="{88D3A28D-3EFD-443A-6EC5-CDD6A2ED7C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3747" y="5711100"/>
            <a:ext cx="2102413" cy="577133"/>
          </a:xfrm>
          <a:prstGeom prst="rect">
            <a:avLst/>
          </a:prstGeom>
        </p:spPr>
      </p:pic>
    </p:spTree>
    <p:extLst>
      <p:ext uri="{BB962C8B-B14F-4D97-AF65-F5344CB8AC3E}">
        <p14:creationId xmlns:p14="http://schemas.microsoft.com/office/powerpoint/2010/main" val="379319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A2D3F-B2C1-9F4E-934B-E2D225A6313A}"/>
              </a:ext>
            </a:extLst>
          </p:cNvPr>
          <p:cNvSpPr>
            <a:spLocks noGrp="1"/>
          </p:cNvSpPr>
          <p:nvPr>
            <p:ph type="title"/>
          </p:nvPr>
        </p:nvSpPr>
        <p:spPr/>
        <p:txBody>
          <a:bodyPr>
            <a:normAutofit/>
          </a:bodyPr>
          <a:lstStyle/>
          <a:p>
            <a:pPr algn="ctr"/>
            <a:r>
              <a:rPr lang="en-US" sz="4000" b="1" dirty="0">
                <a:solidFill>
                  <a:srgbClr val="00B0F0"/>
                </a:solidFill>
              </a:rPr>
              <a:t>Challenges Incarnated</a:t>
            </a:r>
            <a:br>
              <a:rPr lang="en-US" dirty="0">
                <a:solidFill>
                  <a:srgbClr val="0070C0"/>
                </a:solidFill>
              </a:rPr>
            </a:br>
            <a:endParaRPr lang="en-US" dirty="0">
              <a:solidFill>
                <a:schemeClr val="tx1"/>
              </a:solidFill>
            </a:endParaRPr>
          </a:p>
        </p:txBody>
      </p:sp>
      <p:sp>
        <p:nvSpPr>
          <p:cNvPr id="3" name="Content Placeholder 2">
            <a:extLst>
              <a:ext uri="{FF2B5EF4-FFF2-40B4-BE49-F238E27FC236}">
                <a16:creationId xmlns:a16="http://schemas.microsoft.com/office/drawing/2014/main" id="{A93769DD-9F58-B54C-B3DB-7C978474AE3B}"/>
              </a:ext>
            </a:extLst>
          </p:cNvPr>
          <p:cNvSpPr>
            <a:spLocks noGrp="1"/>
          </p:cNvSpPr>
          <p:nvPr>
            <p:ph idx="1"/>
          </p:nvPr>
        </p:nvSpPr>
        <p:spPr>
          <a:xfrm>
            <a:off x="1097280" y="1845734"/>
            <a:ext cx="10558809" cy="4396040"/>
          </a:xfrm>
        </p:spPr>
        <p:txBody>
          <a:bodyPr>
            <a:normAutofit/>
          </a:bodyPr>
          <a:lstStyle/>
          <a:p>
            <a:pPr>
              <a:buFont typeface="Wingdings" pitchFamily="2" charset="2"/>
              <a:buChar char="v"/>
            </a:pPr>
            <a:r>
              <a:rPr lang="en-US" sz="3600" u="sng" dirty="0">
                <a:solidFill>
                  <a:srgbClr val="00B0F0"/>
                </a:solidFill>
              </a:rPr>
              <a:t>Virtual Health Coach:</a:t>
            </a:r>
            <a:r>
              <a:rPr lang="en-US" sz="3600" dirty="0">
                <a:solidFill>
                  <a:srgbClr val="00B0F0"/>
                </a:solidFill>
              </a:rPr>
              <a:t> </a:t>
            </a:r>
            <a:r>
              <a:rPr lang="en-US" sz="3600" dirty="0"/>
              <a:t>support patients (and human   </a:t>
            </a:r>
          </a:p>
          <a:p>
            <a:pPr marL="0" indent="0">
              <a:buNone/>
            </a:pPr>
            <a:r>
              <a:rPr lang="en-US" sz="3600" dirty="0"/>
              <a:t>      coaches) in adopting SMART goals via </a:t>
            </a:r>
            <a:r>
              <a:rPr lang="en-US" sz="3600" dirty="0">
                <a:solidFill>
                  <a:schemeClr val="accent1"/>
                </a:solidFill>
              </a:rPr>
              <a:t>SMS exchanges</a:t>
            </a:r>
          </a:p>
          <a:p>
            <a:pPr>
              <a:buFont typeface="Wingdings" pitchFamily="2" charset="2"/>
              <a:buChar char="v"/>
            </a:pPr>
            <a:r>
              <a:rPr lang="en-US" sz="3600" u="sng" dirty="0" err="1">
                <a:solidFill>
                  <a:srgbClr val="00B0F0"/>
                </a:solidFill>
                <a:highlight>
                  <a:srgbClr val="FFFF00"/>
                </a:highlight>
              </a:rPr>
              <a:t>HFChat</a:t>
            </a:r>
            <a:r>
              <a:rPr lang="en-US" sz="3600" u="sng" dirty="0">
                <a:solidFill>
                  <a:srgbClr val="00B0F0"/>
                </a:solidFill>
                <a:highlight>
                  <a:srgbClr val="FFFF00"/>
                </a:highlight>
              </a:rPr>
              <a:t>:</a:t>
            </a:r>
            <a:r>
              <a:rPr lang="en-US" sz="3600" dirty="0">
                <a:solidFill>
                  <a:srgbClr val="00B0F0"/>
                </a:solidFill>
                <a:highlight>
                  <a:srgbClr val="FFFF00"/>
                </a:highlight>
              </a:rPr>
              <a:t> </a:t>
            </a:r>
            <a:r>
              <a:rPr lang="en-US" sz="3600" dirty="0">
                <a:solidFill>
                  <a:schemeClr val="accent1"/>
                </a:solidFill>
                <a:highlight>
                  <a:srgbClr val="FFFF00"/>
                </a:highlight>
              </a:rPr>
              <a:t>conversational agent </a:t>
            </a:r>
            <a:r>
              <a:rPr lang="en-US" sz="3600" dirty="0">
                <a:highlight>
                  <a:srgbClr val="FFFF00"/>
                </a:highlight>
              </a:rPr>
              <a:t>for Heart Failure patient </a:t>
            </a:r>
          </a:p>
          <a:p>
            <a:pPr marL="0" indent="0">
              <a:buNone/>
            </a:pPr>
            <a:r>
              <a:rPr lang="en-US" sz="3600" dirty="0">
                <a:highlight>
                  <a:srgbClr val="FFFF00"/>
                </a:highlight>
              </a:rPr>
              <a:t>       education</a:t>
            </a:r>
          </a:p>
          <a:p>
            <a:pPr marL="0" indent="0">
              <a:buNone/>
            </a:pPr>
            <a:endParaRPr lang="en-US" sz="3600" dirty="0"/>
          </a:p>
          <a:p>
            <a:endParaRPr lang="en-US" dirty="0"/>
          </a:p>
        </p:txBody>
      </p:sp>
      <p:sp>
        <p:nvSpPr>
          <p:cNvPr id="4" name="Slide Number Placeholder 3">
            <a:extLst>
              <a:ext uri="{FF2B5EF4-FFF2-40B4-BE49-F238E27FC236}">
                <a16:creationId xmlns:a16="http://schemas.microsoft.com/office/drawing/2014/main" id="{E20BA73D-9023-6B4D-871F-F636453F54D3}"/>
              </a:ext>
            </a:extLst>
          </p:cNvPr>
          <p:cNvSpPr>
            <a:spLocks noGrp="1"/>
          </p:cNvSpPr>
          <p:nvPr>
            <p:ph type="sldNum" sz="quarter" idx="12"/>
          </p:nvPr>
        </p:nvSpPr>
        <p:spPr/>
        <p:txBody>
          <a:bodyPr/>
          <a:lstStyle/>
          <a:p>
            <a:pPr>
              <a:defRPr/>
            </a:pPr>
            <a:fld id="{6113E31D-E2AB-40D1-8B51-AFA5AFEF393A}" type="slidenum">
              <a:rPr lang="en-US">
                <a:latin typeface="Calibri"/>
              </a:rPr>
              <a:pPr>
                <a:defRPr/>
              </a:pPr>
              <a:t>2</a:t>
            </a:fld>
            <a:endParaRPr lang="en-US" dirty="0">
              <a:latin typeface="Calibri"/>
            </a:endParaRPr>
          </a:p>
        </p:txBody>
      </p:sp>
      <p:pic>
        <p:nvPicPr>
          <p:cNvPr id="9" name="Picture 8" descr="A red circle with black text&#10;&#10;Description automatically generated">
            <a:extLst>
              <a:ext uri="{FF2B5EF4-FFF2-40B4-BE49-F238E27FC236}">
                <a16:creationId xmlns:a16="http://schemas.microsoft.com/office/drawing/2014/main" id="{113E8B2C-2DB5-5915-E56C-819BC25CE2E7}"/>
              </a:ext>
            </a:extLst>
          </p:cNvPr>
          <p:cNvPicPr>
            <a:picLocks noChangeAspect="1"/>
          </p:cNvPicPr>
          <p:nvPr/>
        </p:nvPicPr>
        <p:blipFill>
          <a:blip r:embed="rId3"/>
          <a:stretch>
            <a:fillRect/>
          </a:stretch>
        </p:blipFill>
        <p:spPr>
          <a:xfrm>
            <a:off x="-199423" y="5625073"/>
            <a:ext cx="1126180" cy="1136822"/>
          </a:xfrm>
          <a:prstGeom prst="rect">
            <a:avLst/>
          </a:prstGeom>
        </p:spPr>
      </p:pic>
    </p:spTree>
    <p:extLst>
      <p:ext uri="{BB962C8B-B14F-4D97-AF65-F5344CB8AC3E}">
        <p14:creationId xmlns:p14="http://schemas.microsoft.com/office/powerpoint/2010/main" val="2119679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53A21-4513-A9AB-8E99-04C2E803BB9D}"/>
              </a:ext>
            </a:extLst>
          </p:cNvPr>
          <p:cNvSpPr>
            <a:spLocks noGrp="1"/>
          </p:cNvSpPr>
          <p:nvPr>
            <p:ph type="title"/>
          </p:nvPr>
        </p:nvSpPr>
        <p:spPr/>
        <p:txBody>
          <a:bodyPr>
            <a:normAutofit fontScale="90000"/>
          </a:bodyPr>
          <a:lstStyle/>
          <a:p>
            <a:pPr algn="ctr"/>
            <a:br>
              <a:rPr lang="en-IT" sz="4000" b="1" dirty="0">
                <a:solidFill>
                  <a:srgbClr val="00B0F0"/>
                </a:solidFill>
                <a:latin typeface="+mn-lt"/>
              </a:rPr>
            </a:br>
            <a:br>
              <a:rPr lang="en-IT" sz="4000" b="1" dirty="0">
                <a:solidFill>
                  <a:srgbClr val="00B0F0"/>
                </a:solidFill>
                <a:latin typeface="+mn-lt"/>
              </a:rPr>
            </a:br>
            <a:r>
              <a:rPr lang="en-IT" sz="4000" b="1" dirty="0">
                <a:solidFill>
                  <a:srgbClr val="00B0F0"/>
                </a:solidFill>
                <a:latin typeface="+mn-lt"/>
              </a:rPr>
              <a:t>HFChat</a:t>
            </a:r>
            <a:br>
              <a:rPr lang="en-IT" sz="4000" b="1" dirty="0">
                <a:solidFill>
                  <a:srgbClr val="00B0F0"/>
                </a:solidFill>
                <a:latin typeface="+mn-lt"/>
              </a:rPr>
            </a:br>
            <a:r>
              <a:rPr lang="en-IT" sz="3100" b="1" dirty="0">
                <a:solidFill>
                  <a:srgbClr val="00B0F0"/>
                </a:solidFill>
                <a:latin typeface="+mn-lt"/>
              </a:rPr>
              <a:t>DPI Seed award, National Science Foundation 2232307</a:t>
            </a:r>
            <a:br>
              <a:rPr lang="en-IT" sz="3100" b="1" dirty="0">
                <a:solidFill>
                  <a:srgbClr val="00B0F0"/>
                </a:solidFill>
                <a:latin typeface="+mn-lt"/>
              </a:rPr>
            </a:br>
            <a:r>
              <a:rPr lang="en-IT" sz="3100" b="1" dirty="0">
                <a:solidFill>
                  <a:srgbClr val="00B0F0"/>
                </a:solidFill>
                <a:latin typeface="+mn-lt"/>
              </a:rPr>
              <a:t>(2022-2025)</a:t>
            </a:r>
            <a:endParaRPr lang="en-IT" dirty="0">
              <a:solidFill>
                <a:srgbClr val="00B0F0"/>
              </a:solidFill>
            </a:endParaRPr>
          </a:p>
        </p:txBody>
      </p:sp>
      <p:sp>
        <p:nvSpPr>
          <p:cNvPr id="3" name="Content Placeholder 2">
            <a:extLst>
              <a:ext uri="{FF2B5EF4-FFF2-40B4-BE49-F238E27FC236}">
                <a16:creationId xmlns:a16="http://schemas.microsoft.com/office/drawing/2014/main" id="{808E84FF-0C51-F65D-536C-D8F89F792EA1}"/>
              </a:ext>
            </a:extLst>
          </p:cNvPr>
          <p:cNvSpPr>
            <a:spLocks noGrp="1"/>
          </p:cNvSpPr>
          <p:nvPr>
            <p:ph idx="1"/>
          </p:nvPr>
        </p:nvSpPr>
        <p:spPr>
          <a:xfrm>
            <a:off x="465207" y="1767771"/>
            <a:ext cx="5695950" cy="1137831"/>
          </a:xfrm>
        </p:spPr>
        <p:txBody>
          <a:bodyPr>
            <a:normAutofit/>
          </a:bodyPr>
          <a:lstStyle/>
          <a:p>
            <a:pPr marL="0" indent="0">
              <a:buNone/>
            </a:pPr>
            <a:r>
              <a:rPr lang="en-US" sz="2400" dirty="0">
                <a:solidFill>
                  <a:schemeClr val="tx2">
                    <a:lumMod val="75000"/>
                  </a:schemeClr>
                </a:solidFill>
              </a:rPr>
              <a:t>5 Collaborators – 4 colleges</a:t>
            </a:r>
          </a:p>
          <a:p>
            <a:pPr marL="0" indent="0">
              <a:buNone/>
            </a:pPr>
            <a:endParaRPr lang="sv-SE" sz="2400" b="1" dirty="0">
              <a:solidFill>
                <a:schemeClr val="tx1"/>
              </a:solidFill>
            </a:endParaRPr>
          </a:p>
          <a:p>
            <a:pPr marL="0" indent="0">
              <a:buNone/>
            </a:pPr>
            <a:endParaRPr lang="sv-SE" sz="1600" b="1" dirty="0">
              <a:solidFill>
                <a:schemeClr val="tx1"/>
              </a:solidFill>
            </a:endParaRPr>
          </a:p>
          <a:p>
            <a:pPr marL="0" indent="0">
              <a:buNone/>
            </a:pPr>
            <a:endParaRPr lang="en-US" sz="1600" dirty="0">
              <a:solidFill>
                <a:schemeClr val="tx2">
                  <a:lumMod val="75000"/>
                </a:schemeClr>
              </a:solidFill>
            </a:endParaRPr>
          </a:p>
        </p:txBody>
      </p:sp>
      <p:sp>
        <p:nvSpPr>
          <p:cNvPr id="4" name="Slide Number Placeholder 3">
            <a:extLst>
              <a:ext uri="{FF2B5EF4-FFF2-40B4-BE49-F238E27FC236}">
                <a16:creationId xmlns:a16="http://schemas.microsoft.com/office/drawing/2014/main" id="{99A82E47-8ACD-1670-F647-DE075EDB2F83}"/>
              </a:ext>
            </a:extLst>
          </p:cNvPr>
          <p:cNvSpPr>
            <a:spLocks noGrp="1"/>
          </p:cNvSpPr>
          <p:nvPr>
            <p:ph type="sldNum" sz="quarter" idx="12"/>
          </p:nvPr>
        </p:nvSpPr>
        <p:spPr/>
        <p:txBody>
          <a:bodyPr/>
          <a:lstStyle/>
          <a:p>
            <a:fld id="{6113E31D-E2AB-40D1-8B51-AFA5AFEF393A}" type="slidenum">
              <a:rPr lang="en-US" smtClean="0"/>
              <a:t>3</a:t>
            </a:fld>
            <a:endParaRPr lang="en-US" dirty="0"/>
          </a:p>
        </p:txBody>
      </p:sp>
      <p:pic>
        <p:nvPicPr>
          <p:cNvPr id="8194" name="Picture 2" descr="Photo of Boyd, M.D., Andrew">
            <a:extLst>
              <a:ext uri="{FF2B5EF4-FFF2-40B4-BE49-F238E27FC236}">
                <a16:creationId xmlns:a16="http://schemas.microsoft.com/office/drawing/2014/main" id="{89B7473F-7727-E462-527E-AD0B4FBEAC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3187" y="4060906"/>
            <a:ext cx="1373019" cy="164242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Photo of Dickens, Carolyn">
            <a:extLst>
              <a:ext uri="{FF2B5EF4-FFF2-40B4-BE49-F238E27FC236}">
                <a16:creationId xmlns:a16="http://schemas.microsoft.com/office/drawing/2014/main" id="{379F875B-5B47-75B0-937D-DE135609328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329" r="-1" b="26884"/>
          <a:stretch/>
        </p:blipFill>
        <p:spPr bwMode="auto">
          <a:xfrm>
            <a:off x="313784" y="2199027"/>
            <a:ext cx="1689093" cy="145045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BBFF3323-2AFE-29C1-4055-B25C887833BD}"/>
              </a:ext>
            </a:extLst>
          </p:cNvPr>
          <p:cNvSpPr txBox="1"/>
          <p:nvPr/>
        </p:nvSpPr>
        <p:spPr>
          <a:xfrm>
            <a:off x="6778968" y="1737364"/>
            <a:ext cx="2063706" cy="461665"/>
          </a:xfrm>
          <a:prstGeom prst="rect">
            <a:avLst/>
          </a:prstGeom>
          <a:noFill/>
        </p:spPr>
        <p:txBody>
          <a:bodyPr wrap="none" rtlCol="0">
            <a:spAutoFit/>
          </a:bodyPr>
          <a:lstStyle/>
          <a:p>
            <a:r>
              <a:rPr lang="en-IT" sz="2400" dirty="0"/>
              <a:t>3 Phd Students</a:t>
            </a:r>
          </a:p>
        </p:txBody>
      </p:sp>
      <p:sp>
        <p:nvSpPr>
          <p:cNvPr id="8" name="AutoShape 2" descr="Photo of Paula Allen-Meares PhD">
            <a:extLst>
              <a:ext uri="{FF2B5EF4-FFF2-40B4-BE49-F238E27FC236}">
                <a16:creationId xmlns:a16="http://schemas.microsoft.com/office/drawing/2014/main" id="{32E70472-2B01-33F0-11AC-E45376670EA4}"/>
              </a:ext>
            </a:extLst>
          </p:cNvPr>
          <p:cNvSpPr>
            <a:spLocks noChangeAspect="1" noChangeArrowheads="1"/>
          </p:cNvSpPr>
          <p:nvPr/>
        </p:nvSpPr>
        <p:spPr bwMode="auto">
          <a:xfrm>
            <a:off x="3238500" y="571500"/>
            <a:ext cx="5715000" cy="5715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T"/>
          </a:p>
        </p:txBody>
      </p:sp>
      <p:pic>
        <p:nvPicPr>
          <p:cNvPr id="9226" name="Picture 10" descr="Anuja Tayal">
            <a:extLst>
              <a:ext uri="{FF2B5EF4-FFF2-40B4-BE49-F238E27FC236}">
                <a16:creationId xmlns:a16="http://schemas.microsoft.com/office/drawing/2014/main" id="{BC79B660-0A09-EBB1-D9FE-A76495D09FD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58411" y="2325253"/>
            <a:ext cx="1450758" cy="1450758"/>
          </a:xfrm>
          <a:prstGeom prst="rect">
            <a:avLst/>
          </a:prstGeom>
          <a:noFill/>
          <a:extLst>
            <a:ext uri="{909E8E84-426E-40DD-AFC4-6F175D3DCCD1}">
              <a14:hiddenFill xmlns:a14="http://schemas.microsoft.com/office/drawing/2010/main">
                <a:solidFill>
                  <a:srgbClr val="FFFFFF"/>
                </a:solidFill>
              </a14:hiddenFill>
            </a:ext>
          </a:extLst>
        </p:spPr>
      </p:pic>
      <p:pic>
        <p:nvPicPr>
          <p:cNvPr id="9228" name="Picture 12" descr="Paula Allen-Meares, PhD - American Academy of Social Work ...">
            <a:extLst>
              <a:ext uri="{FF2B5EF4-FFF2-40B4-BE49-F238E27FC236}">
                <a16:creationId xmlns:a16="http://schemas.microsoft.com/office/drawing/2014/main" id="{C5408993-1BE7-2A98-6809-47983858FF9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42806" y="2301755"/>
            <a:ext cx="1863232" cy="1455575"/>
          </a:xfrm>
          <a:prstGeom prst="rect">
            <a:avLst/>
          </a:prstGeom>
          <a:noFill/>
          <a:extLst>
            <a:ext uri="{909E8E84-426E-40DD-AFC4-6F175D3DCCD1}">
              <a14:hiddenFill xmlns:a14="http://schemas.microsoft.com/office/drawing/2010/main">
                <a:solidFill>
                  <a:srgbClr val="FFFFFF"/>
                </a:solidFill>
              </a14:hiddenFill>
            </a:ext>
          </a:extLst>
        </p:spPr>
      </p:pic>
      <p:pic>
        <p:nvPicPr>
          <p:cNvPr id="9230" name="Picture 14" descr="Olga  Garcia-Bedoya - Internal Medicine">
            <a:extLst>
              <a:ext uri="{FF2B5EF4-FFF2-40B4-BE49-F238E27FC236}">
                <a16:creationId xmlns:a16="http://schemas.microsoft.com/office/drawing/2014/main" id="{2210AAEA-CD19-4816-CF66-F1330F68EFF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19594" y="2822181"/>
            <a:ext cx="1341678" cy="1829600"/>
          </a:xfrm>
          <a:prstGeom prst="rect">
            <a:avLst/>
          </a:prstGeom>
          <a:noFill/>
          <a:extLst>
            <a:ext uri="{909E8E84-426E-40DD-AFC4-6F175D3DCCD1}">
              <a14:hiddenFill xmlns:a14="http://schemas.microsoft.com/office/drawing/2010/main">
                <a:solidFill>
                  <a:srgbClr val="FFFFFF"/>
                </a:solidFill>
              </a14:hiddenFill>
            </a:ext>
          </a:extLst>
        </p:spPr>
      </p:pic>
      <p:pic>
        <p:nvPicPr>
          <p:cNvPr id="9232" name="Picture 16" descr="Photo of Abril, Eulàlia P.">
            <a:extLst>
              <a:ext uri="{FF2B5EF4-FFF2-40B4-BE49-F238E27FC236}">
                <a16:creationId xmlns:a16="http://schemas.microsoft.com/office/drawing/2014/main" id="{60445FE9-3D03-85EE-3B34-C25966F8B1F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4859" y="3971222"/>
            <a:ext cx="1466942" cy="1681844"/>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9A54B3D6-6F7A-15EC-7C5E-33474897D1F9}"/>
              </a:ext>
            </a:extLst>
          </p:cNvPr>
          <p:cNvPicPr>
            <a:picLocks noChangeAspect="1"/>
          </p:cNvPicPr>
          <p:nvPr/>
        </p:nvPicPr>
        <p:blipFill>
          <a:blip r:embed="rId9"/>
          <a:stretch>
            <a:fillRect/>
          </a:stretch>
        </p:blipFill>
        <p:spPr>
          <a:xfrm>
            <a:off x="8472900" y="2325253"/>
            <a:ext cx="1697246" cy="1450758"/>
          </a:xfrm>
          <a:prstGeom prst="rect">
            <a:avLst/>
          </a:prstGeom>
        </p:spPr>
      </p:pic>
      <p:pic>
        <p:nvPicPr>
          <p:cNvPr id="19" name="Picture 18">
            <a:extLst>
              <a:ext uri="{FF2B5EF4-FFF2-40B4-BE49-F238E27FC236}">
                <a16:creationId xmlns:a16="http://schemas.microsoft.com/office/drawing/2014/main" id="{2767B724-A097-9B42-999E-685D195E22FA}"/>
              </a:ext>
            </a:extLst>
          </p:cNvPr>
          <p:cNvPicPr>
            <a:picLocks noChangeAspect="1"/>
          </p:cNvPicPr>
          <p:nvPr/>
        </p:nvPicPr>
        <p:blipFill>
          <a:blip r:embed="rId10"/>
          <a:stretch>
            <a:fillRect/>
          </a:stretch>
        </p:blipFill>
        <p:spPr>
          <a:xfrm>
            <a:off x="7177836" y="4060906"/>
            <a:ext cx="1829600" cy="1829600"/>
          </a:xfrm>
          <a:prstGeom prst="rect">
            <a:avLst/>
          </a:prstGeom>
        </p:spPr>
      </p:pic>
      <p:pic>
        <p:nvPicPr>
          <p:cNvPr id="6" name="Picture 5" descr="A red circle with black text&#10;&#10;Description automatically generated">
            <a:extLst>
              <a:ext uri="{FF2B5EF4-FFF2-40B4-BE49-F238E27FC236}">
                <a16:creationId xmlns:a16="http://schemas.microsoft.com/office/drawing/2014/main" id="{32DD9BFC-5C59-F456-CD8C-F048BE9944D7}"/>
              </a:ext>
            </a:extLst>
          </p:cNvPr>
          <p:cNvPicPr>
            <a:picLocks noChangeAspect="1"/>
          </p:cNvPicPr>
          <p:nvPr/>
        </p:nvPicPr>
        <p:blipFill>
          <a:blip r:embed="rId11"/>
          <a:stretch>
            <a:fillRect/>
          </a:stretch>
        </p:blipFill>
        <p:spPr>
          <a:xfrm>
            <a:off x="-199423" y="5625073"/>
            <a:ext cx="1126180" cy="1136822"/>
          </a:xfrm>
          <a:prstGeom prst="rect">
            <a:avLst/>
          </a:prstGeom>
        </p:spPr>
      </p:pic>
    </p:spTree>
    <p:extLst>
      <p:ext uri="{BB962C8B-B14F-4D97-AF65-F5344CB8AC3E}">
        <p14:creationId xmlns:p14="http://schemas.microsoft.com/office/powerpoint/2010/main" val="2983135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6B75F-1D0A-6F75-D4C7-723BDE3707CA}"/>
              </a:ext>
            </a:extLst>
          </p:cNvPr>
          <p:cNvSpPr>
            <a:spLocks noGrp="1"/>
          </p:cNvSpPr>
          <p:nvPr>
            <p:ph type="title"/>
          </p:nvPr>
        </p:nvSpPr>
        <p:spPr/>
        <p:txBody>
          <a:bodyPr>
            <a:normAutofit fontScale="90000"/>
          </a:bodyPr>
          <a:lstStyle/>
          <a:p>
            <a:r>
              <a:rPr lang="en-US" b="1" dirty="0" err="1">
                <a:solidFill>
                  <a:srgbClr val="00B0F0"/>
                </a:solidFill>
                <a:latin typeface="+mn-lt"/>
              </a:rPr>
              <a:t>HFChat</a:t>
            </a:r>
            <a:r>
              <a:rPr lang="en-US" b="1" dirty="0">
                <a:solidFill>
                  <a:srgbClr val="00B0F0"/>
                </a:solidFill>
                <a:latin typeface="+mn-lt"/>
              </a:rPr>
              <a:t>: </a:t>
            </a:r>
            <a:r>
              <a:rPr lang="en-GB" b="1" dirty="0">
                <a:solidFill>
                  <a:srgbClr val="00B0F0"/>
                </a:solidFill>
                <a:effectLst/>
                <a:latin typeface="+mn-lt"/>
              </a:rPr>
              <a:t>Conversational agent for African American patients with heart failure (HF)</a:t>
            </a:r>
            <a:br>
              <a:rPr lang="en-GB" b="1" dirty="0">
                <a:solidFill>
                  <a:srgbClr val="00B0F0"/>
                </a:solidFill>
                <a:effectLst/>
                <a:latin typeface="+mn-lt"/>
              </a:rPr>
            </a:br>
            <a:endParaRPr lang="en-IT" b="1" dirty="0">
              <a:solidFill>
                <a:srgbClr val="00B0F0"/>
              </a:solidFill>
              <a:latin typeface="+mn-lt"/>
            </a:endParaRPr>
          </a:p>
        </p:txBody>
      </p:sp>
      <p:sp>
        <p:nvSpPr>
          <p:cNvPr id="11" name="Content Placeholder 10">
            <a:extLst>
              <a:ext uri="{FF2B5EF4-FFF2-40B4-BE49-F238E27FC236}">
                <a16:creationId xmlns:a16="http://schemas.microsoft.com/office/drawing/2014/main" id="{7C5D5170-4F6E-72FE-EED3-F949B6A80F82}"/>
              </a:ext>
            </a:extLst>
          </p:cNvPr>
          <p:cNvSpPr>
            <a:spLocks noGrp="1"/>
          </p:cNvSpPr>
          <p:nvPr>
            <p:ph idx="1"/>
          </p:nvPr>
        </p:nvSpPr>
        <p:spPr>
          <a:xfrm>
            <a:off x="1097280" y="1845734"/>
            <a:ext cx="10495280" cy="4229946"/>
          </a:xfrm>
        </p:spPr>
        <p:txBody>
          <a:bodyPr>
            <a:normAutofit fontScale="25000" lnSpcReduction="20000"/>
          </a:bodyPr>
          <a:lstStyle/>
          <a:p>
            <a:pPr marL="0" indent="0">
              <a:lnSpc>
                <a:spcPct val="120000"/>
              </a:lnSpc>
              <a:buNone/>
            </a:pPr>
            <a:r>
              <a:rPr lang="en-GB" sz="9600" dirty="0">
                <a:solidFill>
                  <a:schemeClr val="accent1"/>
                </a:solidFill>
              </a:rPr>
              <a:t>Hypothesis: </a:t>
            </a:r>
            <a:r>
              <a:rPr lang="en-GB" sz="9600" dirty="0"/>
              <a:t>African-American (AA) patients who have access to </a:t>
            </a:r>
            <a:r>
              <a:rPr lang="en-GB" sz="9600" dirty="0">
                <a:solidFill>
                  <a:schemeClr val="accent1"/>
                </a:solidFill>
              </a:rPr>
              <a:t>culturally competent </a:t>
            </a:r>
            <a:r>
              <a:rPr lang="en-GB" sz="9600" dirty="0"/>
              <a:t>health care information will make better informed self-care choices</a:t>
            </a:r>
          </a:p>
          <a:p>
            <a:pPr marL="0" indent="0">
              <a:buNone/>
            </a:pPr>
            <a:endParaRPr lang="en-GB" sz="9600" dirty="0">
              <a:solidFill>
                <a:schemeClr val="accent1"/>
              </a:solidFill>
            </a:endParaRPr>
          </a:p>
          <a:p>
            <a:pPr marL="0" indent="0">
              <a:buNone/>
            </a:pPr>
            <a:r>
              <a:rPr lang="en-GB" sz="9600" dirty="0">
                <a:solidFill>
                  <a:schemeClr val="accent1"/>
                </a:solidFill>
              </a:rPr>
              <a:t>Goals:</a:t>
            </a:r>
          </a:p>
          <a:p>
            <a:pPr marL="733806" lvl="1" indent="-514350">
              <a:lnSpc>
                <a:spcPct val="120000"/>
              </a:lnSpc>
              <a:buFont typeface="+mj-lt"/>
              <a:buAutoNum type="arabicPeriod"/>
            </a:pPr>
            <a:r>
              <a:rPr lang="en-GB" sz="9600" dirty="0"/>
              <a:t>Uncover self-care concerns of AA patients with HF </a:t>
            </a:r>
          </a:p>
          <a:p>
            <a:pPr marL="733806" lvl="1" indent="-514350">
              <a:lnSpc>
                <a:spcPct val="120000"/>
              </a:lnSpc>
              <a:buFont typeface="+mj-lt"/>
              <a:buAutoNum type="arabicPeriod"/>
            </a:pPr>
            <a:r>
              <a:rPr lang="en-GB" sz="9600" dirty="0"/>
              <a:t>Explore neuro-symbolic approaches to dialogue agents</a:t>
            </a:r>
          </a:p>
          <a:p>
            <a:pPr marL="733806" lvl="1" indent="-514350">
              <a:lnSpc>
                <a:spcPct val="120000"/>
              </a:lnSpc>
              <a:buFont typeface="+mj-lt"/>
              <a:buAutoNum type="arabicPeriod"/>
            </a:pPr>
            <a:r>
              <a:rPr lang="en-GB" sz="9600" dirty="0"/>
              <a:t>Evaluate  LLMs and take advantage of them if appropriate</a:t>
            </a:r>
          </a:p>
          <a:p>
            <a:pPr marL="0" indent="0">
              <a:buNone/>
            </a:pPr>
            <a:endParaRPr lang="en-GB" sz="9600" dirty="0"/>
          </a:p>
          <a:p>
            <a:pPr marL="0" indent="0">
              <a:buNone/>
            </a:pPr>
            <a:r>
              <a:rPr lang="en-GB" sz="9600" dirty="0">
                <a:solidFill>
                  <a:schemeClr val="accent1"/>
                </a:solidFill>
              </a:rPr>
              <a:t>Challenge:</a:t>
            </a:r>
            <a:r>
              <a:rPr lang="en-GB" sz="9600" dirty="0"/>
              <a:t> </a:t>
            </a:r>
            <a:r>
              <a:rPr lang="en-US" sz="9600" dirty="0">
                <a:cs typeface="Times New Roman" panose="02020603050405020304" pitchFamily="18" charset="0"/>
              </a:rPr>
              <a:t>No formalized method to model and evaluate cultural competence</a:t>
            </a:r>
          </a:p>
          <a:p>
            <a:pPr marL="0" indent="0">
              <a:buNone/>
            </a:pPr>
            <a:endParaRPr lang="en-GB" sz="9600" dirty="0"/>
          </a:p>
          <a:p>
            <a:endParaRPr lang="en-GB" sz="2800" dirty="0">
              <a:latin typeface="Helvetica" pitchFamily="2" charset="0"/>
            </a:endParaRPr>
          </a:p>
          <a:p>
            <a:endParaRPr lang="en-IT" dirty="0"/>
          </a:p>
        </p:txBody>
      </p:sp>
      <p:sp>
        <p:nvSpPr>
          <p:cNvPr id="4" name="Slide Number Placeholder 3">
            <a:extLst>
              <a:ext uri="{FF2B5EF4-FFF2-40B4-BE49-F238E27FC236}">
                <a16:creationId xmlns:a16="http://schemas.microsoft.com/office/drawing/2014/main" id="{6A7EC2AE-F3E2-7D39-9E59-B80BE38D9564}"/>
              </a:ext>
            </a:extLst>
          </p:cNvPr>
          <p:cNvSpPr>
            <a:spLocks noGrp="1"/>
          </p:cNvSpPr>
          <p:nvPr>
            <p:ph type="sldNum" sz="quarter" idx="12"/>
          </p:nvPr>
        </p:nvSpPr>
        <p:spPr/>
        <p:txBody>
          <a:bodyPr>
            <a:normAutofit/>
          </a:bodyPr>
          <a:lstStyle/>
          <a:p>
            <a:pPr>
              <a:spcAft>
                <a:spcPts val="600"/>
              </a:spcAft>
            </a:pPr>
            <a:fld id="{6113E31D-E2AB-40D1-8B51-AFA5AFEF393A}" type="slidenum">
              <a:rPr lang="en-US" smtClean="0"/>
              <a:pPr>
                <a:spcAft>
                  <a:spcPts val="600"/>
                </a:spcAft>
              </a:pPr>
              <a:t>4</a:t>
            </a:fld>
            <a:endParaRPr lang="en-US"/>
          </a:p>
        </p:txBody>
      </p:sp>
      <p:pic>
        <p:nvPicPr>
          <p:cNvPr id="3" name="Picture 2" descr="A red circle with black text&#10;&#10;Description automatically generated">
            <a:extLst>
              <a:ext uri="{FF2B5EF4-FFF2-40B4-BE49-F238E27FC236}">
                <a16:creationId xmlns:a16="http://schemas.microsoft.com/office/drawing/2014/main" id="{DEC87681-E390-313C-DB86-07BE27875C0D}"/>
              </a:ext>
            </a:extLst>
          </p:cNvPr>
          <p:cNvPicPr>
            <a:picLocks noChangeAspect="1"/>
          </p:cNvPicPr>
          <p:nvPr/>
        </p:nvPicPr>
        <p:blipFill>
          <a:blip r:embed="rId3"/>
          <a:stretch>
            <a:fillRect/>
          </a:stretch>
        </p:blipFill>
        <p:spPr>
          <a:xfrm>
            <a:off x="-199423" y="5625073"/>
            <a:ext cx="1126180" cy="1136822"/>
          </a:xfrm>
          <a:prstGeom prst="rect">
            <a:avLst/>
          </a:prstGeom>
        </p:spPr>
      </p:pic>
    </p:spTree>
    <p:extLst>
      <p:ext uri="{BB962C8B-B14F-4D97-AF65-F5344CB8AC3E}">
        <p14:creationId xmlns:p14="http://schemas.microsoft.com/office/powerpoint/2010/main" val="1799435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42D2C-BA79-83B7-A72D-D1623E75B114}"/>
              </a:ext>
            </a:extLst>
          </p:cNvPr>
          <p:cNvSpPr>
            <a:spLocks noGrp="1"/>
          </p:cNvSpPr>
          <p:nvPr>
            <p:ph type="title"/>
          </p:nvPr>
        </p:nvSpPr>
        <p:spPr/>
        <p:txBody>
          <a:bodyPr>
            <a:normAutofit/>
          </a:bodyPr>
          <a:lstStyle/>
          <a:p>
            <a:r>
              <a:rPr lang="en-IT" b="1" dirty="0">
                <a:solidFill>
                  <a:srgbClr val="00B0F0"/>
                </a:solidFill>
                <a:latin typeface="+mn-lt"/>
              </a:rPr>
              <a:t>20 Patient / Educator interactions</a:t>
            </a:r>
          </a:p>
        </p:txBody>
      </p:sp>
      <p:sp>
        <p:nvSpPr>
          <p:cNvPr id="3" name="Content Placeholder 2">
            <a:extLst>
              <a:ext uri="{FF2B5EF4-FFF2-40B4-BE49-F238E27FC236}">
                <a16:creationId xmlns:a16="http://schemas.microsoft.com/office/drawing/2014/main" id="{3FED0D85-C1C1-6CAA-EC8B-DDFC632A2E03}"/>
              </a:ext>
            </a:extLst>
          </p:cNvPr>
          <p:cNvSpPr>
            <a:spLocks noGrp="1"/>
          </p:cNvSpPr>
          <p:nvPr>
            <p:ph idx="1"/>
          </p:nvPr>
        </p:nvSpPr>
        <p:spPr>
          <a:xfrm>
            <a:off x="1097280" y="1845734"/>
            <a:ext cx="10058400" cy="4006426"/>
          </a:xfrm>
        </p:spPr>
        <p:txBody>
          <a:bodyPr>
            <a:normAutofit/>
          </a:bodyPr>
          <a:lstStyle/>
          <a:p>
            <a:r>
              <a:rPr lang="en-GB" sz="2600" dirty="0"/>
              <a:t>Standard Heart Failure (HF) education information comprises:</a:t>
            </a:r>
            <a:endParaRPr lang="en-IT" sz="2600" dirty="0"/>
          </a:p>
          <a:p>
            <a:pPr>
              <a:buFont typeface="Wingdings" pitchFamily="2" charset="2"/>
              <a:buChar char="v"/>
            </a:pPr>
            <a:r>
              <a:rPr lang="en-GB" sz="2600" dirty="0"/>
              <a:t> what HF is</a:t>
            </a:r>
          </a:p>
          <a:p>
            <a:pPr>
              <a:buFont typeface="Wingdings" pitchFamily="2" charset="2"/>
              <a:buChar char="v"/>
            </a:pPr>
            <a:r>
              <a:rPr lang="en-GB" sz="2600" dirty="0"/>
              <a:t> medications - ``water pill" (diuretic)</a:t>
            </a:r>
          </a:p>
          <a:p>
            <a:pPr>
              <a:buFont typeface="Wingdings" pitchFamily="2" charset="2"/>
              <a:buChar char="v"/>
            </a:pPr>
            <a:r>
              <a:rPr lang="en-GB" sz="2600" dirty="0"/>
              <a:t>importance of  low sodium diet</a:t>
            </a:r>
          </a:p>
          <a:p>
            <a:pPr>
              <a:buFont typeface="Wingdings" pitchFamily="2" charset="2"/>
              <a:buChar char="v"/>
            </a:pPr>
            <a:r>
              <a:rPr lang="en-GB" sz="2600" dirty="0"/>
              <a:t>benefits of physical activity</a:t>
            </a:r>
          </a:p>
          <a:p>
            <a:pPr>
              <a:buFont typeface="Wingdings" pitchFamily="2" charset="2"/>
              <a:buChar char="v"/>
            </a:pPr>
            <a:r>
              <a:rPr lang="en-GB" sz="2600" dirty="0"/>
              <a:t>daily checks to recognize symptoms</a:t>
            </a:r>
          </a:p>
          <a:p>
            <a:pPr>
              <a:buFont typeface="Wingdings" pitchFamily="2" charset="2"/>
              <a:buChar char="v"/>
            </a:pPr>
            <a:r>
              <a:rPr lang="en-GB" sz="2600" dirty="0"/>
              <a:t>value of follow-up appointments </a:t>
            </a:r>
          </a:p>
          <a:p>
            <a:endParaRPr lang="en-GB" sz="2400" dirty="0"/>
          </a:p>
          <a:p>
            <a:endParaRPr lang="en-IT" sz="2400" dirty="0"/>
          </a:p>
          <a:p>
            <a:endParaRPr lang="en-IT" dirty="0"/>
          </a:p>
        </p:txBody>
      </p:sp>
      <p:sp>
        <p:nvSpPr>
          <p:cNvPr id="4" name="Slide Number Placeholder 3">
            <a:extLst>
              <a:ext uri="{FF2B5EF4-FFF2-40B4-BE49-F238E27FC236}">
                <a16:creationId xmlns:a16="http://schemas.microsoft.com/office/drawing/2014/main" id="{81DB5BAA-209B-50A3-A94A-BDF0C75FC69C}"/>
              </a:ext>
            </a:extLst>
          </p:cNvPr>
          <p:cNvSpPr>
            <a:spLocks noGrp="1"/>
          </p:cNvSpPr>
          <p:nvPr>
            <p:ph type="sldNum" sz="quarter" idx="12"/>
          </p:nvPr>
        </p:nvSpPr>
        <p:spPr/>
        <p:txBody>
          <a:bodyPr/>
          <a:lstStyle/>
          <a:p>
            <a:fld id="{6113E31D-E2AB-40D1-8B51-AFA5AFEF393A}" type="slidenum">
              <a:rPr lang="en-US" smtClean="0"/>
              <a:t>5</a:t>
            </a:fld>
            <a:endParaRPr lang="en-US" dirty="0"/>
          </a:p>
        </p:txBody>
      </p:sp>
      <p:graphicFrame>
        <p:nvGraphicFramePr>
          <p:cNvPr id="5" name="Table 5">
            <a:extLst>
              <a:ext uri="{FF2B5EF4-FFF2-40B4-BE49-F238E27FC236}">
                <a16:creationId xmlns:a16="http://schemas.microsoft.com/office/drawing/2014/main" id="{9993F5F4-6FD3-E2A9-39A7-6F9346DCEABE}"/>
              </a:ext>
            </a:extLst>
          </p:cNvPr>
          <p:cNvGraphicFramePr>
            <a:graphicFrameLocks noGrp="1"/>
          </p:cNvGraphicFramePr>
          <p:nvPr>
            <p:extLst>
              <p:ext uri="{D42A27DB-BD31-4B8C-83A1-F6EECF244321}">
                <p14:modId xmlns:p14="http://schemas.microsoft.com/office/powerpoint/2010/main" val="3662197728"/>
              </p:ext>
            </p:extLst>
          </p:nvPr>
        </p:nvGraphicFramePr>
        <p:xfrm>
          <a:off x="6459563" y="2571958"/>
          <a:ext cx="4866640" cy="3053117"/>
        </p:xfrm>
        <a:graphic>
          <a:graphicData uri="http://schemas.openxmlformats.org/drawingml/2006/table">
            <a:tbl>
              <a:tblPr firstRow="1" bandRow="1">
                <a:tableStyleId>{5C22544A-7EE6-4342-B048-85BDC9FD1C3A}</a:tableStyleId>
              </a:tblPr>
              <a:tblGrid>
                <a:gridCol w="2189988">
                  <a:extLst>
                    <a:ext uri="{9D8B030D-6E8A-4147-A177-3AD203B41FA5}">
                      <a16:colId xmlns:a16="http://schemas.microsoft.com/office/drawing/2014/main" val="2870060718"/>
                    </a:ext>
                  </a:extLst>
                </a:gridCol>
                <a:gridCol w="1226799">
                  <a:extLst>
                    <a:ext uri="{9D8B030D-6E8A-4147-A177-3AD203B41FA5}">
                      <a16:colId xmlns:a16="http://schemas.microsoft.com/office/drawing/2014/main" val="1964155999"/>
                    </a:ext>
                  </a:extLst>
                </a:gridCol>
                <a:gridCol w="1449853">
                  <a:extLst>
                    <a:ext uri="{9D8B030D-6E8A-4147-A177-3AD203B41FA5}">
                      <a16:colId xmlns:a16="http://schemas.microsoft.com/office/drawing/2014/main" val="4053272102"/>
                    </a:ext>
                  </a:extLst>
                </a:gridCol>
              </a:tblGrid>
              <a:tr h="568520">
                <a:tc>
                  <a:txBody>
                    <a:bodyPr/>
                    <a:lstStyle/>
                    <a:p>
                      <a:r>
                        <a:rPr lang="en-IT" sz="2400" dirty="0">
                          <a:solidFill>
                            <a:schemeClr val="bg1"/>
                          </a:solidFill>
                        </a:rPr>
                        <a:t>Avg/dialogue</a:t>
                      </a:r>
                    </a:p>
                  </a:txBody>
                  <a:tcPr/>
                </a:tc>
                <a:tc>
                  <a:txBody>
                    <a:bodyPr/>
                    <a:lstStyle/>
                    <a:p>
                      <a:pPr algn="ctr"/>
                      <a:r>
                        <a:rPr lang="en-IT" sz="2400" dirty="0"/>
                        <a:t>Patient</a:t>
                      </a:r>
                    </a:p>
                  </a:txBody>
                  <a:tcPr/>
                </a:tc>
                <a:tc>
                  <a:txBody>
                    <a:bodyPr/>
                    <a:lstStyle/>
                    <a:p>
                      <a:pPr algn="ctr"/>
                      <a:r>
                        <a:rPr lang="en-IT" sz="2400" dirty="0"/>
                        <a:t>Educator</a:t>
                      </a:r>
                    </a:p>
                  </a:txBody>
                  <a:tcPr/>
                </a:tc>
                <a:extLst>
                  <a:ext uri="{0D108BD9-81ED-4DB2-BD59-A6C34878D82A}">
                    <a16:rowId xmlns:a16="http://schemas.microsoft.com/office/drawing/2014/main" val="1099200195"/>
                  </a:ext>
                </a:extLst>
              </a:tr>
              <a:tr h="828199">
                <a:tc>
                  <a:txBody>
                    <a:bodyPr/>
                    <a:lstStyle/>
                    <a:p>
                      <a:r>
                        <a:rPr lang="en-IT" sz="2400" dirty="0"/>
                        <a:t> </a:t>
                      </a:r>
                      <a:r>
                        <a:rPr lang="en-GB" sz="2400" dirty="0"/>
                        <a:t>T</a:t>
                      </a:r>
                      <a:r>
                        <a:rPr lang="en-IT" sz="2400" dirty="0"/>
                        <a:t>urns</a:t>
                      </a:r>
                    </a:p>
                  </a:txBody>
                  <a:tcPr/>
                </a:tc>
                <a:tc>
                  <a:txBody>
                    <a:bodyPr/>
                    <a:lstStyle/>
                    <a:p>
                      <a:pPr algn="r"/>
                      <a:r>
                        <a:rPr lang="en-IT" sz="2400" dirty="0"/>
                        <a:t>108 (48%) </a:t>
                      </a:r>
                    </a:p>
                  </a:txBody>
                  <a:tcPr/>
                </a:tc>
                <a:tc>
                  <a:txBody>
                    <a:bodyPr/>
                    <a:lstStyle/>
                    <a:p>
                      <a:pPr algn="r"/>
                      <a:r>
                        <a:rPr lang="en-IT" sz="2400" dirty="0"/>
                        <a:t>117</a:t>
                      </a:r>
                    </a:p>
                    <a:p>
                      <a:pPr algn="r"/>
                      <a:r>
                        <a:rPr lang="en-IT" sz="2400" dirty="0"/>
                        <a:t>(52%)</a:t>
                      </a:r>
                    </a:p>
                  </a:txBody>
                  <a:tcPr/>
                </a:tc>
                <a:extLst>
                  <a:ext uri="{0D108BD9-81ED-4DB2-BD59-A6C34878D82A}">
                    <a16:rowId xmlns:a16="http://schemas.microsoft.com/office/drawing/2014/main" val="132875801"/>
                  </a:ext>
                </a:extLst>
              </a:tr>
              <a:tr h="82819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IT" sz="2400" dirty="0"/>
                        <a:t>Sentences</a:t>
                      </a:r>
                    </a:p>
                  </a:txBody>
                  <a:tcPr/>
                </a:tc>
                <a:tc>
                  <a:txBody>
                    <a:bodyPr/>
                    <a:lstStyle/>
                    <a:p>
                      <a:pPr algn="r"/>
                      <a:r>
                        <a:rPr lang="en-IT" sz="2400" dirty="0"/>
                        <a:t>131</a:t>
                      </a:r>
                    </a:p>
                    <a:p>
                      <a:pPr algn="r"/>
                      <a:r>
                        <a:rPr lang="en-IT" sz="2400" b="1" dirty="0"/>
                        <a:t>(39%)</a:t>
                      </a:r>
                    </a:p>
                  </a:txBody>
                  <a:tcPr/>
                </a:tc>
                <a:tc>
                  <a:txBody>
                    <a:bodyPr/>
                    <a:lstStyle/>
                    <a:p>
                      <a:pPr algn="r"/>
                      <a:r>
                        <a:rPr lang="en-IT" sz="2400" dirty="0"/>
                        <a:t>205</a:t>
                      </a:r>
                    </a:p>
                    <a:p>
                      <a:pPr algn="r"/>
                      <a:r>
                        <a:rPr lang="en-IT" sz="2400" b="1" dirty="0"/>
                        <a:t>(61%)</a:t>
                      </a:r>
                    </a:p>
                  </a:txBody>
                  <a:tcPr/>
                </a:tc>
                <a:extLst>
                  <a:ext uri="{0D108BD9-81ED-4DB2-BD59-A6C34878D82A}">
                    <a16:rowId xmlns:a16="http://schemas.microsoft.com/office/drawing/2014/main" val="2340036133"/>
                  </a:ext>
                </a:extLst>
              </a:tr>
              <a:tr h="828199">
                <a:tc>
                  <a:txBody>
                    <a:bodyPr/>
                    <a:lstStyle/>
                    <a:p>
                      <a:r>
                        <a:rPr lang="en-IT" sz="2400" dirty="0"/>
                        <a:t>Words</a:t>
                      </a:r>
                    </a:p>
                  </a:txBody>
                  <a:tcPr/>
                </a:tc>
                <a:tc>
                  <a:txBody>
                    <a:bodyPr/>
                    <a:lstStyle/>
                    <a:p>
                      <a:pPr algn="r"/>
                      <a:r>
                        <a:rPr lang="en-IT" sz="2400" dirty="0"/>
                        <a:t>850</a:t>
                      </a:r>
                    </a:p>
                    <a:p>
                      <a:pPr algn="r"/>
                      <a:r>
                        <a:rPr lang="en-IT" sz="2400" b="1" dirty="0"/>
                        <a:t>(27%)</a:t>
                      </a:r>
                    </a:p>
                  </a:txBody>
                  <a:tcPr/>
                </a:tc>
                <a:tc>
                  <a:txBody>
                    <a:bodyPr/>
                    <a:lstStyle/>
                    <a:p>
                      <a:pPr algn="r"/>
                      <a:r>
                        <a:rPr lang="en-IT" sz="2400" dirty="0"/>
                        <a:t>2280</a:t>
                      </a:r>
                    </a:p>
                    <a:p>
                      <a:pPr algn="r"/>
                      <a:r>
                        <a:rPr lang="en-IT" sz="2400" b="1" dirty="0"/>
                        <a:t>(73%)</a:t>
                      </a:r>
                    </a:p>
                  </a:txBody>
                  <a:tcPr/>
                </a:tc>
                <a:extLst>
                  <a:ext uri="{0D108BD9-81ED-4DB2-BD59-A6C34878D82A}">
                    <a16:rowId xmlns:a16="http://schemas.microsoft.com/office/drawing/2014/main" val="3965404250"/>
                  </a:ext>
                </a:extLst>
              </a:tr>
            </a:tbl>
          </a:graphicData>
        </a:graphic>
      </p:graphicFrame>
      <p:pic>
        <p:nvPicPr>
          <p:cNvPr id="6" name="Picture 5" descr="A red circle with black text&#10;&#10;Description automatically generated">
            <a:extLst>
              <a:ext uri="{FF2B5EF4-FFF2-40B4-BE49-F238E27FC236}">
                <a16:creationId xmlns:a16="http://schemas.microsoft.com/office/drawing/2014/main" id="{9F0DDB03-FD37-359D-E78A-1BAC5E78E2D1}"/>
              </a:ext>
            </a:extLst>
          </p:cNvPr>
          <p:cNvPicPr>
            <a:picLocks noChangeAspect="1"/>
          </p:cNvPicPr>
          <p:nvPr/>
        </p:nvPicPr>
        <p:blipFill>
          <a:blip r:embed="rId3"/>
          <a:stretch>
            <a:fillRect/>
          </a:stretch>
        </p:blipFill>
        <p:spPr>
          <a:xfrm>
            <a:off x="-199423" y="5625073"/>
            <a:ext cx="1126180" cy="1136822"/>
          </a:xfrm>
          <a:prstGeom prst="rect">
            <a:avLst/>
          </a:prstGeom>
        </p:spPr>
      </p:pic>
    </p:spTree>
    <p:extLst>
      <p:ext uri="{BB962C8B-B14F-4D97-AF65-F5344CB8AC3E}">
        <p14:creationId xmlns:p14="http://schemas.microsoft.com/office/powerpoint/2010/main" val="4654623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64712-3510-0A68-FF1B-3A5A5B7188F4}"/>
              </a:ext>
            </a:extLst>
          </p:cNvPr>
          <p:cNvSpPr>
            <a:spLocks noGrp="1"/>
          </p:cNvSpPr>
          <p:nvPr>
            <p:ph type="title"/>
          </p:nvPr>
        </p:nvSpPr>
        <p:spPr>
          <a:xfrm>
            <a:off x="841264" y="96104"/>
            <a:ext cx="11350736" cy="677381"/>
          </a:xfrm>
        </p:spPr>
        <p:txBody>
          <a:bodyPr>
            <a:normAutofit fontScale="90000"/>
          </a:bodyPr>
          <a:lstStyle/>
          <a:p>
            <a:r>
              <a:rPr lang="en-IT" sz="4000" b="1" dirty="0">
                <a:solidFill>
                  <a:srgbClr val="00B0F0"/>
                </a:solidFill>
                <a:latin typeface="+mn-lt"/>
              </a:rPr>
              <a:t>Excerpt of patient-educator conversation </a:t>
            </a:r>
            <a:r>
              <a:rPr lang="en-IT" sz="3100" b="1" dirty="0">
                <a:solidFill>
                  <a:srgbClr val="00B0F0"/>
                </a:solidFill>
                <a:latin typeface="+mn-lt"/>
              </a:rPr>
              <a:t>[Gupta et al 2020]</a:t>
            </a:r>
          </a:p>
        </p:txBody>
      </p:sp>
      <p:sp>
        <p:nvSpPr>
          <p:cNvPr id="3" name="Content Placeholder 2">
            <a:extLst>
              <a:ext uri="{FF2B5EF4-FFF2-40B4-BE49-F238E27FC236}">
                <a16:creationId xmlns:a16="http://schemas.microsoft.com/office/drawing/2014/main" id="{886F4042-70D8-374F-EDAD-90B6065E1014}"/>
              </a:ext>
            </a:extLst>
          </p:cNvPr>
          <p:cNvSpPr>
            <a:spLocks noGrp="1"/>
          </p:cNvSpPr>
          <p:nvPr>
            <p:ph idx="1"/>
          </p:nvPr>
        </p:nvSpPr>
        <p:spPr/>
        <p:txBody>
          <a:bodyPr/>
          <a:lstStyle/>
          <a:p>
            <a:r>
              <a:rPr lang="en-IT" dirty="0"/>
              <a:t>- what topics/ issues are important to these patients for self care? Use initiative [Walker &amp; Whittaker 1990]</a:t>
            </a:r>
          </a:p>
          <a:p>
            <a:endParaRPr lang="en-IT" dirty="0"/>
          </a:p>
          <a:p>
            <a:endParaRPr lang="en-IT" dirty="0"/>
          </a:p>
        </p:txBody>
      </p:sp>
      <p:sp>
        <p:nvSpPr>
          <p:cNvPr id="4" name="Slide Number Placeholder 3">
            <a:extLst>
              <a:ext uri="{FF2B5EF4-FFF2-40B4-BE49-F238E27FC236}">
                <a16:creationId xmlns:a16="http://schemas.microsoft.com/office/drawing/2014/main" id="{6FA0603B-9D20-E6C7-A565-E3F47314B650}"/>
              </a:ext>
            </a:extLst>
          </p:cNvPr>
          <p:cNvSpPr>
            <a:spLocks noGrp="1"/>
          </p:cNvSpPr>
          <p:nvPr>
            <p:ph type="sldNum" sz="quarter" idx="12"/>
          </p:nvPr>
        </p:nvSpPr>
        <p:spPr/>
        <p:txBody>
          <a:bodyPr/>
          <a:lstStyle/>
          <a:p>
            <a:fld id="{6113E31D-E2AB-40D1-8B51-AFA5AFEF393A}" type="slidenum">
              <a:rPr lang="en-US" smtClean="0"/>
              <a:t>6</a:t>
            </a:fld>
            <a:endParaRPr lang="en-US" dirty="0"/>
          </a:p>
        </p:txBody>
      </p:sp>
      <p:sp>
        <p:nvSpPr>
          <p:cNvPr id="5" name="Content Placeholder 2">
            <a:extLst>
              <a:ext uri="{FF2B5EF4-FFF2-40B4-BE49-F238E27FC236}">
                <a16:creationId xmlns:a16="http://schemas.microsoft.com/office/drawing/2014/main" id="{3A36F5B6-EE7E-7EAA-49D8-CBE8AABAC15A}"/>
              </a:ext>
            </a:extLst>
          </p:cNvPr>
          <p:cNvSpPr txBox="1">
            <a:spLocks/>
          </p:cNvSpPr>
          <p:nvPr/>
        </p:nvSpPr>
        <p:spPr>
          <a:xfrm>
            <a:off x="926757" y="773485"/>
            <a:ext cx="10727361" cy="5426593"/>
          </a:xfrm>
          <a:prstGeom prst="rect">
            <a:avLst/>
          </a:prstGeom>
          <a:solidFill>
            <a:schemeClr val="bg1">
              <a:lumMod val="95000"/>
            </a:schemeClr>
          </a:solidFill>
          <a:ln w="1905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500"/>
              </a:spcBef>
              <a:buNone/>
            </a:pPr>
            <a:r>
              <a:rPr lang="en-US" sz="2000" b="1" dirty="0">
                <a:latin typeface="Times New Roman" panose="02020603050405020304" pitchFamily="18" charset="0"/>
                <a:cs typeface="Times New Roman" panose="02020603050405020304" pitchFamily="18" charset="0"/>
              </a:rPr>
              <a:t>                                ---- Patient Control</a:t>
            </a:r>
          </a:p>
          <a:p>
            <a:pPr marL="0" indent="0">
              <a:spcBef>
                <a:spcPts val="500"/>
              </a:spcBef>
              <a:buNone/>
            </a:pPr>
            <a:r>
              <a:rPr lang="en-US" sz="2000" b="1" dirty="0">
                <a:latin typeface="Times New Roman" panose="02020603050405020304" pitchFamily="18" charset="0"/>
                <a:cs typeface="Times New Roman" panose="02020603050405020304" pitchFamily="18" charset="0"/>
              </a:rPr>
              <a:t>Patient:	      </a:t>
            </a:r>
            <a:r>
              <a:rPr lang="en-US" sz="2000" dirty="0">
                <a:latin typeface="Times New Roman" panose="02020603050405020304" pitchFamily="18" charset="0"/>
                <a:cs typeface="Times New Roman" panose="02020603050405020304" pitchFamily="18" charset="0"/>
              </a:rPr>
              <a:t>Yeah, I don’t, I don’t do the frozen meal. </a:t>
            </a:r>
          </a:p>
          <a:p>
            <a:pPr marL="0" indent="0">
              <a:spcBef>
                <a:spcPts val="500"/>
              </a:spcBef>
              <a:buNone/>
            </a:pPr>
            <a:r>
              <a:rPr lang="en-US" sz="2000" b="1" dirty="0">
                <a:latin typeface="Times New Roman" panose="02020603050405020304" pitchFamily="18" charset="0"/>
                <a:cs typeface="Times New Roman" panose="02020603050405020304" pitchFamily="18" charset="0"/>
              </a:rPr>
              <a:t>Educator:   </a:t>
            </a:r>
            <a:r>
              <a:rPr lang="en-US" sz="2000" dirty="0">
                <a:latin typeface="Times New Roman" panose="02020603050405020304" pitchFamily="18" charset="0"/>
                <a:cs typeface="Times New Roman" panose="02020603050405020304" pitchFamily="18" charset="0"/>
              </a:rPr>
              <a:t>Okay. </a:t>
            </a:r>
          </a:p>
          <a:p>
            <a:pPr marL="0" indent="0">
              <a:spcBef>
                <a:spcPts val="500"/>
              </a:spcBef>
              <a:buNone/>
            </a:pPr>
            <a:r>
              <a:rPr lang="en-US" sz="2000" b="1" dirty="0">
                <a:latin typeface="Times New Roman" panose="02020603050405020304" pitchFamily="18" charset="0"/>
                <a:cs typeface="Times New Roman" panose="02020603050405020304" pitchFamily="18" charset="0"/>
              </a:rPr>
              <a:t>Patient:	      </a:t>
            </a:r>
            <a:r>
              <a:rPr lang="en-US" sz="2000" dirty="0">
                <a:latin typeface="Times New Roman" panose="02020603050405020304" pitchFamily="18" charset="0"/>
                <a:cs typeface="Times New Roman" panose="02020603050405020304" pitchFamily="18" charset="0"/>
              </a:rPr>
              <a:t>I was basically doing the uh, vegetables. </a:t>
            </a:r>
          </a:p>
          <a:p>
            <a:pPr marL="0" indent="0">
              <a:spcBef>
                <a:spcPts val="500"/>
              </a:spcBef>
              <a:buNone/>
            </a:pPr>
            <a:r>
              <a:rPr lang="en-US" sz="2000" b="1" dirty="0">
                <a:latin typeface="Times New Roman" panose="02020603050405020304" pitchFamily="18" charset="0"/>
                <a:cs typeface="Times New Roman" panose="02020603050405020304" pitchFamily="18" charset="0"/>
              </a:rPr>
              <a:t>Educator:   </a:t>
            </a:r>
            <a:r>
              <a:rPr lang="en-US" sz="2000" dirty="0">
                <a:latin typeface="Times New Roman" panose="02020603050405020304" pitchFamily="18" charset="0"/>
                <a:cs typeface="Times New Roman" panose="02020603050405020304" pitchFamily="18" charset="0"/>
              </a:rPr>
              <a:t>Okay. </a:t>
            </a:r>
          </a:p>
          <a:p>
            <a:pPr marL="0" indent="0">
              <a:spcBef>
                <a:spcPts val="500"/>
              </a:spcBef>
              <a:buNone/>
            </a:pPr>
            <a:r>
              <a:rPr lang="en-US" sz="2000" b="1" dirty="0">
                <a:latin typeface="Times New Roman" panose="02020603050405020304" pitchFamily="18" charset="0"/>
                <a:cs typeface="Times New Roman" panose="02020603050405020304" pitchFamily="18" charset="0"/>
              </a:rPr>
              <a:t>Patient:	      </a:t>
            </a:r>
            <a:r>
              <a:rPr lang="en-US" sz="2000" dirty="0">
                <a:latin typeface="Times New Roman" panose="02020603050405020304" pitchFamily="18" charset="0"/>
                <a:cs typeface="Times New Roman" panose="02020603050405020304" pitchFamily="18" charset="0"/>
              </a:rPr>
              <a:t>Frozen vegetables </a:t>
            </a:r>
          </a:p>
          <a:p>
            <a:pPr marL="0" indent="0">
              <a:spcBef>
                <a:spcPts val="500"/>
              </a:spcBef>
              <a:buNone/>
            </a:pPr>
            <a:r>
              <a:rPr lang="en-US" sz="2000" b="1" dirty="0">
                <a:latin typeface="Times New Roman" panose="02020603050405020304" pitchFamily="18" charset="0"/>
                <a:cs typeface="Times New Roman" panose="02020603050405020304" pitchFamily="18" charset="0"/>
              </a:rPr>
              <a:t>                               ---- Educator Control</a:t>
            </a:r>
            <a:endParaRPr lang="en-US" sz="2000" dirty="0">
              <a:latin typeface="Times New Roman" panose="02020603050405020304" pitchFamily="18" charset="0"/>
              <a:cs typeface="Times New Roman" panose="02020603050405020304" pitchFamily="18" charset="0"/>
            </a:endParaRPr>
          </a:p>
          <a:p>
            <a:pPr marL="0" indent="0">
              <a:spcBef>
                <a:spcPts val="500"/>
              </a:spcBef>
              <a:buNone/>
            </a:pPr>
            <a:r>
              <a:rPr lang="en-US" sz="2000" b="1" dirty="0">
                <a:latin typeface="Times New Roman" panose="02020603050405020304" pitchFamily="18" charset="0"/>
                <a:cs typeface="Times New Roman" panose="02020603050405020304" pitchFamily="18" charset="0"/>
              </a:rPr>
              <a:t>Educator:   </a:t>
            </a:r>
            <a:r>
              <a:rPr lang="en-US" sz="2000" dirty="0">
                <a:latin typeface="Times New Roman" panose="02020603050405020304" pitchFamily="18" charset="0"/>
                <a:cs typeface="Times New Roman" panose="02020603050405020304" pitchFamily="18" charset="0"/>
              </a:rPr>
              <a:t>They should be fine.</a:t>
            </a:r>
          </a:p>
          <a:p>
            <a:pPr marL="0" indent="0">
              <a:spcBef>
                <a:spcPts val="500"/>
              </a:spcBef>
              <a:buNone/>
            </a:pPr>
            <a:r>
              <a:rPr lang="en-US" sz="2000" b="1" dirty="0">
                <a:latin typeface="Times New Roman" panose="02020603050405020304" pitchFamily="18" charset="0"/>
                <a:cs typeface="Times New Roman" panose="02020603050405020304" pitchFamily="18" charset="0"/>
              </a:rPr>
              <a:t>Patient:       </a:t>
            </a:r>
            <a:r>
              <a:rPr lang="en-US" sz="2000" dirty="0">
                <a:latin typeface="Times New Roman" panose="02020603050405020304" pitchFamily="18" charset="0"/>
                <a:cs typeface="Times New Roman" panose="02020603050405020304" pitchFamily="18" charset="0"/>
              </a:rPr>
              <a:t>Yeah. </a:t>
            </a:r>
          </a:p>
          <a:p>
            <a:pPr marL="0" indent="0">
              <a:spcBef>
                <a:spcPts val="500"/>
              </a:spcBef>
              <a:buNone/>
            </a:pPr>
            <a:r>
              <a:rPr lang="en-US" sz="2000" b="1" dirty="0">
                <a:latin typeface="Times New Roman" panose="02020603050405020304" pitchFamily="18" charset="0"/>
                <a:cs typeface="Times New Roman" panose="02020603050405020304" pitchFamily="18" charset="0"/>
              </a:rPr>
              <a:t>Educator:   </a:t>
            </a:r>
            <a:r>
              <a:rPr lang="en-US" sz="2000" dirty="0">
                <a:latin typeface="Times New Roman" panose="02020603050405020304" pitchFamily="18" charset="0"/>
                <a:cs typeface="Times New Roman" panose="02020603050405020304" pitchFamily="18" charset="0"/>
              </a:rPr>
              <a:t>But... but, but I do want you to start looking at those nutrition labels. </a:t>
            </a:r>
          </a:p>
          <a:p>
            <a:pPr marL="0" indent="0">
              <a:spcBef>
                <a:spcPts val="500"/>
              </a:spcBef>
              <a:buNone/>
            </a:pPr>
            <a:r>
              <a:rPr lang="en-US" sz="2000" b="1" dirty="0">
                <a:latin typeface="Times New Roman" panose="02020603050405020304" pitchFamily="18" charset="0"/>
                <a:cs typeface="Times New Roman" panose="02020603050405020304" pitchFamily="18" charset="0"/>
              </a:rPr>
              <a:t>Patient:       </a:t>
            </a:r>
            <a:r>
              <a:rPr lang="en-US" sz="2000" dirty="0">
                <a:latin typeface="Times New Roman" panose="02020603050405020304" pitchFamily="18" charset="0"/>
                <a:cs typeface="Times New Roman" panose="02020603050405020304" pitchFamily="18" charset="0"/>
              </a:rPr>
              <a:t>Okay. </a:t>
            </a:r>
          </a:p>
          <a:p>
            <a:pPr marL="0" indent="0" fontAlgn="t">
              <a:buNone/>
            </a:pPr>
            <a:r>
              <a:rPr lang="en-GB" sz="2000" b="1" dirty="0">
                <a:latin typeface="Times New Roman" panose="02020603050405020304" pitchFamily="18" charset="0"/>
                <a:cs typeface="Times New Roman" panose="02020603050405020304" pitchFamily="18" charset="0"/>
              </a:rPr>
              <a:t>Educator:    </a:t>
            </a:r>
            <a:r>
              <a:rPr lang="en-GB" sz="2000" dirty="0">
                <a:latin typeface="Times New Roman" panose="02020603050405020304" pitchFamily="18" charset="0"/>
                <a:cs typeface="Times New Roman" panose="02020603050405020304" pitchFamily="18" charset="0"/>
              </a:rPr>
              <a:t>So, the other we always want you to do is, um, of course take all your medicines like                      </a:t>
            </a:r>
          </a:p>
          <a:p>
            <a:pPr marL="0" indent="0" fontAlgn="t">
              <a:buNone/>
            </a:pPr>
            <a:r>
              <a:rPr lang="en-GB" sz="2000" dirty="0">
                <a:latin typeface="Times New Roman" panose="02020603050405020304" pitchFamily="18" charset="0"/>
                <a:cs typeface="Times New Roman" panose="02020603050405020304" pitchFamily="18" charset="0"/>
              </a:rPr>
              <a:t>                     you’re supposed to. </a:t>
            </a:r>
          </a:p>
          <a:p>
            <a:pPr marL="0" indent="0" fontAlgn="t">
              <a:buNone/>
            </a:pPr>
            <a:r>
              <a:rPr lang="en-US" sz="2000" b="1" dirty="0">
                <a:latin typeface="Times New Roman" panose="02020603050405020304" pitchFamily="18" charset="0"/>
                <a:cs typeface="Times New Roman" panose="02020603050405020304" pitchFamily="18" charset="0"/>
              </a:rPr>
              <a:t>                               ---- Patient Control</a:t>
            </a:r>
            <a:endParaRPr lang="en-GB" sz="2000" dirty="0">
              <a:latin typeface="Times New Roman" panose="02020603050405020304" pitchFamily="18" charset="0"/>
              <a:cs typeface="Times New Roman" panose="02020603050405020304" pitchFamily="18" charset="0"/>
            </a:endParaRPr>
          </a:p>
          <a:p>
            <a:pPr marL="0" indent="0" fontAlgn="t">
              <a:buNone/>
            </a:pPr>
            <a:r>
              <a:rPr lang="en-GB" sz="2000" b="1" dirty="0">
                <a:latin typeface="Times New Roman" panose="02020603050405020304" pitchFamily="18" charset="0"/>
                <a:cs typeface="Times New Roman" panose="02020603050405020304" pitchFamily="18" charset="0"/>
              </a:rPr>
              <a:t>Patient:        </a:t>
            </a:r>
            <a:r>
              <a:rPr lang="en-GB" sz="2000" dirty="0">
                <a:latin typeface="Times New Roman" panose="02020603050405020304" pitchFamily="18" charset="0"/>
                <a:cs typeface="Times New Roman" panose="02020603050405020304" pitchFamily="18" charset="0"/>
              </a:rPr>
              <a:t>Which I didn’t do last night. </a:t>
            </a:r>
            <a:endParaRPr lang="en-IT" sz="2000" dirty="0">
              <a:latin typeface="Times New Roman" panose="02020603050405020304" pitchFamily="18" charset="0"/>
              <a:cs typeface="Times New Roman" panose="02020603050405020304" pitchFamily="18" charset="0"/>
            </a:endParaRPr>
          </a:p>
          <a:p>
            <a:pPr marL="0" indent="0" fontAlgn="t">
              <a:buNone/>
            </a:pPr>
            <a:endParaRPr lang="en-GB" sz="2000" dirty="0">
              <a:latin typeface="Times New Roman" panose="02020603050405020304" pitchFamily="18" charset="0"/>
              <a:cs typeface="Times New Roman" panose="02020603050405020304" pitchFamily="18" charset="0"/>
            </a:endParaRPr>
          </a:p>
          <a:p>
            <a:pPr marL="0" indent="0" fontAlgn="t">
              <a:buNone/>
            </a:pPr>
            <a:endParaRPr lang="en-IT" dirty="0"/>
          </a:p>
          <a:p>
            <a:pPr marL="0" indent="0">
              <a:spcBef>
                <a:spcPts val="500"/>
              </a:spcBef>
              <a:buNone/>
            </a:pPr>
            <a:endParaRPr lang="en-US" sz="2400" dirty="0">
              <a:latin typeface="Times New Roman" panose="02020603050405020304" pitchFamily="18" charset="0"/>
              <a:cs typeface="Times New Roman" panose="02020603050405020304" pitchFamily="18" charset="0"/>
            </a:endParaRPr>
          </a:p>
        </p:txBody>
      </p:sp>
      <p:pic>
        <p:nvPicPr>
          <p:cNvPr id="6" name="Picture 5" descr="A red circle with black text&#10;&#10;Description automatically generated">
            <a:extLst>
              <a:ext uri="{FF2B5EF4-FFF2-40B4-BE49-F238E27FC236}">
                <a16:creationId xmlns:a16="http://schemas.microsoft.com/office/drawing/2014/main" id="{EE63260C-5BCC-D189-416E-8D30C18D271E}"/>
              </a:ext>
            </a:extLst>
          </p:cNvPr>
          <p:cNvPicPr>
            <a:picLocks noChangeAspect="1"/>
          </p:cNvPicPr>
          <p:nvPr/>
        </p:nvPicPr>
        <p:blipFill>
          <a:blip r:embed="rId3"/>
          <a:stretch>
            <a:fillRect/>
          </a:stretch>
        </p:blipFill>
        <p:spPr>
          <a:xfrm>
            <a:off x="-199423" y="5625073"/>
            <a:ext cx="1126180" cy="1136822"/>
          </a:xfrm>
          <a:prstGeom prst="rect">
            <a:avLst/>
          </a:prstGeom>
        </p:spPr>
      </p:pic>
    </p:spTree>
    <p:extLst>
      <p:ext uri="{BB962C8B-B14F-4D97-AF65-F5344CB8AC3E}">
        <p14:creationId xmlns:p14="http://schemas.microsoft.com/office/powerpoint/2010/main" val="2159994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21F3A-69D0-0894-C245-C5C4483E43D6}"/>
              </a:ext>
            </a:extLst>
          </p:cNvPr>
          <p:cNvSpPr>
            <a:spLocks noGrp="1"/>
          </p:cNvSpPr>
          <p:nvPr>
            <p:ph type="title"/>
          </p:nvPr>
        </p:nvSpPr>
        <p:spPr/>
        <p:txBody>
          <a:bodyPr/>
          <a:lstStyle/>
          <a:p>
            <a:r>
              <a:rPr lang="en-IT" b="1" dirty="0">
                <a:solidFill>
                  <a:srgbClr val="00B0F0"/>
                </a:solidFill>
                <a:latin typeface="+mn-lt"/>
              </a:rPr>
              <a:t>Three prototypes on salt intake</a:t>
            </a:r>
          </a:p>
        </p:txBody>
      </p:sp>
      <p:sp>
        <p:nvSpPr>
          <p:cNvPr id="3" name="Content Placeholder 2">
            <a:extLst>
              <a:ext uri="{FF2B5EF4-FFF2-40B4-BE49-F238E27FC236}">
                <a16:creationId xmlns:a16="http://schemas.microsoft.com/office/drawing/2014/main" id="{FA0B1D38-C73E-5A16-299B-76C6DBDE0818}"/>
              </a:ext>
            </a:extLst>
          </p:cNvPr>
          <p:cNvSpPr>
            <a:spLocks noGrp="1"/>
          </p:cNvSpPr>
          <p:nvPr>
            <p:ph idx="1"/>
          </p:nvPr>
        </p:nvSpPr>
        <p:spPr/>
        <p:txBody>
          <a:bodyPr>
            <a:normAutofit/>
          </a:bodyPr>
          <a:lstStyle/>
          <a:p>
            <a:pPr>
              <a:buFont typeface="Wingdings" pitchFamily="2" charset="2"/>
              <a:buChar char="v"/>
            </a:pPr>
            <a:r>
              <a:rPr lang="en-IT" sz="2800" dirty="0"/>
              <a:t>HFChat [Gupta et al 2021]: based on </a:t>
            </a:r>
            <a:r>
              <a:rPr lang="en-GB" sz="2800" dirty="0">
                <a:hlinkClick r:id="rId3"/>
              </a:rPr>
              <a:t>Google DialogFlow</a:t>
            </a:r>
            <a:endParaRPr lang="en-IT" sz="2800" dirty="0"/>
          </a:p>
          <a:p>
            <a:pPr lvl="1">
              <a:buFont typeface="Wingdings" pitchFamily="2" charset="2"/>
              <a:buChar char="Ø"/>
            </a:pPr>
            <a:r>
              <a:rPr lang="en-GB" sz="2800" dirty="0"/>
              <a:t>Pilot evaluation with 9 patients: Only 32% of questions answered correctly  </a:t>
            </a:r>
          </a:p>
          <a:p>
            <a:pPr lvl="1">
              <a:buFont typeface="Wingdings" pitchFamily="2" charset="2"/>
              <a:buChar char="Ø"/>
            </a:pPr>
            <a:endParaRPr lang="en-GB" sz="2800" dirty="0"/>
          </a:p>
          <a:p>
            <a:pPr>
              <a:buFont typeface="Wingdings" pitchFamily="2" charset="2"/>
              <a:buChar char="v"/>
            </a:pPr>
            <a:r>
              <a:rPr lang="en-GB" sz="2800" b="1" dirty="0" err="1"/>
              <a:t>HFFood</a:t>
            </a:r>
            <a:r>
              <a:rPr lang="en-GB" sz="2800" b="1" dirty="0"/>
              <a:t>-NS </a:t>
            </a:r>
            <a:r>
              <a:rPr lang="en-GB" sz="2800" dirty="0"/>
              <a:t>[Tayal et al 24, 26]</a:t>
            </a:r>
            <a:r>
              <a:rPr lang="en-GB" sz="2800" b="1" dirty="0"/>
              <a:t>:</a:t>
            </a:r>
            <a:r>
              <a:rPr lang="en-GB" sz="2800" dirty="0"/>
              <a:t> </a:t>
            </a:r>
            <a:r>
              <a:rPr lang="en-GB" sz="2800" dirty="0" err="1"/>
              <a:t>NeuroSymbolic</a:t>
            </a:r>
            <a:r>
              <a:rPr lang="en-GB" sz="2800" dirty="0"/>
              <a:t> architecture </a:t>
            </a:r>
          </a:p>
          <a:p>
            <a:pPr marL="0" indent="0">
              <a:buNone/>
            </a:pPr>
            <a:r>
              <a:rPr lang="en-GB" sz="2800" dirty="0"/>
              <a:t>                                                           based on  PPTOD  [Su et al 22]</a:t>
            </a:r>
          </a:p>
          <a:p>
            <a:pPr>
              <a:buFont typeface="Wingdings" pitchFamily="2" charset="2"/>
              <a:buChar char="v"/>
            </a:pPr>
            <a:endParaRPr lang="en-GB" sz="2800" dirty="0"/>
          </a:p>
          <a:p>
            <a:pPr>
              <a:buFont typeface="Wingdings" pitchFamily="2" charset="2"/>
              <a:buChar char="v"/>
            </a:pPr>
            <a:r>
              <a:rPr lang="en-GB" sz="2800" b="1" dirty="0" err="1"/>
              <a:t>HFFood</a:t>
            </a:r>
            <a:r>
              <a:rPr lang="en-GB" sz="2800" b="1" dirty="0"/>
              <a:t>-GPT </a:t>
            </a:r>
            <a:r>
              <a:rPr lang="en-GB" sz="2800" dirty="0"/>
              <a:t>[Tayal et al 26]</a:t>
            </a:r>
            <a:r>
              <a:rPr lang="en-GB" sz="2800" b="1" dirty="0"/>
              <a:t>:</a:t>
            </a:r>
            <a:r>
              <a:rPr lang="en-GB" sz="2800" dirty="0"/>
              <a:t> Based on GPT4</a:t>
            </a:r>
          </a:p>
          <a:p>
            <a:pPr>
              <a:buFont typeface="Wingdings" pitchFamily="2" charset="2"/>
              <a:buChar char="v"/>
            </a:pPr>
            <a:endParaRPr lang="en-IT" sz="2400" dirty="0"/>
          </a:p>
          <a:p>
            <a:pPr>
              <a:buFont typeface="Wingdings" pitchFamily="2" charset="2"/>
              <a:buChar char="v"/>
            </a:pPr>
            <a:endParaRPr lang="en-IT" dirty="0"/>
          </a:p>
        </p:txBody>
      </p:sp>
      <p:sp>
        <p:nvSpPr>
          <p:cNvPr id="4" name="Slide Number Placeholder 3">
            <a:extLst>
              <a:ext uri="{FF2B5EF4-FFF2-40B4-BE49-F238E27FC236}">
                <a16:creationId xmlns:a16="http://schemas.microsoft.com/office/drawing/2014/main" id="{6A657405-9BB6-271E-A8C9-70F082B24DFE}"/>
              </a:ext>
            </a:extLst>
          </p:cNvPr>
          <p:cNvSpPr>
            <a:spLocks noGrp="1"/>
          </p:cNvSpPr>
          <p:nvPr>
            <p:ph type="sldNum" sz="quarter" idx="12"/>
          </p:nvPr>
        </p:nvSpPr>
        <p:spPr/>
        <p:txBody>
          <a:bodyPr/>
          <a:lstStyle/>
          <a:p>
            <a:fld id="{6113E31D-E2AB-40D1-8B51-AFA5AFEF393A}" type="slidenum">
              <a:rPr lang="en-US" smtClean="0"/>
              <a:t>7</a:t>
            </a:fld>
            <a:endParaRPr lang="en-US" dirty="0"/>
          </a:p>
        </p:txBody>
      </p:sp>
      <p:pic>
        <p:nvPicPr>
          <p:cNvPr id="5" name="Picture 4" descr="A red circle with black text&#10;&#10;Description automatically generated">
            <a:extLst>
              <a:ext uri="{FF2B5EF4-FFF2-40B4-BE49-F238E27FC236}">
                <a16:creationId xmlns:a16="http://schemas.microsoft.com/office/drawing/2014/main" id="{6F8B3BEB-6E7F-0767-47C9-3EF2C8C636B4}"/>
              </a:ext>
            </a:extLst>
          </p:cNvPr>
          <p:cNvPicPr>
            <a:picLocks noChangeAspect="1"/>
          </p:cNvPicPr>
          <p:nvPr/>
        </p:nvPicPr>
        <p:blipFill>
          <a:blip r:embed="rId4"/>
          <a:stretch>
            <a:fillRect/>
          </a:stretch>
        </p:blipFill>
        <p:spPr>
          <a:xfrm>
            <a:off x="-111407" y="5832004"/>
            <a:ext cx="812977" cy="820659"/>
          </a:xfrm>
          <a:prstGeom prst="rect">
            <a:avLst/>
          </a:prstGeom>
        </p:spPr>
      </p:pic>
    </p:spTree>
    <p:extLst>
      <p:ext uri="{BB962C8B-B14F-4D97-AF65-F5344CB8AC3E}">
        <p14:creationId xmlns:p14="http://schemas.microsoft.com/office/powerpoint/2010/main" val="3052028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C844E-73D4-0E8B-57B8-C4E8ACFDEFBD}"/>
              </a:ext>
            </a:extLst>
          </p:cNvPr>
          <p:cNvSpPr>
            <a:spLocks noGrp="1"/>
          </p:cNvSpPr>
          <p:nvPr>
            <p:ph type="title"/>
          </p:nvPr>
        </p:nvSpPr>
        <p:spPr/>
        <p:txBody>
          <a:bodyPr/>
          <a:lstStyle/>
          <a:p>
            <a:r>
              <a:rPr lang="en-IT" b="1" dirty="0">
                <a:solidFill>
                  <a:srgbClr val="00B0F0"/>
                </a:solidFill>
                <a:latin typeface="+mn-lt"/>
              </a:rPr>
              <a:t>HFFood-NS: Synthetic Dataset [Tayal et al 24]</a:t>
            </a:r>
          </a:p>
        </p:txBody>
      </p:sp>
      <p:sp>
        <p:nvSpPr>
          <p:cNvPr id="3" name="Content Placeholder 2">
            <a:extLst>
              <a:ext uri="{FF2B5EF4-FFF2-40B4-BE49-F238E27FC236}">
                <a16:creationId xmlns:a16="http://schemas.microsoft.com/office/drawing/2014/main" id="{B01B6822-185D-25BE-BD14-083C3E786231}"/>
              </a:ext>
            </a:extLst>
          </p:cNvPr>
          <p:cNvSpPr>
            <a:spLocks noGrp="1"/>
          </p:cNvSpPr>
          <p:nvPr>
            <p:ph idx="1"/>
          </p:nvPr>
        </p:nvSpPr>
        <p:spPr>
          <a:xfrm>
            <a:off x="1097281" y="1845734"/>
            <a:ext cx="10320363" cy="4023360"/>
          </a:xfrm>
        </p:spPr>
        <p:txBody>
          <a:bodyPr>
            <a:normAutofit fontScale="70000" lnSpcReduction="20000"/>
          </a:bodyPr>
          <a:lstStyle/>
          <a:p>
            <a:br>
              <a:rPr lang="en-GB" dirty="0"/>
            </a:br>
            <a:r>
              <a:rPr lang="en-GB" sz="3100" dirty="0"/>
              <a:t>Template based conversational dataset (</a:t>
            </a:r>
            <a:r>
              <a:rPr lang="en-GB" sz="3100" dirty="0" err="1"/>
              <a:t>MultiWOZ</a:t>
            </a:r>
            <a:r>
              <a:rPr lang="en-GB" sz="3100" dirty="0"/>
              <a:t> [Budzianowski et al 2018])</a:t>
            </a:r>
          </a:p>
          <a:p>
            <a:pPr>
              <a:buFont typeface="Wingdings" pitchFamily="2" charset="2"/>
              <a:buChar char="v"/>
            </a:pPr>
            <a:r>
              <a:rPr lang="en-GB" sz="3100" dirty="0"/>
              <a:t> Conversation alternates between user and system</a:t>
            </a:r>
          </a:p>
          <a:p>
            <a:pPr>
              <a:buFont typeface="Wingdings" pitchFamily="2" charset="2"/>
              <a:buChar char="v"/>
            </a:pPr>
            <a:r>
              <a:rPr lang="en-GB" sz="3100" b="1" dirty="0"/>
              <a:t> Slots</a:t>
            </a:r>
            <a:r>
              <a:rPr lang="en-GB" sz="3100" dirty="0"/>
              <a:t>: include food, cook, type, part, food weight, metric [USDA food DB fields]</a:t>
            </a:r>
          </a:p>
          <a:p>
            <a:pPr>
              <a:buFont typeface="Wingdings" pitchFamily="2" charset="2"/>
              <a:buChar char="v"/>
            </a:pPr>
            <a:r>
              <a:rPr lang="en-GB" sz="3100" dirty="0"/>
              <a:t> System questions: one slot at a time;  user responses randomly selected from template</a:t>
            </a:r>
          </a:p>
          <a:p>
            <a:pPr>
              <a:buFont typeface="Wingdings" pitchFamily="2" charset="2"/>
              <a:buChar char="v"/>
            </a:pPr>
            <a:r>
              <a:rPr lang="en-GB" sz="3100" dirty="0"/>
              <a:t> Types of user responses:</a:t>
            </a:r>
          </a:p>
          <a:p>
            <a:pPr marL="0" indent="0">
              <a:buNone/>
            </a:pPr>
            <a:endParaRPr lang="en-GB" sz="3100" dirty="0"/>
          </a:p>
          <a:p>
            <a:pPr lvl="1">
              <a:buFont typeface="Courier New" panose="02070309020205020404" pitchFamily="49" charset="0"/>
              <a:buChar char="o"/>
            </a:pPr>
            <a:r>
              <a:rPr lang="en-GB" sz="3100" dirty="0"/>
              <a:t>Matching answers </a:t>
            </a:r>
          </a:p>
          <a:p>
            <a:pPr lvl="1">
              <a:buFont typeface="Courier New" panose="02070309020205020404" pitchFamily="49" charset="0"/>
              <a:buChar char="o"/>
            </a:pPr>
            <a:r>
              <a:rPr lang="en-GB" sz="3100" dirty="0"/>
              <a:t>Misaligned answers</a:t>
            </a:r>
          </a:p>
          <a:p>
            <a:pPr lvl="1">
              <a:buFont typeface="Courier New" panose="02070309020205020404" pitchFamily="49" charset="0"/>
              <a:buChar char="o"/>
            </a:pPr>
            <a:r>
              <a:rPr lang="en-GB" sz="3100" dirty="0"/>
              <a:t>Revised answers </a:t>
            </a:r>
          </a:p>
          <a:p>
            <a:br>
              <a:rPr lang="en-GB" dirty="0"/>
            </a:br>
            <a:endParaRPr lang="en-GB" dirty="0"/>
          </a:p>
          <a:p>
            <a:endParaRPr lang="en-IT" dirty="0"/>
          </a:p>
        </p:txBody>
      </p:sp>
      <p:sp>
        <p:nvSpPr>
          <p:cNvPr id="4" name="Slide Number Placeholder 3">
            <a:extLst>
              <a:ext uri="{FF2B5EF4-FFF2-40B4-BE49-F238E27FC236}">
                <a16:creationId xmlns:a16="http://schemas.microsoft.com/office/drawing/2014/main" id="{5F3DC4EF-7B44-018E-20B5-20746C7BF121}"/>
              </a:ext>
            </a:extLst>
          </p:cNvPr>
          <p:cNvSpPr>
            <a:spLocks noGrp="1"/>
          </p:cNvSpPr>
          <p:nvPr>
            <p:ph type="sldNum" sz="quarter" idx="12"/>
          </p:nvPr>
        </p:nvSpPr>
        <p:spPr/>
        <p:txBody>
          <a:bodyPr/>
          <a:lstStyle/>
          <a:p>
            <a:fld id="{6113E31D-E2AB-40D1-8B51-AFA5AFEF393A}" type="slidenum">
              <a:rPr lang="en-US" smtClean="0"/>
              <a:t>8</a:t>
            </a:fld>
            <a:endParaRPr lang="en-US" dirty="0"/>
          </a:p>
        </p:txBody>
      </p:sp>
      <p:graphicFrame>
        <p:nvGraphicFramePr>
          <p:cNvPr id="5" name="Table 5">
            <a:extLst>
              <a:ext uri="{FF2B5EF4-FFF2-40B4-BE49-F238E27FC236}">
                <a16:creationId xmlns:a16="http://schemas.microsoft.com/office/drawing/2014/main" id="{0C85E584-2A2D-3DB6-F767-D48B691064A4}"/>
              </a:ext>
            </a:extLst>
          </p:cNvPr>
          <p:cNvGraphicFramePr>
            <a:graphicFrameLocks noGrp="1"/>
          </p:cNvGraphicFramePr>
          <p:nvPr>
            <p:extLst>
              <p:ext uri="{D42A27DB-BD31-4B8C-83A1-F6EECF244321}">
                <p14:modId xmlns:p14="http://schemas.microsoft.com/office/powerpoint/2010/main" val="865299833"/>
              </p:ext>
            </p:extLst>
          </p:nvPr>
        </p:nvGraphicFramePr>
        <p:xfrm>
          <a:off x="7032881" y="3767490"/>
          <a:ext cx="4179604" cy="1737360"/>
        </p:xfrm>
        <a:graphic>
          <a:graphicData uri="http://schemas.openxmlformats.org/drawingml/2006/table">
            <a:tbl>
              <a:tblPr firstRow="1" bandRow="1">
                <a:tableStyleId>{69CF1AB2-1976-4502-BF36-3FF5EA218861}</a:tableStyleId>
              </a:tblPr>
              <a:tblGrid>
                <a:gridCol w="2337885">
                  <a:extLst>
                    <a:ext uri="{9D8B030D-6E8A-4147-A177-3AD203B41FA5}">
                      <a16:colId xmlns:a16="http://schemas.microsoft.com/office/drawing/2014/main" val="2870060718"/>
                    </a:ext>
                  </a:extLst>
                </a:gridCol>
                <a:gridCol w="1841719">
                  <a:extLst>
                    <a:ext uri="{9D8B030D-6E8A-4147-A177-3AD203B41FA5}">
                      <a16:colId xmlns:a16="http://schemas.microsoft.com/office/drawing/2014/main" val="1964155999"/>
                    </a:ext>
                  </a:extLst>
                </a:gridCol>
              </a:tblGrid>
              <a:tr h="250267">
                <a:tc>
                  <a:txBody>
                    <a:bodyPr/>
                    <a:lstStyle/>
                    <a:p>
                      <a:r>
                        <a:rPr lang="en-GB" sz="2400" b="0" dirty="0"/>
                        <a:t># Dialogues</a:t>
                      </a:r>
                      <a:endParaRPr lang="en-IT" sz="2400" b="0" dirty="0"/>
                    </a:p>
                  </a:txBody>
                  <a:tcPr/>
                </a:tc>
                <a:tc>
                  <a:txBody>
                    <a:bodyPr/>
                    <a:lstStyle/>
                    <a:p>
                      <a:pPr algn="r"/>
                      <a:r>
                        <a:rPr lang="en-IT" sz="2400" b="0" dirty="0"/>
                        <a:t>87,425 </a:t>
                      </a:r>
                    </a:p>
                  </a:txBody>
                  <a:tcPr/>
                </a:tc>
                <a:extLst>
                  <a:ext uri="{0D108BD9-81ED-4DB2-BD59-A6C34878D82A}">
                    <a16:rowId xmlns:a16="http://schemas.microsoft.com/office/drawing/2014/main" val="132875801"/>
                  </a:ext>
                </a:extLst>
              </a:tr>
              <a:tr h="37050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IT" sz="2400" dirty="0"/>
                        <a:t># Turns</a:t>
                      </a:r>
                    </a:p>
                  </a:txBody>
                  <a:tcPr/>
                </a:tc>
                <a:tc>
                  <a:txBody>
                    <a:bodyPr/>
                    <a:lstStyle/>
                    <a:p>
                      <a:pPr algn="r">
                        <a:buNone/>
                      </a:pPr>
                      <a:r>
                        <a:rPr lang="en-IT" sz="2400" dirty="0">
                          <a:effectLst/>
                        </a:rPr>
                        <a:t>525,392</a:t>
                      </a:r>
                      <a:endParaRPr lang="en-IT" sz="2400" dirty="0">
                        <a:effectLst/>
                        <a:latin typeface="Calibri" panose="020F0502020204030204" pitchFamily="34" charset="0"/>
                      </a:endParaRPr>
                    </a:p>
                  </a:txBody>
                  <a:tcPr marL="47625" marR="47625" marT="0" marB="0"/>
                </a:tc>
                <a:extLst>
                  <a:ext uri="{0D108BD9-81ED-4DB2-BD59-A6C34878D82A}">
                    <a16:rowId xmlns:a16="http://schemas.microsoft.com/office/drawing/2014/main" val="2340036133"/>
                  </a:ext>
                </a:extLst>
              </a:tr>
              <a:tr h="671158">
                <a:tc>
                  <a:txBody>
                    <a:bodyPr/>
                    <a:lstStyle/>
                    <a:p>
                      <a:r>
                        <a:rPr lang="en-IT" sz="2400" dirty="0"/>
                        <a:t>Avg Turn/Dialogue</a:t>
                      </a:r>
                    </a:p>
                  </a:txBody>
                  <a:tcPr/>
                </a:tc>
                <a:tc>
                  <a:txBody>
                    <a:bodyPr/>
                    <a:lstStyle/>
                    <a:p>
                      <a:pPr algn="r"/>
                      <a:r>
                        <a:rPr lang="en-IT" sz="2400" b="0" dirty="0"/>
                        <a:t>6</a:t>
                      </a:r>
                    </a:p>
                  </a:txBody>
                  <a:tcPr/>
                </a:tc>
                <a:extLst>
                  <a:ext uri="{0D108BD9-81ED-4DB2-BD59-A6C34878D82A}">
                    <a16:rowId xmlns:a16="http://schemas.microsoft.com/office/drawing/2014/main" val="3965404250"/>
                  </a:ext>
                </a:extLst>
              </a:tr>
            </a:tbl>
          </a:graphicData>
        </a:graphic>
      </p:graphicFrame>
      <p:pic>
        <p:nvPicPr>
          <p:cNvPr id="6" name="Picture 5" descr="A red circle with black text&#10;&#10;Description automatically generated">
            <a:extLst>
              <a:ext uri="{FF2B5EF4-FFF2-40B4-BE49-F238E27FC236}">
                <a16:creationId xmlns:a16="http://schemas.microsoft.com/office/drawing/2014/main" id="{9D47C0DC-605F-297D-22DE-C6CA82115E45}"/>
              </a:ext>
            </a:extLst>
          </p:cNvPr>
          <p:cNvPicPr>
            <a:picLocks noChangeAspect="1"/>
          </p:cNvPicPr>
          <p:nvPr/>
        </p:nvPicPr>
        <p:blipFill>
          <a:blip r:embed="rId3"/>
          <a:stretch>
            <a:fillRect/>
          </a:stretch>
        </p:blipFill>
        <p:spPr>
          <a:xfrm>
            <a:off x="-111407" y="5832004"/>
            <a:ext cx="812977" cy="820659"/>
          </a:xfrm>
          <a:prstGeom prst="rect">
            <a:avLst/>
          </a:prstGeom>
        </p:spPr>
      </p:pic>
    </p:spTree>
    <p:extLst>
      <p:ext uri="{BB962C8B-B14F-4D97-AF65-F5344CB8AC3E}">
        <p14:creationId xmlns:p14="http://schemas.microsoft.com/office/powerpoint/2010/main" val="28189311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C21B0-CE59-C74B-C5DF-255FA660F2EA}"/>
              </a:ext>
            </a:extLst>
          </p:cNvPr>
          <p:cNvSpPr>
            <a:spLocks noGrp="1"/>
          </p:cNvSpPr>
          <p:nvPr>
            <p:ph type="title"/>
          </p:nvPr>
        </p:nvSpPr>
        <p:spPr/>
        <p:txBody>
          <a:bodyPr/>
          <a:lstStyle/>
          <a:p>
            <a:r>
              <a:rPr lang="en-IT" dirty="0">
                <a:solidFill>
                  <a:srgbClr val="00B0F0"/>
                </a:solidFill>
              </a:rPr>
              <a:t>Synthetic Conversation example</a:t>
            </a:r>
          </a:p>
        </p:txBody>
      </p:sp>
      <p:pic>
        <p:nvPicPr>
          <p:cNvPr id="5" name="Content Placeholder 4">
            <a:extLst>
              <a:ext uri="{FF2B5EF4-FFF2-40B4-BE49-F238E27FC236}">
                <a16:creationId xmlns:a16="http://schemas.microsoft.com/office/drawing/2014/main" id="{EEF6E4AB-06DA-D20F-180F-4F4B39A1FF9F}"/>
              </a:ext>
            </a:extLst>
          </p:cNvPr>
          <p:cNvPicPr>
            <a:picLocks noGrp="1" noChangeAspect="1"/>
          </p:cNvPicPr>
          <p:nvPr>
            <p:ph idx="1"/>
          </p:nvPr>
        </p:nvPicPr>
        <p:blipFill>
          <a:blip r:embed="rId2"/>
          <a:stretch>
            <a:fillRect/>
          </a:stretch>
        </p:blipFill>
        <p:spPr>
          <a:xfrm>
            <a:off x="2073859" y="1846263"/>
            <a:ext cx="8104607" cy="4022725"/>
          </a:xfrm>
          <a:prstGeom prst="rect">
            <a:avLst/>
          </a:prstGeom>
        </p:spPr>
      </p:pic>
      <p:sp>
        <p:nvSpPr>
          <p:cNvPr id="4" name="Slide Number Placeholder 3">
            <a:extLst>
              <a:ext uri="{FF2B5EF4-FFF2-40B4-BE49-F238E27FC236}">
                <a16:creationId xmlns:a16="http://schemas.microsoft.com/office/drawing/2014/main" id="{C237543C-48EE-2D39-BB9B-D3CBA9F3DFB0}"/>
              </a:ext>
            </a:extLst>
          </p:cNvPr>
          <p:cNvSpPr>
            <a:spLocks noGrp="1"/>
          </p:cNvSpPr>
          <p:nvPr>
            <p:ph type="sldNum" sz="quarter" idx="12"/>
          </p:nvPr>
        </p:nvSpPr>
        <p:spPr/>
        <p:txBody>
          <a:bodyPr/>
          <a:lstStyle/>
          <a:p>
            <a:fld id="{6113E31D-E2AB-40D1-8B51-AFA5AFEF393A}" type="slidenum">
              <a:rPr lang="en-US" smtClean="0"/>
              <a:t>9</a:t>
            </a:fld>
            <a:endParaRPr lang="en-US" dirty="0"/>
          </a:p>
        </p:txBody>
      </p:sp>
    </p:spTree>
    <p:extLst>
      <p:ext uri="{BB962C8B-B14F-4D97-AF65-F5344CB8AC3E}">
        <p14:creationId xmlns:p14="http://schemas.microsoft.com/office/powerpoint/2010/main" val="2389962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7CBFD6-6081-F347-20BB-F5937CE61F2D}"/>
              </a:ext>
            </a:extLst>
          </p:cNvPr>
          <p:cNvSpPr>
            <a:spLocks noGrp="1"/>
          </p:cNvSpPr>
          <p:nvPr>
            <p:ph type="sldNum" sz="quarter" idx="12"/>
          </p:nvPr>
        </p:nvSpPr>
        <p:spPr/>
        <p:txBody>
          <a:bodyPr/>
          <a:lstStyle/>
          <a:p>
            <a:fld id="{4FAB73BC-B049-4115-A692-8D63A059BFB8}" type="slidenum">
              <a:rPr lang="en-US" smtClean="0"/>
              <a:pPr/>
              <a:t>10</a:t>
            </a:fld>
            <a:endParaRPr lang="en-US" dirty="0"/>
          </a:p>
        </p:txBody>
      </p:sp>
      <p:sp>
        <p:nvSpPr>
          <p:cNvPr id="6" name="TextBox 5">
            <a:extLst>
              <a:ext uri="{FF2B5EF4-FFF2-40B4-BE49-F238E27FC236}">
                <a16:creationId xmlns:a16="http://schemas.microsoft.com/office/drawing/2014/main" id="{C12474B4-9548-1253-8D6E-BB669C96EED1}"/>
              </a:ext>
            </a:extLst>
          </p:cNvPr>
          <p:cNvSpPr txBox="1"/>
          <p:nvPr/>
        </p:nvSpPr>
        <p:spPr>
          <a:xfrm>
            <a:off x="6283725" y="617863"/>
            <a:ext cx="5787084" cy="6124754"/>
          </a:xfrm>
          <a:prstGeom prst="rect">
            <a:avLst/>
          </a:prstGeom>
          <a:noFill/>
        </p:spPr>
        <p:txBody>
          <a:bodyPr wrap="square" rtlCol="0">
            <a:spAutoFit/>
          </a:bodyPr>
          <a:lstStyle/>
          <a:p>
            <a:r>
              <a:rPr lang="en-GB" sz="2200" b="1" kern="0" dirty="0">
                <a:ea typeface="Calibri" panose="020F0502020204030204" pitchFamily="34" charset="0"/>
                <a:cs typeface="`ÎÎ04"/>
              </a:rPr>
              <a:t>PPTOD</a:t>
            </a:r>
            <a:r>
              <a:rPr lang="en-GB" sz="2200" i="1" kern="0" dirty="0">
                <a:ea typeface="Calibri" panose="020F0502020204030204" pitchFamily="34" charset="0"/>
                <a:cs typeface="`ÎÎ04"/>
              </a:rPr>
              <a:t> </a:t>
            </a:r>
            <a:r>
              <a:rPr lang="en-GB" sz="2200" kern="0" dirty="0">
                <a:ea typeface="Calibri" panose="020F0502020204030204" pitchFamily="34" charset="0"/>
                <a:cs typeface="`ÎÎ04"/>
              </a:rPr>
              <a:t>(Plug-and-Play Task Oriented Dialog System) [Su et al 22]</a:t>
            </a:r>
          </a:p>
          <a:p>
            <a:r>
              <a:rPr lang="en-GB" sz="2200" i="1" kern="0" dirty="0">
                <a:ea typeface="Calibri" panose="020F0502020204030204" pitchFamily="34" charset="0"/>
                <a:cs typeface="`ÎÎ04"/>
              </a:rPr>
              <a:t> </a:t>
            </a:r>
            <a:endParaRPr lang="en-IT" sz="2200" kern="100" dirty="0">
              <a:ea typeface="Calibri" panose="020F0502020204030204" pitchFamily="34" charset="0"/>
              <a:cs typeface="Times New Roman" panose="02020603050405020304" pitchFamily="18" charset="0"/>
            </a:endParaRPr>
          </a:p>
          <a:p>
            <a:r>
              <a:rPr lang="en-GB" sz="2200" i="1" kern="0" dirty="0">
                <a:ea typeface="Calibri" panose="020F0502020204030204" pitchFamily="34" charset="0"/>
                <a:cs typeface="`ÎÎ04"/>
              </a:rPr>
              <a:t>● </a:t>
            </a:r>
            <a:r>
              <a:rPr lang="en-GB" sz="2200" kern="0" dirty="0">
                <a:ea typeface="Calibri" panose="020F0502020204030204" pitchFamily="34" charset="0"/>
                <a:cs typeface="`ÎÎ04"/>
              </a:rPr>
              <a:t>T5 based - designed for task-oriented dialogue</a:t>
            </a:r>
          </a:p>
          <a:p>
            <a:endParaRPr lang="en-GB" sz="2200" kern="0" dirty="0">
              <a:ea typeface="Calibri" panose="020F0502020204030204" pitchFamily="34" charset="0"/>
              <a:cs typeface="`ÎÎ04"/>
            </a:endParaRPr>
          </a:p>
          <a:p>
            <a:r>
              <a:rPr lang="en-GB" sz="2200" i="1" kern="0" dirty="0">
                <a:ea typeface="Calibri" panose="020F0502020204030204" pitchFamily="34" charset="0"/>
                <a:cs typeface="`ÎÎ04"/>
              </a:rPr>
              <a:t>● </a:t>
            </a:r>
            <a:r>
              <a:rPr lang="en-GB" sz="2200" kern="0" dirty="0">
                <a:ea typeface="Calibri" panose="020F0502020204030204" pitchFamily="34" charset="0"/>
                <a:cs typeface="`ÎÎ04"/>
              </a:rPr>
              <a:t>Trained on synthetic dataset</a:t>
            </a:r>
            <a:endParaRPr lang="en-IT" sz="2200" kern="100" dirty="0">
              <a:ea typeface="Calibri" panose="020F0502020204030204" pitchFamily="34" charset="0"/>
              <a:cs typeface="Times New Roman" panose="02020603050405020304" pitchFamily="18" charset="0"/>
            </a:endParaRPr>
          </a:p>
          <a:p>
            <a:endParaRPr lang="en-GB" sz="2200" kern="0" dirty="0">
              <a:ea typeface="Calibri" panose="020F0502020204030204" pitchFamily="34" charset="0"/>
              <a:cs typeface="`ÎÎ04"/>
            </a:endParaRPr>
          </a:p>
          <a:p>
            <a:r>
              <a:rPr lang="en-GB" sz="2200" kern="0" dirty="0">
                <a:ea typeface="Calibri" panose="020F0502020204030204" pitchFamily="34" charset="0"/>
                <a:cs typeface="`ÎÎ04"/>
              </a:rPr>
              <a:t>● Performance: correctly identified most slot values but not salt values</a:t>
            </a:r>
          </a:p>
          <a:p>
            <a:endParaRPr lang="en-IT" sz="2200" kern="100" dirty="0">
              <a:ea typeface="Calibri" panose="020F0502020204030204" pitchFamily="34" charset="0"/>
              <a:cs typeface="Times New Roman" panose="02020603050405020304" pitchFamily="18" charset="0"/>
            </a:endParaRPr>
          </a:p>
          <a:p>
            <a:r>
              <a:rPr lang="en-GB" sz="2200" b="1" kern="0" dirty="0" err="1">
                <a:ea typeface="Calibri" panose="020F0502020204030204" pitchFamily="34" charset="0"/>
                <a:cs typeface="Times New Roman" panose="02020603050405020304" pitchFamily="18" charset="0"/>
              </a:rPr>
              <a:t>HFFood</a:t>
            </a:r>
            <a:r>
              <a:rPr lang="en-GB" sz="2200" b="1" kern="0" dirty="0">
                <a:ea typeface="Calibri" panose="020F0502020204030204" pitchFamily="34" charset="0"/>
                <a:cs typeface="Times New Roman" panose="02020603050405020304" pitchFamily="18" charset="0"/>
              </a:rPr>
              <a:t>-NS</a:t>
            </a:r>
            <a:r>
              <a:rPr lang="en-IT" sz="2200" kern="100" dirty="0">
                <a:ea typeface="Calibri" panose="020F0502020204030204" pitchFamily="34" charset="0"/>
                <a:cs typeface="Times New Roman" panose="02020603050405020304" pitchFamily="18" charset="0"/>
              </a:rPr>
              <a:t>: </a:t>
            </a:r>
            <a:r>
              <a:rPr lang="en-GB" sz="2200" kern="0" dirty="0">
                <a:ea typeface="Calibri" panose="020F0502020204030204" pitchFamily="34" charset="0"/>
                <a:cs typeface="`ÎÎ04"/>
              </a:rPr>
              <a:t>Adds neuro-symbolic rules</a:t>
            </a:r>
            <a:endParaRPr lang="en-IT" sz="2200" kern="100" dirty="0">
              <a:ea typeface="Calibri" panose="020F0502020204030204" pitchFamily="34" charset="0"/>
              <a:cs typeface="Times New Roman" panose="02020603050405020304" pitchFamily="18" charset="0"/>
            </a:endParaRPr>
          </a:p>
          <a:p>
            <a:endParaRPr lang="en-GB" sz="2200" kern="0" dirty="0">
              <a:ea typeface="Calibri" panose="020F0502020204030204" pitchFamily="34" charset="0"/>
              <a:cs typeface="`ÎÎ04"/>
            </a:endParaRPr>
          </a:p>
          <a:p>
            <a:r>
              <a:rPr lang="en-GB" sz="2200" kern="0" dirty="0">
                <a:ea typeface="Calibri" panose="020F0502020204030204" pitchFamily="34" charset="0"/>
                <a:cs typeface="`ÎÎ04"/>
              </a:rPr>
              <a:t>● Retrieval of accurate salt value from database</a:t>
            </a:r>
            <a:endParaRPr lang="en-IT" sz="2200" kern="100" dirty="0">
              <a:ea typeface="Calibri" panose="020F0502020204030204" pitchFamily="34" charset="0"/>
              <a:cs typeface="Times New Roman" panose="02020603050405020304" pitchFamily="18" charset="0"/>
            </a:endParaRPr>
          </a:p>
          <a:p>
            <a:r>
              <a:rPr lang="en-GB" sz="2200" kern="0" dirty="0">
                <a:ea typeface="Calibri" panose="020F0502020204030204" pitchFamily="34" charset="0"/>
                <a:cs typeface="`ÎÎ04"/>
              </a:rPr>
              <a:t>● Calculation of correct salt value for queried food weights (based on USDA </a:t>
            </a:r>
            <a:r>
              <a:rPr lang="en-GB" sz="2200" dirty="0"/>
              <a:t>Food Composition</a:t>
            </a:r>
          </a:p>
          <a:p>
            <a:r>
              <a:rPr lang="en-GB" sz="2200" dirty="0"/>
              <a:t>Database)</a:t>
            </a:r>
          </a:p>
          <a:p>
            <a:endParaRPr lang="en-IT" sz="2200" kern="100" dirty="0">
              <a:ea typeface="Calibri" panose="020F0502020204030204" pitchFamily="34" charset="0"/>
              <a:cs typeface="Times New Roman" panose="02020603050405020304" pitchFamily="18" charset="0"/>
            </a:endParaRPr>
          </a:p>
          <a:p>
            <a:endParaRPr lang="en-IT" kern="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EB7D7CAF-6101-1B14-051A-5ECBF485389E}"/>
              </a:ext>
            </a:extLst>
          </p:cNvPr>
          <p:cNvSpPr txBox="1"/>
          <p:nvPr/>
        </p:nvSpPr>
        <p:spPr>
          <a:xfrm>
            <a:off x="6189651" y="53601"/>
            <a:ext cx="5532220" cy="584775"/>
          </a:xfrm>
          <a:prstGeom prst="rect">
            <a:avLst/>
          </a:prstGeom>
          <a:noFill/>
        </p:spPr>
        <p:txBody>
          <a:bodyPr wrap="none" rtlCol="0">
            <a:spAutoFit/>
          </a:bodyPr>
          <a:lstStyle/>
          <a:p>
            <a:r>
              <a:rPr lang="en-IT" sz="3200" b="1" dirty="0">
                <a:solidFill>
                  <a:srgbClr val="00B0F0"/>
                </a:solidFill>
              </a:rPr>
              <a:t>HFFood-NS </a:t>
            </a:r>
            <a:r>
              <a:rPr lang="en-IT" sz="2800" b="1" dirty="0">
                <a:solidFill>
                  <a:srgbClr val="00B0F0"/>
                </a:solidFill>
              </a:rPr>
              <a:t>[Tayal et al SigDIAL 24]</a:t>
            </a:r>
          </a:p>
        </p:txBody>
      </p:sp>
      <p:pic>
        <p:nvPicPr>
          <p:cNvPr id="5" name="Picture 4" descr="A diagram of a diagram&#10;&#10;AI-generated content may be incorrect.">
            <a:extLst>
              <a:ext uri="{FF2B5EF4-FFF2-40B4-BE49-F238E27FC236}">
                <a16:creationId xmlns:a16="http://schemas.microsoft.com/office/drawing/2014/main" id="{BF591BC3-11E0-226E-6824-C8E245238D00}"/>
              </a:ext>
            </a:extLst>
          </p:cNvPr>
          <p:cNvPicPr>
            <a:picLocks noChangeAspect="1"/>
          </p:cNvPicPr>
          <p:nvPr/>
        </p:nvPicPr>
        <p:blipFill>
          <a:blip r:embed="rId3"/>
          <a:stretch>
            <a:fillRect/>
          </a:stretch>
        </p:blipFill>
        <p:spPr>
          <a:xfrm>
            <a:off x="223793" y="331981"/>
            <a:ext cx="5534455" cy="4150841"/>
          </a:xfrm>
          <a:prstGeom prst="rect">
            <a:avLst/>
          </a:prstGeom>
        </p:spPr>
      </p:pic>
      <p:pic>
        <p:nvPicPr>
          <p:cNvPr id="9" name="Picture 8" descr="A diagram of a model&#10;&#10;AI-generated content may be incorrect.">
            <a:extLst>
              <a:ext uri="{FF2B5EF4-FFF2-40B4-BE49-F238E27FC236}">
                <a16:creationId xmlns:a16="http://schemas.microsoft.com/office/drawing/2014/main" id="{BF029D26-1F64-D07E-2136-B3035FEA3EDB}"/>
              </a:ext>
            </a:extLst>
          </p:cNvPr>
          <p:cNvPicPr>
            <a:picLocks noChangeAspect="1"/>
          </p:cNvPicPr>
          <p:nvPr/>
        </p:nvPicPr>
        <p:blipFill>
          <a:blip r:embed="rId4"/>
          <a:stretch>
            <a:fillRect/>
          </a:stretch>
        </p:blipFill>
        <p:spPr>
          <a:xfrm>
            <a:off x="99690" y="4482822"/>
            <a:ext cx="5782659" cy="1522562"/>
          </a:xfrm>
          <a:prstGeom prst="rect">
            <a:avLst/>
          </a:prstGeom>
        </p:spPr>
      </p:pic>
      <p:pic>
        <p:nvPicPr>
          <p:cNvPr id="10" name="Picture 9" descr="A red circle with black text&#10;&#10;Description automatically generated">
            <a:extLst>
              <a:ext uri="{FF2B5EF4-FFF2-40B4-BE49-F238E27FC236}">
                <a16:creationId xmlns:a16="http://schemas.microsoft.com/office/drawing/2014/main" id="{5703A594-83E8-B637-FBFF-1F27289C8E1A}"/>
              </a:ext>
            </a:extLst>
          </p:cNvPr>
          <p:cNvPicPr>
            <a:picLocks noChangeAspect="1"/>
          </p:cNvPicPr>
          <p:nvPr/>
        </p:nvPicPr>
        <p:blipFill>
          <a:blip r:embed="rId5"/>
          <a:stretch>
            <a:fillRect/>
          </a:stretch>
        </p:blipFill>
        <p:spPr>
          <a:xfrm>
            <a:off x="-111407" y="6005384"/>
            <a:ext cx="812977" cy="647279"/>
          </a:xfrm>
          <a:prstGeom prst="rect">
            <a:avLst/>
          </a:prstGeom>
        </p:spPr>
      </p:pic>
    </p:spTree>
    <p:extLst>
      <p:ext uri="{BB962C8B-B14F-4D97-AF65-F5344CB8AC3E}">
        <p14:creationId xmlns:p14="http://schemas.microsoft.com/office/powerpoint/2010/main" val="3481027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51EDD-3D42-234F-5860-DCFEE561C802}"/>
              </a:ext>
            </a:extLst>
          </p:cNvPr>
          <p:cNvSpPr>
            <a:spLocks noGrp="1"/>
          </p:cNvSpPr>
          <p:nvPr>
            <p:ph type="title"/>
          </p:nvPr>
        </p:nvSpPr>
        <p:spPr/>
        <p:txBody>
          <a:bodyPr/>
          <a:lstStyle/>
          <a:p>
            <a:r>
              <a:rPr lang="en-IT" b="1" dirty="0">
                <a:solidFill>
                  <a:srgbClr val="00B0F0"/>
                </a:solidFill>
                <a:latin typeface="+mn-lt"/>
              </a:rPr>
              <a:t>HFFood-GPT - Prompt</a:t>
            </a:r>
          </a:p>
        </p:txBody>
      </p:sp>
      <p:sp>
        <p:nvSpPr>
          <p:cNvPr id="3" name="Content Placeholder 2">
            <a:extLst>
              <a:ext uri="{FF2B5EF4-FFF2-40B4-BE49-F238E27FC236}">
                <a16:creationId xmlns:a16="http://schemas.microsoft.com/office/drawing/2014/main" id="{845AC640-6E72-F0B0-E496-E209B997EBE0}"/>
              </a:ext>
            </a:extLst>
          </p:cNvPr>
          <p:cNvSpPr>
            <a:spLocks noGrp="1"/>
          </p:cNvSpPr>
          <p:nvPr>
            <p:ph idx="1"/>
          </p:nvPr>
        </p:nvSpPr>
        <p:spPr/>
        <p:txBody>
          <a:bodyPr>
            <a:normAutofit lnSpcReduction="10000"/>
          </a:bodyPr>
          <a:lstStyle/>
          <a:p>
            <a:r>
              <a:rPr lang="en-US" sz="2400" kern="100" dirty="0">
                <a:latin typeface="Calibri" panose="020F0502020204030204" pitchFamily="34" charset="0"/>
                <a:ea typeface="Calibri" panose="020F0502020204030204" pitchFamily="34" charset="0"/>
                <a:cs typeface="Times New Roman" panose="02020603050405020304" pitchFamily="18" charset="0"/>
              </a:rPr>
              <a:t>Sodium Scout greets users warmly and helps analyze the salt content in various foods. It methodically asks users about the </a:t>
            </a:r>
            <a:r>
              <a:rPr lang="en-US" sz="2400" b="1" kern="100" dirty="0">
                <a:latin typeface="Calibri" panose="020F0502020204030204" pitchFamily="34" charset="0"/>
                <a:ea typeface="Calibri" panose="020F0502020204030204" pitchFamily="34" charset="0"/>
                <a:cs typeface="Times New Roman" panose="02020603050405020304" pitchFamily="18" charset="0"/>
              </a:rPr>
              <a:t>food type, cooking method, and portion size, one question at a time</a:t>
            </a:r>
            <a:r>
              <a:rPr lang="en-US" sz="2400" kern="100" dirty="0">
                <a:latin typeface="Calibri" panose="020F0502020204030204" pitchFamily="34" charset="0"/>
                <a:ea typeface="Calibri" panose="020F0502020204030204" pitchFamily="34" charset="0"/>
                <a:cs typeface="Times New Roman" panose="02020603050405020304" pitchFamily="18" charset="0"/>
              </a:rPr>
              <a:t>, to accurately determine the salt content. </a:t>
            </a:r>
          </a:p>
          <a:p>
            <a:r>
              <a:rPr lang="en-US" sz="2400" kern="100" dirty="0">
                <a:latin typeface="Calibri" panose="020F0502020204030204" pitchFamily="34" charset="0"/>
                <a:ea typeface="Calibri" panose="020F0502020204030204" pitchFamily="34" charset="0"/>
                <a:cs typeface="Times New Roman" panose="02020603050405020304" pitchFamily="18" charset="0"/>
              </a:rPr>
              <a:t>Using values from a provided JSON file, Sodium Scout calculates the estimate salt content and compares it to the recommended daily intake of 2000mg. It advises that foods exceeding 20% of this intake are not recommended, while those below 5% are favorable choices. </a:t>
            </a:r>
          </a:p>
          <a:p>
            <a:r>
              <a:rPr lang="en-US" sz="2400" b="1" kern="100" dirty="0">
                <a:latin typeface="Calibri" panose="020F0502020204030204" pitchFamily="34" charset="0"/>
                <a:ea typeface="Calibri" panose="020F0502020204030204" pitchFamily="34" charset="0"/>
                <a:cs typeface="Times New Roman" panose="02020603050405020304" pitchFamily="18" charset="0"/>
              </a:rPr>
              <a:t>Sodium Scout refrains from giving health advice and suggesting consulting a professional for dietary guidance. </a:t>
            </a:r>
            <a:r>
              <a:rPr lang="en-US" sz="2400" kern="100" dirty="0">
                <a:latin typeface="Calibri" panose="020F0502020204030204" pitchFamily="34" charset="0"/>
                <a:ea typeface="Calibri" panose="020F0502020204030204" pitchFamily="34" charset="0"/>
                <a:cs typeface="Times New Roman" panose="02020603050405020304" pitchFamily="18" charset="0"/>
              </a:rPr>
              <a:t> Answers are kept </a:t>
            </a:r>
            <a:r>
              <a:rPr lang="en-US" sz="2400" b="1" kern="100" dirty="0">
                <a:solidFill>
                  <a:srgbClr val="FF0000"/>
                </a:solidFill>
                <a:latin typeface="Calibri" panose="020F0502020204030204" pitchFamily="34" charset="0"/>
                <a:ea typeface="Calibri" panose="020F0502020204030204" pitchFamily="34" charset="0"/>
                <a:cs typeface="Times New Roman" panose="02020603050405020304" pitchFamily="18" charset="0"/>
              </a:rPr>
              <a:t>under 40 words,</a:t>
            </a:r>
            <a:r>
              <a:rPr lang="en-US" sz="2400" kern="1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a:t>
            </a:r>
            <a:r>
              <a:rPr lang="en-US" sz="2400" kern="100" dirty="0">
                <a:latin typeface="Calibri" panose="020F0502020204030204" pitchFamily="34" charset="0"/>
                <a:ea typeface="Calibri" panose="020F0502020204030204" pitchFamily="34" charset="0"/>
                <a:cs typeface="Times New Roman" panose="02020603050405020304" pitchFamily="18" charset="0"/>
              </a:rPr>
              <a:t>and it only searches the data provided in the JSON file. </a:t>
            </a:r>
            <a:r>
              <a:rPr lang="en-US" sz="2400" b="1" kern="100" dirty="0">
                <a:latin typeface="Calibri" panose="020F0502020204030204" pitchFamily="34" charset="0"/>
                <a:ea typeface="Calibri" panose="020F0502020204030204" pitchFamily="34" charset="0"/>
                <a:cs typeface="Times New Roman" panose="02020603050405020304" pitchFamily="18" charset="0"/>
              </a:rPr>
              <a:t>Users do not know about the data file, so don't discuss it. Only focus on information related to food and their salt amount. Do not look for information on the web.</a:t>
            </a:r>
            <a:endParaRPr lang="en-IT" sz="2400" kern="100" dirty="0">
              <a:latin typeface="Calibri" panose="020F0502020204030204" pitchFamily="34" charset="0"/>
              <a:ea typeface="Calibri" panose="020F0502020204030204" pitchFamily="34" charset="0"/>
              <a:cs typeface="Times New Roman" panose="02020603050405020304" pitchFamily="18" charset="0"/>
            </a:endParaRPr>
          </a:p>
          <a:p>
            <a:endParaRPr lang="en-IT" dirty="0"/>
          </a:p>
        </p:txBody>
      </p:sp>
      <p:sp>
        <p:nvSpPr>
          <p:cNvPr id="4" name="Slide Number Placeholder 3">
            <a:extLst>
              <a:ext uri="{FF2B5EF4-FFF2-40B4-BE49-F238E27FC236}">
                <a16:creationId xmlns:a16="http://schemas.microsoft.com/office/drawing/2014/main" id="{0542EFF2-EDEE-0D30-7BAA-761DB9C6C8AC}"/>
              </a:ext>
            </a:extLst>
          </p:cNvPr>
          <p:cNvSpPr>
            <a:spLocks noGrp="1"/>
          </p:cNvSpPr>
          <p:nvPr>
            <p:ph type="sldNum" sz="quarter" idx="12"/>
          </p:nvPr>
        </p:nvSpPr>
        <p:spPr/>
        <p:txBody>
          <a:bodyPr/>
          <a:lstStyle/>
          <a:p>
            <a:fld id="{6113E31D-E2AB-40D1-8B51-AFA5AFEF393A}" type="slidenum">
              <a:rPr lang="en-US" smtClean="0"/>
              <a:t>11</a:t>
            </a:fld>
            <a:endParaRPr lang="en-US" dirty="0"/>
          </a:p>
        </p:txBody>
      </p:sp>
      <p:pic>
        <p:nvPicPr>
          <p:cNvPr id="5" name="Picture 4" descr="A red circle with black text&#10;&#10;Description automatically generated">
            <a:extLst>
              <a:ext uri="{FF2B5EF4-FFF2-40B4-BE49-F238E27FC236}">
                <a16:creationId xmlns:a16="http://schemas.microsoft.com/office/drawing/2014/main" id="{A9ADDBA2-BF52-AEC3-C028-7128F150E549}"/>
              </a:ext>
            </a:extLst>
          </p:cNvPr>
          <p:cNvPicPr>
            <a:picLocks noChangeAspect="1"/>
          </p:cNvPicPr>
          <p:nvPr/>
        </p:nvPicPr>
        <p:blipFill>
          <a:blip r:embed="rId3"/>
          <a:stretch>
            <a:fillRect/>
          </a:stretch>
        </p:blipFill>
        <p:spPr>
          <a:xfrm>
            <a:off x="-199423" y="5625073"/>
            <a:ext cx="1126180" cy="1136822"/>
          </a:xfrm>
          <a:prstGeom prst="rect">
            <a:avLst/>
          </a:prstGeom>
        </p:spPr>
      </p:pic>
    </p:spTree>
    <p:extLst>
      <p:ext uri="{BB962C8B-B14F-4D97-AF65-F5344CB8AC3E}">
        <p14:creationId xmlns:p14="http://schemas.microsoft.com/office/powerpoint/2010/main" val="3703526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3ED58-3D33-5B4C-1A29-A8E0278A6187}"/>
              </a:ext>
            </a:extLst>
          </p:cNvPr>
          <p:cNvSpPr>
            <a:spLocks noGrp="1"/>
          </p:cNvSpPr>
          <p:nvPr>
            <p:ph type="title"/>
          </p:nvPr>
        </p:nvSpPr>
        <p:spPr/>
        <p:txBody>
          <a:bodyPr/>
          <a:lstStyle/>
          <a:p>
            <a:r>
              <a:rPr lang="en-IT" b="1" dirty="0">
                <a:solidFill>
                  <a:srgbClr val="00B0F0"/>
                </a:solidFill>
                <a:latin typeface="+mn-lt"/>
              </a:rPr>
              <a:t>Within-subject User Study [Tayal et al LREC 26]</a:t>
            </a:r>
          </a:p>
        </p:txBody>
      </p:sp>
      <p:sp>
        <p:nvSpPr>
          <p:cNvPr id="3" name="Content Placeholder 2">
            <a:extLst>
              <a:ext uri="{FF2B5EF4-FFF2-40B4-BE49-F238E27FC236}">
                <a16:creationId xmlns:a16="http://schemas.microsoft.com/office/drawing/2014/main" id="{52FF7874-14B4-B89F-4D4C-3A306F58CFFE}"/>
              </a:ext>
            </a:extLst>
          </p:cNvPr>
          <p:cNvSpPr>
            <a:spLocks noGrp="1"/>
          </p:cNvSpPr>
          <p:nvPr>
            <p:ph idx="1"/>
          </p:nvPr>
        </p:nvSpPr>
        <p:spPr>
          <a:xfrm>
            <a:off x="1097280" y="1845734"/>
            <a:ext cx="10474036" cy="4023360"/>
          </a:xfrm>
        </p:spPr>
        <p:txBody>
          <a:bodyPr>
            <a:normAutofit/>
          </a:bodyPr>
          <a:lstStyle/>
          <a:p>
            <a:pPr>
              <a:buFont typeface="Wingdings" pitchFamily="2" charset="2"/>
              <a:buChar char="v"/>
            </a:pPr>
            <a:r>
              <a:rPr lang="en-IT" sz="2800" dirty="0"/>
              <a:t>20 AA, hospitalized patients interact first with HFFood-NS, then with  HFFood-GPT, or viceversa (balanced order)</a:t>
            </a:r>
          </a:p>
          <a:p>
            <a:pPr>
              <a:buFont typeface="Wingdings" pitchFamily="2" charset="2"/>
              <a:buChar char="v"/>
            </a:pPr>
            <a:r>
              <a:rPr lang="en-IT" sz="2800" dirty="0"/>
              <a:t> Health Literacy &amp; Digital Literacy were assessed with validated instruments (</a:t>
            </a:r>
            <a:r>
              <a:rPr lang="en-IT" sz="2400" dirty="0"/>
              <a:t>BRIEF [Haun et al 2009]; eHEALS [Norman &amp; Skinner 2006])</a:t>
            </a:r>
          </a:p>
          <a:p>
            <a:pPr>
              <a:buFont typeface="Wingdings" pitchFamily="2" charset="2"/>
              <a:buChar char="v"/>
            </a:pPr>
            <a:r>
              <a:rPr lang="en-IT" sz="2800" dirty="0"/>
              <a:t>Asked 5 questions of first system, same questions of second system</a:t>
            </a:r>
          </a:p>
          <a:p>
            <a:pPr>
              <a:buFont typeface="Wingdings" pitchFamily="2" charset="2"/>
              <a:buChar char="v"/>
            </a:pPr>
            <a:r>
              <a:rPr lang="en-IT" sz="2800" dirty="0"/>
              <a:t>Evaluation: system accuracy (salt values, slot values, hallucinations); post-survey questionnaire; readability</a:t>
            </a:r>
          </a:p>
          <a:p>
            <a:pPr marL="0" indent="0">
              <a:buNone/>
            </a:pPr>
            <a:endParaRPr lang="en-IT" sz="2800" dirty="0"/>
          </a:p>
        </p:txBody>
      </p:sp>
      <p:sp>
        <p:nvSpPr>
          <p:cNvPr id="4" name="Slide Number Placeholder 3">
            <a:extLst>
              <a:ext uri="{FF2B5EF4-FFF2-40B4-BE49-F238E27FC236}">
                <a16:creationId xmlns:a16="http://schemas.microsoft.com/office/drawing/2014/main" id="{A1402643-D8F7-A81D-9612-CDDCF2101F5D}"/>
              </a:ext>
            </a:extLst>
          </p:cNvPr>
          <p:cNvSpPr>
            <a:spLocks noGrp="1"/>
          </p:cNvSpPr>
          <p:nvPr>
            <p:ph type="sldNum" sz="quarter" idx="12"/>
          </p:nvPr>
        </p:nvSpPr>
        <p:spPr/>
        <p:txBody>
          <a:bodyPr/>
          <a:lstStyle/>
          <a:p>
            <a:fld id="{6113E31D-E2AB-40D1-8B51-AFA5AFEF393A}" type="slidenum">
              <a:rPr lang="en-US" smtClean="0"/>
              <a:t>12</a:t>
            </a:fld>
            <a:endParaRPr lang="en-US" dirty="0"/>
          </a:p>
        </p:txBody>
      </p:sp>
      <p:pic>
        <p:nvPicPr>
          <p:cNvPr id="5" name="Picture 4" descr="A red circle with black text&#10;&#10;Description automatically generated">
            <a:extLst>
              <a:ext uri="{FF2B5EF4-FFF2-40B4-BE49-F238E27FC236}">
                <a16:creationId xmlns:a16="http://schemas.microsoft.com/office/drawing/2014/main" id="{F62700A9-F8A9-AE73-CD7C-DC0D5DACDAC9}"/>
              </a:ext>
            </a:extLst>
          </p:cNvPr>
          <p:cNvPicPr>
            <a:picLocks noChangeAspect="1"/>
          </p:cNvPicPr>
          <p:nvPr/>
        </p:nvPicPr>
        <p:blipFill>
          <a:blip r:embed="rId3"/>
          <a:stretch>
            <a:fillRect/>
          </a:stretch>
        </p:blipFill>
        <p:spPr>
          <a:xfrm>
            <a:off x="-199423" y="5625073"/>
            <a:ext cx="1126180" cy="1136822"/>
          </a:xfrm>
          <a:prstGeom prst="rect">
            <a:avLst/>
          </a:prstGeom>
        </p:spPr>
      </p:pic>
    </p:spTree>
    <p:extLst>
      <p:ext uri="{BB962C8B-B14F-4D97-AF65-F5344CB8AC3E}">
        <p14:creationId xmlns:p14="http://schemas.microsoft.com/office/powerpoint/2010/main" val="2434836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31557-570E-9A54-8A0E-49679A9A605C}"/>
              </a:ext>
            </a:extLst>
          </p:cNvPr>
          <p:cNvSpPr>
            <a:spLocks noGrp="1"/>
          </p:cNvSpPr>
          <p:nvPr>
            <p:ph type="title"/>
          </p:nvPr>
        </p:nvSpPr>
        <p:spPr>
          <a:xfrm>
            <a:off x="1097280" y="637756"/>
            <a:ext cx="10058400" cy="702299"/>
          </a:xfrm>
        </p:spPr>
        <p:txBody>
          <a:bodyPr/>
          <a:lstStyle/>
          <a:p>
            <a:pPr algn="ctr"/>
            <a:r>
              <a:rPr lang="en-IT" b="1" dirty="0">
                <a:solidFill>
                  <a:srgbClr val="00B0F0"/>
                </a:solidFill>
                <a:latin typeface="+mn-lt"/>
              </a:rPr>
              <a:t>Additional details </a:t>
            </a:r>
          </a:p>
        </p:txBody>
      </p:sp>
      <p:sp>
        <p:nvSpPr>
          <p:cNvPr id="3" name="Content Placeholder 2">
            <a:extLst>
              <a:ext uri="{FF2B5EF4-FFF2-40B4-BE49-F238E27FC236}">
                <a16:creationId xmlns:a16="http://schemas.microsoft.com/office/drawing/2014/main" id="{88770497-1057-0D47-68DE-15F408AAC404}"/>
              </a:ext>
            </a:extLst>
          </p:cNvPr>
          <p:cNvSpPr>
            <a:spLocks noGrp="1"/>
          </p:cNvSpPr>
          <p:nvPr>
            <p:ph idx="1"/>
          </p:nvPr>
        </p:nvSpPr>
        <p:spPr>
          <a:xfrm>
            <a:off x="1097279" y="1895708"/>
            <a:ext cx="10433459" cy="4185260"/>
          </a:xfrm>
        </p:spPr>
        <p:txBody>
          <a:bodyPr>
            <a:noAutofit/>
          </a:bodyPr>
          <a:lstStyle/>
          <a:p>
            <a:pPr>
              <a:buFont typeface="Wingdings" pitchFamily="2" charset="2"/>
              <a:buChar char="v"/>
            </a:pPr>
            <a:r>
              <a:rPr lang="en-IT" sz="2800" dirty="0"/>
              <a:t>Systems identified only as </a:t>
            </a:r>
            <a:r>
              <a:rPr lang="en-GB" sz="2800" dirty="0"/>
              <a:t>Lion (</a:t>
            </a:r>
            <a:r>
              <a:rPr lang="en-GB" sz="2800" dirty="0" err="1"/>
              <a:t>HFCHat</a:t>
            </a:r>
            <a:r>
              <a:rPr lang="en-GB" sz="2800"/>
              <a:t>-NS) / </a:t>
            </a:r>
            <a:r>
              <a:rPr lang="en-GB" sz="2800" dirty="0"/>
              <a:t>Shark (</a:t>
            </a:r>
            <a:r>
              <a:rPr lang="en-GB" sz="2800" dirty="0" err="1"/>
              <a:t>HFChat</a:t>
            </a:r>
            <a:r>
              <a:rPr lang="en-GB" sz="2800" dirty="0"/>
              <a:t>-GPT)</a:t>
            </a:r>
          </a:p>
          <a:p>
            <a:pPr>
              <a:buFont typeface="Wingdings" pitchFamily="2" charset="2"/>
              <a:buChar char="v"/>
            </a:pPr>
            <a:r>
              <a:rPr lang="en-GB" sz="2800" dirty="0"/>
              <a:t>Balanced presentation: one patient starts with Shark, next with Lion</a:t>
            </a:r>
          </a:p>
          <a:p>
            <a:pPr>
              <a:buFont typeface="Wingdings" pitchFamily="2" charset="2"/>
              <a:buChar char="v"/>
            </a:pPr>
            <a:r>
              <a:rPr lang="en-IT" sz="2800" dirty="0"/>
              <a:t>Minimalistic User Interface on tablet: </a:t>
            </a:r>
          </a:p>
          <a:p>
            <a:pPr lvl="1">
              <a:buFont typeface="Arial" panose="020B0604020202020204" pitchFamily="34" charset="0"/>
              <a:buChar char="•"/>
            </a:pPr>
            <a:r>
              <a:rPr lang="en-GB" sz="2800" dirty="0"/>
              <a:t>two radio buttons to select system: Shark/Lion</a:t>
            </a:r>
          </a:p>
          <a:p>
            <a:pPr lvl="1">
              <a:buFont typeface="Arial" panose="020B0604020202020204" pitchFamily="34" charset="0"/>
              <a:buChar char="•"/>
            </a:pPr>
            <a:r>
              <a:rPr lang="en-GB" sz="2800" dirty="0"/>
              <a:t>one button to indicate whether system is recording or listening</a:t>
            </a:r>
          </a:p>
          <a:p>
            <a:pPr>
              <a:buFont typeface="Wingdings" pitchFamily="2" charset="2"/>
              <a:buChar char="v"/>
            </a:pPr>
            <a:r>
              <a:rPr lang="en-IT" sz="2800" dirty="0"/>
              <a:t>Both systems use same Speech Recognizer: O</a:t>
            </a:r>
            <a:r>
              <a:rPr lang="en-GB" sz="2800" dirty="0"/>
              <a:t>p</a:t>
            </a:r>
            <a:r>
              <a:rPr lang="en-IT" sz="2800" dirty="0"/>
              <a:t>enAI Whisper-1 </a:t>
            </a:r>
            <a:r>
              <a:rPr lang="en-IT" sz="2400" dirty="0"/>
              <a:t>[Radford et al 23]</a:t>
            </a:r>
            <a:endParaRPr lang="en-IT" sz="2800" dirty="0"/>
          </a:p>
          <a:p>
            <a:pPr>
              <a:buFont typeface="Wingdings" pitchFamily="2" charset="2"/>
              <a:buChar char="v"/>
            </a:pPr>
            <a:r>
              <a:rPr lang="en-IT" sz="2800" dirty="0"/>
              <a:t>HFFood-NS: if slot unfilled asks twice, leaves unfilled after that</a:t>
            </a:r>
          </a:p>
        </p:txBody>
      </p:sp>
      <p:sp>
        <p:nvSpPr>
          <p:cNvPr id="4" name="Slide Number Placeholder 3">
            <a:extLst>
              <a:ext uri="{FF2B5EF4-FFF2-40B4-BE49-F238E27FC236}">
                <a16:creationId xmlns:a16="http://schemas.microsoft.com/office/drawing/2014/main" id="{7E050D67-14BA-3242-2E81-70972743CB3E}"/>
              </a:ext>
            </a:extLst>
          </p:cNvPr>
          <p:cNvSpPr>
            <a:spLocks noGrp="1"/>
          </p:cNvSpPr>
          <p:nvPr>
            <p:ph type="sldNum" sz="quarter" idx="12"/>
          </p:nvPr>
        </p:nvSpPr>
        <p:spPr/>
        <p:txBody>
          <a:bodyPr/>
          <a:lstStyle/>
          <a:p>
            <a:fld id="{6113E31D-E2AB-40D1-8B51-AFA5AFEF393A}" type="slidenum">
              <a:rPr lang="en-US" smtClean="0"/>
              <a:t>13</a:t>
            </a:fld>
            <a:endParaRPr lang="en-US" dirty="0"/>
          </a:p>
        </p:txBody>
      </p:sp>
    </p:spTree>
    <p:extLst>
      <p:ext uri="{BB962C8B-B14F-4D97-AF65-F5344CB8AC3E}">
        <p14:creationId xmlns:p14="http://schemas.microsoft.com/office/powerpoint/2010/main" val="4125649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3BAE7-BA2A-AB2E-1C47-06DAF221FCCC}"/>
              </a:ext>
            </a:extLst>
          </p:cNvPr>
          <p:cNvSpPr>
            <a:spLocks noGrp="1"/>
          </p:cNvSpPr>
          <p:nvPr>
            <p:ph type="title"/>
          </p:nvPr>
        </p:nvSpPr>
        <p:spPr/>
        <p:txBody>
          <a:bodyPr/>
          <a:lstStyle/>
          <a:p>
            <a:r>
              <a:rPr lang="en-IT" b="1" dirty="0">
                <a:solidFill>
                  <a:srgbClr val="00B0F0"/>
                </a:solidFill>
                <a:latin typeface="+mn-lt"/>
              </a:rPr>
              <a:t>HFFood-NS vs HFFood-GPT: intrinsic metrics</a:t>
            </a:r>
          </a:p>
        </p:txBody>
      </p:sp>
      <p:graphicFrame>
        <p:nvGraphicFramePr>
          <p:cNvPr id="5" name="Content Placeholder 4">
            <a:extLst>
              <a:ext uri="{FF2B5EF4-FFF2-40B4-BE49-F238E27FC236}">
                <a16:creationId xmlns:a16="http://schemas.microsoft.com/office/drawing/2014/main" id="{14A1E625-E6F2-D0FE-0C95-644C20193BCB}"/>
              </a:ext>
            </a:extLst>
          </p:cNvPr>
          <p:cNvGraphicFramePr>
            <a:graphicFrameLocks noGrp="1"/>
          </p:cNvGraphicFramePr>
          <p:nvPr>
            <p:ph idx="1"/>
            <p:extLst>
              <p:ext uri="{D42A27DB-BD31-4B8C-83A1-F6EECF244321}">
                <p14:modId xmlns:p14="http://schemas.microsoft.com/office/powerpoint/2010/main" val="1094854847"/>
              </p:ext>
            </p:extLst>
          </p:nvPr>
        </p:nvGraphicFramePr>
        <p:xfrm>
          <a:off x="1237641" y="2636520"/>
          <a:ext cx="10058397" cy="1828800"/>
        </p:xfrm>
        <a:graphic>
          <a:graphicData uri="http://schemas.openxmlformats.org/drawingml/2006/table">
            <a:tbl>
              <a:tblPr firstRow="1" bandRow="1">
                <a:tableStyleId>{5C22544A-7EE6-4342-B048-85BDC9FD1C3A}</a:tableStyleId>
              </a:tblPr>
              <a:tblGrid>
                <a:gridCol w="3352799">
                  <a:extLst>
                    <a:ext uri="{9D8B030D-6E8A-4147-A177-3AD203B41FA5}">
                      <a16:colId xmlns:a16="http://schemas.microsoft.com/office/drawing/2014/main" val="2719743809"/>
                    </a:ext>
                  </a:extLst>
                </a:gridCol>
                <a:gridCol w="3352799">
                  <a:extLst>
                    <a:ext uri="{9D8B030D-6E8A-4147-A177-3AD203B41FA5}">
                      <a16:colId xmlns:a16="http://schemas.microsoft.com/office/drawing/2014/main" val="4033474374"/>
                    </a:ext>
                  </a:extLst>
                </a:gridCol>
                <a:gridCol w="3352799">
                  <a:extLst>
                    <a:ext uri="{9D8B030D-6E8A-4147-A177-3AD203B41FA5}">
                      <a16:colId xmlns:a16="http://schemas.microsoft.com/office/drawing/2014/main" val="3935829378"/>
                    </a:ext>
                  </a:extLst>
                </a:gridCol>
              </a:tblGrid>
              <a:tr h="370840">
                <a:tc>
                  <a:txBody>
                    <a:bodyPr/>
                    <a:lstStyle/>
                    <a:p>
                      <a:endParaRPr lang="en-IT" sz="2400" dirty="0"/>
                    </a:p>
                  </a:txBody>
                  <a:tcPr/>
                </a:tc>
                <a:tc>
                  <a:txBody>
                    <a:bodyPr/>
                    <a:lstStyle/>
                    <a:p>
                      <a:pPr algn="ctr"/>
                      <a:r>
                        <a:rPr lang="en-IT" sz="2400" dirty="0"/>
                        <a:t>HFFood-NS</a:t>
                      </a:r>
                    </a:p>
                  </a:txBody>
                  <a:tcPr/>
                </a:tc>
                <a:tc>
                  <a:txBody>
                    <a:bodyPr/>
                    <a:lstStyle/>
                    <a:p>
                      <a:pPr algn="ctr"/>
                      <a:r>
                        <a:rPr lang="en-IT" sz="2400" dirty="0"/>
                        <a:t>HFFood-GPT</a:t>
                      </a:r>
                    </a:p>
                  </a:txBody>
                  <a:tcPr/>
                </a:tc>
                <a:extLst>
                  <a:ext uri="{0D108BD9-81ED-4DB2-BD59-A6C34878D82A}">
                    <a16:rowId xmlns:a16="http://schemas.microsoft.com/office/drawing/2014/main" val="1042473117"/>
                  </a:ext>
                </a:extLst>
              </a:tr>
              <a:tr h="370840">
                <a:tc>
                  <a:txBody>
                    <a:bodyPr/>
                    <a:lstStyle/>
                    <a:p>
                      <a:r>
                        <a:rPr lang="en-IT" sz="2400" dirty="0"/>
                        <a:t>Task completion</a:t>
                      </a:r>
                    </a:p>
                  </a:txBody>
                  <a:tcPr/>
                </a:tc>
                <a:tc>
                  <a:txBody>
                    <a:bodyPr/>
                    <a:lstStyle/>
                    <a:p>
                      <a:pPr algn="r"/>
                      <a:r>
                        <a:rPr lang="en-IT" sz="2400" dirty="0">
                          <a:solidFill>
                            <a:srgbClr val="00B050"/>
                          </a:solidFill>
                        </a:rPr>
                        <a:t>84%</a:t>
                      </a:r>
                    </a:p>
                  </a:txBody>
                  <a:tcPr/>
                </a:tc>
                <a:tc>
                  <a:txBody>
                    <a:bodyPr/>
                    <a:lstStyle/>
                    <a:p>
                      <a:pPr algn="r"/>
                      <a:r>
                        <a:rPr lang="en-IT" sz="2400" dirty="0"/>
                        <a:t>62%</a:t>
                      </a:r>
                    </a:p>
                  </a:txBody>
                  <a:tcPr/>
                </a:tc>
                <a:extLst>
                  <a:ext uri="{0D108BD9-81ED-4DB2-BD59-A6C34878D82A}">
                    <a16:rowId xmlns:a16="http://schemas.microsoft.com/office/drawing/2014/main" val="1694272381"/>
                  </a:ext>
                </a:extLst>
              </a:tr>
              <a:tr h="370840">
                <a:tc>
                  <a:txBody>
                    <a:bodyPr/>
                    <a:lstStyle/>
                    <a:p>
                      <a:r>
                        <a:rPr lang="en-IT" sz="2400" dirty="0"/>
                        <a:t>Salt value accuracy</a:t>
                      </a:r>
                    </a:p>
                  </a:txBody>
                  <a:tcPr/>
                </a:tc>
                <a:tc>
                  <a:txBody>
                    <a:bodyPr/>
                    <a:lstStyle/>
                    <a:p>
                      <a:pPr algn="r"/>
                      <a:r>
                        <a:rPr lang="en-IT" sz="2400" dirty="0">
                          <a:solidFill>
                            <a:srgbClr val="00B050"/>
                          </a:solidFill>
                        </a:rPr>
                        <a:t>37%</a:t>
                      </a:r>
                    </a:p>
                  </a:txBody>
                  <a:tcPr/>
                </a:tc>
                <a:tc>
                  <a:txBody>
                    <a:bodyPr/>
                    <a:lstStyle/>
                    <a:p>
                      <a:pPr algn="r"/>
                      <a:r>
                        <a:rPr lang="en-IT" sz="2400" dirty="0"/>
                        <a:t>24%</a:t>
                      </a:r>
                    </a:p>
                  </a:txBody>
                  <a:tcPr/>
                </a:tc>
                <a:extLst>
                  <a:ext uri="{0D108BD9-81ED-4DB2-BD59-A6C34878D82A}">
                    <a16:rowId xmlns:a16="http://schemas.microsoft.com/office/drawing/2014/main" val="2963557249"/>
                  </a:ext>
                </a:extLst>
              </a:tr>
              <a:tr h="370840">
                <a:tc>
                  <a:txBody>
                    <a:bodyPr/>
                    <a:lstStyle/>
                    <a:p>
                      <a:r>
                        <a:rPr lang="en-IT" sz="2400" dirty="0"/>
                        <a:t>Slot accuracy</a:t>
                      </a:r>
                    </a:p>
                  </a:txBody>
                  <a:tcPr/>
                </a:tc>
                <a:tc>
                  <a:txBody>
                    <a:bodyPr/>
                    <a:lstStyle/>
                    <a:p>
                      <a:pPr algn="r"/>
                      <a:r>
                        <a:rPr lang="en-IT" sz="2400" dirty="0"/>
                        <a:t>56%</a:t>
                      </a:r>
                    </a:p>
                  </a:txBody>
                  <a:tcPr/>
                </a:tc>
                <a:tc>
                  <a:txBody>
                    <a:bodyPr/>
                    <a:lstStyle/>
                    <a:p>
                      <a:pPr algn="r"/>
                      <a:r>
                        <a:rPr lang="en-IT" sz="2400" dirty="0">
                          <a:solidFill>
                            <a:srgbClr val="00B050"/>
                          </a:solidFill>
                        </a:rPr>
                        <a:t>89%</a:t>
                      </a:r>
                    </a:p>
                  </a:txBody>
                  <a:tcPr/>
                </a:tc>
                <a:extLst>
                  <a:ext uri="{0D108BD9-81ED-4DB2-BD59-A6C34878D82A}">
                    <a16:rowId xmlns:a16="http://schemas.microsoft.com/office/drawing/2014/main" val="758374122"/>
                  </a:ext>
                </a:extLst>
              </a:tr>
            </a:tbl>
          </a:graphicData>
        </a:graphic>
      </p:graphicFrame>
      <p:sp>
        <p:nvSpPr>
          <p:cNvPr id="4" name="Slide Number Placeholder 3">
            <a:extLst>
              <a:ext uri="{FF2B5EF4-FFF2-40B4-BE49-F238E27FC236}">
                <a16:creationId xmlns:a16="http://schemas.microsoft.com/office/drawing/2014/main" id="{E1B48421-71FD-DF95-80E1-0F560A2C3843}"/>
              </a:ext>
            </a:extLst>
          </p:cNvPr>
          <p:cNvSpPr>
            <a:spLocks noGrp="1"/>
          </p:cNvSpPr>
          <p:nvPr>
            <p:ph type="sldNum" sz="quarter" idx="12"/>
          </p:nvPr>
        </p:nvSpPr>
        <p:spPr/>
        <p:txBody>
          <a:bodyPr/>
          <a:lstStyle/>
          <a:p>
            <a:fld id="{6113E31D-E2AB-40D1-8B51-AFA5AFEF393A}" type="slidenum">
              <a:rPr lang="en-US" smtClean="0"/>
              <a:t>14</a:t>
            </a:fld>
            <a:endParaRPr lang="en-US" dirty="0"/>
          </a:p>
        </p:txBody>
      </p:sp>
      <p:pic>
        <p:nvPicPr>
          <p:cNvPr id="3" name="Picture 2" descr="A red circle with black text&#10;&#10;Description automatically generated">
            <a:extLst>
              <a:ext uri="{FF2B5EF4-FFF2-40B4-BE49-F238E27FC236}">
                <a16:creationId xmlns:a16="http://schemas.microsoft.com/office/drawing/2014/main" id="{F5B15AF1-5953-B0DA-7BAE-FAC48C011220}"/>
              </a:ext>
            </a:extLst>
          </p:cNvPr>
          <p:cNvPicPr>
            <a:picLocks noChangeAspect="1"/>
          </p:cNvPicPr>
          <p:nvPr/>
        </p:nvPicPr>
        <p:blipFill>
          <a:blip r:embed="rId3"/>
          <a:stretch>
            <a:fillRect/>
          </a:stretch>
        </p:blipFill>
        <p:spPr>
          <a:xfrm>
            <a:off x="-199423" y="5625073"/>
            <a:ext cx="1126180" cy="1136822"/>
          </a:xfrm>
          <a:prstGeom prst="rect">
            <a:avLst/>
          </a:prstGeom>
        </p:spPr>
      </p:pic>
    </p:spTree>
    <p:extLst>
      <p:ext uri="{BB962C8B-B14F-4D97-AF65-F5344CB8AC3E}">
        <p14:creationId xmlns:p14="http://schemas.microsoft.com/office/powerpoint/2010/main" val="13365052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5ABEE-B012-8716-D7B8-952EAE528363}"/>
              </a:ext>
            </a:extLst>
          </p:cNvPr>
          <p:cNvSpPr>
            <a:spLocks noGrp="1"/>
          </p:cNvSpPr>
          <p:nvPr>
            <p:ph type="title"/>
          </p:nvPr>
        </p:nvSpPr>
        <p:spPr>
          <a:xfrm>
            <a:off x="1066800" y="289931"/>
            <a:ext cx="10058400" cy="691375"/>
          </a:xfrm>
        </p:spPr>
        <p:txBody>
          <a:bodyPr/>
          <a:lstStyle/>
          <a:p>
            <a:pPr algn="ctr"/>
            <a:r>
              <a:rPr lang="en-IT" dirty="0">
                <a:solidFill>
                  <a:srgbClr val="00B0F0"/>
                </a:solidFill>
                <a:latin typeface="+mn-lt"/>
              </a:rPr>
              <a:t>User questionnaire: no preferences</a:t>
            </a:r>
          </a:p>
        </p:txBody>
      </p:sp>
      <p:sp>
        <p:nvSpPr>
          <p:cNvPr id="3" name="Slide Number Placeholder 2">
            <a:extLst>
              <a:ext uri="{FF2B5EF4-FFF2-40B4-BE49-F238E27FC236}">
                <a16:creationId xmlns:a16="http://schemas.microsoft.com/office/drawing/2014/main" id="{28E8AE45-28E7-7012-B030-FDFB23A731A3}"/>
              </a:ext>
            </a:extLst>
          </p:cNvPr>
          <p:cNvSpPr>
            <a:spLocks noGrp="1"/>
          </p:cNvSpPr>
          <p:nvPr>
            <p:ph type="sldNum" sz="quarter" idx="12"/>
          </p:nvPr>
        </p:nvSpPr>
        <p:spPr/>
        <p:txBody>
          <a:bodyPr/>
          <a:lstStyle/>
          <a:p>
            <a:fld id="{4FAB73BC-B049-4115-A692-8D63A059BFB8}" type="slidenum">
              <a:rPr lang="en-US" smtClean="0"/>
              <a:t>15</a:t>
            </a:fld>
            <a:endParaRPr lang="en-US" dirty="0"/>
          </a:p>
        </p:txBody>
      </p:sp>
      <p:pic>
        <p:nvPicPr>
          <p:cNvPr id="6" name="Picture 5">
            <a:extLst>
              <a:ext uri="{FF2B5EF4-FFF2-40B4-BE49-F238E27FC236}">
                <a16:creationId xmlns:a16="http://schemas.microsoft.com/office/drawing/2014/main" id="{018523BC-B39D-0C3B-5BA0-CC9F14E6ADD6}"/>
              </a:ext>
            </a:extLst>
          </p:cNvPr>
          <p:cNvPicPr>
            <a:picLocks noChangeAspect="1"/>
          </p:cNvPicPr>
          <p:nvPr/>
        </p:nvPicPr>
        <p:blipFill>
          <a:blip r:embed="rId2"/>
          <a:stretch>
            <a:fillRect/>
          </a:stretch>
        </p:blipFill>
        <p:spPr>
          <a:xfrm>
            <a:off x="1635512" y="981306"/>
            <a:ext cx="8590156" cy="5379139"/>
          </a:xfrm>
          <a:prstGeom prst="rect">
            <a:avLst/>
          </a:prstGeom>
        </p:spPr>
      </p:pic>
    </p:spTree>
    <p:extLst>
      <p:ext uri="{BB962C8B-B14F-4D97-AF65-F5344CB8AC3E}">
        <p14:creationId xmlns:p14="http://schemas.microsoft.com/office/powerpoint/2010/main" val="30416906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D1954-3100-FF50-4BDC-4EBD3B86E144}"/>
              </a:ext>
            </a:extLst>
          </p:cNvPr>
          <p:cNvSpPr>
            <a:spLocks noGrp="1"/>
          </p:cNvSpPr>
          <p:nvPr>
            <p:ph type="title"/>
          </p:nvPr>
        </p:nvSpPr>
        <p:spPr/>
        <p:txBody>
          <a:bodyPr/>
          <a:lstStyle/>
          <a:p>
            <a:r>
              <a:rPr lang="en-IT" b="1" dirty="0">
                <a:solidFill>
                  <a:srgbClr val="00B0F0"/>
                </a:solidFill>
                <a:latin typeface="+mn-lt"/>
              </a:rPr>
              <a:t>HFFood-NS vs HFFood-GPT: observations</a:t>
            </a:r>
            <a:endParaRPr lang="en-IT" dirty="0"/>
          </a:p>
        </p:txBody>
      </p:sp>
      <p:sp>
        <p:nvSpPr>
          <p:cNvPr id="3" name="Content Placeholder 2">
            <a:extLst>
              <a:ext uri="{FF2B5EF4-FFF2-40B4-BE49-F238E27FC236}">
                <a16:creationId xmlns:a16="http://schemas.microsoft.com/office/drawing/2014/main" id="{CA8A2A66-19F7-4462-F3B3-CCFC538E5078}"/>
              </a:ext>
            </a:extLst>
          </p:cNvPr>
          <p:cNvSpPr>
            <a:spLocks noGrp="1"/>
          </p:cNvSpPr>
          <p:nvPr>
            <p:ph idx="1"/>
          </p:nvPr>
        </p:nvSpPr>
        <p:spPr>
          <a:xfrm>
            <a:off x="1097280" y="1845736"/>
            <a:ext cx="10058400" cy="3274905"/>
          </a:xfrm>
        </p:spPr>
        <p:txBody>
          <a:bodyPr/>
          <a:lstStyle/>
          <a:p>
            <a:endParaRPr lang="en-IT" dirty="0"/>
          </a:p>
        </p:txBody>
      </p:sp>
      <p:sp>
        <p:nvSpPr>
          <p:cNvPr id="4" name="Slide Number Placeholder 3">
            <a:extLst>
              <a:ext uri="{FF2B5EF4-FFF2-40B4-BE49-F238E27FC236}">
                <a16:creationId xmlns:a16="http://schemas.microsoft.com/office/drawing/2014/main" id="{60672E09-8CFE-A179-894B-3E90E52E65B1}"/>
              </a:ext>
            </a:extLst>
          </p:cNvPr>
          <p:cNvSpPr>
            <a:spLocks noGrp="1"/>
          </p:cNvSpPr>
          <p:nvPr>
            <p:ph type="sldNum" sz="quarter" idx="12"/>
          </p:nvPr>
        </p:nvSpPr>
        <p:spPr/>
        <p:txBody>
          <a:bodyPr/>
          <a:lstStyle/>
          <a:p>
            <a:fld id="{6113E31D-E2AB-40D1-8B51-AFA5AFEF393A}" type="slidenum">
              <a:rPr lang="en-US" smtClean="0"/>
              <a:t>16</a:t>
            </a:fld>
            <a:endParaRPr lang="en-US" dirty="0"/>
          </a:p>
        </p:txBody>
      </p:sp>
      <p:graphicFrame>
        <p:nvGraphicFramePr>
          <p:cNvPr id="5" name="Content Placeholder 4">
            <a:extLst>
              <a:ext uri="{FF2B5EF4-FFF2-40B4-BE49-F238E27FC236}">
                <a16:creationId xmlns:a16="http://schemas.microsoft.com/office/drawing/2014/main" id="{AC031747-8CF4-C385-4B1E-2D8C2FEC707C}"/>
              </a:ext>
            </a:extLst>
          </p:cNvPr>
          <p:cNvGraphicFramePr>
            <a:graphicFrameLocks/>
          </p:cNvGraphicFramePr>
          <p:nvPr>
            <p:extLst>
              <p:ext uri="{D42A27DB-BD31-4B8C-83A1-F6EECF244321}">
                <p14:modId xmlns:p14="http://schemas.microsoft.com/office/powerpoint/2010/main" val="1198107313"/>
              </p:ext>
            </p:extLst>
          </p:nvPr>
        </p:nvGraphicFramePr>
        <p:xfrm>
          <a:off x="1147296" y="1845734"/>
          <a:ext cx="9897408" cy="3200400"/>
        </p:xfrm>
        <a:graphic>
          <a:graphicData uri="http://schemas.openxmlformats.org/drawingml/2006/table">
            <a:tbl>
              <a:tblPr firstRow="1" bandRow="1">
                <a:tableStyleId>{5C22544A-7EE6-4342-B048-85BDC9FD1C3A}</a:tableStyleId>
              </a:tblPr>
              <a:tblGrid>
                <a:gridCol w="3414548">
                  <a:extLst>
                    <a:ext uri="{9D8B030D-6E8A-4147-A177-3AD203B41FA5}">
                      <a16:colId xmlns:a16="http://schemas.microsoft.com/office/drawing/2014/main" val="2719743809"/>
                    </a:ext>
                  </a:extLst>
                </a:gridCol>
                <a:gridCol w="3130061">
                  <a:extLst>
                    <a:ext uri="{9D8B030D-6E8A-4147-A177-3AD203B41FA5}">
                      <a16:colId xmlns:a16="http://schemas.microsoft.com/office/drawing/2014/main" val="4033474374"/>
                    </a:ext>
                  </a:extLst>
                </a:gridCol>
                <a:gridCol w="3352799">
                  <a:extLst>
                    <a:ext uri="{9D8B030D-6E8A-4147-A177-3AD203B41FA5}">
                      <a16:colId xmlns:a16="http://schemas.microsoft.com/office/drawing/2014/main" val="3935829378"/>
                    </a:ext>
                  </a:extLst>
                </a:gridCol>
              </a:tblGrid>
              <a:tr h="370840">
                <a:tc>
                  <a:txBody>
                    <a:bodyPr/>
                    <a:lstStyle/>
                    <a:p>
                      <a:endParaRPr lang="en-IT" sz="2400" dirty="0"/>
                    </a:p>
                  </a:txBody>
                  <a:tcPr/>
                </a:tc>
                <a:tc>
                  <a:txBody>
                    <a:bodyPr/>
                    <a:lstStyle/>
                    <a:p>
                      <a:pPr algn="ctr"/>
                      <a:r>
                        <a:rPr lang="en-IT" sz="2400" dirty="0"/>
                        <a:t>HFFood-NS</a:t>
                      </a:r>
                    </a:p>
                  </a:txBody>
                  <a:tcPr/>
                </a:tc>
                <a:tc>
                  <a:txBody>
                    <a:bodyPr/>
                    <a:lstStyle/>
                    <a:p>
                      <a:pPr algn="ctr"/>
                      <a:r>
                        <a:rPr lang="en-IT" sz="2400" dirty="0"/>
                        <a:t>HFFood-GPT</a:t>
                      </a:r>
                    </a:p>
                  </a:txBody>
                  <a:tcPr/>
                </a:tc>
                <a:extLst>
                  <a:ext uri="{0D108BD9-81ED-4DB2-BD59-A6C34878D82A}">
                    <a16:rowId xmlns:a16="http://schemas.microsoft.com/office/drawing/2014/main" val="1042473117"/>
                  </a:ext>
                </a:extLst>
              </a:tr>
              <a:tr h="370840">
                <a:tc>
                  <a:txBody>
                    <a:bodyPr/>
                    <a:lstStyle/>
                    <a:p>
                      <a:r>
                        <a:rPr lang="en-IT" sz="2400" dirty="0"/>
                        <a:t>Allows Error Analysis</a:t>
                      </a:r>
                    </a:p>
                  </a:txBody>
                  <a:tcPr/>
                </a:tc>
                <a:tc>
                  <a:txBody>
                    <a:bodyPr/>
                    <a:lstStyle/>
                    <a:p>
                      <a:pPr algn="r"/>
                      <a:r>
                        <a:rPr lang="en-IT" sz="2400" dirty="0">
                          <a:solidFill>
                            <a:srgbClr val="00B050"/>
                          </a:solidFill>
                        </a:rPr>
                        <a:t>✓</a:t>
                      </a:r>
                    </a:p>
                  </a:txBody>
                  <a:tcPr/>
                </a:tc>
                <a:tc>
                  <a:txBody>
                    <a:bodyPr/>
                    <a:lstStyle/>
                    <a:p>
                      <a:pPr algn="r"/>
                      <a:r>
                        <a:rPr lang="en-IT" sz="2400" dirty="0">
                          <a:solidFill>
                            <a:srgbClr val="FF0000"/>
                          </a:solidFill>
                        </a:rPr>
                        <a:t>✘</a:t>
                      </a:r>
                    </a:p>
                  </a:txBody>
                  <a:tcPr/>
                </a:tc>
                <a:extLst>
                  <a:ext uri="{0D108BD9-81ED-4DB2-BD59-A6C34878D82A}">
                    <a16:rowId xmlns:a16="http://schemas.microsoft.com/office/drawing/2014/main" val="1694272381"/>
                  </a:ext>
                </a:extLst>
              </a:tr>
              <a:tr h="370840">
                <a:tc>
                  <a:txBody>
                    <a:bodyPr/>
                    <a:lstStyle/>
                    <a:p>
                      <a:r>
                        <a:rPr lang="en-IT" sz="2400" dirty="0"/>
                        <a:t>Reliable</a:t>
                      </a:r>
                    </a:p>
                  </a:txBody>
                  <a:tcPr/>
                </a:tc>
                <a:tc>
                  <a:txBody>
                    <a:bodyPr/>
                    <a:lstStyle/>
                    <a:p>
                      <a:pPr algn="r"/>
                      <a:r>
                        <a:rPr lang="en-IT" sz="2400" dirty="0">
                          <a:solidFill>
                            <a:srgbClr val="00B050"/>
                          </a:solidFill>
                        </a:rPr>
                        <a:t>✓</a:t>
                      </a:r>
                    </a:p>
                  </a:txBody>
                  <a:tcPr/>
                </a:tc>
                <a:tc>
                  <a:txBody>
                    <a:bodyPr/>
                    <a:lstStyle/>
                    <a:p>
                      <a:pPr algn="r"/>
                      <a:r>
                        <a:rPr lang="en-IT" sz="2400" dirty="0">
                          <a:solidFill>
                            <a:srgbClr val="FF0000"/>
                          </a:solidFill>
                        </a:rPr>
                        <a:t>✘</a:t>
                      </a:r>
                    </a:p>
                  </a:txBody>
                  <a:tcPr/>
                </a:tc>
                <a:extLst>
                  <a:ext uri="{0D108BD9-81ED-4DB2-BD59-A6C34878D82A}">
                    <a16:rowId xmlns:a16="http://schemas.microsoft.com/office/drawing/2014/main" val="2963557249"/>
                  </a:ext>
                </a:extLst>
              </a:tr>
              <a:tr h="370840">
                <a:tc>
                  <a:txBody>
                    <a:bodyPr/>
                    <a:lstStyle/>
                    <a:p>
                      <a:r>
                        <a:rPr lang="en-IT" sz="2400" dirty="0"/>
                        <a:t>Handles Complex Queries</a:t>
                      </a:r>
                    </a:p>
                  </a:txBody>
                  <a:tcPr/>
                </a:tc>
                <a:tc>
                  <a:txBody>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IT" sz="2400" dirty="0">
                          <a:solidFill>
                            <a:srgbClr val="FF0000"/>
                          </a:solidFill>
                        </a:rPr>
                        <a:t>✘</a:t>
                      </a:r>
                    </a:p>
                  </a:txBody>
                  <a:tcPr/>
                </a:tc>
                <a:tc>
                  <a:txBody>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IT" sz="2400" dirty="0">
                          <a:solidFill>
                            <a:srgbClr val="00B050"/>
                          </a:solidFill>
                        </a:rPr>
                        <a:t>✓</a:t>
                      </a:r>
                    </a:p>
                  </a:txBody>
                  <a:tcPr/>
                </a:tc>
                <a:extLst>
                  <a:ext uri="{0D108BD9-81ED-4DB2-BD59-A6C34878D82A}">
                    <a16:rowId xmlns:a16="http://schemas.microsoft.com/office/drawing/2014/main" val="758374122"/>
                  </a:ext>
                </a:extLst>
              </a:tr>
              <a:tr h="370840">
                <a:tc>
                  <a:txBody>
                    <a:bodyPr/>
                    <a:lstStyle/>
                    <a:p>
                      <a:r>
                        <a:rPr lang="en-IT" sz="2400" dirty="0"/>
                        <a:t>Fluent</a:t>
                      </a:r>
                    </a:p>
                  </a:txBody>
                  <a:tcPr/>
                </a:tc>
                <a:tc>
                  <a:txBody>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IT" sz="2400" dirty="0">
                          <a:solidFill>
                            <a:srgbClr val="FF0000"/>
                          </a:solidFill>
                        </a:rPr>
                        <a:t>✘</a:t>
                      </a:r>
                    </a:p>
                  </a:txBody>
                  <a:tcPr/>
                </a:tc>
                <a:tc>
                  <a:txBody>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IT" sz="2400" dirty="0">
                          <a:solidFill>
                            <a:srgbClr val="00B050"/>
                          </a:solidFill>
                        </a:rPr>
                        <a:t>✓</a:t>
                      </a:r>
                    </a:p>
                  </a:txBody>
                  <a:tcPr/>
                </a:tc>
                <a:extLst>
                  <a:ext uri="{0D108BD9-81ED-4DB2-BD59-A6C34878D82A}">
                    <a16:rowId xmlns:a16="http://schemas.microsoft.com/office/drawing/2014/main" val="2160922502"/>
                  </a:ext>
                </a:extLst>
              </a:tr>
              <a:tr h="370840">
                <a:tc>
                  <a:txBody>
                    <a:bodyPr/>
                    <a:lstStyle/>
                    <a:p>
                      <a:r>
                        <a:rPr lang="en-IT" sz="2400" dirty="0"/>
                        <a:t>Concise</a:t>
                      </a:r>
                    </a:p>
                  </a:txBody>
                  <a:tcPr/>
                </a:tc>
                <a:tc>
                  <a:txBody>
                    <a:bodyPr/>
                    <a:lstStyle/>
                    <a:p>
                      <a:pPr algn="r"/>
                      <a:r>
                        <a:rPr lang="en-IT" sz="2400" dirty="0">
                          <a:solidFill>
                            <a:srgbClr val="00B050"/>
                          </a:solidFill>
                        </a:rPr>
                        <a:t>✓</a:t>
                      </a:r>
                    </a:p>
                  </a:txBody>
                  <a:tcPr/>
                </a:tc>
                <a:tc>
                  <a:txBody>
                    <a:bodyPr/>
                    <a:lstStyle/>
                    <a:p>
                      <a:pPr algn="r"/>
                      <a:r>
                        <a:rPr lang="en-IT" sz="2400" dirty="0">
                          <a:solidFill>
                            <a:srgbClr val="FF0000"/>
                          </a:solidFill>
                        </a:rPr>
                        <a:t>✘</a:t>
                      </a:r>
                    </a:p>
                  </a:txBody>
                  <a:tcPr/>
                </a:tc>
                <a:extLst>
                  <a:ext uri="{0D108BD9-81ED-4DB2-BD59-A6C34878D82A}">
                    <a16:rowId xmlns:a16="http://schemas.microsoft.com/office/drawing/2014/main" val="2094857898"/>
                  </a:ext>
                </a:extLst>
              </a:tr>
              <a:tr h="370840">
                <a:tc>
                  <a:txBody>
                    <a:bodyPr/>
                    <a:lstStyle/>
                    <a:p>
                      <a:r>
                        <a:rPr lang="en-IT" sz="2400" dirty="0"/>
                        <a:t>Faster to deploy</a:t>
                      </a:r>
                    </a:p>
                  </a:txBody>
                  <a:tcPr/>
                </a:tc>
                <a:tc>
                  <a:txBody>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IT" sz="2400" dirty="0">
                          <a:solidFill>
                            <a:srgbClr val="FF0000"/>
                          </a:solidFill>
                        </a:rPr>
                        <a:t>✘</a:t>
                      </a:r>
                    </a:p>
                  </a:txBody>
                  <a:tcPr/>
                </a:tc>
                <a:tc>
                  <a:txBody>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IT" sz="2400" dirty="0">
                          <a:solidFill>
                            <a:srgbClr val="00B050"/>
                          </a:solidFill>
                        </a:rPr>
                        <a:t>✓</a:t>
                      </a:r>
                    </a:p>
                  </a:txBody>
                  <a:tcPr/>
                </a:tc>
                <a:extLst>
                  <a:ext uri="{0D108BD9-81ED-4DB2-BD59-A6C34878D82A}">
                    <a16:rowId xmlns:a16="http://schemas.microsoft.com/office/drawing/2014/main" val="1619624048"/>
                  </a:ext>
                </a:extLst>
              </a:tr>
            </a:tbl>
          </a:graphicData>
        </a:graphic>
      </p:graphicFrame>
      <p:pic>
        <p:nvPicPr>
          <p:cNvPr id="6" name="Picture 5" descr="A red circle with black text&#10;&#10;Description automatically generated">
            <a:extLst>
              <a:ext uri="{FF2B5EF4-FFF2-40B4-BE49-F238E27FC236}">
                <a16:creationId xmlns:a16="http://schemas.microsoft.com/office/drawing/2014/main" id="{415F36FE-C027-083D-BAE6-270ADA7B4047}"/>
              </a:ext>
            </a:extLst>
          </p:cNvPr>
          <p:cNvPicPr>
            <a:picLocks noChangeAspect="1"/>
          </p:cNvPicPr>
          <p:nvPr/>
        </p:nvPicPr>
        <p:blipFill>
          <a:blip r:embed="rId3"/>
          <a:stretch>
            <a:fillRect/>
          </a:stretch>
        </p:blipFill>
        <p:spPr>
          <a:xfrm>
            <a:off x="-199423" y="5625073"/>
            <a:ext cx="1126180" cy="1136822"/>
          </a:xfrm>
          <a:prstGeom prst="rect">
            <a:avLst/>
          </a:prstGeom>
        </p:spPr>
      </p:pic>
      <p:sp>
        <p:nvSpPr>
          <p:cNvPr id="7" name="TextBox 6">
            <a:extLst>
              <a:ext uri="{FF2B5EF4-FFF2-40B4-BE49-F238E27FC236}">
                <a16:creationId xmlns:a16="http://schemas.microsoft.com/office/drawing/2014/main" id="{50C01DC4-AB97-FCB3-3C33-5EB9CCD4EAA4}"/>
              </a:ext>
            </a:extLst>
          </p:cNvPr>
          <p:cNvSpPr txBox="1"/>
          <p:nvPr/>
        </p:nvSpPr>
        <p:spPr>
          <a:xfrm>
            <a:off x="1097280" y="5420881"/>
            <a:ext cx="9947424" cy="461665"/>
          </a:xfrm>
          <a:prstGeom prst="rect">
            <a:avLst/>
          </a:prstGeom>
          <a:noFill/>
        </p:spPr>
        <p:txBody>
          <a:bodyPr wrap="square" rtlCol="0">
            <a:spAutoFit/>
          </a:bodyPr>
          <a:lstStyle/>
          <a:p>
            <a:r>
              <a:rPr lang="en-IT" sz="2400" dirty="0"/>
              <a:t>HFFood-GPT Prompt: keep answer max 40 words               </a:t>
            </a:r>
            <a:r>
              <a:rPr lang="en-IT" sz="2400" dirty="0">
                <a:solidFill>
                  <a:srgbClr val="FF0000"/>
                </a:solidFill>
              </a:rPr>
              <a:t>avg = 51 words</a:t>
            </a:r>
            <a:endParaRPr lang="en-IT" sz="2400" dirty="0"/>
          </a:p>
        </p:txBody>
      </p:sp>
      <p:cxnSp>
        <p:nvCxnSpPr>
          <p:cNvPr id="9" name="Straight Arrow Connector 8">
            <a:extLst>
              <a:ext uri="{FF2B5EF4-FFF2-40B4-BE49-F238E27FC236}">
                <a16:creationId xmlns:a16="http://schemas.microsoft.com/office/drawing/2014/main" id="{7EF75BF5-CACB-73C8-83EC-6D8427FE8AF0}"/>
              </a:ext>
            </a:extLst>
          </p:cNvPr>
          <p:cNvCxnSpPr>
            <a:cxnSpLocks/>
          </p:cNvCxnSpPr>
          <p:nvPr/>
        </p:nvCxnSpPr>
        <p:spPr>
          <a:xfrm>
            <a:off x="7404847" y="5651713"/>
            <a:ext cx="66338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7355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A1204-F590-7971-77C0-C0C064292E87}"/>
              </a:ext>
            </a:extLst>
          </p:cNvPr>
          <p:cNvSpPr>
            <a:spLocks noGrp="1"/>
          </p:cNvSpPr>
          <p:nvPr>
            <p:ph type="title"/>
          </p:nvPr>
        </p:nvSpPr>
        <p:spPr/>
        <p:txBody>
          <a:bodyPr/>
          <a:lstStyle/>
          <a:p>
            <a:pPr algn="ctr"/>
            <a:r>
              <a:rPr lang="en-IT" b="1" dirty="0">
                <a:solidFill>
                  <a:srgbClr val="00B0F0"/>
                </a:solidFill>
                <a:latin typeface="+mn-lt"/>
              </a:rPr>
              <a:t>Complex user queries / unexpected expressions</a:t>
            </a:r>
          </a:p>
        </p:txBody>
      </p:sp>
      <p:sp>
        <p:nvSpPr>
          <p:cNvPr id="3" name="Content Placeholder 2">
            <a:extLst>
              <a:ext uri="{FF2B5EF4-FFF2-40B4-BE49-F238E27FC236}">
                <a16:creationId xmlns:a16="http://schemas.microsoft.com/office/drawing/2014/main" id="{F19ED63A-8DB9-A88B-23DE-767BC991AD88}"/>
              </a:ext>
            </a:extLst>
          </p:cNvPr>
          <p:cNvSpPr>
            <a:spLocks noGrp="1"/>
          </p:cNvSpPr>
          <p:nvPr>
            <p:ph idx="1"/>
          </p:nvPr>
        </p:nvSpPr>
        <p:spPr/>
        <p:txBody>
          <a:bodyPr/>
          <a:lstStyle/>
          <a:p>
            <a:r>
              <a:rPr lang="en-IT" sz="2400" dirty="0"/>
              <a:t>“</a:t>
            </a:r>
            <a:r>
              <a:rPr lang="en-GB" sz="2400" i="1" dirty="0"/>
              <a:t>What is the</a:t>
            </a:r>
            <a:r>
              <a:rPr lang="en-GB" sz="2400" dirty="0"/>
              <a:t> </a:t>
            </a:r>
            <a:r>
              <a:rPr lang="en-GB" sz="2400" i="1" dirty="0"/>
              <a:t>sodium content in two grilled hot links with</a:t>
            </a:r>
            <a:r>
              <a:rPr lang="en-GB" sz="2400" dirty="0"/>
              <a:t> </a:t>
            </a:r>
            <a:r>
              <a:rPr lang="en-GB" sz="2400" i="1" dirty="0"/>
              <a:t>three ounces of barbecue sauce?” </a:t>
            </a:r>
            <a:r>
              <a:rPr lang="en-GB" sz="2400" dirty="0"/>
              <a:t>(more difficult for </a:t>
            </a:r>
            <a:r>
              <a:rPr lang="en-GB" sz="2400" dirty="0" err="1"/>
              <a:t>HFFood</a:t>
            </a:r>
            <a:r>
              <a:rPr lang="en-GB" sz="2400" dirty="0"/>
              <a:t>-NS)</a:t>
            </a:r>
          </a:p>
          <a:p>
            <a:endParaRPr lang="en-GB" sz="2400" dirty="0"/>
          </a:p>
          <a:p>
            <a:endParaRPr lang="en-IT" dirty="0"/>
          </a:p>
        </p:txBody>
      </p:sp>
      <p:sp>
        <p:nvSpPr>
          <p:cNvPr id="4" name="Slide Number Placeholder 3">
            <a:extLst>
              <a:ext uri="{FF2B5EF4-FFF2-40B4-BE49-F238E27FC236}">
                <a16:creationId xmlns:a16="http://schemas.microsoft.com/office/drawing/2014/main" id="{A5843996-0B15-73AA-D41F-6A0107542097}"/>
              </a:ext>
            </a:extLst>
          </p:cNvPr>
          <p:cNvSpPr>
            <a:spLocks noGrp="1"/>
          </p:cNvSpPr>
          <p:nvPr>
            <p:ph type="sldNum" sz="quarter" idx="12"/>
          </p:nvPr>
        </p:nvSpPr>
        <p:spPr/>
        <p:txBody>
          <a:bodyPr/>
          <a:lstStyle/>
          <a:p>
            <a:fld id="{6113E31D-E2AB-40D1-8B51-AFA5AFEF393A}" type="slidenum">
              <a:rPr lang="en-US" smtClean="0"/>
              <a:t>17</a:t>
            </a:fld>
            <a:endParaRPr lang="en-US" dirty="0"/>
          </a:p>
        </p:txBody>
      </p:sp>
      <p:pic>
        <p:nvPicPr>
          <p:cNvPr id="6" name="Picture 5">
            <a:extLst>
              <a:ext uri="{FF2B5EF4-FFF2-40B4-BE49-F238E27FC236}">
                <a16:creationId xmlns:a16="http://schemas.microsoft.com/office/drawing/2014/main" id="{955F60BD-0BDB-4371-62B0-ECDA00E211FC}"/>
              </a:ext>
            </a:extLst>
          </p:cNvPr>
          <p:cNvPicPr>
            <a:picLocks noChangeAspect="1"/>
          </p:cNvPicPr>
          <p:nvPr/>
        </p:nvPicPr>
        <p:blipFill>
          <a:blip r:embed="rId2"/>
          <a:stretch>
            <a:fillRect/>
          </a:stretch>
        </p:blipFill>
        <p:spPr>
          <a:xfrm>
            <a:off x="834842" y="2789453"/>
            <a:ext cx="10827857" cy="3487413"/>
          </a:xfrm>
          <a:prstGeom prst="rect">
            <a:avLst/>
          </a:prstGeom>
        </p:spPr>
      </p:pic>
    </p:spTree>
    <p:extLst>
      <p:ext uri="{BB962C8B-B14F-4D97-AF65-F5344CB8AC3E}">
        <p14:creationId xmlns:p14="http://schemas.microsoft.com/office/powerpoint/2010/main" val="21404949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D7D71-792D-2668-133B-14252CF4DBC8}"/>
              </a:ext>
            </a:extLst>
          </p:cNvPr>
          <p:cNvSpPr>
            <a:spLocks noGrp="1"/>
          </p:cNvSpPr>
          <p:nvPr>
            <p:ph type="title"/>
          </p:nvPr>
        </p:nvSpPr>
        <p:spPr/>
        <p:txBody>
          <a:bodyPr/>
          <a:lstStyle/>
          <a:p>
            <a:r>
              <a:rPr lang="en-IT" b="1" dirty="0">
                <a:solidFill>
                  <a:srgbClr val="00B0F0"/>
                </a:solidFill>
                <a:latin typeface="+mn-lt"/>
              </a:rPr>
              <a:t>Che pedante questo GPT …</a:t>
            </a:r>
          </a:p>
        </p:txBody>
      </p:sp>
      <p:sp>
        <p:nvSpPr>
          <p:cNvPr id="3" name="Content Placeholder 2">
            <a:extLst>
              <a:ext uri="{FF2B5EF4-FFF2-40B4-BE49-F238E27FC236}">
                <a16:creationId xmlns:a16="http://schemas.microsoft.com/office/drawing/2014/main" id="{B3890C23-610A-61C6-98A2-4B576C46CDF2}"/>
              </a:ext>
            </a:extLst>
          </p:cNvPr>
          <p:cNvSpPr>
            <a:spLocks noGrp="1"/>
          </p:cNvSpPr>
          <p:nvPr>
            <p:ph idx="1"/>
          </p:nvPr>
        </p:nvSpPr>
        <p:spPr>
          <a:xfrm>
            <a:off x="1097279" y="1845734"/>
            <a:ext cx="10689559" cy="4023360"/>
          </a:xfrm>
        </p:spPr>
        <p:txBody>
          <a:bodyPr>
            <a:noAutofit/>
          </a:bodyPr>
          <a:lstStyle/>
          <a:p>
            <a:r>
              <a:rPr lang="en-GB" sz="2000" b="1" dirty="0"/>
              <a:t>System</a:t>
            </a:r>
            <a:r>
              <a:rPr lang="en-GB" sz="2000" dirty="0"/>
              <a:t>: Thank you for specifying the preparation method. Now, could you please tell me the portion size of the grilled turkey sausage in grams? </a:t>
            </a:r>
          </a:p>
          <a:p>
            <a:r>
              <a:rPr lang="en-GB" sz="2000" b="1" dirty="0"/>
              <a:t>User</a:t>
            </a:r>
            <a:r>
              <a:rPr lang="en-GB" sz="2000" dirty="0"/>
              <a:t>: 5 milligrams. </a:t>
            </a:r>
          </a:p>
          <a:p>
            <a:r>
              <a:rPr lang="en-GB" sz="2000" b="1" dirty="0"/>
              <a:t>System</a:t>
            </a:r>
            <a:r>
              <a:rPr lang="en-GB" sz="2000" dirty="0"/>
              <a:t>: It seems there might be a misunderstanding with the portion size. Typically, food portion sizes are measured in grams (g) and would be much larger than 5 milligrams (mg). Could you please provide the portion size again in grams? For reference, a common serving size for sausage might be around 50 to 150 grams. </a:t>
            </a:r>
          </a:p>
          <a:p>
            <a:pPr marL="0" indent="0">
              <a:buNone/>
            </a:pPr>
            <a:r>
              <a:rPr lang="en-GB" sz="2000" b="1" dirty="0"/>
              <a:t>User</a:t>
            </a:r>
            <a:r>
              <a:rPr lang="en-GB" sz="2000" dirty="0"/>
              <a:t>: 100 milligrams</a:t>
            </a:r>
          </a:p>
          <a:p>
            <a:pPr marL="0" indent="0">
              <a:buNone/>
            </a:pPr>
            <a:r>
              <a:rPr lang="en-GB" sz="2000" b="1" dirty="0"/>
              <a:t>System</a:t>
            </a:r>
            <a:r>
              <a:rPr lang="en-GB" sz="2000" dirty="0"/>
              <a:t>: It looks like we're still not quite accurate on the portion size. When we're talking about turkey sausage, the realistic portion size is usually around 100 grams (g), not milligrams (mg). One gram is equal to 1000 milligrams, so a portion size of turkey sausage might be 100 grams (which is 100,000 milligrams), for instance. Could you clarify the portion size in grams for the turkey sausage? </a:t>
            </a:r>
            <a:endParaRPr lang="en-IT" sz="2000" dirty="0"/>
          </a:p>
        </p:txBody>
      </p:sp>
      <p:sp>
        <p:nvSpPr>
          <p:cNvPr id="4" name="Slide Number Placeholder 3">
            <a:extLst>
              <a:ext uri="{FF2B5EF4-FFF2-40B4-BE49-F238E27FC236}">
                <a16:creationId xmlns:a16="http://schemas.microsoft.com/office/drawing/2014/main" id="{8129D693-93F1-EE72-3BF6-A3B07903E743}"/>
              </a:ext>
            </a:extLst>
          </p:cNvPr>
          <p:cNvSpPr>
            <a:spLocks noGrp="1"/>
          </p:cNvSpPr>
          <p:nvPr>
            <p:ph type="sldNum" sz="quarter" idx="12"/>
          </p:nvPr>
        </p:nvSpPr>
        <p:spPr/>
        <p:txBody>
          <a:bodyPr/>
          <a:lstStyle/>
          <a:p>
            <a:fld id="{6113E31D-E2AB-40D1-8B51-AFA5AFEF393A}" type="slidenum">
              <a:rPr lang="en-US" smtClean="0"/>
              <a:t>18</a:t>
            </a:fld>
            <a:endParaRPr lang="en-US" dirty="0"/>
          </a:p>
        </p:txBody>
      </p:sp>
    </p:spTree>
    <p:extLst>
      <p:ext uri="{BB962C8B-B14F-4D97-AF65-F5344CB8AC3E}">
        <p14:creationId xmlns:p14="http://schemas.microsoft.com/office/powerpoint/2010/main" val="16607085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AC549-AC0F-81E3-CABB-6C3CE21ED0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405EDF-C833-325B-44F2-24CF0869BF5C}"/>
              </a:ext>
            </a:extLst>
          </p:cNvPr>
          <p:cNvSpPr>
            <a:spLocks noGrp="1"/>
          </p:cNvSpPr>
          <p:nvPr>
            <p:ph type="title"/>
          </p:nvPr>
        </p:nvSpPr>
        <p:spPr/>
        <p:txBody>
          <a:bodyPr/>
          <a:lstStyle/>
          <a:p>
            <a:r>
              <a:rPr lang="en-IT" b="1" dirty="0">
                <a:solidFill>
                  <a:srgbClr val="00B0F0"/>
                </a:solidFill>
                <a:latin typeface="+mn-lt"/>
              </a:rPr>
              <a:t>HFFood-NS vs HFFood-GPT:</a:t>
            </a:r>
            <a:r>
              <a:rPr lang="en-IT" b="1" dirty="0">
                <a:solidFill>
                  <a:srgbClr val="00B0F0"/>
                </a:solidFill>
              </a:rPr>
              <a:t> </a:t>
            </a:r>
            <a:r>
              <a:rPr lang="en-IT" b="1" dirty="0">
                <a:solidFill>
                  <a:srgbClr val="00B0F0"/>
                </a:solidFill>
                <a:latin typeface="+mn-lt"/>
              </a:rPr>
              <a:t>Response readability</a:t>
            </a:r>
          </a:p>
        </p:txBody>
      </p:sp>
      <p:sp>
        <p:nvSpPr>
          <p:cNvPr id="4" name="Slide Number Placeholder 3">
            <a:extLst>
              <a:ext uri="{FF2B5EF4-FFF2-40B4-BE49-F238E27FC236}">
                <a16:creationId xmlns:a16="http://schemas.microsoft.com/office/drawing/2014/main" id="{C93248C3-ACB1-12B1-0F38-BD52101FDE17}"/>
              </a:ext>
            </a:extLst>
          </p:cNvPr>
          <p:cNvSpPr>
            <a:spLocks noGrp="1"/>
          </p:cNvSpPr>
          <p:nvPr>
            <p:ph type="sldNum" sz="quarter" idx="12"/>
          </p:nvPr>
        </p:nvSpPr>
        <p:spPr/>
        <p:txBody>
          <a:bodyPr/>
          <a:lstStyle/>
          <a:p>
            <a:fld id="{6113E31D-E2AB-40D1-8B51-AFA5AFEF393A}" type="slidenum">
              <a:rPr lang="en-US" smtClean="0"/>
              <a:t>19</a:t>
            </a:fld>
            <a:endParaRPr lang="en-US" dirty="0"/>
          </a:p>
        </p:txBody>
      </p:sp>
      <p:sp>
        <p:nvSpPr>
          <p:cNvPr id="6" name="TextBox 5">
            <a:extLst>
              <a:ext uri="{FF2B5EF4-FFF2-40B4-BE49-F238E27FC236}">
                <a16:creationId xmlns:a16="http://schemas.microsoft.com/office/drawing/2014/main" id="{441E3848-6786-E6D4-3FB8-1B58FB1098F8}"/>
              </a:ext>
            </a:extLst>
          </p:cNvPr>
          <p:cNvSpPr txBox="1"/>
          <p:nvPr/>
        </p:nvSpPr>
        <p:spPr>
          <a:xfrm>
            <a:off x="1154089" y="1739756"/>
            <a:ext cx="9464258" cy="1200329"/>
          </a:xfrm>
          <a:prstGeom prst="rect">
            <a:avLst/>
          </a:prstGeom>
          <a:noFill/>
        </p:spPr>
        <p:txBody>
          <a:bodyPr wrap="none" rtlCol="0">
            <a:spAutoFit/>
          </a:bodyPr>
          <a:lstStyle/>
          <a:p>
            <a:r>
              <a:rPr lang="en-IT" sz="2400" dirty="0"/>
              <a:t>Healthcare information should be at 6th grade reading level (prima media)</a:t>
            </a:r>
          </a:p>
          <a:p>
            <a:endParaRPr lang="en-IT" sz="2400" dirty="0"/>
          </a:p>
          <a:p>
            <a:r>
              <a:rPr lang="en-IT" sz="2400" dirty="0"/>
              <a:t>US grades: 1-12</a:t>
            </a:r>
          </a:p>
        </p:txBody>
      </p:sp>
      <p:pic>
        <p:nvPicPr>
          <p:cNvPr id="3" name="Picture 2" descr="A red circle with black text&#10;&#10;Description automatically generated">
            <a:extLst>
              <a:ext uri="{FF2B5EF4-FFF2-40B4-BE49-F238E27FC236}">
                <a16:creationId xmlns:a16="http://schemas.microsoft.com/office/drawing/2014/main" id="{844D0C86-B873-AC0A-63B4-87D3A499712E}"/>
              </a:ext>
            </a:extLst>
          </p:cNvPr>
          <p:cNvPicPr>
            <a:picLocks noChangeAspect="1"/>
          </p:cNvPicPr>
          <p:nvPr/>
        </p:nvPicPr>
        <p:blipFill>
          <a:blip r:embed="rId3"/>
          <a:stretch>
            <a:fillRect/>
          </a:stretch>
        </p:blipFill>
        <p:spPr>
          <a:xfrm>
            <a:off x="-199423" y="5625073"/>
            <a:ext cx="1126180" cy="1136822"/>
          </a:xfrm>
          <a:prstGeom prst="rect">
            <a:avLst/>
          </a:prstGeom>
        </p:spPr>
      </p:pic>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12719D13-BD4E-E9F0-9274-1A5B375C6CE1}"/>
                  </a:ext>
                </a:extLst>
              </p:cNvPr>
              <p:cNvSpPr txBox="1"/>
              <p:nvPr/>
            </p:nvSpPr>
            <p:spPr>
              <a:xfrm>
                <a:off x="1097280" y="2977294"/>
                <a:ext cx="9883822" cy="2826223"/>
              </a:xfrm>
              <a:prstGeom prst="rect">
                <a:avLst/>
              </a:prstGeom>
              <a:noFill/>
            </p:spPr>
            <p:txBody>
              <a:bodyPr wrap="square" rtlCol="0">
                <a:spAutoFit/>
              </a:bodyPr>
              <a:lstStyle/>
              <a:p>
                <a:r>
                  <a:rPr lang="en-IT" sz="2400" dirty="0"/>
                  <a:t>US school grade level: </a:t>
                </a:r>
              </a:p>
              <a:p>
                <a:endParaRPr lang="en-IT" sz="2400" dirty="0"/>
              </a:p>
              <a:p>
                <a:pPr marL="800100" lvl="1" indent="-342900">
                  <a:buFont typeface="Wingdings" pitchFamily="2" charset="2"/>
                  <a:buChar char="Ø"/>
                </a:pPr>
                <a:r>
                  <a:rPr lang="en-IT" sz="2400" dirty="0"/>
                  <a:t>SMOG [McLaughlin 69]:  </a:t>
                </a:r>
              </a:p>
              <a:p>
                <a:pPr lvl="1"/>
                <a:r>
                  <a:rPr lang="en-IT" sz="2400" b="0" dirty="0"/>
                  <a:t>     </a:t>
                </a:r>
                <a14:m>
                  <m:oMath xmlns:m="http://schemas.openxmlformats.org/officeDocument/2006/math">
                    <m:r>
                      <a:rPr lang="en-US" sz="2400" b="0" i="1" smtClean="0">
                        <a:latin typeface="Cambria Math" panose="02040503050406030204" pitchFamily="18" charset="0"/>
                      </a:rPr>
                      <m:t>3+</m:t>
                    </m:r>
                    <m:rad>
                      <m:radPr>
                        <m:degHide m:val="on"/>
                        <m:ctrlPr>
                          <a:rPr lang="en-US" sz="2400" b="0" i="1" smtClean="0">
                            <a:latin typeface="Cambria Math" panose="02040503050406030204" pitchFamily="18" charset="0"/>
                          </a:rPr>
                        </m:ctrlPr>
                      </m:radPr>
                      <m:deg/>
                      <m:e>
                        <m:r>
                          <a:rPr lang="en-US" sz="2400" b="0" i="1" smtClean="0">
                            <a:latin typeface="Cambria Math" panose="02040503050406030204" pitchFamily="18" charset="0"/>
                          </a:rPr>
                          <m:t>𝑝𝑜𝑙𝑦𝑠𝑖𝑙𝑙𝑎𝑏𝑖𝑐</m:t>
                        </m:r>
                        <m:r>
                          <a:rPr lang="en-US" sz="2400" b="0" i="1" smtClean="0">
                            <a:latin typeface="Cambria Math" panose="02040503050406030204" pitchFamily="18" charset="0"/>
                          </a:rPr>
                          <m:t> </m:t>
                        </m:r>
                        <m:r>
                          <a:rPr lang="en-US" sz="2400" b="0" i="1" smtClean="0">
                            <a:latin typeface="Cambria Math" panose="02040503050406030204" pitchFamily="18" charset="0"/>
                          </a:rPr>
                          <m:t>𝑤𝑜𝑟𝑑</m:t>
                        </m:r>
                        <m:r>
                          <a:rPr lang="en-US" sz="2400" b="0" i="1" smtClean="0">
                            <a:latin typeface="Cambria Math" panose="02040503050406030204" pitchFamily="18" charset="0"/>
                          </a:rPr>
                          <m:t> </m:t>
                        </m:r>
                        <m:r>
                          <a:rPr lang="en-US" sz="2400" b="0" i="1" smtClean="0">
                            <a:latin typeface="Cambria Math" panose="02040503050406030204" pitchFamily="18" charset="0"/>
                          </a:rPr>
                          <m:t>𝑐𝑜𝑢𝑛𝑡</m:t>
                        </m:r>
                      </m:e>
                    </m:rad>
                  </m:oMath>
                </a14:m>
                <a:endParaRPr lang="en-IT" dirty="0"/>
              </a:p>
              <a:p>
                <a:pPr lvl="1"/>
                <a:endParaRPr lang="en-IT" dirty="0"/>
              </a:p>
              <a:p>
                <a:pPr marL="800100" lvl="1" indent="-342900">
                  <a:buFont typeface="Wingdings" pitchFamily="2" charset="2"/>
                  <a:buChar char="Ø"/>
                </a:pPr>
                <a:r>
                  <a:rPr lang="en-IT" sz="2400" dirty="0"/>
                  <a:t>FKGL [Kincaid et al 75]:</a:t>
                </a:r>
              </a:p>
              <a:p>
                <a:pPr lvl="1"/>
                <a:r>
                  <a:rPr lang="en-IT" sz="2400" dirty="0"/>
                  <a:t>    </a:t>
                </a:r>
                <a14:m>
                  <m:oMath xmlns:m="http://schemas.openxmlformats.org/officeDocument/2006/math">
                    <m:r>
                      <a:rPr lang="en-US" sz="2400" b="0" i="1" smtClean="0">
                        <a:latin typeface="Cambria Math" panose="02040503050406030204" pitchFamily="18" charset="0"/>
                      </a:rPr>
                      <m:t>0.4∗</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𝑇𝑜𝑡𝑎𝑙</m:t>
                        </m:r>
                        <m:r>
                          <a:rPr lang="en-US" sz="2400" b="0" i="1" smtClean="0">
                            <a:latin typeface="Cambria Math" panose="02040503050406030204" pitchFamily="18" charset="0"/>
                          </a:rPr>
                          <m:t> </m:t>
                        </m:r>
                        <m:r>
                          <a:rPr lang="en-US" sz="2400" b="0" i="1" smtClean="0">
                            <a:latin typeface="Cambria Math" panose="02040503050406030204" pitchFamily="18" charset="0"/>
                          </a:rPr>
                          <m:t>𝑊𝑜𝑟𝑑𝑠</m:t>
                        </m:r>
                      </m:num>
                      <m:den>
                        <m:r>
                          <a:rPr lang="en-US" sz="2400" b="0" i="1" smtClean="0">
                            <a:latin typeface="Cambria Math" panose="02040503050406030204" pitchFamily="18" charset="0"/>
                          </a:rPr>
                          <m:t>𝑇𝑜𝑡𝑎𝑙</m:t>
                        </m:r>
                        <m:r>
                          <a:rPr lang="en-US" sz="2400" b="0" i="1" smtClean="0">
                            <a:latin typeface="Cambria Math" panose="02040503050406030204" pitchFamily="18" charset="0"/>
                          </a:rPr>
                          <m:t> </m:t>
                        </m:r>
                        <m:r>
                          <a:rPr lang="en-US" sz="2400" b="0" i="1" smtClean="0">
                            <a:latin typeface="Cambria Math" panose="02040503050406030204" pitchFamily="18" charset="0"/>
                          </a:rPr>
                          <m:t>𝑆𝑒𝑛𝑡𝑒𝑛𝑐𝑒𝑠</m:t>
                        </m:r>
                      </m:den>
                    </m:f>
                    <m:r>
                      <a:rPr lang="en-US" sz="2400" b="0" i="0" smtClean="0">
                        <a:latin typeface="Cambria Math" panose="02040503050406030204" pitchFamily="18" charset="0"/>
                      </a:rPr>
                      <m:t>+12∗</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𝑇𝑜𝑡𝑎𝑙</m:t>
                        </m:r>
                        <m:r>
                          <a:rPr lang="en-US" sz="2400" b="0" i="1" smtClean="0">
                            <a:latin typeface="Cambria Math" panose="02040503050406030204" pitchFamily="18" charset="0"/>
                          </a:rPr>
                          <m:t> </m:t>
                        </m:r>
                        <m:r>
                          <a:rPr lang="en-US" sz="2400" b="0" i="1" smtClean="0">
                            <a:latin typeface="Cambria Math" panose="02040503050406030204" pitchFamily="18" charset="0"/>
                          </a:rPr>
                          <m:t>𝑆𝑦𝑙𝑙𝑎𝑏𝑙𝑒𝑠</m:t>
                        </m:r>
                      </m:num>
                      <m:den>
                        <m:r>
                          <a:rPr lang="en-US" sz="2400" b="0" i="1" smtClean="0">
                            <a:latin typeface="Cambria Math" panose="02040503050406030204" pitchFamily="18" charset="0"/>
                          </a:rPr>
                          <m:t>𝑇𝑜𝑡𝑎𝑙</m:t>
                        </m:r>
                        <m:r>
                          <a:rPr lang="en-US" sz="2400" b="0" i="1" smtClean="0">
                            <a:latin typeface="Cambria Math" panose="02040503050406030204" pitchFamily="18" charset="0"/>
                          </a:rPr>
                          <m:t> </m:t>
                        </m:r>
                        <m:r>
                          <a:rPr lang="en-US" sz="2400" b="0" i="1" smtClean="0">
                            <a:latin typeface="Cambria Math" panose="02040503050406030204" pitchFamily="18" charset="0"/>
                          </a:rPr>
                          <m:t>𝑊𝑜𝑟𝑑𝑠</m:t>
                        </m:r>
                      </m:den>
                    </m:f>
                  </m:oMath>
                </a14:m>
                <a:r>
                  <a:rPr lang="en-IT" sz="2400" dirty="0"/>
                  <a:t> -16</a:t>
                </a:r>
              </a:p>
            </p:txBody>
          </p:sp>
        </mc:Choice>
        <mc:Fallback>
          <p:sp>
            <p:nvSpPr>
              <p:cNvPr id="7" name="TextBox 6">
                <a:extLst>
                  <a:ext uri="{FF2B5EF4-FFF2-40B4-BE49-F238E27FC236}">
                    <a16:creationId xmlns:a16="http://schemas.microsoft.com/office/drawing/2014/main" id="{12719D13-BD4E-E9F0-9274-1A5B375C6CE1}"/>
                  </a:ext>
                </a:extLst>
              </p:cNvPr>
              <p:cNvSpPr txBox="1">
                <a:spLocks noRot="1" noChangeAspect="1" noMove="1" noResize="1" noEditPoints="1" noAdjustHandles="1" noChangeArrowheads="1" noChangeShapeType="1" noTextEdit="1"/>
              </p:cNvSpPr>
              <p:nvPr/>
            </p:nvSpPr>
            <p:spPr>
              <a:xfrm>
                <a:off x="1097280" y="2977294"/>
                <a:ext cx="9883822" cy="2826223"/>
              </a:xfrm>
              <a:prstGeom prst="rect">
                <a:avLst/>
              </a:prstGeom>
              <a:blipFill>
                <a:blip r:embed="rId4"/>
                <a:stretch>
                  <a:fillRect l="-1027" t="-1794" b="-3587"/>
                </a:stretch>
              </a:blipFill>
            </p:spPr>
            <p:txBody>
              <a:bodyPr/>
              <a:lstStyle/>
              <a:p>
                <a:r>
                  <a:rPr lang="en-IT">
                    <a:noFill/>
                  </a:rPr>
                  <a:t> </a:t>
                </a:r>
              </a:p>
            </p:txBody>
          </p:sp>
        </mc:Fallback>
      </mc:AlternateContent>
      <p:sp>
        <p:nvSpPr>
          <p:cNvPr id="10" name="TextBox 9">
            <a:extLst>
              <a:ext uri="{FF2B5EF4-FFF2-40B4-BE49-F238E27FC236}">
                <a16:creationId xmlns:a16="http://schemas.microsoft.com/office/drawing/2014/main" id="{957872B6-B341-FEFA-0705-CD47BECC74A2}"/>
              </a:ext>
            </a:extLst>
          </p:cNvPr>
          <p:cNvSpPr txBox="1"/>
          <p:nvPr/>
        </p:nvSpPr>
        <p:spPr>
          <a:xfrm>
            <a:off x="7571156" y="2975750"/>
            <a:ext cx="3913087" cy="830997"/>
          </a:xfrm>
          <a:prstGeom prst="rect">
            <a:avLst/>
          </a:prstGeom>
          <a:noFill/>
        </p:spPr>
        <p:txBody>
          <a:bodyPr wrap="square" rtlCol="0">
            <a:spAutoFit/>
          </a:bodyPr>
          <a:lstStyle/>
          <a:p>
            <a:r>
              <a:rPr lang="en-IT" sz="2400" dirty="0"/>
              <a:t>SMOG better for healthcare </a:t>
            </a:r>
          </a:p>
          <a:p>
            <a:r>
              <a:rPr lang="en-IT" sz="2400" dirty="0"/>
              <a:t>[Wong et al 13, Mac et al 22]</a:t>
            </a:r>
          </a:p>
        </p:txBody>
      </p:sp>
    </p:spTree>
    <p:extLst>
      <p:ext uri="{BB962C8B-B14F-4D97-AF65-F5344CB8AC3E}">
        <p14:creationId xmlns:p14="http://schemas.microsoft.com/office/powerpoint/2010/main" val="1912500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C7E2F-9310-8B8B-D7E5-3F3441A650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131796-8D09-BA41-16C0-4D3582E197A5}"/>
              </a:ext>
            </a:extLst>
          </p:cNvPr>
          <p:cNvSpPr>
            <a:spLocks noGrp="1"/>
          </p:cNvSpPr>
          <p:nvPr>
            <p:ph type="title"/>
          </p:nvPr>
        </p:nvSpPr>
        <p:spPr/>
        <p:txBody>
          <a:bodyPr/>
          <a:lstStyle/>
          <a:p>
            <a:r>
              <a:rPr lang="en-IT" b="1" dirty="0">
                <a:solidFill>
                  <a:srgbClr val="00B0F0"/>
                </a:solidFill>
                <a:latin typeface="+mn-lt"/>
              </a:rPr>
              <a:t>HFFood-NS vs HFFood-GPT:</a:t>
            </a:r>
            <a:r>
              <a:rPr lang="en-IT" b="1" dirty="0">
                <a:solidFill>
                  <a:srgbClr val="00B0F0"/>
                </a:solidFill>
              </a:rPr>
              <a:t> </a:t>
            </a:r>
            <a:r>
              <a:rPr lang="en-IT" b="1" dirty="0">
                <a:solidFill>
                  <a:srgbClr val="00B0F0"/>
                </a:solidFill>
                <a:latin typeface="+mn-lt"/>
              </a:rPr>
              <a:t>Response readability</a:t>
            </a:r>
          </a:p>
        </p:txBody>
      </p:sp>
      <p:graphicFrame>
        <p:nvGraphicFramePr>
          <p:cNvPr id="5" name="Content Placeholder 4">
            <a:extLst>
              <a:ext uri="{FF2B5EF4-FFF2-40B4-BE49-F238E27FC236}">
                <a16:creationId xmlns:a16="http://schemas.microsoft.com/office/drawing/2014/main" id="{D42FBF38-1502-6219-61B9-A534DB419EC4}"/>
              </a:ext>
            </a:extLst>
          </p:cNvPr>
          <p:cNvGraphicFramePr>
            <a:graphicFrameLocks noGrp="1"/>
          </p:cNvGraphicFramePr>
          <p:nvPr>
            <p:ph idx="1"/>
            <p:extLst>
              <p:ext uri="{D42A27DB-BD31-4B8C-83A1-F6EECF244321}">
                <p14:modId xmlns:p14="http://schemas.microsoft.com/office/powerpoint/2010/main" val="2235270477"/>
              </p:ext>
            </p:extLst>
          </p:nvPr>
        </p:nvGraphicFramePr>
        <p:xfrm>
          <a:off x="1255689" y="4119212"/>
          <a:ext cx="10058397" cy="1828800"/>
        </p:xfrm>
        <a:graphic>
          <a:graphicData uri="http://schemas.openxmlformats.org/drawingml/2006/table">
            <a:tbl>
              <a:tblPr firstRow="1" bandRow="1">
                <a:tableStyleId>{5C22544A-7EE6-4342-B048-85BDC9FD1C3A}</a:tableStyleId>
              </a:tblPr>
              <a:tblGrid>
                <a:gridCol w="3352799">
                  <a:extLst>
                    <a:ext uri="{9D8B030D-6E8A-4147-A177-3AD203B41FA5}">
                      <a16:colId xmlns:a16="http://schemas.microsoft.com/office/drawing/2014/main" val="2719743809"/>
                    </a:ext>
                  </a:extLst>
                </a:gridCol>
                <a:gridCol w="3352799">
                  <a:extLst>
                    <a:ext uri="{9D8B030D-6E8A-4147-A177-3AD203B41FA5}">
                      <a16:colId xmlns:a16="http://schemas.microsoft.com/office/drawing/2014/main" val="4033474374"/>
                    </a:ext>
                  </a:extLst>
                </a:gridCol>
                <a:gridCol w="3352799">
                  <a:extLst>
                    <a:ext uri="{9D8B030D-6E8A-4147-A177-3AD203B41FA5}">
                      <a16:colId xmlns:a16="http://schemas.microsoft.com/office/drawing/2014/main" val="3935829378"/>
                    </a:ext>
                  </a:extLst>
                </a:gridCol>
              </a:tblGrid>
              <a:tr h="370840">
                <a:tc>
                  <a:txBody>
                    <a:bodyPr/>
                    <a:lstStyle/>
                    <a:p>
                      <a:endParaRPr lang="en-IT" sz="2400" dirty="0"/>
                    </a:p>
                  </a:txBody>
                  <a:tcPr/>
                </a:tc>
                <a:tc>
                  <a:txBody>
                    <a:bodyPr/>
                    <a:lstStyle/>
                    <a:p>
                      <a:pPr algn="ctr"/>
                      <a:r>
                        <a:rPr lang="en-IT" sz="2400" dirty="0"/>
                        <a:t>HFFood-NS</a:t>
                      </a:r>
                    </a:p>
                  </a:txBody>
                  <a:tcPr/>
                </a:tc>
                <a:tc>
                  <a:txBody>
                    <a:bodyPr/>
                    <a:lstStyle/>
                    <a:p>
                      <a:pPr algn="ctr"/>
                      <a:r>
                        <a:rPr lang="en-IT" sz="2400" dirty="0"/>
                        <a:t>HFFood-GPT</a:t>
                      </a:r>
                    </a:p>
                  </a:txBody>
                  <a:tcPr/>
                </a:tc>
                <a:extLst>
                  <a:ext uri="{0D108BD9-81ED-4DB2-BD59-A6C34878D82A}">
                    <a16:rowId xmlns:a16="http://schemas.microsoft.com/office/drawing/2014/main" val="1042473117"/>
                  </a:ext>
                </a:extLst>
              </a:tr>
              <a:tr h="370840">
                <a:tc>
                  <a:txBody>
                    <a:bodyPr/>
                    <a:lstStyle/>
                    <a:p>
                      <a:r>
                        <a:rPr lang="en-IT" sz="2400" dirty="0"/>
                        <a:t>SMOG  (↓) [grade]</a:t>
                      </a:r>
                    </a:p>
                  </a:txBody>
                  <a:tcPr/>
                </a:tc>
                <a:tc>
                  <a:txBody>
                    <a:bodyPr/>
                    <a:lstStyle/>
                    <a:p>
                      <a:pPr algn="r"/>
                      <a:r>
                        <a:rPr lang="en-IT" sz="2400" dirty="0">
                          <a:solidFill>
                            <a:srgbClr val="00B050"/>
                          </a:solidFill>
                        </a:rPr>
                        <a:t>7.05</a:t>
                      </a:r>
                    </a:p>
                  </a:txBody>
                  <a:tcPr/>
                </a:tc>
                <a:tc>
                  <a:txBody>
                    <a:bodyPr/>
                    <a:lstStyle/>
                    <a:p>
                      <a:pPr algn="r"/>
                      <a:r>
                        <a:rPr lang="en-IT" sz="2400" dirty="0"/>
                        <a:t>10.58</a:t>
                      </a:r>
                    </a:p>
                  </a:txBody>
                  <a:tcPr/>
                </a:tc>
                <a:extLst>
                  <a:ext uri="{0D108BD9-81ED-4DB2-BD59-A6C34878D82A}">
                    <a16:rowId xmlns:a16="http://schemas.microsoft.com/office/drawing/2014/main" val="1694272381"/>
                  </a:ext>
                </a:extLst>
              </a:tr>
              <a:tr h="370840">
                <a:tc>
                  <a:txBody>
                    <a:bodyPr/>
                    <a:lstStyle/>
                    <a:p>
                      <a:r>
                        <a:rPr lang="en-IT" sz="2400" dirty="0"/>
                        <a:t>FKGL     (↓) [grade]</a:t>
                      </a:r>
                    </a:p>
                  </a:txBody>
                  <a:tcPr/>
                </a:tc>
                <a:tc>
                  <a:txBody>
                    <a:bodyPr/>
                    <a:lstStyle/>
                    <a:p>
                      <a:pPr algn="r"/>
                      <a:r>
                        <a:rPr lang="en-IT" sz="2400" dirty="0">
                          <a:solidFill>
                            <a:srgbClr val="00B050"/>
                          </a:solidFill>
                        </a:rPr>
                        <a:t>2.71</a:t>
                      </a:r>
                    </a:p>
                  </a:txBody>
                  <a:tcPr/>
                </a:tc>
                <a:tc>
                  <a:txBody>
                    <a:bodyPr/>
                    <a:lstStyle/>
                    <a:p>
                      <a:pPr algn="r"/>
                      <a:r>
                        <a:rPr lang="en-IT" sz="2400" dirty="0"/>
                        <a:t>7.10</a:t>
                      </a:r>
                    </a:p>
                  </a:txBody>
                  <a:tcPr/>
                </a:tc>
                <a:extLst>
                  <a:ext uri="{0D108BD9-81ED-4DB2-BD59-A6C34878D82A}">
                    <a16:rowId xmlns:a16="http://schemas.microsoft.com/office/drawing/2014/main" val="2963557249"/>
                  </a:ext>
                </a:extLst>
              </a:tr>
              <a:tr h="370840">
                <a:tc>
                  <a:txBody>
                    <a:bodyPr/>
                    <a:lstStyle/>
                    <a:p>
                      <a:r>
                        <a:rPr lang="en-IT" sz="2400" dirty="0"/>
                        <a:t>FKRE     (↑) [ease]</a:t>
                      </a:r>
                    </a:p>
                  </a:txBody>
                  <a:tcPr>
                    <a:lnL w="12700" cap="flat" cmpd="sng" algn="ctr">
                      <a:solidFill>
                        <a:schemeClr val="tx1"/>
                      </a:solidFill>
                      <a:prstDash val="solid"/>
                      <a:round/>
                      <a:headEnd type="none" w="med" len="med"/>
                      <a:tailEnd type="none" w="med" len="med"/>
                    </a:lnL>
                  </a:tcPr>
                </a:tc>
                <a:tc>
                  <a:txBody>
                    <a:bodyPr/>
                    <a:lstStyle/>
                    <a:p>
                      <a:pPr algn="r"/>
                      <a:r>
                        <a:rPr lang="en-IT" sz="2400" dirty="0">
                          <a:solidFill>
                            <a:srgbClr val="00B050"/>
                          </a:solidFill>
                        </a:rPr>
                        <a:t>91.21</a:t>
                      </a:r>
                    </a:p>
                  </a:txBody>
                  <a:tcPr/>
                </a:tc>
                <a:tc>
                  <a:txBody>
                    <a:bodyPr/>
                    <a:lstStyle/>
                    <a:p>
                      <a:pPr algn="r"/>
                      <a:r>
                        <a:rPr lang="en-IT" sz="2400" dirty="0">
                          <a:solidFill>
                            <a:schemeClr val="tx1"/>
                          </a:solidFill>
                        </a:rPr>
                        <a:t>71.79</a:t>
                      </a:r>
                    </a:p>
                  </a:txBody>
                  <a:tcPr/>
                </a:tc>
                <a:extLst>
                  <a:ext uri="{0D108BD9-81ED-4DB2-BD59-A6C34878D82A}">
                    <a16:rowId xmlns:a16="http://schemas.microsoft.com/office/drawing/2014/main" val="758374122"/>
                  </a:ext>
                </a:extLst>
              </a:tr>
            </a:tbl>
          </a:graphicData>
        </a:graphic>
      </p:graphicFrame>
      <p:sp>
        <p:nvSpPr>
          <p:cNvPr id="4" name="Slide Number Placeholder 3">
            <a:extLst>
              <a:ext uri="{FF2B5EF4-FFF2-40B4-BE49-F238E27FC236}">
                <a16:creationId xmlns:a16="http://schemas.microsoft.com/office/drawing/2014/main" id="{F4BD3E75-E69B-E600-905A-3DE3B9F346A5}"/>
              </a:ext>
            </a:extLst>
          </p:cNvPr>
          <p:cNvSpPr>
            <a:spLocks noGrp="1"/>
          </p:cNvSpPr>
          <p:nvPr>
            <p:ph type="sldNum" sz="quarter" idx="12"/>
          </p:nvPr>
        </p:nvSpPr>
        <p:spPr/>
        <p:txBody>
          <a:bodyPr/>
          <a:lstStyle/>
          <a:p>
            <a:fld id="{6113E31D-E2AB-40D1-8B51-AFA5AFEF393A}" type="slidenum">
              <a:rPr lang="en-US" smtClean="0"/>
              <a:t>20</a:t>
            </a:fld>
            <a:endParaRPr lang="en-US" dirty="0"/>
          </a:p>
        </p:txBody>
      </p:sp>
      <p:pic>
        <p:nvPicPr>
          <p:cNvPr id="3" name="Picture 2" descr="A red circle with black text&#10;&#10;Description automatically generated">
            <a:extLst>
              <a:ext uri="{FF2B5EF4-FFF2-40B4-BE49-F238E27FC236}">
                <a16:creationId xmlns:a16="http://schemas.microsoft.com/office/drawing/2014/main" id="{B540CE0E-9086-531B-8909-5023266FA961}"/>
              </a:ext>
            </a:extLst>
          </p:cNvPr>
          <p:cNvPicPr>
            <a:picLocks noChangeAspect="1"/>
          </p:cNvPicPr>
          <p:nvPr/>
        </p:nvPicPr>
        <p:blipFill>
          <a:blip r:embed="rId3"/>
          <a:stretch>
            <a:fillRect/>
          </a:stretch>
        </p:blipFill>
        <p:spPr>
          <a:xfrm>
            <a:off x="-199423" y="5625073"/>
            <a:ext cx="1126180" cy="1136822"/>
          </a:xfrm>
          <a:prstGeom prst="rect">
            <a:avLst/>
          </a:prstGeom>
        </p:spPr>
      </p:pic>
      <p:sp>
        <p:nvSpPr>
          <p:cNvPr id="11" name="TextBox 10">
            <a:extLst>
              <a:ext uri="{FF2B5EF4-FFF2-40B4-BE49-F238E27FC236}">
                <a16:creationId xmlns:a16="http://schemas.microsoft.com/office/drawing/2014/main" id="{D03E8A9D-6A8A-DF94-7939-D4BAADDF2338}"/>
              </a:ext>
            </a:extLst>
          </p:cNvPr>
          <p:cNvSpPr txBox="1"/>
          <p:nvPr/>
        </p:nvSpPr>
        <p:spPr>
          <a:xfrm>
            <a:off x="1255689" y="1981206"/>
            <a:ext cx="6105133" cy="1107996"/>
          </a:xfrm>
          <a:prstGeom prst="rect">
            <a:avLst/>
          </a:prstGeom>
          <a:noFill/>
        </p:spPr>
        <p:txBody>
          <a:bodyPr wrap="none" rtlCol="0">
            <a:spAutoFit/>
          </a:bodyPr>
          <a:lstStyle/>
          <a:p>
            <a:r>
              <a:rPr lang="en-IT" sz="2400" dirty="0"/>
              <a:t>Reading ease: </a:t>
            </a:r>
          </a:p>
          <a:p>
            <a:pPr marL="800100" lvl="1" indent="-342900">
              <a:buFont typeface="Wingdings" pitchFamily="2" charset="2"/>
              <a:buChar char="Ø"/>
            </a:pPr>
            <a:r>
              <a:rPr lang="en-IT" sz="2400" dirty="0"/>
              <a:t> FKRE [0..100] [Flesh 48, Kincaid et al 75] </a:t>
            </a:r>
          </a:p>
          <a:p>
            <a:endParaRPr lang="en-IT" dirty="0"/>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73355ECB-F951-A280-9305-4AA4692EE82C}"/>
                  </a:ext>
                </a:extLst>
              </p:cNvPr>
              <p:cNvSpPr txBox="1"/>
              <p:nvPr/>
            </p:nvSpPr>
            <p:spPr>
              <a:xfrm>
                <a:off x="2337354" y="3046981"/>
                <a:ext cx="6200078" cy="491609"/>
              </a:xfrm>
              <a:prstGeom prst="rect">
                <a:avLst/>
              </a:prstGeom>
              <a:noFill/>
            </p:spPr>
            <p:txBody>
              <a:bodyPr wrap="square">
                <a:spAutoFit/>
              </a:bodyPr>
              <a:lstStyle/>
              <a:p>
                <a14:m>
                  <m:oMath xmlns:m="http://schemas.openxmlformats.org/officeDocument/2006/math">
                    <m:r>
                      <a:rPr lang="en-US" i="1" smtClean="0">
                        <a:latin typeface="Cambria Math" panose="02040503050406030204" pitchFamily="18" charset="0"/>
                      </a:rPr>
                      <m:t>2</m:t>
                    </m:r>
                    <m:r>
                      <a:rPr lang="en-US" b="0" i="1" smtClean="0">
                        <a:latin typeface="Cambria Math" panose="02040503050406030204" pitchFamily="18" charset="0"/>
                      </a:rPr>
                      <m:t>06.835 −1.015 ∗</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𝑇𝑜𝑡𝑎𝑙</m:t>
                        </m:r>
                        <m:r>
                          <a:rPr lang="en-US" sz="1800" b="0" i="1" smtClean="0">
                            <a:latin typeface="Cambria Math" panose="02040503050406030204" pitchFamily="18" charset="0"/>
                          </a:rPr>
                          <m:t> </m:t>
                        </m:r>
                        <m:r>
                          <a:rPr lang="en-US" sz="1800" b="0" i="1" smtClean="0">
                            <a:latin typeface="Cambria Math" panose="02040503050406030204" pitchFamily="18" charset="0"/>
                          </a:rPr>
                          <m:t>𝑊𝑜𝑟𝑑𝑠</m:t>
                        </m:r>
                      </m:num>
                      <m:den>
                        <m:r>
                          <a:rPr lang="en-US" sz="1800" b="0" i="1" smtClean="0">
                            <a:latin typeface="Cambria Math" panose="02040503050406030204" pitchFamily="18" charset="0"/>
                          </a:rPr>
                          <m:t>𝑇𝑜𝑡𝑎𝑙</m:t>
                        </m:r>
                        <m:r>
                          <a:rPr lang="en-US" sz="1800" b="0" i="1" smtClean="0">
                            <a:latin typeface="Cambria Math" panose="02040503050406030204" pitchFamily="18" charset="0"/>
                          </a:rPr>
                          <m:t> </m:t>
                        </m:r>
                        <m:r>
                          <a:rPr lang="en-US" sz="1800" b="0" i="1" smtClean="0">
                            <a:latin typeface="Cambria Math" panose="02040503050406030204" pitchFamily="18" charset="0"/>
                          </a:rPr>
                          <m:t>𝑆𝑒𝑛𝑡𝑒𝑛𝑐𝑒𝑠</m:t>
                        </m:r>
                      </m:den>
                    </m:f>
                    <m:r>
                      <a:rPr lang="en-US" sz="1800" b="0" i="0" smtClean="0">
                        <a:latin typeface="Cambria Math" panose="02040503050406030204" pitchFamily="18" charset="0"/>
                      </a:rPr>
                      <m:t> −84.5 </m:t>
                    </m:r>
                    <m:r>
                      <a:rPr lang="en-US" sz="1800" b="0" i="0"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𝑇𝑜𝑡𝑎𝑙</m:t>
                        </m:r>
                        <m:r>
                          <a:rPr lang="en-US" sz="1800" b="0" i="1" smtClean="0">
                            <a:latin typeface="Cambria Math" panose="02040503050406030204" pitchFamily="18" charset="0"/>
                          </a:rPr>
                          <m:t> </m:t>
                        </m:r>
                        <m:r>
                          <a:rPr lang="en-US" sz="1800" b="0" i="1" smtClean="0">
                            <a:latin typeface="Cambria Math" panose="02040503050406030204" pitchFamily="18" charset="0"/>
                          </a:rPr>
                          <m:t>𝑆𝑦𝑙𝑙𝑎𝑏𝑙𝑒𝑠</m:t>
                        </m:r>
                      </m:num>
                      <m:den>
                        <m:r>
                          <a:rPr lang="en-US" sz="1800" b="0" i="1" smtClean="0">
                            <a:latin typeface="Cambria Math" panose="02040503050406030204" pitchFamily="18" charset="0"/>
                          </a:rPr>
                          <m:t>𝑇𝑜𝑡𝑎𝑙</m:t>
                        </m:r>
                        <m:r>
                          <a:rPr lang="en-US" sz="1800" b="0" i="1" smtClean="0">
                            <a:latin typeface="Cambria Math" panose="02040503050406030204" pitchFamily="18" charset="0"/>
                          </a:rPr>
                          <m:t> </m:t>
                        </m:r>
                        <m:r>
                          <a:rPr lang="en-US" sz="1800" b="0" i="1" smtClean="0">
                            <a:latin typeface="Cambria Math" panose="02040503050406030204" pitchFamily="18" charset="0"/>
                          </a:rPr>
                          <m:t>𝑊𝑜𝑟𝑑𝑠</m:t>
                        </m:r>
                      </m:den>
                    </m:f>
                  </m:oMath>
                </a14:m>
                <a:r>
                  <a:rPr lang="en-IT" sz="1800" dirty="0"/>
                  <a:t> </a:t>
                </a:r>
                <a:endParaRPr lang="en-IT" dirty="0"/>
              </a:p>
            </p:txBody>
          </p:sp>
        </mc:Choice>
        <mc:Fallback>
          <p:sp>
            <p:nvSpPr>
              <p:cNvPr id="9" name="TextBox 8">
                <a:extLst>
                  <a:ext uri="{FF2B5EF4-FFF2-40B4-BE49-F238E27FC236}">
                    <a16:creationId xmlns:a16="http://schemas.microsoft.com/office/drawing/2014/main" id="{73355ECB-F951-A280-9305-4AA4692EE82C}"/>
                  </a:ext>
                </a:extLst>
              </p:cNvPr>
              <p:cNvSpPr txBox="1">
                <a:spLocks noRot="1" noChangeAspect="1" noMove="1" noResize="1" noEditPoints="1" noAdjustHandles="1" noChangeArrowheads="1" noChangeShapeType="1" noTextEdit="1"/>
              </p:cNvSpPr>
              <p:nvPr/>
            </p:nvSpPr>
            <p:spPr>
              <a:xfrm>
                <a:off x="2337354" y="3046981"/>
                <a:ext cx="6200078" cy="491609"/>
              </a:xfrm>
              <a:prstGeom prst="rect">
                <a:avLst/>
              </a:prstGeom>
              <a:blipFill>
                <a:blip r:embed="rId4"/>
                <a:stretch>
                  <a:fillRect b="-15385"/>
                </a:stretch>
              </a:blipFill>
            </p:spPr>
            <p:txBody>
              <a:bodyPr/>
              <a:lstStyle/>
              <a:p>
                <a:r>
                  <a:rPr lang="en-IT">
                    <a:noFill/>
                  </a:rPr>
                  <a:t> </a:t>
                </a:r>
              </a:p>
            </p:txBody>
          </p:sp>
        </mc:Fallback>
      </mc:AlternateContent>
    </p:spTree>
    <p:extLst>
      <p:ext uri="{BB962C8B-B14F-4D97-AF65-F5344CB8AC3E}">
        <p14:creationId xmlns:p14="http://schemas.microsoft.com/office/powerpoint/2010/main" val="262868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6AAC0-304D-65AB-216C-E055A8C97D40}"/>
              </a:ext>
            </a:extLst>
          </p:cNvPr>
          <p:cNvSpPr>
            <a:spLocks noGrp="1"/>
          </p:cNvSpPr>
          <p:nvPr>
            <p:ph type="title"/>
          </p:nvPr>
        </p:nvSpPr>
        <p:spPr/>
        <p:txBody>
          <a:bodyPr/>
          <a:lstStyle/>
          <a:p>
            <a:r>
              <a:rPr lang="en-IT" b="1" dirty="0">
                <a:solidFill>
                  <a:srgbClr val="00B0F0"/>
                </a:solidFill>
                <a:latin typeface="+mn-lt"/>
              </a:rPr>
              <a:t>HFCHat: take aways</a:t>
            </a:r>
          </a:p>
        </p:txBody>
      </p:sp>
      <p:sp>
        <p:nvSpPr>
          <p:cNvPr id="3" name="Content Placeholder 2">
            <a:extLst>
              <a:ext uri="{FF2B5EF4-FFF2-40B4-BE49-F238E27FC236}">
                <a16:creationId xmlns:a16="http://schemas.microsoft.com/office/drawing/2014/main" id="{8556EDF4-D403-8041-4111-1B614E761A61}"/>
              </a:ext>
            </a:extLst>
          </p:cNvPr>
          <p:cNvSpPr>
            <a:spLocks noGrp="1"/>
          </p:cNvSpPr>
          <p:nvPr>
            <p:ph idx="1"/>
          </p:nvPr>
        </p:nvSpPr>
        <p:spPr>
          <a:xfrm>
            <a:off x="1097280" y="1845735"/>
            <a:ext cx="10765207" cy="4286125"/>
          </a:xfrm>
        </p:spPr>
        <p:txBody>
          <a:bodyPr>
            <a:normAutofit fontScale="47500" lnSpcReduction="20000"/>
          </a:bodyPr>
          <a:lstStyle/>
          <a:p>
            <a:pPr lvl="1">
              <a:lnSpc>
                <a:spcPct val="120000"/>
              </a:lnSpc>
              <a:spcBef>
                <a:spcPts val="900"/>
              </a:spcBef>
              <a:spcAft>
                <a:spcPts val="150"/>
              </a:spcAft>
              <a:buClr>
                <a:srgbClr val="E48312"/>
              </a:buClr>
              <a:buSzPct val="100000"/>
              <a:buFont typeface="Wingdings" pitchFamily="2" charset="2"/>
              <a:buChar char="v"/>
              <a:defRPr/>
            </a:pPr>
            <a:r>
              <a:rPr lang="en-US" sz="5900" dirty="0">
                <a:solidFill>
                  <a:schemeClr val="accent1"/>
                </a:solidFill>
              </a:rPr>
              <a:t>Dataset: </a:t>
            </a:r>
            <a:r>
              <a:rPr lang="en-US" sz="5900" dirty="0">
                <a:solidFill>
                  <a:schemeClr val="tx1"/>
                </a:solidFill>
              </a:rPr>
              <a:t>collected 20 patient/educator conversations (not sharable); generated synthetic dataset</a:t>
            </a:r>
          </a:p>
          <a:p>
            <a:pPr lvl="1">
              <a:lnSpc>
                <a:spcPct val="120000"/>
              </a:lnSpc>
              <a:buClr>
                <a:srgbClr val="E48312"/>
              </a:buClr>
              <a:buFont typeface="Wingdings" pitchFamily="2" charset="2"/>
              <a:buChar char="v"/>
              <a:defRPr/>
            </a:pPr>
            <a:r>
              <a:rPr lang="en-US" sz="5900" dirty="0">
                <a:solidFill>
                  <a:schemeClr val="accent1"/>
                </a:solidFill>
              </a:rPr>
              <a:t> Bias / fairness: </a:t>
            </a:r>
            <a:r>
              <a:rPr lang="en-US" sz="5900" dirty="0">
                <a:solidFill>
                  <a:schemeClr val="tx1"/>
                </a:solidFill>
              </a:rPr>
              <a:t>meant to address cultural competence for AA (Hispanics too). To be continued</a:t>
            </a:r>
          </a:p>
          <a:p>
            <a:pPr lvl="1">
              <a:lnSpc>
                <a:spcPct val="120000"/>
              </a:lnSpc>
              <a:buClr>
                <a:srgbClr val="E48312"/>
              </a:buClr>
              <a:buFont typeface="Wingdings" pitchFamily="2" charset="2"/>
              <a:buChar char="v"/>
              <a:defRPr/>
            </a:pPr>
            <a:r>
              <a:rPr lang="en-US" sz="5900" dirty="0">
                <a:solidFill>
                  <a:srgbClr val="000000">
                    <a:lumMod val="75000"/>
                    <a:lumOff val="25000"/>
                  </a:srgbClr>
                </a:solidFill>
              </a:rPr>
              <a:t> </a:t>
            </a:r>
            <a:r>
              <a:rPr lang="en-US" sz="5900" dirty="0" err="1">
                <a:solidFill>
                  <a:schemeClr val="accent1"/>
                </a:solidFill>
              </a:rPr>
              <a:t>Neurosymbolic</a:t>
            </a:r>
            <a:r>
              <a:rPr lang="en-US" sz="5900" dirty="0">
                <a:solidFill>
                  <a:srgbClr val="000000">
                    <a:lumMod val="75000"/>
                    <a:lumOff val="25000"/>
                  </a:srgbClr>
                </a:solidFill>
              </a:rPr>
              <a:t> approaches: developed </a:t>
            </a:r>
            <a:r>
              <a:rPr lang="en-US" sz="5900" b="1" dirty="0" err="1">
                <a:solidFill>
                  <a:srgbClr val="000000">
                    <a:lumMod val="75000"/>
                    <a:lumOff val="25000"/>
                  </a:srgbClr>
                </a:solidFill>
              </a:rPr>
              <a:t>HFFood</a:t>
            </a:r>
            <a:r>
              <a:rPr lang="en-US" sz="5900" b="1" dirty="0">
                <a:solidFill>
                  <a:srgbClr val="000000">
                    <a:lumMod val="75000"/>
                    <a:lumOff val="25000"/>
                  </a:srgbClr>
                </a:solidFill>
              </a:rPr>
              <a:t>-NS</a:t>
            </a:r>
          </a:p>
          <a:p>
            <a:pPr lvl="1">
              <a:lnSpc>
                <a:spcPct val="120000"/>
              </a:lnSpc>
              <a:buClr>
                <a:srgbClr val="E48312"/>
              </a:buClr>
              <a:buFont typeface="Wingdings" pitchFamily="2" charset="2"/>
              <a:buChar char="v"/>
              <a:defRPr/>
            </a:pPr>
            <a:r>
              <a:rPr lang="en-US" sz="5900" dirty="0">
                <a:solidFill>
                  <a:srgbClr val="000000">
                    <a:lumMod val="75000"/>
                    <a:lumOff val="25000"/>
                  </a:srgbClr>
                </a:solidFill>
              </a:rPr>
              <a:t> </a:t>
            </a:r>
            <a:r>
              <a:rPr lang="en-US" sz="5900" dirty="0">
                <a:solidFill>
                  <a:schemeClr val="accent1"/>
                </a:solidFill>
              </a:rPr>
              <a:t>LLMs:</a:t>
            </a:r>
            <a:r>
              <a:rPr lang="en-US" sz="5900" dirty="0">
                <a:solidFill>
                  <a:srgbClr val="000000">
                    <a:lumMod val="75000"/>
                    <a:lumOff val="25000"/>
                  </a:srgbClr>
                </a:solidFill>
              </a:rPr>
              <a:t> currently, uncertain utility</a:t>
            </a:r>
          </a:p>
          <a:p>
            <a:pPr marL="1202436" lvl="2" indent="-914400">
              <a:lnSpc>
                <a:spcPct val="120000"/>
              </a:lnSpc>
              <a:buClr>
                <a:srgbClr val="E48312"/>
              </a:buClr>
              <a:buFont typeface="+mj-lt"/>
              <a:buAutoNum type="alphaLcPeriod"/>
              <a:defRPr/>
            </a:pPr>
            <a:r>
              <a:rPr lang="en-US" sz="5900" dirty="0">
                <a:solidFill>
                  <a:srgbClr val="000000">
                    <a:lumMod val="75000"/>
                    <a:lumOff val="25000"/>
                  </a:srgbClr>
                </a:solidFill>
              </a:rPr>
              <a:t>Doesn’t follow prompt instructions; hallucinations</a:t>
            </a:r>
          </a:p>
          <a:p>
            <a:pPr marL="1202436" lvl="2" indent="-914400">
              <a:lnSpc>
                <a:spcPct val="120000"/>
              </a:lnSpc>
              <a:buClr>
                <a:srgbClr val="E48312"/>
              </a:buClr>
              <a:buFont typeface="+mj-lt"/>
              <a:buAutoNum type="alphaLcPeriod"/>
              <a:defRPr/>
            </a:pPr>
            <a:r>
              <a:rPr lang="en-US" sz="5900" dirty="0">
                <a:solidFill>
                  <a:srgbClr val="000000">
                    <a:lumMod val="75000"/>
                    <a:lumOff val="25000"/>
                  </a:srgbClr>
                </a:solidFill>
              </a:rPr>
              <a:t>Too high reading level</a:t>
            </a:r>
            <a:endParaRPr lang="en-IT" dirty="0"/>
          </a:p>
        </p:txBody>
      </p:sp>
      <p:sp>
        <p:nvSpPr>
          <p:cNvPr id="4" name="Slide Number Placeholder 3">
            <a:extLst>
              <a:ext uri="{FF2B5EF4-FFF2-40B4-BE49-F238E27FC236}">
                <a16:creationId xmlns:a16="http://schemas.microsoft.com/office/drawing/2014/main" id="{D4D30CBD-B0F0-42C8-7ECA-D6F3F1ACD0EC}"/>
              </a:ext>
            </a:extLst>
          </p:cNvPr>
          <p:cNvSpPr>
            <a:spLocks noGrp="1"/>
          </p:cNvSpPr>
          <p:nvPr>
            <p:ph type="sldNum" sz="quarter" idx="12"/>
          </p:nvPr>
        </p:nvSpPr>
        <p:spPr/>
        <p:txBody>
          <a:bodyPr/>
          <a:lstStyle/>
          <a:p>
            <a:fld id="{6113E31D-E2AB-40D1-8B51-AFA5AFEF393A}" type="slidenum">
              <a:rPr lang="en-US" smtClean="0"/>
              <a:t>21</a:t>
            </a:fld>
            <a:endParaRPr lang="en-US" dirty="0"/>
          </a:p>
        </p:txBody>
      </p:sp>
      <p:pic>
        <p:nvPicPr>
          <p:cNvPr id="7" name="Picture 6" descr="A red circle with black text&#10;&#10;Description automatically generated">
            <a:extLst>
              <a:ext uri="{FF2B5EF4-FFF2-40B4-BE49-F238E27FC236}">
                <a16:creationId xmlns:a16="http://schemas.microsoft.com/office/drawing/2014/main" id="{30BAEF10-883C-1434-5982-D3ADD28E4545}"/>
              </a:ext>
            </a:extLst>
          </p:cNvPr>
          <p:cNvPicPr>
            <a:picLocks noChangeAspect="1"/>
          </p:cNvPicPr>
          <p:nvPr/>
        </p:nvPicPr>
        <p:blipFill>
          <a:blip r:embed="rId3"/>
          <a:stretch>
            <a:fillRect/>
          </a:stretch>
        </p:blipFill>
        <p:spPr>
          <a:xfrm>
            <a:off x="-199423" y="5625073"/>
            <a:ext cx="1126180" cy="1136822"/>
          </a:xfrm>
          <a:prstGeom prst="rect">
            <a:avLst/>
          </a:prstGeom>
        </p:spPr>
      </p:pic>
    </p:spTree>
    <p:extLst>
      <p:ext uri="{BB962C8B-B14F-4D97-AF65-F5344CB8AC3E}">
        <p14:creationId xmlns:p14="http://schemas.microsoft.com/office/powerpoint/2010/main" val="26567391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DC13E-6567-873F-0046-9342659CACD1}"/>
              </a:ext>
            </a:extLst>
          </p:cNvPr>
          <p:cNvSpPr>
            <a:spLocks noGrp="1"/>
          </p:cNvSpPr>
          <p:nvPr>
            <p:ph type="title"/>
          </p:nvPr>
        </p:nvSpPr>
        <p:spPr/>
        <p:txBody>
          <a:bodyPr/>
          <a:lstStyle/>
          <a:p>
            <a:r>
              <a:rPr lang="en-IT" b="1" dirty="0">
                <a:solidFill>
                  <a:srgbClr val="00B0F0"/>
                </a:solidFill>
                <a:latin typeface="+mn-lt"/>
              </a:rPr>
              <a:t>Current and Future Work (especially HFChat)</a:t>
            </a:r>
          </a:p>
        </p:txBody>
      </p:sp>
      <p:sp>
        <p:nvSpPr>
          <p:cNvPr id="3" name="Content Placeholder 2">
            <a:extLst>
              <a:ext uri="{FF2B5EF4-FFF2-40B4-BE49-F238E27FC236}">
                <a16:creationId xmlns:a16="http://schemas.microsoft.com/office/drawing/2014/main" id="{05A7A74E-7B58-6B1F-41A3-553A5D1F0010}"/>
              </a:ext>
            </a:extLst>
          </p:cNvPr>
          <p:cNvSpPr>
            <a:spLocks noGrp="1"/>
          </p:cNvSpPr>
          <p:nvPr>
            <p:ph idx="1"/>
          </p:nvPr>
        </p:nvSpPr>
        <p:spPr/>
        <p:txBody>
          <a:bodyPr>
            <a:normAutofit/>
          </a:bodyPr>
          <a:lstStyle/>
          <a:p>
            <a:pPr>
              <a:buFont typeface="Wingdings" pitchFamily="2" charset="2"/>
              <a:buChar char="v"/>
            </a:pPr>
            <a:r>
              <a:rPr lang="en-IT" sz="2800" dirty="0"/>
              <a:t> Cultural Competence: ”you know when you see it”  </a:t>
            </a:r>
          </a:p>
          <a:p>
            <a:pPr marL="0" indent="0">
              <a:buNone/>
            </a:pPr>
            <a:r>
              <a:rPr lang="en-IT" sz="2800" dirty="0"/>
              <a:t>     Patient-centered care: </a:t>
            </a:r>
            <a:r>
              <a:rPr lang="en-GB" sz="2800" dirty="0"/>
              <a:t>empathy, respect, curiosity, responsiveness</a:t>
            </a:r>
          </a:p>
          <a:p>
            <a:pPr>
              <a:buFont typeface="Wingdings" pitchFamily="2" charset="2"/>
              <a:buChar char="v"/>
            </a:pPr>
            <a:r>
              <a:rPr lang="en-IT" sz="2800" dirty="0"/>
              <a:t> Health-belief model </a:t>
            </a:r>
            <a:r>
              <a:rPr lang="en-IT" sz="2200" dirty="0"/>
              <a:t>[Hochbaum 1958, Rosestock 2000] </a:t>
            </a:r>
            <a:r>
              <a:rPr lang="en-IT" sz="2800" dirty="0"/>
              <a:t>&amp; Persuasiveness: </a:t>
            </a:r>
            <a:r>
              <a:rPr lang="en-GB" sz="2800" dirty="0"/>
              <a:t>perceived [susceptibility to risk; risk severity; benefits of action,  barriers to action]; self-efficacy; cues to action</a:t>
            </a:r>
          </a:p>
          <a:p>
            <a:pPr>
              <a:buFont typeface="Wingdings" pitchFamily="2" charset="2"/>
              <a:buChar char="v"/>
            </a:pPr>
            <a:r>
              <a:rPr lang="en-GB" sz="2800" dirty="0"/>
              <a:t>Extend to other domains – via  schema graphs used to control LLMs </a:t>
            </a:r>
            <a:r>
              <a:rPr lang="en-GB" sz="2200" dirty="0"/>
              <a:t>[Agrawal et al </a:t>
            </a:r>
            <a:r>
              <a:rPr lang="en-GB" sz="2200" dirty="0" err="1"/>
              <a:t>SigDIAL</a:t>
            </a:r>
            <a:r>
              <a:rPr lang="en-GB" sz="2200" dirty="0"/>
              <a:t> 24, Zhang et al EMNLP 23, Zhao et al EMNLP 23]</a:t>
            </a:r>
          </a:p>
          <a:p>
            <a:pPr>
              <a:buFont typeface="Wingdings" pitchFamily="2" charset="2"/>
              <a:buChar char="v"/>
            </a:pPr>
            <a:r>
              <a:rPr lang="en-GB" sz="2800" dirty="0"/>
              <a:t>Bias …</a:t>
            </a:r>
          </a:p>
          <a:p>
            <a:pPr marL="0" indent="0">
              <a:buNone/>
            </a:pPr>
            <a:endParaRPr lang="en-IT" sz="2650" dirty="0"/>
          </a:p>
          <a:p>
            <a:pPr lvl="1">
              <a:buFont typeface="Wingdings" pitchFamily="2" charset="2"/>
              <a:buChar char="Ø"/>
            </a:pPr>
            <a:endParaRPr lang="en-IT" sz="2650" dirty="0"/>
          </a:p>
        </p:txBody>
      </p:sp>
      <p:sp>
        <p:nvSpPr>
          <p:cNvPr id="4" name="Slide Number Placeholder 3">
            <a:extLst>
              <a:ext uri="{FF2B5EF4-FFF2-40B4-BE49-F238E27FC236}">
                <a16:creationId xmlns:a16="http://schemas.microsoft.com/office/drawing/2014/main" id="{CA0B1434-C5CD-8EC8-043D-A5A9803E01FC}"/>
              </a:ext>
            </a:extLst>
          </p:cNvPr>
          <p:cNvSpPr>
            <a:spLocks noGrp="1"/>
          </p:cNvSpPr>
          <p:nvPr>
            <p:ph type="sldNum" sz="quarter" idx="12"/>
          </p:nvPr>
        </p:nvSpPr>
        <p:spPr/>
        <p:txBody>
          <a:bodyPr/>
          <a:lstStyle/>
          <a:p>
            <a:fld id="{6113E31D-E2AB-40D1-8B51-AFA5AFEF393A}" type="slidenum">
              <a:rPr lang="en-US" smtClean="0"/>
              <a:t>22</a:t>
            </a:fld>
            <a:endParaRPr lang="en-US" dirty="0"/>
          </a:p>
        </p:txBody>
      </p:sp>
      <p:cxnSp>
        <p:nvCxnSpPr>
          <p:cNvPr id="11" name="Straight Arrow Connector 10">
            <a:extLst>
              <a:ext uri="{FF2B5EF4-FFF2-40B4-BE49-F238E27FC236}">
                <a16:creationId xmlns:a16="http://schemas.microsoft.com/office/drawing/2014/main" id="{E223C6BD-3097-C0D9-1E39-4E094B12DFAE}"/>
              </a:ext>
            </a:extLst>
          </p:cNvPr>
          <p:cNvCxnSpPr>
            <a:cxnSpLocks/>
          </p:cNvCxnSpPr>
          <p:nvPr/>
        </p:nvCxnSpPr>
        <p:spPr>
          <a:xfrm>
            <a:off x="8872153" y="2113005"/>
            <a:ext cx="768817"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79577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B9B17-2865-6C75-4523-7DE7D8A8BAA4}"/>
              </a:ext>
            </a:extLst>
          </p:cNvPr>
          <p:cNvSpPr>
            <a:spLocks noGrp="1"/>
          </p:cNvSpPr>
          <p:nvPr>
            <p:ph type="title"/>
          </p:nvPr>
        </p:nvSpPr>
        <p:spPr/>
        <p:txBody>
          <a:bodyPr/>
          <a:lstStyle/>
          <a:p>
            <a:r>
              <a:rPr lang="en-IT" b="1" dirty="0">
                <a:solidFill>
                  <a:srgbClr val="00B0F0"/>
                </a:solidFill>
                <a:latin typeface="+mn-lt"/>
              </a:rPr>
              <a:t>References</a:t>
            </a:r>
          </a:p>
        </p:txBody>
      </p:sp>
      <p:sp>
        <p:nvSpPr>
          <p:cNvPr id="3" name="Content Placeholder 2">
            <a:extLst>
              <a:ext uri="{FF2B5EF4-FFF2-40B4-BE49-F238E27FC236}">
                <a16:creationId xmlns:a16="http://schemas.microsoft.com/office/drawing/2014/main" id="{65C22218-BFB0-00CD-49CF-E2AE8A8F98DB}"/>
              </a:ext>
            </a:extLst>
          </p:cNvPr>
          <p:cNvSpPr>
            <a:spLocks noGrp="1"/>
          </p:cNvSpPr>
          <p:nvPr>
            <p:ph idx="1"/>
          </p:nvPr>
        </p:nvSpPr>
        <p:spPr/>
        <p:txBody>
          <a:bodyPr>
            <a:normAutofit fontScale="92500" lnSpcReduction="20000"/>
          </a:bodyPr>
          <a:lstStyle/>
          <a:p>
            <a:pPr>
              <a:lnSpc>
                <a:spcPct val="100000"/>
              </a:lnSpc>
            </a:pPr>
            <a:r>
              <a:rPr lang="en-GB" dirty="0"/>
              <a:t>I. Gupta, B. Di Eugenio, B. Ziebart, A. Baiju, B. Liu, B. Gerber, L. Sharp, N. Nabulsi, and M. Smart. </a:t>
            </a:r>
            <a:r>
              <a:rPr lang="en-GB" i="1" dirty="0"/>
              <a:t>Human-human health coaching via text messages: Corpus, annotation, and analysis.</a:t>
            </a:r>
            <a:r>
              <a:rPr lang="en-GB" dirty="0"/>
              <a:t> In Proceedings of the 21th Annual Meeting of the Special Interest Group on Discourse and Dialogue, pages 246–256, 1st virtual meeting, July 2020. Association for Computational Linguistics.</a:t>
            </a:r>
          </a:p>
          <a:p>
            <a:r>
              <a:rPr lang="en-GB" dirty="0"/>
              <a:t>I. Gupta, B. Di Eugenio, B. Ziebart, B. Liu, B. Gerber, and L. Sharp. </a:t>
            </a:r>
            <a:r>
              <a:rPr lang="en-GB" i="1" dirty="0"/>
              <a:t>Goal summarization for human-human health coaching dialogues</a:t>
            </a:r>
            <a:r>
              <a:rPr lang="en-GB" dirty="0"/>
              <a:t>. In The Thirty-Third International FLAIRS Conference, 2020.</a:t>
            </a:r>
          </a:p>
          <a:p>
            <a:r>
              <a:rPr lang="en-GB" dirty="0"/>
              <a:t>I. Gupta, B. Di Eugenio, B. D. Ziebart, B. Liu, B. S. Gerber, and L. K. Sharp. </a:t>
            </a:r>
            <a:r>
              <a:rPr lang="en-GB" i="1" dirty="0"/>
              <a:t>Summarizing </a:t>
            </a:r>
            <a:r>
              <a:rPr lang="en-GB" i="1" dirty="0" err="1"/>
              <a:t>behavioral</a:t>
            </a:r>
            <a:r>
              <a:rPr lang="en-GB" i="1" dirty="0"/>
              <a:t> change goals from SMS exchanges to support health coaches</a:t>
            </a:r>
            <a:r>
              <a:rPr lang="en-GB" dirty="0"/>
              <a:t>. In Proceedings of the 22nd Annual Meeting of the Special Interest Group on Discourse and Dialogue, pages 276–289, 2021.</a:t>
            </a:r>
          </a:p>
          <a:p>
            <a:r>
              <a:rPr lang="en-GB" dirty="0"/>
              <a:t>Gupta, Itika, Barbara Di Eugenio, Devika Salunke, Andrew Boyd, Paula Allen-Meares, Carolyn Dickens, and Olga Garcia. "Heart failure education of African American and Hispanic/Latino patients: Data collection and analysis." In </a:t>
            </a:r>
            <a:r>
              <a:rPr lang="en-GB" i="1" dirty="0"/>
              <a:t>Proceedings of the First Workshop on Natural Language Processing for Medical Conversations</a:t>
            </a:r>
            <a:r>
              <a:rPr lang="en-GB" dirty="0"/>
              <a:t>, pp. 41-46. 2020.</a:t>
            </a:r>
          </a:p>
          <a:p>
            <a:r>
              <a:rPr lang="en-GB" sz="1600" dirty="0"/>
              <a:t>Mac, O., et al . (2022). Comparison of Readability Scores for Written Health Information Across Formulas  Using Automated vs Manual Measures. </a:t>
            </a:r>
            <a:r>
              <a:rPr lang="en-GB" sz="1600" i="1" dirty="0"/>
              <a:t>JAMA Network Open</a:t>
            </a:r>
            <a:r>
              <a:rPr lang="en-GB" sz="1600" dirty="0"/>
              <a:t>, </a:t>
            </a:r>
            <a:r>
              <a:rPr lang="en-GB" sz="1600" i="1" dirty="0"/>
              <a:t>5</a:t>
            </a:r>
            <a:r>
              <a:rPr lang="en-GB" sz="1600" dirty="0"/>
              <a:t>(12)</a:t>
            </a:r>
            <a:endParaRPr lang="en-GB" dirty="0"/>
          </a:p>
          <a:p>
            <a:r>
              <a:rPr lang="en-GB" dirty="0"/>
              <a:t>C. Raffel, N. </a:t>
            </a:r>
            <a:r>
              <a:rPr lang="en-GB" dirty="0" err="1"/>
              <a:t>Shazeer</a:t>
            </a:r>
            <a:r>
              <a:rPr lang="en-GB" dirty="0"/>
              <a:t>, A. Roberts, K. Lee, S. Narang, M. </a:t>
            </a:r>
            <a:r>
              <a:rPr lang="en-GB" dirty="0" err="1"/>
              <a:t>Matena</a:t>
            </a:r>
            <a:r>
              <a:rPr lang="en-GB" dirty="0"/>
              <a:t>, Y. Zhou, W. Li, and P. </a:t>
            </a:r>
            <a:r>
              <a:rPr lang="en-GB" dirty="0" err="1"/>
              <a:t>J.Liu</a:t>
            </a:r>
            <a:r>
              <a:rPr lang="en-GB" dirty="0"/>
              <a:t>. </a:t>
            </a:r>
            <a:r>
              <a:rPr lang="en-GB" i="1" dirty="0"/>
              <a:t>Exploring the limits of transfer learning with a unified text-to-text transformer</a:t>
            </a:r>
            <a:r>
              <a:rPr lang="en-GB" dirty="0"/>
              <a:t>. Journal of Machine Learning Research, 21(140):1–67, 2020. </a:t>
            </a:r>
          </a:p>
          <a:p>
            <a:r>
              <a:rPr lang="en-GB" dirty="0"/>
              <a:t>Su, Y., Shu, L., Mansimov, E., Gupta, A., Cai, D., Lai, Y.-A., and Zhang, Y.</a:t>
            </a:r>
            <a:r>
              <a:rPr lang="en-GB" i="1" dirty="0"/>
              <a:t>: Multi-task pre-training for plug-and-play task-oriented dialogue</a:t>
            </a:r>
            <a:r>
              <a:rPr lang="en-GB" dirty="0"/>
              <a:t> </a:t>
            </a:r>
            <a:r>
              <a:rPr lang="en-GB" i="1" dirty="0"/>
              <a:t>system. </a:t>
            </a:r>
            <a:r>
              <a:rPr lang="en-GB" dirty="0"/>
              <a:t>In Proceedings of the 60th Annual Meeting of the Association for Computational Linguistics (Volume 1: Long Papers), eds. S. Muresan, P. </a:t>
            </a:r>
            <a:r>
              <a:rPr lang="en-GB" dirty="0" err="1"/>
              <a:t>Nakov</a:t>
            </a:r>
            <a:r>
              <a:rPr lang="en-GB" dirty="0"/>
              <a:t>, and A. Villavicencio, pages 4661–4676, Dublin, Ireland, May 2022. Association for Computational Linguistics.</a:t>
            </a:r>
          </a:p>
          <a:p>
            <a:endParaRPr lang="en-GB" dirty="0"/>
          </a:p>
          <a:p>
            <a:pPr marL="0" indent="0">
              <a:buNone/>
            </a:pPr>
            <a:endParaRPr lang="en-GB" dirty="0"/>
          </a:p>
          <a:p>
            <a:endParaRPr lang="en-GB" dirty="0"/>
          </a:p>
          <a:p>
            <a:endParaRPr lang="en-IT" dirty="0"/>
          </a:p>
        </p:txBody>
      </p:sp>
      <p:sp>
        <p:nvSpPr>
          <p:cNvPr id="4" name="Slide Number Placeholder 3">
            <a:extLst>
              <a:ext uri="{FF2B5EF4-FFF2-40B4-BE49-F238E27FC236}">
                <a16:creationId xmlns:a16="http://schemas.microsoft.com/office/drawing/2014/main" id="{9648AEE0-C99B-599E-28C9-1854A27BCCE7}"/>
              </a:ext>
            </a:extLst>
          </p:cNvPr>
          <p:cNvSpPr>
            <a:spLocks noGrp="1"/>
          </p:cNvSpPr>
          <p:nvPr>
            <p:ph type="sldNum" sz="quarter" idx="12"/>
          </p:nvPr>
        </p:nvSpPr>
        <p:spPr/>
        <p:txBody>
          <a:bodyPr/>
          <a:lstStyle/>
          <a:p>
            <a:fld id="{6113E31D-E2AB-40D1-8B51-AFA5AFEF393A}" type="slidenum">
              <a:rPr lang="en-US" smtClean="0"/>
              <a:t>23</a:t>
            </a:fld>
            <a:endParaRPr lang="en-US" dirty="0"/>
          </a:p>
        </p:txBody>
      </p:sp>
    </p:spTree>
    <p:extLst>
      <p:ext uri="{BB962C8B-B14F-4D97-AF65-F5344CB8AC3E}">
        <p14:creationId xmlns:p14="http://schemas.microsoft.com/office/powerpoint/2010/main" val="22589899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ED513-0718-3D8A-E7F9-422E98F195D4}"/>
              </a:ext>
            </a:extLst>
          </p:cNvPr>
          <p:cNvSpPr>
            <a:spLocks noGrp="1"/>
          </p:cNvSpPr>
          <p:nvPr>
            <p:ph type="title"/>
          </p:nvPr>
        </p:nvSpPr>
        <p:spPr/>
        <p:txBody>
          <a:bodyPr/>
          <a:lstStyle/>
          <a:p>
            <a:r>
              <a:rPr lang="en-IT" b="1" dirty="0">
                <a:solidFill>
                  <a:srgbClr val="00B0F0"/>
                </a:solidFill>
              </a:rPr>
              <a:t>References (ctd)</a:t>
            </a:r>
            <a:endParaRPr lang="en-IT" dirty="0"/>
          </a:p>
        </p:txBody>
      </p:sp>
      <p:sp>
        <p:nvSpPr>
          <p:cNvPr id="3" name="Content Placeholder 2">
            <a:extLst>
              <a:ext uri="{FF2B5EF4-FFF2-40B4-BE49-F238E27FC236}">
                <a16:creationId xmlns:a16="http://schemas.microsoft.com/office/drawing/2014/main" id="{22D8D69F-1699-65CA-FAE2-62D827F7C752}"/>
              </a:ext>
            </a:extLst>
          </p:cNvPr>
          <p:cNvSpPr>
            <a:spLocks noGrp="1"/>
          </p:cNvSpPr>
          <p:nvPr>
            <p:ph idx="1"/>
          </p:nvPr>
        </p:nvSpPr>
        <p:spPr/>
        <p:txBody>
          <a:bodyPr>
            <a:normAutofit lnSpcReduction="10000"/>
          </a:bodyPr>
          <a:lstStyle/>
          <a:p>
            <a:r>
              <a:rPr lang="en-GB" dirty="0"/>
              <a:t>Tayal, Anuja, Barbara Di Eugenio, Devika Salunke, Andrew Boyd, Carolyn A. Dickens, Eulalia P. Abril, Olga Garcia-Bedoya, and Paula G. Allen-Meares. "A neuro-symbolic approach to monitoring salt content in food." In </a:t>
            </a:r>
            <a:r>
              <a:rPr lang="en-GB" i="1" dirty="0"/>
              <a:t>Proceedings of the First Workshop on Patient-Oriented Language Processing (CL4Health)@ LREC-COLING 2024</a:t>
            </a:r>
            <a:r>
              <a:rPr lang="en-GB" dirty="0"/>
              <a:t>, pp. 93-103. 2024. </a:t>
            </a:r>
          </a:p>
          <a:p>
            <a:r>
              <a:rPr lang="en-GB" dirty="0"/>
              <a:t>Y. Zhou, B. Di Eugenio, B. Ziebart, L. Sharp, B. Liu, B. Gerber, N. </a:t>
            </a:r>
            <a:r>
              <a:rPr lang="en-GB" dirty="0" err="1"/>
              <a:t>Agadakos</a:t>
            </a:r>
            <a:r>
              <a:rPr lang="en-GB" dirty="0"/>
              <a:t>, and S. Yadav. Towards enhancing health coaching dialogue in low-resource settings. In Proceedings of the 29th International Conference on Computational Linguistics, pages 694–706, Gyeongju, Republic of Korea, Oct. 2022. International Committee on Computational Linguistics.</a:t>
            </a:r>
          </a:p>
          <a:p>
            <a:r>
              <a:rPr lang="en-GB" dirty="0"/>
              <a:t>Y. Zhou, B. Di Eugenio, B. Ziebart, L. Sharp, B. Liu, and N. </a:t>
            </a:r>
            <a:r>
              <a:rPr lang="en-GB" dirty="0" err="1"/>
              <a:t>Agadakos</a:t>
            </a:r>
            <a:r>
              <a:rPr lang="en-GB" dirty="0"/>
              <a:t>. </a:t>
            </a:r>
            <a:r>
              <a:rPr lang="en-GB" dirty="0" err="1"/>
              <a:t>Modeling</a:t>
            </a:r>
            <a:r>
              <a:rPr lang="en-GB" dirty="0"/>
              <a:t> </a:t>
            </a:r>
            <a:r>
              <a:rPr lang="en-GB" dirty="0" err="1"/>
              <a:t>lowresource</a:t>
            </a:r>
            <a:r>
              <a:rPr lang="en-GB" dirty="0"/>
              <a:t> health coaching dialogues via neuro-symbolic goal summarization and text-units text generation. In N. </a:t>
            </a:r>
            <a:r>
              <a:rPr lang="en-GB" dirty="0" err="1"/>
              <a:t>Calzolari</a:t>
            </a:r>
            <a:r>
              <a:rPr lang="en-GB" dirty="0"/>
              <a:t>, M.-Y. Kan, V. Hoste, A. Lenci, S. Sakti, and N. Xue, editors, Proceedings of the 2024 Joint International Conference on Computational Linguistics, Language Resources and Evaluation (LREC-COLING 2024), pages 11498–11509, Torino, Italia, May 2024. ELRA and ICCL.</a:t>
            </a:r>
          </a:p>
          <a:p>
            <a:r>
              <a:rPr lang="en-GB" dirty="0"/>
              <a:t>Y. Zhou, B. Di Eugenio, and L. Cheng. </a:t>
            </a:r>
            <a:r>
              <a:rPr lang="en-GB" i="1" dirty="0"/>
              <a:t>Unveiling performance challenges of large language models in low-resource healthcare: A demographic fairness perspective.</a:t>
            </a:r>
            <a:r>
              <a:rPr lang="en-GB" dirty="0"/>
              <a:t> In O. Rambow, </a:t>
            </a:r>
            <a:r>
              <a:rPr lang="en-GB" dirty="0" err="1"/>
              <a:t>L.Wanner</a:t>
            </a:r>
            <a:r>
              <a:rPr lang="en-GB" dirty="0"/>
              <a:t>, M. </a:t>
            </a:r>
            <a:r>
              <a:rPr lang="en-GB" dirty="0" err="1"/>
              <a:t>Apidianaki</a:t>
            </a:r>
            <a:r>
              <a:rPr lang="en-GB" dirty="0"/>
              <a:t>, H. Al-Khalifa, B. D. Eugenio, and S. </a:t>
            </a:r>
            <a:r>
              <a:rPr lang="en-GB" dirty="0" err="1"/>
              <a:t>Schockaert</a:t>
            </a:r>
            <a:r>
              <a:rPr lang="en-GB" dirty="0"/>
              <a:t>, editors, Proceedings of the 31st International Conference on Computational Linguistics, pages 7266–7278, Abu Dhabi, UAE, Jan. 2025. Association for Computational Linguistics.</a:t>
            </a:r>
          </a:p>
          <a:p>
            <a:r>
              <a:rPr lang="en-GB" dirty="0"/>
              <a:t>Y. Zhou and B. Di Eugenio. </a:t>
            </a:r>
            <a:r>
              <a:rPr lang="en-GB" i="1" dirty="0"/>
              <a:t>Veracity bias and beyond: Uncovering LLMs’ hidden beliefs in</a:t>
            </a:r>
            <a:r>
              <a:rPr lang="en-GB" dirty="0"/>
              <a:t> </a:t>
            </a:r>
            <a:r>
              <a:rPr lang="en-GB" i="1" dirty="0"/>
              <a:t>problem-solving reasoning. </a:t>
            </a:r>
            <a:r>
              <a:rPr lang="en-GB" dirty="0"/>
              <a:t>In W. Che, J. </a:t>
            </a:r>
            <a:r>
              <a:rPr lang="en-GB" dirty="0" err="1"/>
              <a:t>Nabende</a:t>
            </a:r>
            <a:r>
              <a:rPr lang="en-GB" dirty="0"/>
              <a:t>, E. </a:t>
            </a:r>
            <a:r>
              <a:rPr lang="en-GB" dirty="0" err="1"/>
              <a:t>Shutova</a:t>
            </a:r>
            <a:r>
              <a:rPr lang="en-GB" dirty="0"/>
              <a:t>, and M. T. </a:t>
            </a:r>
            <a:r>
              <a:rPr lang="en-GB" dirty="0" err="1"/>
              <a:t>Pilehvar</a:t>
            </a:r>
            <a:r>
              <a:rPr lang="en-GB" dirty="0"/>
              <a:t>, editors, Proceedings of the 63rd Annual Meeting of the Association for Computational Linguistics (Volume 1: Long Papers), pages 21298–21310, Vienna, Austria, July 2025. Association for Computational Linguistics.</a:t>
            </a:r>
          </a:p>
          <a:p>
            <a:endParaRPr lang="en-IT" dirty="0"/>
          </a:p>
        </p:txBody>
      </p:sp>
      <p:sp>
        <p:nvSpPr>
          <p:cNvPr id="4" name="Slide Number Placeholder 3">
            <a:extLst>
              <a:ext uri="{FF2B5EF4-FFF2-40B4-BE49-F238E27FC236}">
                <a16:creationId xmlns:a16="http://schemas.microsoft.com/office/drawing/2014/main" id="{499767C3-8143-FAB1-15D5-DB1C5B1FB3B5}"/>
              </a:ext>
            </a:extLst>
          </p:cNvPr>
          <p:cNvSpPr>
            <a:spLocks noGrp="1"/>
          </p:cNvSpPr>
          <p:nvPr>
            <p:ph type="sldNum" sz="quarter" idx="12"/>
          </p:nvPr>
        </p:nvSpPr>
        <p:spPr/>
        <p:txBody>
          <a:bodyPr/>
          <a:lstStyle/>
          <a:p>
            <a:fld id="{6113E31D-E2AB-40D1-8B51-AFA5AFEF393A}" type="slidenum">
              <a:rPr lang="en-US" smtClean="0"/>
              <a:t>24</a:t>
            </a:fld>
            <a:endParaRPr lang="en-US" dirty="0"/>
          </a:p>
        </p:txBody>
      </p:sp>
    </p:spTree>
    <p:extLst>
      <p:ext uri="{BB962C8B-B14F-4D97-AF65-F5344CB8AC3E}">
        <p14:creationId xmlns:p14="http://schemas.microsoft.com/office/powerpoint/2010/main" val="3375752374"/>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79259</TotalTime>
  <Words>2882</Words>
  <Application>Microsoft Macintosh PowerPoint</Application>
  <PresentationFormat>Widescreen</PresentationFormat>
  <Paragraphs>293</Paragraphs>
  <Slides>24</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Calibri</vt:lpstr>
      <vt:lpstr>Calibri Light</vt:lpstr>
      <vt:lpstr>Cambria Math</vt:lpstr>
      <vt:lpstr>Courier New</vt:lpstr>
      <vt:lpstr>Helvetica</vt:lpstr>
      <vt:lpstr>Times New Roman</vt:lpstr>
      <vt:lpstr>Wingdings</vt:lpstr>
      <vt:lpstr>Retrospect</vt:lpstr>
      <vt:lpstr>                         Engaging the Patient in Healthcare: Conversational Assistants   in the era of LLMs </vt:lpstr>
      <vt:lpstr>Challenges Incarnated </vt:lpstr>
      <vt:lpstr>  HFChat DPI Seed award, National Science Foundation 2232307 (2022-2025)</vt:lpstr>
      <vt:lpstr>HFChat: Conversational agent for African American patients with heart failure (HF) </vt:lpstr>
      <vt:lpstr>20 Patient / Educator interactions</vt:lpstr>
      <vt:lpstr>Excerpt of patient-educator conversation [Gupta et al 2020]</vt:lpstr>
      <vt:lpstr>Three prototypes on salt intake</vt:lpstr>
      <vt:lpstr>HFFood-NS: Synthetic Dataset [Tayal et al 24]</vt:lpstr>
      <vt:lpstr>Synthetic Conversation example</vt:lpstr>
      <vt:lpstr>PowerPoint Presentation</vt:lpstr>
      <vt:lpstr>HFFood-GPT - Prompt</vt:lpstr>
      <vt:lpstr>Within-subject User Study [Tayal et al LREC 26]</vt:lpstr>
      <vt:lpstr>Additional details </vt:lpstr>
      <vt:lpstr>HFFood-NS vs HFFood-GPT: intrinsic metrics</vt:lpstr>
      <vt:lpstr>User questionnaire: no preferences</vt:lpstr>
      <vt:lpstr>HFFood-NS vs HFFood-GPT: observations</vt:lpstr>
      <vt:lpstr>Complex user queries / unexpected expressions</vt:lpstr>
      <vt:lpstr>Che pedante questo GPT …</vt:lpstr>
      <vt:lpstr>HFFood-NS vs HFFood-GPT: Response readability</vt:lpstr>
      <vt:lpstr>HFFood-NS vs HFFood-GPT: Response readability</vt:lpstr>
      <vt:lpstr>HFCHat: take aways</vt:lpstr>
      <vt:lpstr>Current and Future Work (especially HFChat)</vt:lpstr>
      <vt:lpstr>References</vt:lpstr>
      <vt:lpstr>References (ctd)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The Virtual Assistant Health Coach for behavioral change:  supporting patients and human coaches  </dc:title>
  <dc:creator>Di Eugenio, Barbara</dc:creator>
  <cp:lastModifiedBy>Di Eugenio, Barbara</cp:lastModifiedBy>
  <cp:revision>119</cp:revision>
  <dcterms:created xsi:type="dcterms:W3CDTF">2022-04-20T22:09:18Z</dcterms:created>
  <dcterms:modified xsi:type="dcterms:W3CDTF">2026-05-17T19:59:30Z</dcterms:modified>
</cp:coreProperties>
</file>